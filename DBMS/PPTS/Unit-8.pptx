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8" r:id="rId3"/>
    <p:sldId id="341" r:id="rId4"/>
    <p:sldId id="297" r:id="rId5"/>
    <p:sldId id="298" r:id="rId6"/>
    <p:sldId id="340" r:id="rId7"/>
    <p:sldId id="343" r:id="rId8"/>
    <p:sldId id="344" r:id="rId9"/>
    <p:sldId id="347" r:id="rId10"/>
    <p:sldId id="348" r:id="rId11"/>
    <p:sldId id="349" r:id="rId12"/>
    <p:sldId id="350" r:id="rId13"/>
    <p:sldId id="351" r:id="rId14"/>
    <p:sldId id="352" r:id="rId15"/>
    <p:sldId id="353" r:id="rId16"/>
    <p:sldId id="356" r:id="rId17"/>
    <p:sldId id="357" r:id="rId18"/>
    <p:sldId id="358" r:id="rId19"/>
    <p:sldId id="359" r:id="rId20"/>
    <p:sldId id="360" r:id="rId21"/>
    <p:sldId id="361" r:id="rId22"/>
    <p:sldId id="296"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FCFF"/>
    <a:srgbClr val="FFFFFF"/>
    <a:srgbClr val="11BBAF"/>
    <a:srgbClr val="FFCA4F"/>
    <a:srgbClr val="854F89"/>
    <a:srgbClr val="FFE152"/>
    <a:srgbClr val="DD00FF"/>
    <a:srgbClr val="D8D5ED"/>
    <a:srgbClr val="40BA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60"/>
  </p:normalViewPr>
  <p:slideViewPr>
    <p:cSldViewPr snapToGrid="0">
      <p:cViewPr varScale="1">
        <p:scale>
          <a:sx n="107" d="100"/>
          <a:sy n="107" d="100"/>
        </p:scale>
        <p:origin x="720"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FEE027-3832-4EC4-8CAE-DB5DD688184C}" type="datetimeFigureOut">
              <a:rPr lang="en-US" smtClean="0"/>
              <a:t>6/19/2023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B528B5-C058-4B1C-9409-3691A7A108CF}" type="slidenum">
              <a:rPr lang="en-US" smtClean="0"/>
              <a:t>‹#›</a:t>
            </a:fld>
            <a:endParaRPr lang="en-US"/>
          </a:p>
        </p:txBody>
      </p:sp>
    </p:spTree>
    <p:extLst>
      <p:ext uri="{BB962C8B-B14F-4D97-AF65-F5344CB8AC3E}">
        <p14:creationId xmlns:p14="http://schemas.microsoft.com/office/powerpoint/2010/main" val="1825306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6E4831-481F-4AF1-9D8E-170CD6E1C3F5}" type="datetimeFigureOut">
              <a:rPr lang="en-IN" smtClean="0"/>
              <a:pPr/>
              <a:t>19-06-23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3486396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6E4831-481F-4AF1-9D8E-170CD6E1C3F5}" type="datetimeFigureOut">
              <a:rPr lang="en-IN" smtClean="0"/>
              <a:pPr/>
              <a:t>19-06-23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16810215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FB6E4831-481F-4AF1-9D8E-170CD6E1C3F5}" type="datetimeFigureOut">
              <a:rPr lang="en-IN" smtClean="0"/>
              <a:pPr/>
              <a:t>19-06-23</a:t>
            </a:fld>
            <a:endParaRPr lang="en-IN"/>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IN"/>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9C11CE39-2868-44A2-A0C6-827D458F7A8B}" type="slidenum">
              <a:rPr lang="en-IN" smtClean="0"/>
              <a:pPr/>
              <a:t>‹#›</a:t>
            </a:fld>
            <a:endParaRPr lang="en-IN"/>
          </a:p>
        </p:txBody>
      </p:sp>
    </p:spTree>
    <p:extLst>
      <p:ext uri="{BB962C8B-B14F-4D97-AF65-F5344CB8AC3E}">
        <p14:creationId xmlns:p14="http://schemas.microsoft.com/office/powerpoint/2010/main" val="1089974660"/>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C:\Users\parul\Desktop\temp.png"/>
          <p:cNvPicPr preferRelativeResize="0"/>
          <p:nvPr/>
        </p:nvPicPr>
        <p:blipFill rotWithShape="1">
          <a:blip r:embed="rId3">
            <a:alphaModFix/>
          </a:blip>
          <a:srcRect/>
          <a:stretch/>
        </p:blipFill>
        <p:spPr>
          <a:xfrm>
            <a:off x="0" y="0"/>
            <a:ext cx="12191999" cy="6858000"/>
          </a:xfrm>
          <a:prstGeom prst="rect">
            <a:avLst/>
          </a:prstGeom>
          <a:noFill/>
          <a:ln>
            <a:noFill/>
          </a:ln>
        </p:spPr>
      </p:pic>
      <p:sp>
        <p:nvSpPr>
          <p:cNvPr id="89" name="Google Shape;89;p1"/>
          <p:cNvSpPr/>
          <p:nvPr/>
        </p:nvSpPr>
        <p:spPr>
          <a:xfrm>
            <a:off x="1892185" y="1698182"/>
            <a:ext cx="8390965" cy="1091454"/>
          </a:xfrm>
          <a:prstGeom prst="rect">
            <a:avLst/>
          </a:prstGeom>
          <a:noFill/>
          <a:ln>
            <a:noFill/>
          </a:ln>
        </p:spPr>
        <p:txBody>
          <a:bodyPr spcFirstLastPara="1" wrap="square" lIns="68569" tIns="34275" rIns="68569" bIns="34275" anchor="t" anchorCtr="0">
            <a:noAutofit/>
          </a:bodyPr>
          <a:lstStyle/>
          <a:p>
            <a:pPr algn="ctr">
              <a:buClr>
                <a:srgbClr val="000000"/>
              </a:buClr>
              <a:buSzPts val="3500"/>
            </a:pPr>
            <a:r>
              <a:rPr lang="en-IN" sz="3200" b="1" dirty="0">
                <a:solidFill>
                  <a:srgbClr val="000000"/>
                </a:solidFill>
                <a:latin typeface="Calibri"/>
                <a:ea typeface="Calibri"/>
                <a:cs typeface="Calibri"/>
                <a:sym typeface="Calibri"/>
              </a:rPr>
              <a:t>Database Management System (303105203)</a:t>
            </a:r>
          </a:p>
          <a:p>
            <a:pPr algn="ctr">
              <a:buClr>
                <a:srgbClr val="000000"/>
              </a:buClr>
              <a:buSzPts val="3500"/>
            </a:pPr>
            <a:endParaRPr lang="en-IN" sz="1400" b="1" dirty="0">
              <a:solidFill>
                <a:srgbClr val="000000"/>
              </a:solidFill>
              <a:latin typeface="Calibri"/>
              <a:ea typeface="Calibri"/>
              <a:cs typeface="Calibri"/>
              <a:sym typeface="Calibri"/>
            </a:endParaRPr>
          </a:p>
          <a:p>
            <a:pPr algn="ctr">
              <a:buClr>
                <a:srgbClr val="000000"/>
              </a:buClr>
              <a:buSzPts val="3500"/>
            </a:pPr>
            <a:r>
              <a:rPr lang="en-IN" sz="2800" b="1" dirty="0">
                <a:solidFill>
                  <a:srgbClr val="000000"/>
                </a:solidFill>
                <a:latin typeface="Calibri"/>
                <a:ea typeface="Calibri"/>
                <a:cs typeface="Calibri"/>
                <a:sym typeface="Calibri"/>
              </a:rPr>
              <a:t>Unit – 8: Database Security</a:t>
            </a:r>
          </a:p>
          <a:p>
            <a:pPr algn="ctr">
              <a:buClr>
                <a:srgbClr val="000000"/>
              </a:buClr>
              <a:buSzPts val="3500"/>
            </a:pPr>
            <a:endParaRPr sz="1350" dirty="0"/>
          </a:p>
        </p:txBody>
      </p:sp>
      <p:sp>
        <p:nvSpPr>
          <p:cNvPr id="90" name="Google Shape;90;p1"/>
          <p:cNvSpPr/>
          <p:nvPr/>
        </p:nvSpPr>
        <p:spPr>
          <a:xfrm>
            <a:off x="2203077" y="2997994"/>
            <a:ext cx="7678271" cy="577454"/>
          </a:xfrm>
          <a:prstGeom prst="rect">
            <a:avLst/>
          </a:prstGeom>
          <a:noFill/>
          <a:ln>
            <a:noFill/>
          </a:ln>
        </p:spPr>
        <p:txBody>
          <a:bodyPr spcFirstLastPara="1" wrap="square" lIns="68569" tIns="34275" rIns="68569" bIns="34275" anchor="t" anchorCtr="0">
            <a:noAutofit/>
          </a:bodyPr>
          <a:lstStyle/>
          <a:p>
            <a:pPr algn="ctr">
              <a:buClr>
                <a:srgbClr val="000000"/>
              </a:buClr>
              <a:buSzPts val="2200"/>
            </a:pPr>
            <a:r>
              <a:rPr lang="en-IN" sz="1650" b="1" dirty="0">
                <a:solidFill>
                  <a:srgbClr val="000000"/>
                </a:solidFill>
                <a:latin typeface="Calibri"/>
                <a:ea typeface="Calibri"/>
                <a:cs typeface="Calibri"/>
                <a:sym typeface="Calibri"/>
              </a:rPr>
              <a:t>Dr. Rachit Adhvaryu, </a:t>
            </a:r>
          </a:p>
          <a:p>
            <a:pPr algn="ctr">
              <a:buClr>
                <a:srgbClr val="000000"/>
              </a:buClr>
              <a:buSzPts val="2200"/>
            </a:pPr>
            <a:r>
              <a:rPr lang="en-IN" sz="1650" dirty="0">
                <a:solidFill>
                  <a:srgbClr val="000000"/>
                </a:solidFill>
                <a:latin typeface="Calibri"/>
                <a:ea typeface="Calibri"/>
                <a:cs typeface="Calibri"/>
                <a:sym typeface="Calibri"/>
              </a:rPr>
              <a:t>Assistant Professor, Computer Science &amp; Engineering</a:t>
            </a:r>
            <a:endParaRPr sz="1650" dirty="0">
              <a:solidFill>
                <a:srgbClr val="000000"/>
              </a:solidFill>
              <a:latin typeface="Calibri"/>
              <a:ea typeface="Calibri"/>
              <a:cs typeface="Calibri"/>
              <a:sym typeface="Calibri"/>
            </a:endParaRPr>
          </a:p>
        </p:txBody>
      </p:sp>
      <p:pic>
        <p:nvPicPr>
          <p:cNvPr id="91" name="Google Shape;91;p1" descr="C:\Users\parul\Desktop\Registered Logosd.png"/>
          <p:cNvPicPr preferRelativeResize="0"/>
          <p:nvPr/>
        </p:nvPicPr>
        <p:blipFill rotWithShape="1">
          <a:blip r:embed="rId4">
            <a:alphaModFix/>
          </a:blip>
          <a:srcRect/>
          <a:stretch/>
        </p:blipFill>
        <p:spPr>
          <a:xfrm>
            <a:off x="5105400" y="685800"/>
            <a:ext cx="1981200" cy="685800"/>
          </a:xfrm>
          <a:prstGeom prst="rect">
            <a:avLst/>
          </a:prstGeom>
          <a:noFill/>
          <a:ln>
            <a:noFill/>
          </a:ln>
        </p:spPr>
      </p:pic>
      <p:grpSp>
        <p:nvGrpSpPr>
          <p:cNvPr id="92" name="Google Shape;92;p1"/>
          <p:cNvGrpSpPr/>
          <p:nvPr/>
        </p:nvGrpSpPr>
        <p:grpSpPr>
          <a:xfrm>
            <a:off x="3730230" y="2895601"/>
            <a:ext cx="4731544" cy="70247"/>
            <a:chOff x="1428728" y="2571744"/>
            <a:chExt cx="6309404" cy="94298"/>
          </a:xfrm>
        </p:grpSpPr>
        <p:cxnSp>
          <p:nvCxnSpPr>
            <p:cNvPr id="93" name="Google Shape;93;p1"/>
            <p:cNvCxnSpPr/>
            <p:nvPr/>
          </p:nvCxnSpPr>
          <p:spPr>
            <a:xfrm>
              <a:off x="1428728" y="2618094"/>
              <a:ext cx="6287177" cy="1598"/>
            </a:xfrm>
            <a:prstGeom prst="straightConnector1">
              <a:avLst/>
            </a:prstGeom>
            <a:noFill/>
            <a:ln w="9525" cap="flat" cmpd="sng">
              <a:solidFill>
                <a:srgbClr val="000000"/>
              </a:solidFill>
              <a:prstDash val="solid"/>
              <a:round/>
              <a:headEnd type="none" w="med" len="med"/>
              <a:tailEnd type="none" w="med" len="med"/>
            </a:ln>
          </p:spPr>
        </p:cxnSp>
        <p:sp>
          <p:nvSpPr>
            <p:cNvPr id="94" name="Google Shape;94;p1"/>
            <p:cNvSpPr/>
            <p:nvPr/>
          </p:nvSpPr>
          <p:spPr>
            <a:xfrm rot="10800000">
              <a:off x="1428728" y="2571744"/>
              <a:ext cx="93672" cy="94298"/>
            </a:xfrm>
            <a:prstGeom prst="ellipse">
              <a:avLst/>
            </a:prstGeom>
            <a:solidFill>
              <a:srgbClr val="000000"/>
            </a:solidFill>
            <a:ln>
              <a:noFill/>
            </a:ln>
          </p:spPr>
          <p:txBody>
            <a:bodyPr spcFirstLastPara="1" wrap="square" lIns="68569" tIns="34275" rIns="68569" bIns="34275" anchor="ctr" anchorCtr="0">
              <a:noAutofit/>
            </a:bodyPr>
            <a:lstStyle/>
            <a:p>
              <a:pPr algn="ctr">
                <a:buClr>
                  <a:schemeClr val="dk1"/>
                </a:buClr>
                <a:buSzPts val="1800"/>
              </a:pPr>
              <a:endParaRPr sz="1350">
                <a:solidFill>
                  <a:schemeClr val="dk1"/>
                </a:solidFill>
                <a:latin typeface="Arial"/>
                <a:ea typeface="Arial"/>
                <a:cs typeface="Arial"/>
                <a:sym typeface="Arial"/>
              </a:endParaRPr>
            </a:p>
          </p:txBody>
        </p:sp>
        <p:sp>
          <p:nvSpPr>
            <p:cNvPr id="95" name="Google Shape;95;p1"/>
            <p:cNvSpPr/>
            <p:nvPr/>
          </p:nvSpPr>
          <p:spPr>
            <a:xfrm rot="10800000">
              <a:off x="7644459" y="2571744"/>
              <a:ext cx="93673" cy="94298"/>
            </a:xfrm>
            <a:prstGeom prst="ellipse">
              <a:avLst/>
            </a:prstGeom>
            <a:solidFill>
              <a:srgbClr val="000000"/>
            </a:solidFill>
            <a:ln>
              <a:noFill/>
            </a:ln>
          </p:spPr>
          <p:txBody>
            <a:bodyPr spcFirstLastPara="1" wrap="square" lIns="68569" tIns="34275" rIns="68569" bIns="34275" anchor="ctr" anchorCtr="0">
              <a:noAutofit/>
            </a:bodyPr>
            <a:lstStyle/>
            <a:p>
              <a:pPr algn="ctr">
                <a:buClr>
                  <a:schemeClr val="dk1"/>
                </a:buClr>
                <a:buSzPts val="1800"/>
              </a:pPr>
              <a:endParaRPr sz="1350">
                <a:solidFill>
                  <a:schemeClr val="dk1"/>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2"/>
          <p:cNvSpPr txBox="1">
            <a:spLocks/>
          </p:cNvSpPr>
          <p:nvPr/>
        </p:nvSpPr>
        <p:spPr>
          <a:xfrm>
            <a:off x="1069848" y="850505"/>
            <a:ext cx="7315200" cy="447942"/>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200"/>
              </a:spcBef>
              <a:buClr>
                <a:schemeClr val="accent1"/>
              </a:buClr>
              <a:buFont typeface="Wingdings 2" pitchFamily="18" charset="2"/>
              <a:buNone/>
              <a:defRPr sz="2200" kern="1200" cap="none" spc="0" baseline="0">
                <a:solidFill>
                  <a:schemeClr val="accent1">
                    <a:lumMod val="20000"/>
                    <a:lumOff val="80000"/>
                  </a:schemeClr>
                </a:solidFill>
                <a:latin typeface="+mn-lt"/>
                <a:ea typeface="+mn-ea"/>
                <a:cs typeface="+mn-cs"/>
              </a:defRPr>
            </a:lvl1pPr>
            <a:lvl2pPr marL="457200" indent="0" algn="ctr" defTabSz="914400" rtl="0" eaLnBrk="1" latinLnBrk="0" hangingPunct="1">
              <a:lnSpc>
                <a:spcPct val="90000"/>
              </a:lnSpc>
              <a:spcBef>
                <a:spcPts val="250"/>
              </a:spcBef>
              <a:spcAft>
                <a:spcPts val="250"/>
              </a:spcAft>
              <a:buClr>
                <a:schemeClr val="accent1"/>
              </a:buClr>
              <a:buFont typeface="Wingdings 2" pitchFamily="18" charset="2"/>
              <a:buNone/>
              <a:defRPr sz="2200" kern="1200">
                <a:solidFill>
                  <a:schemeClr val="tx1">
                    <a:lumMod val="65000"/>
                    <a:lumOff val="35000"/>
                  </a:schemeClr>
                </a:solidFill>
                <a:latin typeface="+mn-lt"/>
                <a:ea typeface="+mn-ea"/>
                <a:cs typeface="+mn-cs"/>
              </a:defRPr>
            </a:lvl2pPr>
            <a:lvl3pPr marL="914400" indent="0" algn="ctr" defTabSz="914400" rtl="0" eaLnBrk="1" latinLnBrk="0" hangingPunct="1">
              <a:lnSpc>
                <a:spcPct val="90000"/>
              </a:lnSpc>
              <a:spcBef>
                <a:spcPts val="250"/>
              </a:spcBef>
              <a:spcAft>
                <a:spcPts val="250"/>
              </a:spcAft>
              <a:buClr>
                <a:schemeClr val="accent1"/>
              </a:buClr>
              <a:buFont typeface="Wingdings 2" pitchFamily="18" charset="2"/>
              <a:buNone/>
              <a:defRPr sz="2200" kern="1200">
                <a:solidFill>
                  <a:schemeClr val="tx1">
                    <a:lumMod val="65000"/>
                    <a:lumOff val="35000"/>
                  </a:schemeClr>
                </a:solidFill>
                <a:latin typeface="+mn-lt"/>
                <a:ea typeface="+mn-ea"/>
                <a:cs typeface="+mn-cs"/>
              </a:defRPr>
            </a:lvl3pPr>
            <a:lvl4pPr marL="13716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4pPr>
            <a:lvl5pPr marL="18288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5pPr>
            <a:lvl6pPr marL="22860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6pPr>
            <a:lvl7pPr marL="27432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7pPr>
            <a:lvl8pPr marL="32004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8pPr>
            <a:lvl9pPr marL="36576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9pPr>
          </a:lstStyle>
          <a:p>
            <a:endParaRPr lang="en-IN" sz="7200" b="1" dirty="0"/>
          </a:p>
        </p:txBody>
      </p:sp>
      <p:sp>
        <p:nvSpPr>
          <p:cNvPr id="8" name="Subtitle 2"/>
          <p:cNvSpPr txBox="1">
            <a:spLocks/>
          </p:cNvSpPr>
          <p:nvPr/>
        </p:nvSpPr>
        <p:spPr>
          <a:xfrm>
            <a:off x="2295535" y="2643827"/>
            <a:ext cx="6120306" cy="464863"/>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200"/>
              </a:spcBef>
              <a:buClr>
                <a:schemeClr val="accent1"/>
              </a:buClr>
              <a:buFont typeface="Wingdings 2" pitchFamily="18" charset="2"/>
              <a:buNone/>
              <a:defRPr sz="2200" kern="1200" cap="none" spc="0" baseline="0">
                <a:solidFill>
                  <a:schemeClr val="accent1">
                    <a:lumMod val="20000"/>
                    <a:lumOff val="80000"/>
                  </a:schemeClr>
                </a:solidFill>
                <a:latin typeface="+mn-lt"/>
                <a:ea typeface="+mn-ea"/>
                <a:cs typeface="+mn-cs"/>
              </a:defRPr>
            </a:lvl1pPr>
            <a:lvl2pPr marL="457200" indent="0" algn="ctr" defTabSz="914400" rtl="0" eaLnBrk="1" latinLnBrk="0" hangingPunct="1">
              <a:lnSpc>
                <a:spcPct val="90000"/>
              </a:lnSpc>
              <a:spcBef>
                <a:spcPts val="250"/>
              </a:spcBef>
              <a:spcAft>
                <a:spcPts val="250"/>
              </a:spcAft>
              <a:buClr>
                <a:schemeClr val="accent1"/>
              </a:buClr>
              <a:buFont typeface="Wingdings 2" pitchFamily="18" charset="2"/>
              <a:buNone/>
              <a:defRPr sz="2200" kern="1200">
                <a:solidFill>
                  <a:schemeClr val="tx1">
                    <a:lumMod val="65000"/>
                    <a:lumOff val="35000"/>
                  </a:schemeClr>
                </a:solidFill>
                <a:latin typeface="+mn-lt"/>
                <a:ea typeface="+mn-ea"/>
                <a:cs typeface="+mn-cs"/>
              </a:defRPr>
            </a:lvl2pPr>
            <a:lvl3pPr marL="914400" indent="0" algn="ctr" defTabSz="914400" rtl="0" eaLnBrk="1" latinLnBrk="0" hangingPunct="1">
              <a:lnSpc>
                <a:spcPct val="90000"/>
              </a:lnSpc>
              <a:spcBef>
                <a:spcPts val="250"/>
              </a:spcBef>
              <a:spcAft>
                <a:spcPts val="250"/>
              </a:spcAft>
              <a:buClr>
                <a:schemeClr val="accent1"/>
              </a:buClr>
              <a:buFont typeface="Wingdings 2" pitchFamily="18" charset="2"/>
              <a:buNone/>
              <a:defRPr sz="2200" kern="1200">
                <a:solidFill>
                  <a:schemeClr val="tx1">
                    <a:lumMod val="65000"/>
                    <a:lumOff val="35000"/>
                  </a:schemeClr>
                </a:solidFill>
                <a:latin typeface="+mn-lt"/>
                <a:ea typeface="+mn-ea"/>
                <a:cs typeface="+mn-cs"/>
              </a:defRPr>
            </a:lvl3pPr>
            <a:lvl4pPr marL="13716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4pPr>
            <a:lvl5pPr marL="18288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5pPr>
            <a:lvl6pPr marL="22860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6pPr>
            <a:lvl7pPr marL="27432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7pPr>
            <a:lvl8pPr marL="32004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8pPr>
            <a:lvl9pPr marL="36576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9pPr>
          </a:lstStyle>
          <a:p>
            <a:endParaRPr lang="en-IN" sz="2800" b="1" spc="-100" dirty="0">
              <a:solidFill>
                <a:schemeClr val="tx1">
                  <a:lumMod val="50000"/>
                  <a:lumOff val="50000"/>
                </a:schemeClr>
              </a:solidFill>
              <a:latin typeface="+mj-lt"/>
              <a:ea typeface="+mj-ea"/>
              <a:cs typeface="+mj-cs"/>
            </a:endParaRPr>
          </a:p>
        </p:txBody>
      </p:sp>
      <p:sp>
        <p:nvSpPr>
          <p:cNvPr id="9" name="Subtitle 8"/>
          <p:cNvSpPr>
            <a:spLocks noGrp="1"/>
          </p:cNvSpPr>
          <p:nvPr>
            <p:ph type="subTitle" idx="1"/>
          </p:nvPr>
        </p:nvSpPr>
        <p:spPr>
          <a:xfrm>
            <a:off x="525831" y="297763"/>
            <a:ext cx="10151134" cy="5072096"/>
          </a:xfrm>
        </p:spPr>
        <p:style>
          <a:lnRef idx="2">
            <a:schemeClr val="accent2"/>
          </a:lnRef>
          <a:fillRef idx="1">
            <a:schemeClr val="lt1"/>
          </a:fillRef>
          <a:effectRef idx="0">
            <a:schemeClr val="accent2"/>
          </a:effectRef>
          <a:fontRef idx="minor">
            <a:schemeClr val="dk1"/>
          </a:fontRef>
        </p:style>
        <p:txBody>
          <a:bodyPr>
            <a:normAutofit lnSpcReduction="10000"/>
          </a:bodyPr>
          <a:lstStyle/>
          <a:p>
            <a:pPr marL="457200" indent="-457200">
              <a:buFont typeface="Wingdings" panose="05000000000000000000" pitchFamily="2" charset="2"/>
              <a:buChar char="Ø"/>
            </a:pPr>
            <a:r>
              <a:rPr lang="en-IN" sz="3600" dirty="0">
                <a:ln w="0"/>
                <a:solidFill>
                  <a:schemeClr val="tx1"/>
                </a:solidFill>
                <a:latin typeface="Cambria" panose="02040503050406030204" pitchFamily="18" charset="0"/>
                <a:ea typeface="Cambria" panose="02040503050406030204" pitchFamily="18" charset="0"/>
              </a:rPr>
              <a:t>Security</a:t>
            </a:r>
          </a:p>
          <a:p>
            <a:pPr marL="457200" indent="-457200">
              <a:buFont typeface="Wingdings" panose="05000000000000000000" pitchFamily="2" charset="2"/>
              <a:buChar char="Ø"/>
            </a:pPr>
            <a:r>
              <a:rPr lang="en-IN" sz="3600" dirty="0">
                <a:ln w="0"/>
                <a:solidFill>
                  <a:schemeClr val="tx1"/>
                </a:solidFill>
                <a:latin typeface="Cambria" panose="02040503050406030204" pitchFamily="18" charset="0"/>
                <a:ea typeface="Cambria" panose="02040503050406030204" pitchFamily="18" charset="0"/>
              </a:rPr>
              <a:t>Integrity</a:t>
            </a:r>
          </a:p>
          <a:p>
            <a:pPr marL="457200" indent="-457200">
              <a:buFont typeface="Wingdings" panose="05000000000000000000" pitchFamily="2" charset="2"/>
              <a:buChar char="Ø"/>
            </a:pPr>
            <a:r>
              <a:rPr lang="en-IN" sz="3600" dirty="0">
                <a:ln w="0"/>
                <a:solidFill>
                  <a:schemeClr val="tx1"/>
                </a:solidFill>
                <a:latin typeface="Cambria" panose="02040503050406030204" pitchFamily="18" charset="0"/>
                <a:ea typeface="Cambria" panose="02040503050406030204" pitchFamily="18" charset="0"/>
              </a:rPr>
              <a:t>Authentication</a:t>
            </a:r>
          </a:p>
          <a:p>
            <a:pPr marL="457200" indent="-457200">
              <a:buFont typeface="Wingdings" panose="05000000000000000000" pitchFamily="2" charset="2"/>
              <a:buChar char="Ø"/>
            </a:pPr>
            <a:r>
              <a:rPr lang="en-IN" sz="3600" dirty="0">
                <a:ln w="0"/>
                <a:solidFill>
                  <a:schemeClr val="tx1"/>
                </a:solidFill>
                <a:latin typeface="Cambria" panose="02040503050406030204" pitchFamily="18" charset="0"/>
                <a:ea typeface="Cambria" panose="02040503050406030204" pitchFamily="18" charset="0"/>
              </a:rPr>
              <a:t>Authorization</a:t>
            </a:r>
          </a:p>
          <a:p>
            <a:pPr marL="457200" indent="-457200">
              <a:buFont typeface="Wingdings" panose="05000000000000000000" pitchFamily="2" charset="2"/>
              <a:buChar char="Ø"/>
            </a:pPr>
            <a:r>
              <a:rPr lang="en-IN" sz="3600" dirty="0">
                <a:ln w="0"/>
                <a:solidFill>
                  <a:schemeClr val="tx1"/>
                </a:solidFill>
                <a:latin typeface="Cambria" panose="02040503050406030204" pitchFamily="18" charset="0"/>
                <a:ea typeface="Cambria" panose="02040503050406030204" pitchFamily="18" charset="0"/>
              </a:rPr>
              <a:t>Data encryption</a:t>
            </a:r>
          </a:p>
          <a:p>
            <a:pPr marL="457200" indent="-457200">
              <a:buFont typeface="Wingdings" panose="05000000000000000000" pitchFamily="2" charset="2"/>
              <a:buChar char="Ø"/>
            </a:pPr>
            <a:r>
              <a:rPr lang="en-IN" sz="3600" dirty="0">
                <a:ln w="0"/>
                <a:solidFill>
                  <a:schemeClr val="tx1"/>
                </a:solidFill>
                <a:latin typeface="Cambria" panose="02040503050406030204" pitchFamily="18" charset="0"/>
                <a:ea typeface="Cambria" panose="02040503050406030204" pitchFamily="18" charset="0"/>
              </a:rPr>
              <a:t>Access control</a:t>
            </a:r>
          </a:p>
          <a:p>
            <a:pPr marL="457200" indent="-457200">
              <a:buFont typeface="Wingdings" panose="05000000000000000000" pitchFamily="2" charset="2"/>
              <a:buChar char="Ø"/>
            </a:pPr>
            <a:r>
              <a:rPr lang="en-IN" sz="3600" dirty="0">
                <a:ln w="0"/>
                <a:solidFill>
                  <a:schemeClr val="tx1"/>
                </a:solidFill>
                <a:latin typeface="Cambria" panose="02040503050406030204" pitchFamily="18" charset="0"/>
                <a:ea typeface="Cambria" panose="02040503050406030204" pitchFamily="18" charset="0"/>
              </a:rPr>
              <a:t>Intrusion detection system</a:t>
            </a:r>
          </a:p>
          <a:p>
            <a:pPr marL="457200" indent="-457200">
              <a:buFont typeface="Wingdings" panose="05000000000000000000" pitchFamily="2" charset="2"/>
              <a:buChar char="Ø"/>
            </a:pPr>
            <a:r>
              <a:rPr lang="en-IN" sz="3600" dirty="0" err="1">
                <a:ln w="0"/>
                <a:solidFill>
                  <a:schemeClr val="tx1"/>
                </a:solidFill>
                <a:latin typeface="Cambria" panose="02040503050406030204" pitchFamily="18" charset="0"/>
                <a:ea typeface="Cambria" panose="02040503050406030204" pitchFamily="18" charset="0"/>
              </a:rPr>
              <a:t>Sql</a:t>
            </a:r>
            <a:r>
              <a:rPr lang="en-IN" sz="3600" dirty="0">
                <a:ln w="0"/>
                <a:solidFill>
                  <a:schemeClr val="tx1"/>
                </a:solidFill>
                <a:latin typeface="Cambria" panose="02040503050406030204" pitchFamily="18" charset="0"/>
                <a:ea typeface="Cambria" panose="02040503050406030204" pitchFamily="18" charset="0"/>
              </a:rPr>
              <a:t> injection</a:t>
            </a:r>
          </a:p>
        </p:txBody>
      </p:sp>
    </p:spTree>
    <p:extLst>
      <p:ext uri="{BB962C8B-B14F-4D97-AF65-F5344CB8AC3E}">
        <p14:creationId xmlns:p14="http://schemas.microsoft.com/office/powerpoint/2010/main" val="3471075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Security and Integrity</a:t>
            </a:r>
          </a:p>
        </p:txBody>
      </p:sp>
      <p:graphicFrame>
        <p:nvGraphicFramePr>
          <p:cNvPr id="3" name="Table 2"/>
          <p:cNvGraphicFramePr>
            <a:graphicFrameLocks noGrp="1"/>
          </p:cNvGraphicFramePr>
          <p:nvPr>
            <p:extLst>
              <p:ext uri="{D42A27DB-BD31-4B8C-83A1-F6EECF244321}">
                <p14:modId xmlns:p14="http://schemas.microsoft.com/office/powerpoint/2010/main" val="105097212"/>
              </p:ext>
            </p:extLst>
          </p:nvPr>
        </p:nvGraphicFramePr>
        <p:xfrm>
          <a:off x="3821229" y="221383"/>
          <a:ext cx="7507706" cy="5929160"/>
        </p:xfrm>
        <a:graphic>
          <a:graphicData uri="http://schemas.openxmlformats.org/drawingml/2006/table">
            <a:tbl>
              <a:tblPr firstRow="1" firstCol="1" bandRow="1">
                <a:tableStyleId>{5C22544A-7EE6-4342-B048-85BDC9FD1C3A}</a:tableStyleId>
              </a:tblPr>
              <a:tblGrid>
                <a:gridCol w="3753853">
                  <a:extLst>
                    <a:ext uri="{9D8B030D-6E8A-4147-A177-3AD203B41FA5}">
                      <a16:colId xmlns:a16="http://schemas.microsoft.com/office/drawing/2014/main" val="20000"/>
                    </a:ext>
                  </a:extLst>
                </a:gridCol>
                <a:gridCol w="3753853">
                  <a:extLst>
                    <a:ext uri="{9D8B030D-6E8A-4147-A177-3AD203B41FA5}">
                      <a16:colId xmlns:a16="http://schemas.microsoft.com/office/drawing/2014/main" val="20001"/>
                    </a:ext>
                  </a:extLst>
                </a:gridCol>
              </a:tblGrid>
              <a:tr h="482922">
                <a:tc>
                  <a:txBody>
                    <a:bodyPr/>
                    <a:lstStyle/>
                    <a:p>
                      <a:pPr marL="0" marR="0" algn="just">
                        <a:lnSpc>
                          <a:spcPct val="107000"/>
                        </a:lnSpc>
                        <a:spcBef>
                          <a:spcPts val="0"/>
                        </a:spcBef>
                        <a:spcAft>
                          <a:spcPts val="0"/>
                        </a:spcAft>
                      </a:pPr>
                      <a:r>
                        <a:rPr lang="en-US" sz="2000" b="1" dirty="0">
                          <a:solidFill>
                            <a:schemeClr val="tx1"/>
                          </a:solidFill>
                          <a:effectLst/>
                          <a:latin typeface="Cambria" panose="02040503050406030204" pitchFamily="18" charset="0"/>
                          <a:ea typeface="Cambria" panose="02040503050406030204" pitchFamily="18" charset="0"/>
                        </a:rPr>
                        <a:t>Security</a:t>
                      </a:r>
                      <a:endParaRPr lang="en-US" sz="2000" b="1"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tc>
                  <a:txBody>
                    <a:bodyPr/>
                    <a:lstStyle/>
                    <a:p>
                      <a:pPr marL="0" marR="0" algn="just">
                        <a:lnSpc>
                          <a:spcPct val="107000"/>
                        </a:lnSpc>
                        <a:spcBef>
                          <a:spcPts val="0"/>
                        </a:spcBef>
                        <a:spcAft>
                          <a:spcPts val="0"/>
                        </a:spcAft>
                      </a:pPr>
                      <a:r>
                        <a:rPr lang="en-US" sz="2000" b="1" dirty="0">
                          <a:solidFill>
                            <a:schemeClr val="tx1"/>
                          </a:solidFill>
                          <a:effectLst/>
                          <a:latin typeface="Cambria" panose="02040503050406030204" pitchFamily="18" charset="0"/>
                          <a:ea typeface="Cambria" panose="02040503050406030204" pitchFamily="18" charset="0"/>
                        </a:rPr>
                        <a:t>Integrity</a:t>
                      </a:r>
                      <a:endParaRPr lang="en-US" sz="2000" b="1"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10000"/>
                  </a:ext>
                </a:extLst>
              </a:tr>
              <a:tr h="1493463">
                <a:tc>
                  <a:txBody>
                    <a:bodyPr/>
                    <a:lstStyle/>
                    <a:p>
                      <a:pPr marL="0" marR="0">
                        <a:lnSpc>
                          <a:spcPct val="107000"/>
                        </a:lnSpc>
                        <a:spcBef>
                          <a:spcPts val="0"/>
                        </a:spcBef>
                        <a:spcAft>
                          <a:spcPts val="0"/>
                        </a:spcAft>
                      </a:pPr>
                      <a:r>
                        <a:rPr lang="en-US" sz="2000" b="0" dirty="0">
                          <a:solidFill>
                            <a:schemeClr val="tx1"/>
                          </a:solidFill>
                          <a:effectLst/>
                          <a:latin typeface="Cambria" panose="02040503050406030204" pitchFamily="18" charset="0"/>
                          <a:ea typeface="Cambria" panose="02040503050406030204" pitchFamily="18" charset="0"/>
                        </a:rPr>
                        <a:t>Security ensures that things users are doing are only what they are allowed to do.</a:t>
                      </a:r>
                      <a:endParaRPr lang="en-US" sz="2000" b="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tc>
                  <a:txBody>
                    <a:bodyPr/>
                    <a:lstStyle/>
                    <a:p>
                      <a:pPr marL="0" marR="0">
                        <a:lnSpc>
                          <a:spcPct val="107000"/>
                        </a:lnSpc>
                        <a:spcBef>
                          <a:spcPts val="0"/>
                        </a:spcBef>
                        <a:spcAft>
                          <a:spcPts val="0"/>
                        </a:spcAft>
                      </a:pPr>
                      <a:r>
                        <a:rPr lang="en-US" sz="2000" b="0">
                          <a:solidFill>
                            <a:schemeClr val="tx1"/>
                          </a:solidFill>
                          <a:effectLst/>
                          <a:latin typeface="Cambria" panose="02040503050406030204" pitchFamily="18" charset="0"/>
                          <a:ea typeface="Cambria" panose="02040503050406030204" pitchFamily="18" charset="0"/>
                        </a:rPr>
                        <a:t>Integrity ensures that the things the users are trying to do are correct.</a:t>
                      </a:r>
                      <a:endParaRPr lang="en-US" sz="2000" b="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10001"/>
                  </a:ext>
                </a:extLst>
              </a:tr>
              <a:tr h="482922">
                <a:tc>
                  <a:txBody>
                    <a:bodyPr/>
                    <a:lstStyle/>
                    <a:p>
                      <a:pPr marL="0" marR="0" algn="just">
                        <a:lnSpc>
                          <a:spcPct val="107000"/>
                        </a:lnSpc>
                        <a:spcBef>
                          <a:spcPts val="0"/>
                        </a:spcBef>
                        <a:spcAft>
                          <a:spcPts val="0"/>
                        </a:spcAft>
                      </a:pPr>
                      <a:r>
                        <a:rPr lang="en-US" sz="2000" b="0" dirty="0">
                          <a:solidFill>
                            <a:schemeClr val="tx1"/>
                          </a:solidFill>
                          <a:effectLst/>
                          <a:latin typeface="Cambria" panose="02040503050406030204" pitchFamily="18" charset="0"/>
                          <a:ea typeface="Cambria" panose="02040503050406030204" pitchFamily="18" charset="0"/>
                        </a:rPr>
                        <a:t>It deals with protection of data.</a:t>
                      </a:r>
                      <a:endParaRPr lang="en-US" sz="2000" b="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tc>
                  <a:txBody>
                    <a:bodyPr/>
                    <a:lstStyle/>
                    <a:p>
                      <a:pPr marL="0" marR="0" algn="just">
                        <a:lnSpc>
                          <a:spcPct val="107000"/>
                        </a:lnSpc>
                        <a:spcBef>
                          <a:spcPts val="0"/>
                        </a:spcBef>
                        <a:spcAft>
                          <a:spcPts val="0"/>
                        </a:spcAft>
                      </a:pPr>
                      <a:r>
                        <a:rPr lang="en-US" sz="2000" b="0" dirty="0">
                          <a:solidFill>
                            <a:schemeClr val="tx1"/>
                          </a:solidFill>
                          <a:effectLst/>
                          <a:latin typeface="Cambria" panose="02040503050406030204" pitchFamily="18" charset="0"/>
                          <a:ea typeface="Cambria" panose="02040503050406030204" pitchFamily="18" charset="0"/>
                        </a:rPr>
                        <a:t>It deals with the data.</a:t>
                      </a:r>
                      <a:endParaRPr lang="en-US" sz="2000" b="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10002"/>
                  </a:ext>
                </a:extLst>
              </a:tr>
              <a:tr h="1493463">
                <a:tc>
                  <a:txBody>
                    <a:bodyPr/>
                    <a:lstStyle/>
                    <a:p>
                      <a:pPr marL="0" marR="0" algn="just">
                        <a:lnSpc>
                          <a:spcPct val="107000"/>
                        </a:lnSpc>
                        <a:spcBef>
                          <a:spcPts val="0"/>
                        </a:spcBef>
                        <a:spcAft>
                          <a:spcPts val="0"/>
                        </a:spcAft>
                      </a:pPr>
                      <a:r>
                        <a:rPr lang="en-US" sz="2000" b="0" dirty="0">
                          <a:solidFill>
                            <a:schemeClr val="tx1"/>
                          </a:solidFill>
                          <a:effectLst/>
                          <a:latin typeface="Cambria" panose="02040503050406030204" pitchFamily="18" charset="0"/>
                          <a:ea typeface="Cambria" panose="02040503050406030204" pitchFamily="18" charset="0"/>
                        </a:rPr>
                        <a:t>Data security defines a prevention of data corruption through the use of controlled access mechanism.</a:t>
                      </a:r>
                      <a:endParaRPr lang="en-US" sz="2000" b="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tc>
                  <a:txBody>
                    <a:bodyPr/>
                    <a:lstStyle/>
                    <a:p>
                      <a:pPr marL="0" marR="0" algn="just">
                        <a:lnSpc>
                          <a:spcPct val="107000"/>
                        </a:lnSpc>
                        <a:spcBef>
                          <a:spcPts val="0"/>
                        </a:spcBef>
                        <a:spcAft>
                          <a:spcPts val="0"/>
                        </a:spcAft>
                      </a:pPr>
                      <a:r>
                        <a:rPr lang="en-US" sz="2000" b="0" dirty="0">
                          <a:solidFill>
                            <a:schemeClr val="tx1"/>
                          </a:solidFill>
                          <a:effectLst/>
                          <a:latin typeface="Cambria" panose="02040503050406030204" pitchFamily="18" charset="0"/>
                          <a:ea typeface="Cambria" panose="02040503050406030204" pitchFamily="18" charset="0"/>
                        </a:rPr>
                        <a:t>Data integrity defines a quality of data, which guarantees the data is complete and has a whole structure.</a:t>
                      </a:r>
                      <a:endParaRPr lang="en-US" sz="2000" b="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10003"/>
                  </a:ext>
                </a:extLst>
              </a:tr>
              <a:tr h="988195">
                <a:tc>
                  <a:txBody>
                    <a:bodyPr/>
                    <a:lstStyle/>
                    <a:p>
                      <a:pPr marL="0" marR="0" algn="just">
                        <a:lnSpc>
                          <a:spcPct val="107000"/>
                        </a:lnSpc>
                        <a:spcBef>
                          <a:spcPts val="0"/>
                        </a:spcBef>
                        <a:spcAft>
                          <a:spcPts val="0"/>
                        </a:spcAft>
                      </a:pPr>
                      <a:r>
                        <a:rPr lang="en-US" sz="2000" b="0" dirty="0">
                          <a:solidFill>
                            <a:schemeClr val="tx1"/>
                          </a:solidFill>
                          <a:effectLst/>
                          <a:latin typeface="Cambria" panose="02040503050406030204" pitchFamily="18" charset="0"/>
                          <a:ea typeface="Cambria" panose="02040503050406030204" pitchFamily="18" charset="0"/>
                        </a:rPr>
                        <a:t>It refers to making sure that data is accessed by its intended user.</a:t>
                      </a:r>
                      <a:endParaRPr lang="en-US" sz="2000" b="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tc>
                  <a:txBody>
                    <a:bodyPr/>
                    <a:lstStyle/>
                    <a:p>
                      <a:pPr marL="0" marR="0" algn="just">
                        <a:lnSpc>
                          <a:spcPct val="107000"/>
                        </a:lnSpc>
                        <a:spcBef>
                          <a:spcPts val="0"/>
                        </a:spcBef>
                        <a:spcAft>
                          <a:spcPts val="0"/>
                        </a:spcAft>
                      </a:pPr>
                      <a:r>
                        <a:rPr lang="en-US" sz="2000" b="0">
                          <a:solidFill>
                            <a:schemeClr val="tx1"/>
                          </a:solidFill>
                          <a:effectLst/>
                          <a:latin typeface="Cambria" panose="02040503050406030204" pitchFamily="18" charset="0"/>
                          <a:ea typeface="Cambria" panose="02040503050406030204" pitchFamily="18" charset="0"/>
                        </a:rPr>
                        <a:t>It refers to structure of data and how it matches the schema of database.</a:t>
                      </a:r>
                      <a:endParaRPr lang="en-US" sz="2000" b="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10004"/>
                  </a:ext>
                </a:extLst>
              </a:tr>
              <a:tr h="988195">
                <a:tc>
                  <a:txBody>
                    <a:bodyPr/>
                    <a:lstStyle/>
                    <a:p>
                      <a:pPr marL="0" marR="0" algn="just">
                        <a:lnSpc>
                          <a:spcPct val="107000"/>
                        </a:lnSpc>
                        <a:spcBef>
                          <a:spcPts val="0"/>
                        </a:spcBef>
                        <a:spcAft>
                          <a:spcPts val="0"/>
                        </a:spcAft>
                      </a:pPr>
                      <a:r>
                        <a:rPr lang="en-US" sz="2000" b="0" dirty="0">
                          <a:solidFill>
                            <a:schemeClr val="tx1"/>
                          </a:solidFill>
                          <a:effectLst/>
                          <a:latin typeface="Cambria" panose="02040503050406030204" pitchFamily="18" charset="0"/>
                          <a:ea typeface="Cambria" panose="02040503050406030204" pitchFamily="18" charset="0"/>
                        </a:rPr>
                        <a:t>Authentication, authorization, encryptions are means of security.</a:t>
                      </a:r>
                      <a:endParaRPr lang="en-US" sz="2000" b="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tc>
                  <a:txBody>
                    <a:bodyPr/>
                    <a:lstStyle/>
                    <a:p>
                      <a:pPr marL="0" marR="0" algn="just">
                        <a:lnSpc>
                          <a:spcPct val="107000"/>
                        </a:lnSpc>
                        <a:spcBef>
                          <a:spcPts val="0"/>
                        </a:spcBef>
                        <a:spcAft>
                          <a:spcPts val="0"/>
                        </a:spcAft>
                      </a:pPr>
                      <a:r>
                        <a:rPr lang="en-US" sz="2000" b="0" dirty="0">
                          <a:solidFill>
                            <a:schemeClr val="tx1"/>
                          </a:solidFill>
                          <a:effectLst/>
                          <a:latin typeface="Cambria" panose="02040503050406030204" pitchFamily="18" charset="0"/>
                          <a:ea typeface="Cambria" panose="02040503050406030204" pitchFamily="18" charset="0"/>
                        </a:rPr>
                        <a:t>Backing up, error detection, error correction are means of data integrity.</a:t>
                      </a:r>
                      <a:endParaRPr lang="en-US" sz="2000" b="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11310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Database Security</a:t>
            </a:r>
          </a:p>
        </p:txBody>
      </p:sp>
      <p:sp>
        <p:nvSpPr>
          <p:cNvPr id="3" name="Rectangle 2"/>
          <p:cNvSpPr/>
          <p:nvPr/>
        </p:nvSpPr>
        <p:spPr>
          <a:xfrm>
            <a:off x="3364030" y="567235"/>
            <a:ext cx="8292163" cy="5714385"/>
          </a:xfrm>
          <a:prstGeom prst="rect">
            <a:avLst/>
          </a:prstGeom>
        </p:spPr>
        <p:txBody>
          <a:bodyPr wrap="square">
            <a:spAutoFit/>
          </a:bodyPr>
          <a:lstStyle/>
          <a:p>
            <a:pPr marL="342900" marR="0" lvl="0" indent="-342900" algn="just">
              <a:spcBef>
                <a:spcPts val="0"/>
              </a:spcBef>
              <a:spcAft>
                <a:spcPts val="825"/>
              </a:spcAft>
              <a:buFont typeface="Wingdings" panose="05000000000000000000" pitchFamily="2" charset="2"/>
              <a:buChar char=""/>
            </a:pPr>
            <a:r>
              <a:rPr lang="en-US" sz="2200" dirty="0">
                <a:latin typeface="Cambria" panose="02040503050406030204" pitchFamily="18" charset="0"/>
                <a:ea typeface="Cambria" panose="02040503050406030204" pitchFamily="18" charset="0"/>
              </a:rPr>
              <a:t>Database security refers to the collective measures used to protect and secure a database or database management software from illegitimate use and malicious threats and attacks. Protection of data from unauthorized user is data security.</a:t>
            </a:r>
          </a:p>
          <a:p>
            <a:pPr marL="342900" marR="0" lvl="0" indent="-342900" algn="just">
              <a:spcBef>
                <a:spcPts val="0"/>
              </a:spcBef>
              <a:spcAft>
                <a:spcPts val="375"/>
              </a:spcAft>
              <a:buFont typeface="Wingdings" panose="05000000000000000000" pitchFamily="2" charset="2"/>
              <a:buChar char=""/>
            </a:pPr>
            <a:r>
              <a:rPr lang="en-US" sz="2200" dirty="0">
                <a:latin typeface="Cambria" panose="02040503050406030204" pitchFamily="18" charset="0"/>
                <a:ea typeface="Cambria" panose="02040503050406030204" pitchFamily="18" charset="0"/>
              </a:rPr>
              <a:t>Database security is generally planned, implemented and maintained by a database administrator and or other information security professional.</a:t>
            </a:r>
          </a:p>
          <a:p>
            <a:pPr marL="342900" marR="0" lvl="0" indent="-342900" algn="just">
              <a:spcBef>
                <a:spcPts val="0"/>
              </a:spcBef>
              <a:spcAft>
                <a:spcPts val="375"/>
              </a:spcAft>
              <a:buFont typeface="Wingdings" panose="05000000000000000000" pitchFamily="2" charset="2"/>
              <a:buChar char=""/>
            </a:pPr>
            <a:r>
              <a:rPr lang="en-US" sz="2200" dirty="0">
                <a:latin typeface="Cambria" panose="02040503050406030204" pitchFamily="18" charset="0"/>
                <a:ea typeface="Cambria" panose="02040503050406030204" pitchFamily="18" charset="0"/>
              </a:rPr>
              <a:t>It is most important to secure the database from unauthorized user. For example, if your company collects any data about customers, suppliers, or the wider community, it is stored on a database somewhere. </a:t>
            </a:r>
          </a:p>
          <a:p>
            <a:pPr marL="342900" marR="0" lvl="0" indent="-342900" algn="just">
              <a:spcBef>
                <a:spcPts val="0"/>
              </a:spcBef>
              <a:spcAft>
                <a:spcPts val="375"/>
              </a:spcAft>
              <a:buFont typeface="Wingdings" panose="05000000000000000000" pitchFamily="2" charset="2"/>
              <a:buChar char=""/>
            </a:pPr>
            <a:r>
              <a:rPr lang="en-US" sz="2200" dirty="0">
                <a:latin typeface="Cambria" panose="02040503050406030204" pitchFamily="18" charset="0"/>
                <a:ea typeface="Cambria" panose="02040503050406030204" pitchFamily="18" charset="0"/>
              </a:rPr>
              <a:t>This data may be sensitive and private, and can be subject to strict privacy agreements including those referred to above. Your customers may provide you with an email address, postal address, and phone number when they purchase something from you. It is very important to secure their information.</a:t>
            </a:r>
          </a:p>
        </p:txBody>
      </p:sp>
    </p:spTree>
    <p:extLst>
      <p:ext uri="{BB962C8B-B14F-4D97-AF65-F5344CB8AC3E}">
        <p14:creationId xmlns:p14="http://schemas.microsoft.com/office/powerpoint/2010/main" val="3403592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Database Security</a:t>
            </a:r>
            <a:endParaRPr lang="en-US" b="1" dirty="0">
              <a:solidFill>
                <a:schemeClr val="tx1"/>
              </a:solidFill>
              <a:latin typeface="+mn-lt"/>
            </a:endParaRPr>
          </a:p>
        </p:txBody>
      </p:sp>
      <p:sp>
        <p:nvSpPr>
          <p:cNvPr id="3" name="Rectangle 2"/>
          <p:cNvSpPr/>
          <p:nvPr/>
        </p:nvSpPr>
        <p:spPr>
          <a:xfrm>
            <a:off x="3808395" y="604073"/>
            <a:ext cx="7703419" cy="4257576"/>
          </a:xfrm>
          <a:prstGeom prst="rect">
            <a:avLst/>
          </a:prstGeom>
        </p:spPr>
        <p:txBody>
          <a:bodyPr wrap="square">
            <a:spAutoFit/>
          </a:bodyPr>
          <a:lstStyle/>
          <a:p>
            <a:pPr marL="342900" marR="0" lvl="0" indent="-342900" algn="just">
              <a:spcBef>
                <a:spcPts val="0"/>
              </a:spcBef>
              <a:spcAft>
                <a:spcPts val="375"/>
              </a:spcAft>
              <a:buFont typeface="Wingdings" panose="05000000000000000000" pitchFamily="2" charset="2"/>
              <a:buChar char=""/>
            </a:pPr>
            <a:r>
              <a:rPr lang="en-US" sz="2400" dirty="0">
                <a:latin typeface="Cambria" panose="02040503050406030204" pitchFamily="18" charset="0"/>
                <a:ea typeface="Cambria" panose="02040503050406030204" pitchFamily="18" charset="0"/>
              </a:rPr>
              <a:t>It includes a multitude of processes, tools and methodologies that ensure security within a database environment.</a:t>
            </a:r>
          </a:p>
          <a:p>
            <a:pPr marL="342900" marR="0" lvl="0" indent="-342900" algn="just">
              <a:spcBef>
                <a:spcPts val="0"/>
              </a:spcBef>
              <a:spcAft>
                <a:spcPts val="375"/>
              </a:spcAft>
              <a:buFont typeface="Wingdings" panose="05000000000000000000" pitchFamily="2" charset="2"/>
              <a:buChar char=""/>
            </a:pPr>
            <a:r>
              <a:rPr lang="en-US" sz="2400" dirty="0">
                <a:latin typeface="Cambria" panose="02040503050406030204" pitchFamily="18" charset="0"/>
                <a:ea typeface="Cambria" panose="02040503050406030204" pitchFamily="18" charset="0"/>
              </a:rPr>
              <a:t>Data Security is a process of protecting files, databases, and accounts on a network by adopting a set of controls, applications, and techniques that identify the relative importance of different datasets, their sensitivity, regulatory compliance requirements and then applying appropriate protections to secure those resources.</a:t>
            </a:r>
          </a:p>
          <a:p>
            <a:pPr marL="342900" marR="0" lvl="0" indent="-342900" algn="just">
              <a:spcBef>
                <a:spcPts val="0"/>
              </a:spcBef>
              <a:spcAft>
                <a:spcPts val="375"/>
              </a:spcAft>
              <a:buFont typeface="Wingdings" panose="05000000000000000000" pitchFamily="2" charset="2"/>
              <a:buChar char=""/>
            </a:pP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77706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Cambria" panose="02040503050406030204" pitchFamily="18" charset="0"/>
                <a:ea typeface="Cambria" panose="02040503050406030204" pitchFamily="18" charset="0"/>
              </a:rPr>
              <a:t>Objectives Database Security</a:t>
            </a:r>
            <a:endParaRPr lang="en-US" b="1" dirty="0">
              <a:solidFill>
                <a:schemeClr val="tx1"/>
              </a:solidFill>
              <a:latin typeface="+mn-lt"/>
            </a:endParaRPr>
          </a:p>
        </p:txBody>
      </p:sp>
      <p:sp>
        <p:nvSpPr>
          <p:cNvPr id="3" name="Rectangle 2"/>
          <p:cNvSpPr/>
          <p:nvPr/>
        </p:nvSpPr>
        <p:spPr>
          <a:xfrm>
            <a:off x="3808395" y="604073"/>
            <a:ext cx="7703419" cy="3785652"/>
          </a:xfrm>
          <a:prstGeom prst="rect">
            <a:avLst/>
          </a:prstGeom>
        </p:spPr>
        <p:txBody>
          <a:bodyPr wrap="square">
            <a:spAutoFit/>
          </a:bodyPr>
          <a:lstStyle/>
          <a:p>
            <a:pPr marL="457200" indent="-457200" algn="just">
              <a:buAutoNum type="arabicParenR"/>
            </a:pPr>
            <a:r>
              <a:rPr lang="en-US" sz="2400" dirty="0">
                <a:latin typeface="Cambria" panose="02040503050406030204" pitchFamily="18" charset="0"/>
                <a:ea typeface="Cambria" panose="02040503050406030204" pitchFamily="18" charset="0"/>
              </a:rPr>
              <a:t>Secrecy: Information should not be disclosed to unauthorized users. E.g. student’s grade cannot to examine by student. </a:t>
            </a:r>
          </a:p>
          <a:p>
            <a:pPr algn="just"/>
            <a:endParaRPr lang="en-US" sz="2400" dirty="0">
              <a:latin typeface="Cambria" panose="02040503050406030204" pitchFamily="18" charset="0"/>
              <a:ea typeface="Cambria" panose="02040503050406030204" pitchFamily="18" charset="0"/>
            </a:endParaRPr>
          </a:p>
          <a:p>
            <a:pPr algn="just"/>
            <a:r>
              <a:rPr lang="en-US" sz="2400" dirty="0">
                <a:latin typeface="Cambria" panose="02040503050406030204" pitchFamily="18" charset="0"/>
                <a:ea typeface="Cambria" panose="02040503050406030204" pitchFamily="18" charset="0"/>
              </a:rPr>
              <a:t>2) Reliability: Only authorized users modify the data. E.g. student see their result but not modified them.</a:t>
            </a:r>
          </a:p>
          <a:p>
            <a:pPr algn="just"/>
            <a:endParaRPr lang="en-US" sz="2400" dirty="0">
              <a:latin typeface="Cambria" panose="02040503050406030204" pitchFamily="18" charset="0"/>
              <a:ea typeface="Cambria" panose="02040503050406030204" pitchFamily="18" charset="0"/>
            </a:endParaRPr>
          </a:p>
          <a:p>
            <a:pPr algn="just"/>
            <a:r>
              <a:rPr lang="en-US" sz="2400" dirty="0">
                <a:latin typeface="Cambria" panose="02040503050406030204" pitchFamily="18" charset="0"/>
                <a:ea typeface="Cambria" panose="02040503050406030204" pitchFamily="18" charset="0"/>
              </a:rPr>
              <a:t>3) Availability: Authorized uses should not be denied access. E.g. an instructor should be allowed to change result.</a:t>
            </a:r>
          </a:p>
        </p:txBody>
      </p:sp>
    </p:spTree>
    <p:extLst>
      <p:ext uri="{BB962C8B-B14F-4D97-AF65-F5344CB8AC3E}">
        <p14:creationId xmlns:p14="http://schemas.microsoft.com/office/powerpoint/2010/main" val="245443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730" y="1123837"/>
            <a:ext cx="3177539" cy="4601183"/>
          </a:xfrm>
        </p:spPr>
        <p:txBody>
          <a:bodyPr>
            <a:normAutofit/>
          </a:bodyPr>
          <a:lstStyle/>
          <a:p>
            <a:r>
              <a:rPr lang="en-US" sz="3400" b="1" dirty="0">
                <a:solidFill>
                  <a:schemeClr val="tx1"/>
                </a:solidFill>
                <a:latin typeface="Cambria" panose="02040503050406030204" pitchFamily="18" charset="0"/>
                <a:ea typeface="Cambria" panose="02040503050406030204" pitchFamily="18" charset="0"/>
              </a:rPr>
              <a:t>Authorization and Authentication</a:t>
            </a:r>
          </a:p>
        </p:txBody>
      </p:sp>
      <p:graphicFrame>
        <p:nvGraphicFramePr>
          <p:cNvPr id="4" name="Table 3"/>
          <p:cNvGraphicFramePr>
            <a:graphicFrameLocks noGrp="1"/>
          </p:cNvGraphicFramePr>
          <p:nvPr>
            <p:extLst>
              <p:ext uri="{D42A27DB-BD31-4B8C-83A1-F6EECF244321}">
                <p14:modId xmlns:p14="http://schemas.microsoft.com/office/powerpoint/2010/main" val="39519646"/>
              </p:ext>
            </p:extLst>
          </p:nvPr>
        </p:nvGraphicFramePr>
        <p:xfrm>
          <a:off x="4273616" y="779645"/>
          <a:ext cx="7133522" cy="5815465"/>
        </p:xfrm>
        <a:graphic>
          <a:graphicData uri="http://schemas.openxmlformats.org/drawingml/2006/table">
            <a:tbl>
              <a:tblPr firstRow="1" firstCol="1" bandRow="1">
                <a:tableStyleId>{5C22544A-7EE6-4342-B048-85BDC9FD1C3A}</a:tableStyleId>
              </a:tblPr>
              <a:tblGrid>
                <a:gridCol w="3566761">
                  <a:extLst>
                    <a:ext uri="{9D8B030D-6E8A-4147-A177-3AD203B41FA5}">
                      <a16:colId xmlns:a16="http://schemas.microsoft.com/office/drawing/2014/main" val="20000"/>
                    </a:ext>
                  </a:extLst>
                </a:gridCol>
                <a:gridCol w="3566761">
                  <a:extLst>
                    <a:ext uri="{9D8B030D-6E8A-4147-A177-3AD203B41FA5}">
                      <a16:colId xmlns:a16="http://schemas.microsoft.com/office/drawing/2014/main" val="20001"/>
                    </a:ext>
                  </a:extLst>
                </a:gridCol>
              </a:tblGrid>
              <a:tr h="474241">
                <a:tc>
                  <a:txBody>
                    <a:bodyPr/>
                    <a:lstStyle/>
                    <a:p>
                      <a:pPr marL="0" marR="0" algn="just">
                        <a:lnSpc>
                          <a:spcPct val="107000"/>
                        </a:lnSpc>
                        <a:spcBef>
                          <a:spcPts val="0"/>
                        </a:spcBef>
                        <a:spcAft>
                          <a:spcPts val="800"/>
                        </a:spcAft>
                      </a:pPr>
                      <a:r>
                        <a:rPr lang="en-US" sz="2000" b="1" dirty="0">
                          <a:solidFill>
                            <a:schemeClr val="tx1"/>
                          </a:solidFill>
                          <a:effectLst/>
                          <a:latin typeface="Cambria" panose="02040503050406030204" pitchFamily="18" charset="0"/>
                          <a:ea typeface="Cambria" panose="02040503050406030204" pitchFamily="18" charset="0"/>
                        </a:rPr>
                        <a:t>Authentication</a:t>
                      </a:r>
                      <a:endParaRPr lang="en-US" sz="2000" b="1"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tc>
                  <a:txBody>
                    <a:bodyPr/>
                    <a:lstStyle/>
                    <a:p>
                      <a:pPr marL="0" marR="0" algn="just">
                        <a:lnSpc>
                          <a:spcPct val="107000"/>
                        </a:lnSpc>
                        <a:spcBef>
                          <a:spcPts val="0"/>
                        </a:spcBef>
                        <a:spcAft>
                          <a:spcPts val="800"/>
                        </a:spcAft>
                      </a:pPr>
                      <a:r>
                        <a:rPr lang="en-US" sz="2000" b="1" dirty="0">
                          <a:solidFill>
                            <a:schemeClr val="tx1"/>
                          </a:solidFill>
                          <a:effectLst/>
                          <a:latin typeface="Cambria" panose="02040503050406030204" pitchFamily="18" charset="0"/>
                          <a:ea typeface="Cambria" panose="02040503050406030204" pitchFamily="18" charset="0"/>
                        </a:rPr>
                        <a:t>Authorization</a:t>
                      </a:r>
                      <a:endParaRPr lang="en-US" sz="2000" b="1"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10000"/>
                  </a:ext>
                </a:extLst>
              </a:tr>
              <a:tr h="970428">
                <a:tc>
                  <a:txBody>
                    <a:bodyPr/>
                    <a:lstStyle/>
                    <a:p>
                      <a:pPr marL="0" marR="0" algn="just">
                        <a:lnSpc>
                          <a:spcPct val="107000"/>
                        </a:lnSpc>
                        <a:spcBef>
                          <a:spcPts val="0"/>
                        </a:spcBef>
                        <a:spcAft>
                          <a:spcPts val="800"/>
                        </a:spcAft>
                      </a:pPr>
                      <a:r>
                        <a:rPr lang="en-US" sz="2000" b="0" dirty="0">
                          <a:solidFill>
                            <a:schemeClr val="tx1"/>
                          </a:solidFill>
                          <a:effectLst/>
                          <a:latin typeface="Cambria" panose="02040503050406030204" pitchFamily="18" charset="0"/>
                          <a:ea typeface="Cambria" panose="02040503050406030204" pitchFamily="18" charset="0"/>
                        </a:rPr>
                        <a:t>Determines whether users are who they claim to be</a:t>
                      </a:r>
                      <a:endParaRPr lang="en-US" sz="2000" b="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tc>
                  <a:txBody>
                    <a:bodyPr/>
                    <a:lstStyle/>
                    <a:p>
                      <a:pPr marL="0" marR="0" algn="just">
                        <a:lnSpc>
                          <a:spcPct val="107000"/>
                        </a:lnSpc>
                        <a:spcBef>
                          <a:spcPts val="0"/>
                        </a:spcBef>
                        <a:spcAft>
                          <a:spcPts val="800"/>
                        </a:spcAft>
                      </a:pPr>
                      <a:r>
                        <a:rPr lang="en-US" sz="2000" b="0" dirty="0">
                          <a:solidFill>
                            <a:schemeClr val="tx1"/>
                          </a:solidFill>
                          <a:effectLst/>
                          <a:latin typeface="Cambria" panose="02040503050406030204" pitchFamily="18" charset="0"/>
                          <a:ea typeface="Cambria" panose="02040503050406030204" pitchFamily="18" charset="0"/>
                        </a:rPr>
                        <a:t>Determines what users can and cannot access</a:t>
                      </a:r>
                      <a:endParaRPr lang="en-US" sz="2000" b="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10001"/>
                  </a:ext>
                </a:extLst>
              </a:tr>
              <a:tr h="1133456">
                <a:tc>
                  <a:txBody>
                    <a:bodyPr/>
                    <a:lstStyle/>
                    <a:p>
                      <a:pPr marL="0" marR="0" algn="just">
                        <a:lnSpc>
                          <a:spcPct val="107000"/>
                        </a:lnSpc>
                        <a:spcBef>
                          <a:spcPts val="0"/>
                        </a:spcBef>
                        <a:spcAft>
                          <a:spcPts val="800"/>
                        </a:spcAft>
                      </a:pPr>
                      <a:r>
                        <a:rPr lang="en-US" sz="2000" b="0">
                          <a:solidFill>
                            <a:schemeClr val="tx1"/>
                          </a:solidFill>
                          <a:effectLst/>
                          <a:latin typeface="Cambria" panose="02040503050406030204" pitchFamily="18" charset="0"/>
                          <a:ea typeface="Cambria" panose="02040503050406030204" pitchFamily="18" charset="0"/>
                        </a:rPr>
                        <a:t>Checks the detail of an entity with a view of identifying the entity.</a:t>
                      </a:r>
                      <a:endParaRPr lang="en-US" sz="2000" b="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tc>
                  <a:txBody>
                    <a:bodyPr/>
                    <a:lstStyle/>
                    <a:p>
                      <a:pPr marL="0" marR="0" algn="just">
                        <a:lnSpc>
                          <a:spcPct val="107000"/>
                        </a:lnSpc>
                        <a:spcBef>
                          <a:spcPts val="0"/>
                        </a:spcBef>
                        <a:spcAft>
                          <a:spcPts val="800"/>
                        </a:spcAft>
                      </a:pPr>
                      <a:r>
                        <a:rPr lang="en-US" sz="2000" b="0">
                          <a:solidFill>
                            <a:schemeClr val="tx1"/>
                          </a:solidFill>
                          <a:effectLst/>
                          <a:latin typeface="Cambria" panose="02040503050406030204" pitchFamily="18" charset="0"/>
                          <a:ea typeface="Cambria" panose="02040503050406030204" pitchFamily="18" charset="0"/>
                        </a:rPr>
                        <a:t>Check the privileges of a user before providing the access.</a:t>
                      </a:r>
                      <a:endParaRPr lang="en-US" sz="2000" b="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10002"/>
                  </a:ext>
                </a:extLst>
              </a:tr>
              <a:tr h="1133456">
                <a:tc>
                  <a:txBody>
                    <a:bodyPr/>
                    <a:lstStyle/>
                    <a:p>
                      <a:pPr marL="0" marR="0" algn="just">
                        <a:lnSpc>
                          <a:spcPct val="107000"/>
                        </a:lnSpc>
                        <a:spcBef>
                          <a:spcPts val="0"/>
                        </a:spcBef>
                        <a:spcAft>
                          <a:spcPts val="0"/>
                        </a:spcAft>
                      </a:pPr>
                      <a:r>
                        <a:rPr lang="en-US" sz="2000" b="0">
                          <a:solidFill>
                            <a:schemeClr val="tx1"/>
                          </a:solidFill>
                          <a:effectLst/>
                          <a:latin typeface="Cambria" panose="02040503050406030204" pitchFamily="18" charset="0"/>
                          <a:ea typeface="Cambria" panose="02040503050406030204" pitchFamily="18" charset="0"/>
                        </a:rPr>
                        <a:t>In general, authentication needs a username and password.</a:t>
                      </a:r>
                      <a:endParaRPr lang="en-US" sz="2000" b="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tc>
                  <a:txBody>
                    <a:bodyPr/>
                    <a:lstStyle/>
                    <a:p>
                      <a:pPr marL="0" marR="0" algn="just">
                        <a:lnSpc>
                          <a:spcPct val="107000"/>
                        </a:lnSpc>
                        <a:spcBef>
                          <a:spcPts val="0"/>
                        </a:spcBef>
                        <a:spcAft>
                          <a:spcPts val="800"/>
                        </a:spcAft>
                      </a:pPr>
                      <a:r>
                        <a:rPr lang="en-US" sz="2000" b="0">
                          <a:solidFill>
                            <a:schemeClr val="tx1"/>
                          </a:solidFill>
                          <a:effectLst/>
                          <a:latin typeface="Cambria" panose="02040503050406030204" pitchFamily="18" charset="0"/>
                          <a:ea typeface="Cambria" panose="02040503050406030204" pitchFamily="18" charset="0"/>
                        </a:rPr>
                        <a:t>The factors essential for authorization are likely to differ by the security level.</a:t>
                      </a:r>
                      <a:endParaRPr lang="en-US" sz="2000" b="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10003"/>
                  </a:ext>
                </a:extLst>
              </a:tr>
              <a:tr h="970428">
                <a:tc>
                  <a:txBody>
                    <a:bodyPr/>
                    <a:lstStyle/>
                    <a:p>
                      <a:pPr marL="0" marR="0" algn="just">
                        <a:lnSpc>
                          <a:spcPct val="107000"/>
                        </a:lnSpc>
                        <a:spcBef>
                          <a:spcPts val="0"/>
                        </a:spcBef>
                        <a:spcAft>
                          <a:spcPts val="800"/>
                        </a:spcAft>
                      </a:pPr>
                      <a:r>
                        <a:rPr lang="en-US" sz="2000" b="0">
                          <a:solidFill>
                            <a:schemeClr val="tx1"/>
                          </a:solidFill>
                          <a:effectLst/>
                          <a:latin typeface="Cambria" panose="02040503050406030204" pitchFamily="18" charset="0"/>
                          <a:ea typeface="Cambria" panose="02040503050406030204" pitchFamily="18" charset="0"/>
                        </a:rPr>
                        <a:t>Authentication verifies user’s credentials.</a:t>
                      </a:r>
                      <a:endParaRPr lang="en-US" sz="2000" b="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tc>
                  <a:txBody>
                    <a:bodyPr/>
                    <a:lstStyle/>
                    <a:p>
                      <a:pPr marL="0" marR="0" algn="just">
                        <a:lnSpc>
                          <a:spcPct val="107000"/>
                        </a:lnSpc>
                        <a:spcBef>
                          <a:spcPts val="0"/>
                        </a:spcBef>
                        <a:spcAft>
                          <a:spcPts val="800"/>
                        </a:spcAft>
                      </a:pPr>
                      <a:r>
                        <a:rPr lang="en-US" sz="2000" b="0">
                          <a:solidFill>
                            <a:schemeClr val="tx1"/>
                          </a:solidFill>
                          <a:effectLst/>
                          <a:latin typeface="Cambria" panose="02040503050406030204" pitchFamily="18" charset="0"/>
                          <a:ea typeface="Cambria" panose="02040503050406030204" pitchFamily="18" charset="0"/>
                        </a:rPr>
                        <a:t>Authorization validates user’s permissions.</a:t>
                      </a:r>
                      <a:endParaRPr lang="en-US" sz="2000" b="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10004"/>
                  </a:ext>
                </a:extLst>
              </a:tr>
              <a:tr h="1133456">
                <a:tc>
                  <a:txBody>
                    <a:bodyPr/>
                    <a:lstStyle/>
                    <a:p>
                      <a:pPr marL="0" marR="0" algn="just">
                        <a:lnSpc>
                          <a:spcPct val="107000"/>
                        </a:lnSpc>
                        <a:spcBef>
                          <a:spcPts val="0"/>
                        </a:spcBef>
                        <a:spcAft>
                          <a:spcPts val="800"/>
                        </a:spcAft>
                      </a:pPr>
                      <a:r>
                        <a:rPr lang="en-US" sz="2000" b="0" dirty="0">
                          <a:solidFill>
                            <a:schemeClr val="tx1"/>
                          </a:solidFill>
                          <a:effectLst/>
                          <a:latin typeface="Cambria" panose="02040503050406030204" pitchFamily="18" charset="0"/>
                          <a:ea typeface="Cambria" panose="02040503050406030204" pitchFamily="18" charset="0"/>
                        </a:rPr>
                        <a:t>Authentication determines whether the person is user or not.</a:t>
                      </a:r>
                      <a:endParaRPr lang="en-US" sz="2000" b="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tc>
                  <a:txBody>
                    <a:bodyPr/>
                    <a:lstStyle/>
                    <a:p>
                      <a:pPr marL="0" marR="0" algn="just">
                        <a:lnSpc>
                          <a:spcPct val="107000"/>
                        </a:lnSpc>
                        <a:spcBef>
                          <a:spcPts val="0"/>
                        </a:spcBef>
                        <a:spcAft>
                          <a:spcPts val="800"/>
                        </a:spcAft>
                      </a:pPr>
                      <a:r>
                        <a:rPr lang="en-US" sz="2000" b="0" dirty="0">
                          <a:solidFill>
                            <a:schemeClr val="tx1"/>
                          </a:solidFill>
                          <a:effectLst/>
                          <a:latin typeface="Cambria" panose="02040503050406030204" pitchFamily="18" charset="0"/>
                          <a:ea typeface="Cambria" panose="02040503050406030204" pitchFamily="18" charset="0"/>
                        </a:rPr>
                        <a:t>While it determines What permission do user have?</a:t>
                      </a:r>
                      <a:endParaRPr lang="en-US" sz="2000" b="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84596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b="1" dirty="0">
                <a:solidFill>
                  <a:schemeClr val="tx1"/>
                </a:solidFill>
                <a:latin typeface="Cambria" panose="02040503050406030204" pitchFamily="18" charset="0"/>
                <a:ea typeface="Cambria" panose="02040503050406030204" pitchFamily="18" charset="0"/>
              </a:rPr>
              <a:t>Audit trail</a:t>
            </a:r>
          </a:p>
        </p:txBody>
      </p:sp>
      <p:sp>
        <p:nvSpPr>
          <p:cNvPr id="3" name="Rectangle 2"/>
          <p:cNvSpPr/>
          <p:nvPr/>
        </p:nvSpPr>
        <p:spPr>
          <a:xfrm>
            <a:off x="3609474" y="333137"/>
            <a:ext cx="8123722" cy="6463308"/>
          </a:xfrm>
          <a:prstGeom prst="rect">
            <a:avLst/>
          </a:prstGeom>
        </p:spPr>
        <p:txBody>
          <a:bodyPr wrap="square">
            <a:spAutoFit/>
          </a:bodyPr>
          <a:lstStyle/>
          <a:p>
            <a:pPr lvl="0" algn="just"/>
            <a:r>
              <a:rPr lang="en-US" sz="2300" b="1" dirty="0">
                <a:latin typeface="Cambria" panose="02040503050406030204" pitchFamily="18" charset="0"/>
                <a:ea typeface="Cambria" panose="02040503050406030204" pitchFamily="18" charset="0"/>
              </a:rPr>
              <a:t>Individual Accountability -</a:t>
            </a:r>
            <a:r>
              <a:rPr lang="en-US" sz="2300" dirty="0">
                <a:latin typeface="Cambria" panose="02040503050406030204" pitchFamily="18" charset="0"/>
                <a:ea typeface="Cambria" panose="02040503050406030204" pitchFamily="18" charset="0"/>
              </a:rPr>
              <a:t> Audit trails are a technical mechanism that help managers maintain individual accountability. By advising users that they are personally accountable for their actions, which are tracked by an audit trail that logs user activities, managers can help promote proper user behavior. Users are less likely to attempt to circumvent security policy if they know that their actions will be recorded in an audit log.</a:t>
            </a:r>
          </a:p>
          <a:p>
            <a:pPr lvl="0" algn="just"/>
            <a:r>
              <a:rPr lang="en-US" sz="2300" b="1" dirty="0">
                <a:latin typeface="Cambria" panose="02040503050406030204" pitchFamily="18" charset="0"/>
                <a:ea typeface="Cambria" panose="02040503050406030204" pitchFamily="18" charset="0"/>
              </a:rPr>
              <a:t>Intrusion detection -</a:t>
            </a:r>
            <a:r>
              <a:rPr lang="en-US" sz="2300" dirty="0">
                <a:latin typeface="Cambria" panose="02040503050406030204" pitchFamily="18" charset="0"/>
                <a:ea typeface="Cambria" panose="02040503050406030204" pitchFamily="18" charset="0"/>
              </a:rPr>
              <a:t> Intrusion detection refers to the process of identifying attempts to penetrate a system and gain unauthorized access. If audit trails have been designed and implemented to record appropriate information, they can assist in intrusion detection.</a:t>
            </a:r>
          </a:p>
          <a:p>
            <a:pPr lvl="0" algn="just"/>
            <a:r>
              <a:rPr lang="en-US" sz="2300" b="1" dirty="0">
                <a:latin typeface="Cambria" panose="02040503050406030204" pitchFamily="18" charset="0"/>
                <a:ea typeface="Cambria" panose="02040503050406030204" pitchFamily="18" charset="0"/>
              </a:rPr>
              <a:t>Detailed Insight -</a:t>
            </a:r>
            <a:r>
              <a:rPr lang="en-US" sz="2300" dirty="0">
                <a:latin typeface="Cambria" panose="02040503050406030204" pitchFamily="18" charset="0"/>
                <a:ea typeface="Cambria" panose="02040503050406030204" pitchFamily="18" charset="0"/>
              </a:rPr>
              <a:t> Because an audit log tracks how long and how frequently individual users access a document, it can be used to gain insight into which investors or potential partners are most interested in a business, enabling the company to be more strategic with its negotiations.</a:t>
            </a:r>
          </a:p>
        </p:txBody>
      </p:sp>
    </p:spTree>
    <p:extLst>
      <p:ext uri="{BB962C8B-B14F-4D97-AF65-F5344CB8AC3E}">
        <p14:creationId xmlns:p14="http://schemas.microsoft.com/office/powerpoint/2010/main" val="2561801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b="1" dirty="0">
                <a:solidFill>
                  <a:schemeClr val="tx1"/>
                </a:solidFill>
                <a:latin typeface="Cambria" panose="02040503050406030204" pitchFamily="18" charset="0"/>
                <a:ea typeface="Cambria" panose="02040503050406030204" pitchFamily="18" charset="0"/>
              </a:rPr>
              <a:t>Data Encryption</a:t>
            </a:r>
          </a:p>
        </p:txBody>
      </p:sp>
      <p:sp>
        <p:nvSpPr>
          <p:cNvPr id="3" name="Rectangle 2"/>
          <p:cNvSpPr/>
          <p:nvPr/>
        </p:nvSpPr>
        <p:spPr>
          <a:xfrm>
            <a:off x="3609474" y="333137"/>
            <a:ext cx="8123722" cy="6370975"/>
          </a:xfrm>
          <a:prstGeom prst="rect">
            <a:avLst/>
          </a:prstGeom>
        </p:spPr>
        <p:txBody>
          <a:bodyPr wrap="square">
            <a:spAutoFit/>
          </a:bodyPr>
          <a:lstStyle/>
          <a:p>
            <a:pPr algn="just"/>
            <a:r>
              <a:rPr lang="en-US" sz="2400" b="1" i="1" dirty="0">
                <a:latin typeface="Cambria" panose="02040503050406030204" pitchFamily="18" charset="0"/>
                <a:ea typeface="Cambria" panose="02040503050406030204" pitchFamily="18" charset="0"/>
              </a:rPr>
              <a:t>1) Symmetric key encryption:</a:t>
            </a:r>
            <a:endParaRPr lang="en-US" sz="2400" dirty="0">
              <a:latin typeface="Cambria" panose="02040503050406030204" pitchFamily="18" charset="0"/>
              <a:ea typeface="Cambria" panose="02040503050406030204" pitchFamily="18" charset="0"/>
            </a:endParaRPr>
          </a:p>
          <a:p>
            <a:pPr marL="34290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In symmetric encryption the encryption key is also used as the decryption key data encryption standard is the example of symmetric encryption. </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 By using a symmetric key, fast encryption and decryption is possible for routine use with sensitive data in the database. A message encrypted with a secret key can be decrypted only with the same secret key. Algorithms used for symmetric key encryption are called </a:t>
            </a:r>
            <a:r>
              <a:rPr lang="en-US" sz="2400" b="1" dirty="0">
                <a:latin typeface="Cambria" panose="02040503050406030204" pitchFamily="18" charset="0"/>
                <a:ea typeface="Cambria" panose="02040503050406030204" pitchFamily="18" charset="0"/>
              </a:rPr>
              <a:t>secret key algorithms</a:t>
            </a:r>
            <a:r>
              <a:rPr lang="en-US" sz="2400" dirty="0">
                <a:latin typeface="Cambria" panose="02040503050406030204" pitchFamily="18" charset="0"/>
                <a:ea typeface="Cambria" panose="02040503050406030204" pitchFamily="18" charset="0"/>
              </a:rPr>
              <a:t>.</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 major liability associated with secret-key algorithms is the need for sharing the secret key. </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A possible method is to derive the secret key from a user-supplied password string by applying the same function to the string at both the sender and receiver; this is known as a </a:t>
            </a:r>
            <a:r>
              <a:rPr lang="en-US" sz="2400" i="1" dirty="0">
                <a:latin typeface="Cambria" panose="02040503050406030204" pitchFamily="18" charset="0"/>
                <a:ea typeface="Cambria" panose="02040503050406030204" pitchFamily="18" charset="0"/>
              </a:rPr>
              <a:t>password-based encryption algorithm. </a:t>
            </a:r>
            <a:endParaRPr lang="en-US" sz="2400" dirty="0">
              <a:latin typeface="Cambria" panose="02040503050406030204" pitchFamily="18" charset="0"/>
              <a:ea typeface="Cambria" panose="02040503050406030204" pitchFamily="18" charset="0"/>
            </a:endParaRPr>
          </a:p>
          <a:p>
            <a:pPr algn="just"/>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5979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b="1" dirty="0">
                <a:solidFill>
                  <a:schemeClr val="tx1"/>
                </a:solidFill>
                <a:latin typeface="Cambria" panose="02040503050406030204" pitchFamily="18" charset="0"/>
                <a:ea typeface="Cambria" panose="02040503050406030204" pitchFamily="18" charset="0"/>
              </a:rPr>
              <a:t>Data Encryption</a:t>
            </a:r>
          </a:p>
        </p:txBody>
      </p:sp>
      <p:sp>
        <p:nvSpPr>
          <p:cNvPr id="3" name="Rectangle 2"/>
          <p:cNvSpPr/>
          <p:nvPr/>
        </p:nvSpPr>
        <p:spPr>
          <a:xfrm>
            <a:off x="3609474" y="689272"/>
            <a:ext cx="8123722" cy="6001643"/>
          </a:xfrm>
          <a:prstGeom prst="rect">
            <a:avLst/>
          </a:prstGeom>
        </p:spPr>
        <p:txBody>
          <a:bodyPr wrap="square">
            <a:spAutoFit/>
          </a:bodyPr>
          <a:lstStyle/>
          <a:p>
            <a:pPr marL="342900" lvl="0" indent="-342900" algn="just">
              <a:buFont typeface="Wingdings" panose="05000000000000000000" pitchFamily="2" charset="2"/>
              <a:buChar char="Ø"/>
            </a:pPr>
            <a:r>
              <a:rPr lang="en-US" sz="2400" dirty="0"/>
              <a:t>The strength of the symmetric key encryption depends on the size of the key used.</a:t>
            </a:r>
          </a:p>
          <a:p>
            <a:pPr marL="34290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Drawback of symmetric encryption is all authorized users must be told the key, so it is easily know to intruder. </a:t>
            </a:r>
          </a:p>
          <a:p>
            <a:pPr marL="342900" indent="-342900" algn="just">
              <a:buFont typeface="Wingdings" panose="05000000000000000000" pitchFamily="2" charset="2"/>
              <a:buChar char="Ø"/>
            </a:pPr>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2) </a:t>
            </a:r>
            <a:r>
              <a:rPr lang="en-US" sz="2400" b="1" i="1" dirty="0">
                <a:latin typeface="Cambria" panose="02040503050406030204" pitchFamily="18" charset="0"/>
                <a:ea typeface="Cambria" panose="02040503050406030204" pitchFamily="18" charset="0"/>
              </a:rPr>
              <a:t>Public key encryption.</a:t>
            </a:r>
            <a:endParaRPr lang="en-US" sz="2400" dirty="0">
              <a:latin typeface="Cambria" panose="02040503050406030204" pitchFamily="18" charset="0"/>
              <a:ea typeface="Cambria" panose="02040503050406030204" pitchFamily="18" charset="0"/>
            </a:endParaRP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Public key encryption algorithm uses pair of keys, one of which is a secret key and one is public key.</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These two keys are mathematically linked with each other.</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 use of two keys can have profound consequences in the areas of confidentiality, key distribution, and authentication. The two keys used for public key encryption are referred to as the </a:t>
            </a:r>
            <a:r>
              <a:rPr lang="en-US" sz="2400" b="1" dirty="0">
                <a:latin typeface="Cambria" panose="02040503050406030204" pitchFamily="18" charset="0"/>
                <a:ea typeface="Cambria" panose="02040503050406030204" pitchFamily="18" charset="0"/>
              </a:rPr>
              <a:t>public key </a:t>
            </a:r>
            <a:r>
              <a:rPr lang="en-US" sz="2400" dirty="0">
                <a:latin typeface="Cambria" panose="02040503050406030204" pitchFamily="18" charset="0"/>
                <a:ea typeface="Cambria" panose="02040503050406030204" pitchFamily="18" charset="0"/>
              </a:rPr>
              <a:t>and the </a:t>
            </a:r>
            <a:r>
              <a:rPr lang="en-US" sz="2400" b="1" dirty="0">
                <a:latin typeface="Cambria" panose="02040503050406030204" pitchFamily="18" charset="0"/>
                <a:ea typeface="Cambria" panose="02040503050406030204" pitchFamily="18" charset="0"/>
              </a:rPr>
              <a:t>private key</a:t>
            </a:r>
            <a:r>
              <a:rPr lang="en-US" sz="2400" dirty="0">
                <a:latin typeface="Cambria" panose="02040503050406030204" pitchFamily="18" charset="0"/>
                <a:ea typeface="Cambria" panose="02040503050406030204" pitchFamily="18" charset="0"/>
              </a:rPr>
              <a:t>.</a:t>
            </a:r>
          </a:p>
          <a:p>
            <a:pPr algn="just"/>
            <a:endParaRPr lang="en-US" sz="2400" dirty="0">
              <a:latin typeface="Cambria" panose="02040503050406030204" pitchFamily="18" charset="0"/>
              <a:ea typeface="Cambria" panose="02040503050406030204" pitchFamily="18" charset="0"/>
            </a:endParaRPr>
          </a:p>
          <a:p>
            <a:pPr marL="342900" lvl="0" indent="-342900" algn="just">
              <a:buFont typeface="Wingdings" panose="05000000000000000000" pitchFamily="2" charset="2"/>
              <a:buChar char="Ø"/>
            </a:pPr>
            <a:endParaRPr lang="en-US" sz="2400" dirty="0"/>
          </a:p>
        </p:txBody>
      </p:sp>
    </p:spTree>
    <p:extLst>
      <p:ext uri="{BB962C8B-B14F-4D97-AF65-F5344CB8AC3E}">
        <p14:creationId xmlns:p14="http://schemas.microsoft.com/office/powerpoint/2010/main" val="31119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b="1" dirty="0">
                <a:solidFill>
                  <a:schemeClr val="tx1"/>
                </a:solidFill>
                <a:latin typeface="Cambria" panose="02040503050406030204" pitchFamily="18" charset="0"/>
                <a:ea typeface="Cambria" panose="02040503050406030204" pitchFamily="18" charset="0"/>
              </a:rPr>
              <a:t>Data Encryption</a:t>
            </a:r>
          </a:p>
        </p:txBody>
      </p:sp>
      <p:sp>
        <p:nvSpPr>
          <p:cNvPr id="3" name="Rectangle 2"/>
          <p:cNvSpPr/>
          <p:nvPr/>
        </p:nvSpPr>
        <p:spPr>
          <a:xfrm>
            <a:off x="3493971" y="410140"/>
            <a:ext cx="8123722" cy="6232475"/>
          </a:xfrm>
          <a:prstGeom prst="rect">
            <a:avLst/>
          </a:prstGeom>
        </p:spPr>
        <p:txBody>
          <a:bodyPr wrap="square">
            <a:spAutoFit/>
          </a:bodyPr>
          <a:lstStyle/>
          <a:p>
            <a:pPr marL="342900" lvl="0" indent="-342900" algn="just">
              <a:buFont typeface="Wingdings" panose="05000000000000000000" pitchFamily="2" charset="2"/>
              <a:buChar char="Ø"/>
            </a:pPr>
            <a:r>
              <a:rPr lang="en-US" sz="2100" dirty="0">
                <a:latin typeface="Cambria" panose="02040503050406030204" pitchFamily="18" charset="0"/>
                <a:ea typeface="Cambria" panose="02040503050406030204" pitchFamily="18" charset="0"/>
              </a:rPr>
              <a:t>A public key encryption scheme, or </a:t>
            </a:r>
            <a:r>
              <a:rPr lang="en-US" sz="2100" i="1" dirty="0">
                <a:latin typeface="Cambria" panose="02040503050406030204" pitchFamily="18" charset="0"/>
                <a:ea typeface="Cambria" panose="02040503050406030204" pitchFamily="18" charset="0"/>
              </a:rPr>
              <a:t>infrastructure</a:t>
            </a:r>
            <a:r>
              <a:rPr lang="en-US" sz="2100" dirty="0">
                <a:latin typeface="Cambria" panose="02040503050406030204" pitchFamily="18" charset="0"/>
                <a:ea typeface="Cambria" panose="02040503050406030204" pitchFamily="18" charset="0"/>
              </a:rPr>
              <a:t>, has following ingredients:</a:t>
            </a:r>
          </a:p>
          <a:p>
            <a:pPr marL="342900" lvl="0" indent="-342900" algn="just">
              <a:buFont typeface="Wingdings" panose="05000000000000000000" pitchFamily="2" charset="2"/>
              <a:buChar char="Ø"/>
            </a:pPr>
            <a:r>
              <a:rPr lang="en-US" sz="2100" b="1" dirty="0">
                <a:latin typeface="Cambria" panose="02040503050406030204" pitchFamily="18" charset="0"/>
                <a:ea typeface="Cambria" panose="02040503050406030204" pitchFamily="18" charset="0"/>
              </a:rPr>
              <a:t>Plaintext. </a:t>
            </a:r>
            <a:r>
              <a:rPr lang="en-US" sz="2100" dirty="0">
                <a:latin typeface="Cambria" panose="02040503050406030204" pitchFamily="18" charset="0"/>
                <a:ea typeface="Cambria" panose="02040503050406030204" pitchFamily="18" charset="0"/>
              </a:rPr>
              <a:t>This is the data or readable message that is fed into the algorithm as input.</a:t>
            </a:r>
          </a:p>
          <a:p>
            <a:pPr marL="342900" lvl="0" indent="-342900" algn="just">
              <a:buFont typeface="Wingdings" panose="05000000000000000000" pitchFamily="2" charset="2"/>
              <a:buChar char="Ø"/>
            </a:pPr>
            <a:r>
              <a:rPr lang="en-US" sz="2100" b="1" dirty="0">
                <a:latin typeface="Cambria" panose="02040503050406030204" pitchFamily="18" charset="0"/>
                <a:ea typeface="Cambria" panose="02040503050406030204" pitchFamily="18" charset="0"/>
              </a:rPr>
              <a:t>Encryption algorithm. </a:t>
            </a:r>
            <a:r>
              <a:rPr lang="en-US" sz="2100" dirty="0">
                <a:latin typeface="Cambria" panose="02040503050406030204" pitchFamily="18" charset="0"/>
                <a:ea typeface="Cambria" panose="02040503050406030204" pitchFamily="18" charset="0"/>
              </a:rPr>
              <a:t>This algorithm performs various transformations on the plaintext.</a:t>
            </a:r>
          </a:p>
          <a:p>
            <a:pPr marL="342900" lvl="0" indent="-342900" algn="just">
              <a:buFont typeface="Wingdings" panose="05000000000000000000" pitchFamily="2" charset="2"/>
              <a:buChar char="Ø"/>
            </a:pPr>
            <a:r>
              <a:rPr lang="en-US" sz="2100" b="1" dirty="0">
                <a:latin typeface="Cambria" panose="02040503050406030204" pitchFamily="18" charset="0"/>
                <a:ea typeface="Cambria" panose="02040503050406030204" pitchFamily="18" charset="0"/>
              </a:rPr>
              <a:t>Public and private keys. </a:t>
            </a:r>
            <a:r>
              <a:rPr lang="en-US" sz="2100" dirty="0">
                <a:latin typeface="Cambria" panose="02040503050406030204" pitchFamily="18" charset="0"/>
                <a:ea typeface="Cambria" panose="02040503050406030204" pitchFamily="18" charset="0"/>
              </a:rPr>
              <a:t>These are a pair of keys that have been selected so that if one is used for encryption, the other is used for decryption. The exact transformations performed by the encryption algorithm depend on the public or private key that is provided as input. </a:t>
            </a:r>
          </a:p>
          <a:p>
            <a:pPr marL="342900" lvl="0" indent="-342900" algn="just">
              <a:buFont typeface="Wingdings" panose="05000000000000000000" pitchFamily="2" charset="2"/>
              <a:buChar char="Ø"/>
            </a:pPr>
            <a:r>
              <a:rPr lang="en-US" sz="2100" dirty="0">
                <a:latin typeface="Cambria" panose="02040503050406030204" pitchFamily="18" charset="0"/>
                <a:ea typeface="Cambria" panose="02040503050406030204" pitchFamily="18" charset="0"/>
              </a:rPr>
              <a:t>For example, if</a:t>
            </a:r>
          </a:p>
          <a:p>
            <a:pPr marL="342900" lvl="0" indent="-342900" algn="just">
              <a:buFont typeface="Wingdings" panose="05000000000000000000" pitchFamily="2" charset="2"/>
              <a:buChar char="Ø"/>
            </a:pPr>
            <a:r>
              <a:rPr lang="en-US" sz="2100" dirty="0">
                <a:latin typeface="Cambria" panose="02040503050406030204" pitchFamily="18" charset="0"/>
                <a:ea typeface="Cambria" panose="02040503050406030204" pitchFamily="18" charset="0"/>
              </a:rPr>
              <a:t>a message is encrypted using the public key, it can only be decrypted using the private key.</a:t>
            </a:r>
          </a:p>
          <a:p>
            <a:pPr marL="342900" lvl="0" indent="-342900" algn="just">
              <a:buFont typeface="Wingdings" panose="05000000000000000000" pitchFamily="2" charset="2"/>
              <a:buChar char="Ø"/>
            </a:pPr>
            <a:r>
              <a:rPr lang="en-US" sz="2100" b="1" dirty="0">
                <a:latin typeface="Cambria" panose="02040503050406030204" pitchFamily="18" charset="0"/>
                <a:ea typeface="Cambria" panose="02040503050406030204" pitchFamily="18" charset="0"/>
              </a:rPr>
              <a:t>Cipher text. </a:t>
            </a:r>
            <a:r>
              <a:rPr lang="en-US" sz="2100" dirty="0">
                <a:latin typeface="Cambria" panose="02040503050406030204" pitchFamily="18" charset="0"/>
                <a:ea typeface="Cambria" panose="02040503050406030204" pitchFamily="18" charset="0"/>
              </a:rPr>
              <a:t>This is the scrambled message produced as output. It depends on the plaintext and the key. For a given message, two different keys will produce two different </a:t>
            </a:r>
            <a:r>
              <a:rPr lang="en-US" sz="2100" dirty="0" err="1">
                <a:latin typeface="Cambria" panose="02040503050406030204" pitchFamily="18" charset="0"/>
                <a:ea typeface="Cambria" panose="02040503050406030204" pitchFamily="18" charset="0"/>
              </a:rPr>
              <a:t>ciphertexts</a:t>
            </a:r>
            <a:r>
              <a:rPr lang="en-US" sz="2100" dirty="0">
                <a:latin typeface="Cambria" panose="02040503050406030204" pitchFamily="18" charset="0"/>
                <a:ea typeface="Cambria" panose="02040503050406030204" pitchFamily="18" charset="0"/>
              </a:rPr>
              <a:t>.</a:t>
            </a:r>
          </a:p>
          <a:p>
            <a:pPr marL="342900" lvl="0" indent="-342900" algn="just">
              <a:buFont typeface="Wingdings" panose="05000000000000000000" pitchFamily="2" charset="2"/>
              <a:buChar char="Ø"/>
            </a:pPr>
            <a:r>
              <a:rPr lang="en-US" sz="2100" b="1" dirty="0">
                <a:latin typeface="Cambria" panose="02040503050406030204" pitchFamily="18" charset="0"/>
                <a:ea typeface="Cambria" panose="02040503050406030204" pitchFamily="18" charset="0"/>
              </a:rPr>
              <a:t>Decryption algorithm. </a:t>
            </a:r>
            <a:r>
              <a:rPr lang="en-US" sz="2100" dirty="0">
                <a:latin typeface="Cambria" panose="02040503050406030204" pitchFamily="18" charset="0"/>
                <a:ea typeface="Cambria" panose="02040503050406030204" pitchFamily="18" charset="0"/>
              </a:rPr>
              <a:t>This algorithm accepts the </a:t>
            </a:r>
            <a:r>
              <a:rPr lang="en-US" sz="2100" dirty="0" err="1">
                <a:latin typeface="Cambria" panose="02040503050406030204" pitchFamily="18" charset="0"/>
                <a:ea typeface="Cambria" panose="02040503050406030204" pitchFamily="18" charset="0"/>
              </a:rPr>
              <a:t>ciphertext</a:t>
            </a:r>
            <a:r>
              <a:rPr lang="en-US" sz="2100" dirty="0">
                <a:latin typeface="Cambria" panose="02040503050406030204" pitchFamily="18" charset="0"/>
                <a:ea typeface="Cambria" panose="02040503050406030204" pitchFamily="18" charset="0"/>
              </a:rPr>
              <a:t> and the matching key and produces the original plaintext.</a:t>
            </a:r>
          </a:p>
        </p:txBody>
      </p:sp>
    </p:spTree>
    <p:extLst>
      <p:ext uri="{BB962C8B-B14F-4D97-AF65-F5344CB8AC3E}">
        <p14:creationId xmlns:p14="http://schemas.microsoft.com/office/powerpoint/2010/main" val="4262252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b="1" dirty="0">
                <a:solidFill>
                  <a:schemeClr val="tx1"/>
                </a:solidFill>
                <a:latin typeface="Cambria" panose="02040503050406030204" pitchFamily="18" charset="0"/>
                <a:ea typeface="Cambria" panose="02040503050406030204" pitchFamily="18" charset="0"/>
              </a:rPr>
              <a:t>Access control</a:t>
            </a:r>
          </a:p>
        </p:txBody>
      </p:sp>
      <p:sp>
        <p:nvSpPr>
          <p:cNvPr id="3" name="Rectangle 2"/>
          <p:cNvSpPr/>
          <p:nvPr/>
        </p:nvSpPr>
        <p:spPr>
          <a:xfrm>
            <a:off x="3493971" y="410140"/>
            <a:ext cx="8123722" cy="6001643"/>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Access control is a security technique that regulates who or what can view or use resources in a computing environment.</a:t>
            </a:r>
          </a:p>
          <a:p>
            <a:pPr marL="34290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Access control is basically identifying a person doing a specific job, authenticating them by looking at their identification, then giving that person only the key to the door or computer that they need access to and nothing more.</a:t>
            </a:r>
          </a:p>
          <a:p>
            <a:r>
              <a:rPr lang="en-US" sz="2400" b="1" i="1" dirty="0">
                <a:latin typeface="Cambria" panose="02040503050406030204" pitchFamily="18" charset="0"/>
                <a:ea typeface="Cambria" panose="02040503050406030204" pitchFamily="18" charset="0"/>
              </a:rPr>
              <a:t>1) Discretionary access control.</a:t>
            </a:r>
            <a:endParaRPr lang="en-US" sz="2400" dirty="0">
              <a:latin typeface="Cambria" panose="02040503050406030204" pitchFamily="18" charset="0"/>
              <a:ea typeface="Cambria" panose="02040503050406030204" pitchFamily="18" charset="0"/>
            </a:endParaRPr>
          </a:p>
          <a:p>
            <a:pPr marL="34290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 typical method of enforcing discretionary access control in a database system is based on the granting and revoking of privileges.</a:t>
            </a:r>
          </a:p>
          <a:p>
            <a:pPr marL="34290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In DAC, the owner of the object specifies which subjects (user) can access the object.</a:t>
            </a:r>
          </a:p>
          <a:p>
            <a:pPr marL="34290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Here user is given access privileges to access data base objects or data items.</a:t>
            </a:r>
          </a:p>
        </p:txBody>
      </p:sp>
    </p:spTree>
    <p:extLst>
      <p:ext uri="{BB962C8B-B14F-4D97-AF65-F5344CB8AC3E}">
        <p14:creationId xmlns:p14="http://schemas.microsoft.com/office/powerpoint/2010/main" val="2048484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b="1" dirty="0">
                <a:solidFill>
                  <a:schemeClr val="tx1"/>
                </a:solidFill>
                <a:latin typeface="Cambria" panose="02040503050406030204" pitchFamily="18" charset="0"/>
                <a:ea typeface="Cambria" panose="02040503050406030204" pitchFamily="18" charset="0"/>
              </a:rPr>
              <a:t>Access control</a:t>
            </a:r>
          </a:p>
        </p:txBody>
      </p:sp>
      <p:sp>
        <p:nvSpPr>
          <p:cNvPr id="3" name="Rectangle 2"/>
          <p:cNvSpPr/>
          <p:nvPr/>
        </p:nvSpPr>
        <p:spPr>
          <a:xfrm>
            <a:off x="3493971" y="410140"/>
            <a:ext cx="8123722" cy="5632311"/>
          </a:xfrm>
          <a:prstGeom prst="rect">
            <a:avLst/>
          </a:prstGeom>
        </p:spPr>
        <p:txBody>
          <a:bodyPr wrap="square">
            <a:spAutoFit/>
          </a:bodyPr>
          <a:lstStyle/>
          <a:p>
            <a:pPr marL="342900" indent="-342900">
              <a:buFont typeface="Wingdings" panose="05000000000000000000" pitchFamily="2" charset="2"/>
              <a:buChar char="Ø"/>
            </a:pPr>
            <a:r>
              <a:rPr lang="en-US" sz="2400" dirty="0">
                <a:latin typeface="Cambria" panose="02040503050406030204" pitchFamily="18" charset="0"/>
                <a:ea typeface="Cambria" panose="02040503050406030204" pitchFamily="18" charset="0"/>
              </a:rPr>
              <a:t>In this method a single user can have different rights on different data items, as well as different user can have different rights on the same data item.</a:t>
            </a:r>
          </a:p>
          <a:p>
            <a:pPr marL="342900" indent="-342900">
              <a:buFont typeface="Wingdings" panose="05000000000000000000" pitchFamily="2" charset="2"/>
              <a:buChar char="Ø"/>
            </a:pPr>
            <a:r>
              <a:rPr lang="en-US" sz="2400" dirty="0">
                <a:latin typeface="Cambria" panose="02040503050406030204" pitchFamily="18" charset="0"/>
                <a:ea typeface="Cambria" panose="02040503050406030204" pitchFamily="18" charset="0"/>
              </a:rPr>
              <a:t>SQL support discretionary access control through the GRANT and REVOKE commands.</a:t>
            </a:r>
          </a:p>
          <a:p>
            <a:pPr marL="342900" indent="-342900">
              <a:buFont typeface="Wingdings" panose="05000000000000000000" pitchFamily="2" charset="2"/>
              <a:buChar char="Ø"/>
            </a:pPr>
            <a:r>
              <a:rPr lang="en-US" sz="2400" dirty="0">
                <a:latin typeface="Cambria" panose="02040503050406030204" pitchFamily="18" charset="0"/>
                <a:ea typeface="Cambria" panose="02040503050406030204" pitchFamily="18" charset="0"/>
              </a:rPr>
              <a:t>GRANT:</a:t>
            </a:r>
          </a:p>
          <a:p>
            <a:pPr marL="342900" indent="-342900">
              <a:buFont typeface="Wingdings" panose="05000000000000000000" pitchFamily="2" charset="2"/>
              <a:buChar char="Ø"/>
            </a:pPr>
            <a:r>
              <a:rPr lang="en-US" sz="2400" dirty="0">
                <a:latin typeface="Cambria" panose="02040503050406030204" pitchFamily="18" charset="0"/>
                <a:ea typeface="Cambria" panose="02040503050406030204" pitchFamily="18" charset="0"/>
              </a:rPr>
              <a:t>This command gives rights to user for a data items. </a:t>
            </a:r>
          </a:p>
          <a:p>
            <a:r>
              <a:rPr lang="en-US" sz="2400" dirty="0">
                <a:latin typeface="Cambria" panose="02040503050406030204" pitchFamily="18" charset="0"/>
                <a:ea typeface="Cambria" panose="02040503050406030204" pitchFamily="18" charset="0"/>
              </a:rPr>
              <a:t>	Syntax: GRANT privilege ON object TO user [WITH 	GRANT OPTION]</a:t>
            </a:r>
          </a:p>
          <a:p>
            <a:pPr marL="342900" indent="-342900">
              <a:buFont typeface="Wingdings" panose="05000000000000000000" pitchFamily="2" charset="2"/>
              <a:buChar char="Ø"/>
            </a:pPr>
            <a:endParaRPr lang="en-US" sz="2400" dirty="0">
              <a:latin typeface="Cambria" panose="02040503050406030204" pitchFamily="18" charset="0"/>
              <a:ea typeface="Cambria" panose="02040503050406030204" pitchFamily="18" charset="0"/>
            </a:endParaRPr>
          </a:p>
          <a:p>
            <a:pPr marL="342900" indent="-342900">
              <a:buFont typeface="Wingdings" panose="05000000000000000000" pitchFamily="2" charset="2"/>
              <a:buChar char="Ø"/>
            </a:pPr>
            <a:r>
              <a:rPr lang="en-US" sz="2400" dirty="0">
                <a:latin typeface="Cambria" panose="02040503050406030204" pitchFamily="18" charset="0"/>
                <a:ea typeface="Cambria" panose="02040503050406030204" pitchFamily="18" charset="0"/>
              </a:rPr>
              <a:t>REVOKE:</a:t>
            </a:r>
          </a:p>
          <a:p>
            <a:pPr marL="342900" indent="-342900">
              <a:buFont typeface="Wingdings" panose="05000000000000000000" pitchFamily="2" charset="2"/>
              <a:buChar char="Ø"/>
            </a:pPr>
            <a:r>
              <a:rPr lang="en-US" sz="2400" dirty="0">
                <a:latin typeface="Cambria" panose="02040503050406030204" pitchFamily="18" charset="0"/>
                <a:ea typeface="Cambria" panose="02040503050406030204" pitchFamily="18" charset="0"/>
              </a:rPr>
              <a:t>This commands takes back rights from user for a data items.</a:t>
            </a:r>
          </a:p>
          <a:p>
            <a:r>
              <a:rPr lang="en-US" sz="2400" dirty="0">
                <a:latin typeface="Cambria" panose="02040503050406030204" pitchFamily="18" charset="0"/>
                <a:ea typeface="Cambria" panose="02040503050406030204" pitchFamily="18" charset="0"/>
              </a:rPr>
              <a:t>	Syntax: REVOKE privilege ON object FROM user 	{RESTRICT/CASCADE}</a:t>
            </a:r>
          </a:p>
        </p:txBody>
      </p:sp>
    </p:spTree>
    <p:extLst>
      <p:ext uri="{BB962C8B-B14F-4D97-AF65-F5344CB8AC3E}">
        <p14:creationId xmlns:p14="http://schemas.microsoft.com/office/powerpoint/2010/main" val="30072480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b="1" dirty="0">
                <a:solidFill>
                  <a:schemeClr val="tx1"/>
                </a:solidFill>
                <a:latin typeface="Cambria" panose="02040503050406030204" pitchFamily="18" charset="0"/>
                <a:ea typeface="Cambria" panose="02040503050406030204" pitchFamily="18" charset="0"/>
              </a:rPr>
              <a:t>Access control</a:t>
            </a:r>
          </a:p>
        </p:txBody>
      </p:sp>
      <p:sp>
        <p:nvSpPr>
          <p:cNvPr id="3" name="Rectangle 2"/>
          <p:cNvSpPr/>
          <p:nvPr/>
        </p:nvSpPr>
        <p:spPr>
          <a:xfrm>
            <a:off x="3493971" y="98168"/>
            <a:ext cx="8123722" cy="6370975"/>
          </a:xfrm>
          <a:prstGeom prst="rect">
            <a:avLst/>
          </a:prstGeom>
        </p:spPr>
        <p:txBody>
          <a:bodyPr wrap="square">
            <a:spAutoFit/>
          </a:bodyPr>
          <a:lstStyle/>
          <a:p>
            <a:pPr marL="342900" indent="-342900" algn="just">
              <a:buFont typeface="Wingdings" panose="05000000000000000000" pitchFamily="2" charset="2"/>
              <a:buChar char="Ø"/>
            </a:pPr>
            <a:r>
              <a:rPr lang="en-US" sz="2400" b="1" i="1" dirty="0">
                <a:latin typeface="Cambria" panose="02040503050406030204" pitchFamily="18" charset="0"/>
                <a:ea typeface="Cambria" panose="02040503050406030204" pitchFamily="18" charset="0"/>
              </a:rPr>
              <a:t>2) Mandatory Access Control.</a:t>
            </a:r>
            <a:endParaRPr lang="en-US" sz="2400" dirty="0">
              <a:latin typeface="Cambria" panose="02040503050406030204" pitchFamily="18" charset="0"/>
              <a:ea typeface="Cambria" panose="02040503050406030204" pitchFamily="18" charset="0"/>
            </a:endParaRPr>
          </a:p>
          <a:p>
            <a:pPr marL="34290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This is an all-or-nothing method: A user either has or does not have a certain privilege.</a:t>
            </a:r>
          </a:p>
          <a:p>
            <a:pPr marL="34290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A user can access object of particular security level only if he has proper clearance level. </a:t>
            </a:r>
          </a:p>
          <a:p>
            <a:pPr marL="34290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 DBMS determines whether a given user can read or write a given object based on some rules.</a:t>
            </a:r>
          </a:p>
          <a:p>
            <a:pPr marL="34290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This rule makes sure that sensitive data can never be passed to a user without necessary clearance.</a:t>
            </a:r>
          </a:p>
          <a:p>
            <a:pPr marL="34290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 commonly used mandatory access control technique for multi-level security uses 4 components as given below:</a:t>
            </a:r>
          </a:p>
          <a:p>
            <a:pPr algn="just"/>
            <a:r>
              <a:rPr lang="en-US" sz="2400" dirty="0">
                <a:latin typeface="Cambria" panose="02040503050406030204" pitchFamily="18" charset="0"/>
                <a:ea typeface="Cambria" panose="02040503050406030204" pitchFamily="18" charset="0"/>
              </a:rPr>
              <a:t>Subjects: Such as users, accounts, programs etc.</a:t>
            </a:r>
          </a:p>
          <a:p>
            <a:pPr algn="just"/>
            <a:r>
              <a:rPr lang="en-US" sz="2400" dirty="0">
                <a:latin typeface="Cambria" panose="02040503050406030204" pitchFamily="18" charset="0"/>
                <a:ea typeface="Cambria" panose="02040503050406030204" pitchFamily="18" charset="0"/>
              </a:rPr>
              <a:t>Objects: Such as relations, tuples, attributes, views etc.</a:t>
            </a:r>
          </a:p>
          <a:p>
            <a:pPr algn="just"/>
            <a:r>
              <a:rPr lang="en-US" sz="2400" dirty="0">
                <a:latin typeface="Cambria" panose="02040503050406030204" pitchFamily="18" charset="0"/>
                <a:ea typeface="Cambria" panose="02040503050406030204" pitchFamily="18" charset="0"/>
              </a:rPr>
              <a:t>Clearance level &amp; Security Level: Such as top secret(TS), secret(S), Confidential(C), Unclassified(U). Each object is classified into one of these 4 classes.</a:t>
            </a:r>
          </a:p>
          <a:p>
            <a:pPr marL="342900" indent="-342900" algn="just">
              <a:buFont typeface="Wingdings" panose="05000000000000000000" pitchFamily="2" charset="2"/>
              <a:buChar char="Ø"/>
            </a:pP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34829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b="1" dirty="0">
                <a:solidFill>
                  <a:schemeClr val="tx1"/>
                </a:solidFill>
                <a:latin typeface="Cambria" panose="02040503050406030204" pitchFamily="18" charset="0"/>
                <a:ea typeface="Cambria" panose="02040503050406030204" pitchFamily="18" charset="0"/>
              </a:rPr>
              <a:t>Access control</a:t>
            </a:r>
          </a:p>
        </p:txBody>
      </p:sp>
      <p:sp>
        <p:nvSpPr>
          <p:cNvPr id="3" name="Rectangle 2"/>
          <p:cNvSpPr/>
          <p:nvPr/>
        </p:nvSpPr>
        <p:spPr>
          <a:xfrm>
            <a:off x="3483213" y="485443"/>
            <a:ext cx="8123722" cy="5632311"/>
          </a:xfrm>
          <a:prstGeom prst="rect">
            <a:avLst/>
          </a:prstGeom>
        </p:spPr>
        <p:txBody>
          <a:bodyPr wrap="square">
            <a:spAutoFit/>
          </a:bodyPr>
          <a:lstStyle/>
          <a:p>
            <a:pPr algn="just"/>
            <a:r>
              <a:rPr lang="en-US" sz="2400" dirty="0">
                <a:latin typeface="Cambria" panose="02040503050406030204" pitchFamily="18" charset="0"/>
                <a:ea typeface="Cambria" panose="02040503050406030204" pitchFamily="18" charset="0"/>
              </a:rPr>
              <a:t>  </a:t>
            </a:r>
          </a:p>
          <a:p>
            <a:pPr algn="just"/>
            <a:r>
              <a:rPr lang="en-US" sz="2400" b="1" i="1" dirty="0">
                <a:latin typeface="Cambria" panose="02040503050406030204" pitchFamily="18" charset="0"/>
                <a:ea typeface="Cambria" panose="02040503050406030204" pitchFamily="18" charset="0"/>
              </a:rPr>
              <a:t>3) Role based Access control.</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Basic notion of role based Access control is that privileges and other permissions are associated with organizational </a:t>
            </a:r>
            <a:r>
              <a:rPr lang="en-US" sz="2400" b="1" dirty="0">
                <a:latin typeface="Cambria" panose="02040503050406030204" pitchFamily="18" charset="0"/>
                <a:ea typeface="Cambria" panose="02040503050406030204" pitchFamily="18" charset="0"/>
              </a:rPr>
              <a:t>roles </a:t>
            </a:r>
            <a:r>
              <a:rPr lang="en-US" sz="2400" dirty="0">
                <a:latin typeface="Cambria" panose="02040503050406030204" pitchFamily="18" charset="0"/>
                <a:ea typeface="Cambria" panose="02040503050406030204" pitchFamily="18" charset="0"/>
              </a:rPr>
              <a:t>rather than with individual users. Individual users are then assigned to appropriate roles. Roles can be created using the CREATE ROLE and DESTROY ROLE commands. </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 GRANT and REVOKE commands can then be used to assign and revoke privileges from roles, as well as for individual users when needed. </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For example, a company may have roles such as sales account manager, purchasing agent, mailroom clerk, customer service manager, and so on.</a:t>
            </a:r>
          </a:p>
          <a:p>
            <a:pPr algn="just"/>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401714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chemeClr val="tx1"/>
                </a:solidFill>
                <a:latin typeface="Cambria" panose="02040503050406030204" pitchFamily="18" charset="0"/>
                <a:ea typeface="Cambria" panose="02040503050406030204" pitchFamily="18" charset="0"/>
              </a:rPr>
              <a:t>Intrusion Detection System (IDS)</a:t>
            </a:r>
            <a:endParaRPr lang="en-US" sz="3400" b="1" dirty="0">
              <a:solidFill>
                <a:schemeClr val="tx1"/>
              </a:solidFill>
              <a:latin typeface="Cambria" panose="02040503050406030204" pitchFamily="18" charset="0"/>
              <a:ea typeface="Cambria" panose="02040503050406030204" pitchFamily="18" charset="0"/>
            </a:endParaRPr>
          </a:p>
        </p:txBody>
      </p:sp>
      <p:sp>
        <p:nvSpPr>
          <p:cNvPr id="3" name="Rectangle 2"/>
          <p:cNvSpPr/>
          <p:nvPr/>
        </p:nvSpPr>
        <p:spPr>
          <a:xfrm>
            <a:off x="3493971" y="410140"/>
            <a:ext cx="8123722" cy="4524315"/>
          </a:xfrm>
          <a:prstGeom prst="rect">
            <a:avLst/>
          </a:prstGeom>
        </p:spPr>
        <p:txBody>
          <a:bodyPr wrap="square">
            <a:spAutoFit/>
          </a:bodyPr>
          <a:lstStyle/>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An </a:t>
            </a:r>
            <a:r>
              <a:rPr lang="en-US" sz="2400" b="1" dirty="0">
                <a:latin typeface="Cambria" panose="02040503050406030204" pitchFamily="18" charset="0"/>
                <a:ea typeface="Cambria" panose="02040503050406030204" pitchFamily="18" charset="0"/>
              </a:rPr>
              <a:t>Intrusion Detection System (IDS)</a:t>
            </a:r>
            <a:r>
              <a:rPr lang="en-US" sz="2400" dirty="0">
                <a:latin typeface="Cambria" panose="02040503050406030204" pitchFamily="18" charset="0"/>
                <a:ea typeface="Cambria" panose="02040503050406030204" pitchFamily="18" charset="0"/>
              </a:rPr>
              <a:t> is a system that monitors </a:t>
            </a:r>
            <a:r>
              <a:rPr lang="en-US" sz="2400" b="1" dirty="0">
                <a:latin typeface="Cambria" panose="02040503050406030204" pitchFamily="18" charset="0"/>
                <a:ea typeface="Cambria" panose="02040503050406030204" pitchFamily="18" charset="0"/>
              </a:rPr>
              <a:t>network traffic</a:t>
            </a:r>
            <a:r>
              <a:rPr lang="en-US" sz="2400" dirty="0">
                <a:latin typeface="Cambria" panose="02040503050406030204" pitchFamily="18" charset="0"/>
                <a:ea typeface="Cambria" panose="02040503050406030204" pitchFamily="18" charset="0"/>
              </a:rPr>
              <a:t> for suspicious activity and issues alerts when such activity is discovered. It is a software application that scans a network or a system for harmful activity or policy breaching. </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The purpose of intrusion detection system in database system is to detect transactions that access data without permission. </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Intrusion prevention systems also monitor network packets inbound the system to check the malicious activities involved in it and at once sends the warning notifications.</a:t>
            </a:r>
          </a:p>
        </p:txBody>
      </p:sp>
    </p:spTree>
    <p:extLst>
      <p:ext uri="{BB962C8B-B14F-4D97-AF65-F5344CB8AC3E}">
        <p14:creationId xmlns:p14="http://schemas.microsoft.com/office/powerpoint/2010/main" val="28823679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chemeClr val="tx1"/>
                </a:solidFill>
                <a:latin typeface="Cambria" panose="02040503050406030204" pitchFamily="18" charset="0"/>
                <a:ea typeface="Cambria" panose="02040503050406030204" pitchFamily="18" charset="0"/>
              </a:rPr>
              <a:t>Intrusion Detection System (IDS)</a:t>
            </a:r>
            <a:endParaRPr lang="en-US" sz="3400" b="1" dirty="0">
              <a:solidFill>
                <a:schemeClr val="tx1"/>
              </a:solidFill>
              <a:latin typeface="Cambria" panose="02040503050406030204" pitchFamily="18" charset="0"/>
              <a:ea typeface="Cambria" panose="02040503050406030204" pitchFamily="18" charset="0"/>
            </a:endParaRPr>
          </a:p>
        </p:txBody>
      </p:sp>
      <p:sp>
        <p:nvSpPr>
          <p:cNvPr id="3" name="Rectangle 2"/>
          <p:cNvSpPr/>
          <p:nvPr/>
        </p:nvSpPr>
        <p:spPr>
          <a:xfrm>
            <a:off x="3414007" y="1346296"/>
            <a:ext cx="8123722" cy="3416320"/>
          </a:xfrm>
          <a:prstGeom prst="rect">
            <a:avLst/>
          </a:prstGeom>
        </p:spPr>
        <p:txBody>
          <a:bodyPr wrap="square">
            <a:spAutoFit/>
          </a:bodyPr>
          <a:lstStyle/>
          <a:p>
            <a:pPr marL="342900" lvl="0" indent="-342900" fontAlgn="base">
              <a:buFont typeface="Wingdings" panose="05000000000000000000" pitchFamily="2" charset="2"/>
              <a:buChar char="Ø"/>
            </a:pPr>
            <a:r>
              <a:rPr lang="en-US" sz="2400" b="1" dirty="0"/>
              <a:t>Classification of Intrusion Detection System:</a:t>
            </a:r>
            <a:br>
              <a:rPr lang="en-US" sz="2400" dirty="0"/>
            </a:br>
            <a:r>
              <a:rPr lang="en-US" sz="2400" dirty="0"/>
              <a:t>IDS are classified basically into 2 types:</a:t>
            </a:r>
          </a:p>
          <a:p>
            <a:pPr marL="342900" lvl="0" indent="-342900" algn="just" fontAlgn="base">
              <a:buFont typeface="Wingdings" panose="05000000000000000000" pitchFamily="2" charset="2"/>
              <a:buChar char="Ø"/>
            </a:pPr>
            <a:r>
              <a:rPr lang="en-US" sz="2400" b="1" dirty="0"/>
              <a:t>1)Network Intrusion Detection System (NIDS):</a:t>
            </a:r>
            <a:br>
              <a:rPr lang="en-US" sz="2400" dirty="0"/>
            </a:br>
            <a:r>
              <a:rPr lang="en-US" sz="2400" dirty="0">
                <a:latin typeface="Cambria" panose="02040503050406030204" pitchFamily="18" charset="0"/>
                <a:ea typeface="Cambria" panose="02040503050406030204" pitchFamily="18" charset="0"/>
              </a:rPr>
              <a:t>Network intrusion detection systems (NIDS) are set up at a planned point within the network to examine traffic from all devices on the network. </a:t>
            </a:r>
          </a:p>
          <a:p>
            <a:pPr marL="342900" lvl="0" indent="-342900" algn="just" fontAlgn="base">
              <a:buFont typeface="Wingdings" panose="05000000000000000000" pitchFamily="2" charset="2"/>
              <a:buChar char="Ø"/>
            </a:pPr>
            <a:r>
              <a:rPr lang="en-US" sz="2400" dirty="0">
                <a:latin typeface="Cambria" panose="02040503050406030204" pitchFamily="18" charset="0"/>
                <a:ea typeface="Cambria" panose="02040503050406030204" pitchFamily="18" charset="0"/>
              </a:rPr>
              <a:t>It performs an observation of passing traffic on the entire subnet and matches the traffic that is passed on the subnets to the collection of known attacks. </a:t>
            </a:r>
          </a:p>
        </p:txBody>
      </p:sp>
    </p:spTree>
    <p:extLst>
      <p:ext uri="{BB962C8B-B14F-4D97-AF65-F5344CB8AC3E}">
        <p14:creationId xmlns:p14="http://schemas.microsoft.com/office/powerpoint/2010/main" val="1177364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chemeClr val="tx1"/>
                </a:solidFill>
                <a:latin typeface="Cambria" panose="02040503050406030204" pitchFamily="18" charset="0"/>
                <a:ea typeface="Cambria" panose="02040503050406030204" pitchFamily="18" charset="0"/>
              </a:rPr>
              <a:t>Intrusion Detection System (IDS)</a:t>
            </a:r>
            <a:endParaRPr lang="en-US" sz="3400" b="1" dirty="0">
              <a:solidFill>
                <a:schemeClr val="tx1"/>
              </a:solidFill>
              <a:latin typeface="Cambria" panose="02040503050406030204" pitchFamily="18" charset="0"/>
              <a:ea typeface="Cambria" panose="02040503050406030204" pitchFamily="18" charset="0"/>
            </a:endParaRPr>
          </a:p>
        </p:txBody>
      </p:sp>
      <p:sp>
        <p:nvSpPr>
          <p:cNvPr id="3" name="Rectangle 2"/>
          <p:cNvSpPr/>
          <p:nvPr/>
        </p:nvSpPr>
        <p:spPr>
          <a:xfrm>
            <a:off x="3510930" y="1381942"/>
            <a:ext cx="8123722" cy="3785652"/>
          </a:xfrm>
          <a:prstGeom prst="rect">
            <a:avLst/>
          </a:prstGeom>
        </p:spPr>
        <p:txBody>
          <a:bodyPr wrap="square">
            <a:spAutoFit/>
          </a:bodyPr>
          <a:lstStyle/>
          <a:p>
            <a:pPr lvl="0" algn="just" fontAlgn="base"/>
            <a:r>
              <a:rPr lang="en-US" sz="2400" b="1" dirty="0">
                <a:latin typeface="Cambria" panose="02040503050406030204" pitchFamily="18" charset="0"/>
                <a:ea typeface="Cambria" panose="02040503050406030204" pitchFamily="18" charset="0"/>
              </a:rPr>
              <a:t>2) Host Intrusion Detection System (HIDS):</a:t>
            </a:r>
            <a:br>
              <a:rPr lang="en-US" sz="2400" dirty="0">
                <a:latin typeface="Cambria" panose="02040503050406030204" pitchFamily="18" charset="0"/>
                <a:ea typeface="Cambria" panose="02040503050406030204" pitchFamily="18" charset="0"/>
              </a:rPr>
            </a:br>
            <a:r>
              <a:rPr lang="en-US" sz="2400" dirty="0">
                <a:latin typeface="Cambria" panose="02040503050406030204" pitchFamily="18" charset="0"/>
                <a:ea typeface="Cambria" panose="02040503050406030204" pitchFamily="18" charset="0"/>
              </a:rPr>
              <a:t>Host intrusion detection systems (HIDS) run on independent hosts or devices on the network. A HIDS monitors the incoming and outgoing packets from the device only and will alert the administrator if suspicious or malicious activity is detected. </a:t>
            </a:r>
          </a:p>
          <a:p>
            <a:pPr marL="342900" lvl="0" indent="-342900" algn="just" fontAlgn="base">
              <a:buFont typeface="Wingdings" panose="05000000000000000000" pitchFamily="2" charset="2"/>
              <a:buChar char="Ø"/>
            </a:pPr>
            <a:r>
              <a:rPr lang="en-US" sz="2400" dirty="0">
                <a:latin typeface="Cambria" panose="02040503050406030204" pitchFamily="18" charset="0"/>
                <a:ea typeface="Cambria" panose="02040503050406030204" pitchFamily="18" charset="0"/>
              </a:rPr>
              <a:t>It takes a snapshot of existing system files and compares it with the previous snapshot. </a:t>
            </a:r>
          </a:p>
          <a:p>
            <a:pPr marL="342900" lvl="0" indent="-342900" algn="just" fontAlgn="base">
              <a:buFont typeface="Wingdings" panose="05000000000000000000" pitchFamily="2" charset="2"/>
              <a:buChar char="Ø"/>
            </a:pPr>
            <a:r>
              <a:rPr lang="en-US" sz="2400" dirty="0">
                <a:latin typeface="Cambria" panose="02040503050406030204" pitchFamily="18" charset="0"/>
                <a:ea typeface="Cambria" panose="02040503050406030204" pitchFamily="18" charset="0"/>
              </a:rPr>
              <a:t>If the analytical system files were edited or deleted, an alert is sent to the administrator to investigate.</a:t>
            </a:r>
          </a:p>
        </p:txBody>
      </p:sp>
    </p:spTree>
    <p:extLst>
      <p:ext uri="{BB962C8B-B14F-4D97-AF65-F5344CB8AC3E}">
        <p14:creationId xmlns:p14="http://schemas.microsoft.com/office/powerpoint/2010/main" val="2242981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chemeClr val="tx1"/>
                </a:solidFill>
                <a:latin typeface="Cambria" panose="02040503050406030204" pitchFamily="18" charset="0"/>
                <a:ea typeface="Cambria" panose="02040503050406030204" pitchFamily="18" charset="0"/>
              </a:rPr>
              <a:t>SQL Injection</a:t>
            </a:r>
            <a:endParaRPr lang="en-US" sz="3400" b="1" dirty="0">
              <a:solidFill>
                <a:schemeClr val="tx1"/>
              </a:solidFill>
              <a:latin typeface="Cambria" panose="02040503050406030204" pitchFamily="18" charset="0"/>
              <a:ea typeface="Cambria" panose="02040503050406030204" pitchFamily="18" charset="0"/>
            </a:endParaRPr>
          </a:p>
        </p:txBody>
      </p:sp>
      <p:sp>
        <p:nvSpPr>
          <p:cNvPr id="3" name="Rectangle 2"/>
          <p:cNvSpPr/>
          <p:nvPr/>
        </p:nvSpPr>
        <p:spPr>
          <a:xfrm>
            <a:off x="3397718" y="702673"/>
            <a:ext cx="8123722" cy="6370975"/>
          </a:xfrm>
          <a:prstGeom prst="rect">
            <a:avLst/>
          </a:prstGeom>
        </p:spPr>
        <p:txBody>
          <a:bodyPr wrap="square">
            <a:spAutoFit/>
          </a:bodyPr>
          <a:lstStyle/>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SQL injection is one of the most common threats to a database system.</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SQL injection is a code injection technique that might destroy your database.</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Web programs and applications that access a database can send commands and data to the database, as well as display data retrieved from the database through the Web browser.</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SQL injection is one of the most common web hacking techniques.</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SQL injection is the placement of malicious code in SQL statements, via web page input.</a:t>
            </a:r>
          </a:p>
          <a:p>
            <a:pPr marL="342900" lvl="0" indent="-342900" algn="just">
              <a:buFont typeface="Wingdings" panose="05000000000000000000" pitchFamily="2" charset="2"/>
              <a:buChar char="Ø"/>
            </a:pPr>
            <a:r>
              <a:rPr lang="en-US" sz="2400" dirty="0">
                <a:latin typeface="Cambria" panose="02040503050406030204" pitchFamily="18" charset="0"/>
                <a:ea typeface="Cambria" panose="02040503050406030204" pitchFamily="18" charset="0"/>
              </a:rPr>
              <a:t>In an </a:t>
            </a:r>
            <a:r>
              <a:rPr lang="en-US" sz="2400" b="1" dirty="0">
                <a:latin typeface="Cambria" panose="02040503050406030204" pitchFamily="18" charset="0"/>
                <a:ea typeface="Cambria" panose="02040503050406030204" pitchFamily="18" charset="0"/>
              </a:rPr>
              <a:t>SQL injection attack</a:t>
            </a:r>
            <a:r>
              <a:rPr lang="en-US" sz="2400" dirty="0">
                <a:latin typeface="Cambria" panose="02040503050406030204" pitchFamily="18" charset="0"/>
                <a:ea typeface="Cambria" panose="02040503050406030204" pitchFamily="18" charset="0"/>
              </a:rPr>
              <a:t>, the attacker injects a string input through the application, which changes or manipulates the SQL statement to the attacker’s advantage. </a:t>
            </a:r>
          </a:p>
          <a:p>
            <a:pPr marL="342900" lvl="0" indent="-342900" algn="just">
              <a:buFont typeface="Wingdings" panose="05000000000000000000" pitchFamily="2" charset="2"/>
              <a:buChar char="Ø"/>
            </a:pP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950253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chemeClr val="tx1"/>
                </a:solidFill>
                <a:latin typeface="Cambria" panose="02040503050406030204" pitchFamily="18" charset="0"/>
                <a:ea typeface="Cambria" panose="02040503050406030204" pitchFamily="18" charset="0"/>
              </a:rPr>
              <a:t>SQL Injection</a:t>
            </a:r>
            <a:endParaRPr lang="en-US" sz="3400" b="1" dirty="0">
              <a:solidFill>
                <a:schemeClr val="tx1"/>
              </a:solidFill>
              <a:latin typeface="Cambria" panose="02040503050406030204" pitchFamily="18" charset="0"/>
              <a:ea typeface="Cambria" panose="02040503050406030204" pitchFamily="18" charset="0"/>
            </a:endParaRPr>
          </a:p>
        </p:txBody>
      </p:sp>
      <p:sp>
        <p:nvSpPr>
          <p:cNvPr id="3" name="Rectangle 2"/>
          <p:cNvSpPr/>
          <p:nvPr/>
        </p:nvSpPr>
        <p:spPr>
          <a:xfrm>
            <a:off x="3397718" y="702673"/>
            <a:ext cx="8123722" cy="6463308"/>
          </a:xfrm>
          <a:prstGeom prst="rect">
            <a:avLst/>
          </a:prstGeom>
        </p:spPr>
        <p:txBody>
          <a:bodyPr wrap="square">
            <a:spAutoFit/>
          </a:bodyPr>
          <a:lstStyle/>
          <a:p>
            <a:pPr marL="342900" lvl="0" indent="-342900" algn="just">
              <a:buFont typeface="Wingdings" panose="05000000000000000000" pitchFamily="2" charset="2"/>
              <a:buChar char="Ø"/>
            </a:pPr>
            <a:r>
              <a:rPr lang="en-US" sz="2300" dirty="0">
                <a:latin typeface="Cambria" panose="02040503050406030204" pitchFamily="18" charset="0"/>
                <a:ea typeface="Cambria" panose="02040503050406030204" pitchFamily="18" charset="0"/>
              </a:rPr>
              <a:t>An SQL injection attack can harm the database in various ways, such as unauthorized manipulation of the database or retrieval of sensitive data. </a:t>
            </a:r>
          </a:p>
          <a:p>
            <a:pPr marL="342900" lvl="0" indent="-342900" algn="just">
              <a:buFont typeface="Wingdings" panose="05000000000000000000" pitchFamily="2" charset="2"/>
              <a:buChar char="Ø"/>
            </a:pPr>
            <a:r>
              <a:rPr lang="en-US" sz="2300" dirty="0">
                <a:latin typeface="Cambria" panose="02040503050406030204" pitchFamily="18" charset="0"/>
                <a:ea typeface="Cambria" panose="02040503050406030204" pitchFamily="18" charset="0"/>
              </a:rPr>
              <a:t>It can also be used to execute system-level commands that may cause the system to deny service to the application.</a:t>
            </a:r>
          </a:p>
          <a:p>
            <a:pPr marL="342900" lvl="0" indent="-342900" algn="just">
              <a:buFont typeface="Wingdings" panose="05000000000000000000" pitchFamily="2" charset="2"/>
              <a:buChar char="Ø"/>
            </a:pPr>
            <a:r>
              <a:rPr lang="en-US" sz="2300" b="1" dirty="0">
                <a:latin typeface="Cambria" panose="02040503050406030204" pitchFamily="18" charset="0"/>
                <a:ea typeface="Cambria" panose="02040503050406030204" pitchFamily="18" charset="0"/>
              </a:rPr>
              <a:t>SQL Manipulation. </a:t>
            </a:r>
            <a:r>
              <a:rPr lang="en-US" sz="2300" dirty="0">
                <a:latin typeface="Cambria" panose="02040503050406030204" pitchFamily="18" charset="0"/>
                <a:ea typeface="Cambria" panose="02040503050406030204" pitchFamily="18" charset="0"/>
              </a:rPr>
              <a:t>A manipulation attack, which is the most common type of injection attack, changes an SQL command in the application—for example, by adding conditions to the WHERE-clause of a query, or by expanding a query with additional query components using set operations such as UNION, INTERSECT, or MINUS.</a:t>
            </a:r>
          </a:p>
          <a:p>
            <a:pPr marL="342900" indent="-342900" algn="just">
              <a:buFont typeface="Wingdings" panose="05000000000000000000" pitchFamily="2" charset="2"/>
              <a:buChar char="Ø"/>
            </a:pPr>
            <a:r>
              <a:rPr lang="en-US" sz="2300" b="1" dirty="0">
                <a:latin typeface="Cambria" panose="02040503050406030204" pitchFamily="18" charset="0"/>
                <a:ea typeface="Cambria" panose="02040503050406030204" pitchFamily="18" charset="0"/>
              </a:rPr>
              <a:t>Code Injection. </a:t>
            </a:r>
            <a:r>
              <a:rPr lang="en-US" sz="2300" dirty="0">
                <a:latin typeface="Cambria" panose="02040503050406030204" pitchFamily="18" charset="0"/>
                <a:ea typeface="Cambria" panose="02040503050406030204" pitchFamily="18" charset="0"/>
              </a:rPr>
              <a:t>This type of attack attempts to add additional SQL statements or commands to the existing SQL statement by exploiting a computer bug, which is caused by processing invalid data. The attacker can inject or introduce code into a computer program to change the course of execution.</a:t>
            </a:r>
          </a:p>
          <a:p>
            <a:pPr marL="342900" lvl="0" indent="-342900" algn="just">
              <a:buFont typeface="Wingdings" panose="05000000000000000000" pitchFamily="2" charset="2"/>
              <a:buChar char="Ø"/>
            </a:pPr>
            <a:endParaRPr lang="en-US" sz="23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867871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chemeClr val="tx1"/>
                </a:solidFill>
                <a:latin typeface="Cambria" panose="02040503050406030204" pitchFamily="18" charset="0"/>
                <a:ea typeface="Cambria" panose="02040503050406030204" pitchFamily="18" charset="0"/>
              </a:rPr>
              <a:t>SQL Injection</a:t>
            </a:r>
            <a:endParaRPr lang="en-US" sz="3400" b="1" dirty="0">
              <a:solidFill>
                <a:schemeClr val="tx1"/>
              </a:solidFill>
              <a:latin typeface="Cambria" panose="02040503050406030204" pitchFamily="18" charset="0"/>
              <a:ea typeface="Cambria" panose="02040503050406030204" pitchFamily="18" charset="0"/>
            </a:endParaRPr>
          </a:p>
        </p:txBody>
      </p:sp>
      <p:sp>
        <p:nvSpPr>
          <p:cNvPr id="3" name="Rectangle 2"/>
          <p:cNvSpPr/>
          <p:nvPr/>
        </p:nvSpPr>
        <p:spPr>
          <a:xfrm>
            <a:off x="3397718" y="702673"/>
            <a:ext cx="8123722" cy="2677656"/>
          </a:xfrm>
          <a:prstGeom prst="rect">
            <a:avLst/>
          </a:prstGeom>
        </p:spPr>
        <p:txBody>
          <a:bodyPr wrap="square">
            <a:spAutoFit/>
          </a:bodyPr>
          <a:lstStyle/>
          <a:p>
            <a:pPr marL="342900" lvl="0" indent="-342900" algn="just">
              <a:buFont typeface="Wingdings" panose="05000000000000000000" pitchFamily="2" charset="2"/>
              <a:buChar char="Ø"/>
            </a:pPr>
            <a:r>
              <a:rPr lang="en-US" sz="2400" b="1" dirty="0">
                <a:latin typeface="Cambria" panose="02040503050406030204" pitchFamily="18" charset="0"/>
                <a:ea typeface="Cambria" panose="02040503050406030204" pitchFamily="18" charset="0"/>
              </a:rPr>
              <a:t>Function Call Injection. </a:t>
            </a:r>
            <a:r>
              <a:rPr lang="en-US" sz="2400" dirty="0">
                <a:latin typeface="Cambria" panose="02040503050406030204" pitchFamily="18" charset="0"/>
                <a:ea typeface="Cambria" panose="02040503050406030204" pitchFamily="18" charset="0"/>
              </a:rPr>
              <a:t>In this kind of attack, a database function or operating system function call is inserted into a vulnerable SQL statement to manipulate the data or make a privileged system call. For example, it is possible to exploit a function that performs some aspect related to network communication.</a:t>
            </a:r>
          </a:p>
          <a:p>
            <a:pPr marL="342900" indent="-342900" algn="just">
              <a:buFont typeface="Wingdings" panose="05000000000000000000" pitchFamily="2" charset="2"/>
              <a:buChar char="Ø"/>
            </a:pP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628451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16600" b="1" dirty="0">
                <a:solidFill>
                  <a:schemeClr val="tx1"/>
                </a:solidFill>
              </a:rPr>
              <a:t>Thanks</a:t>
            </a:r>
          </a:p>
        </p:txBody>
      </p:sp>
    </p:spTree>
    <p:extLst>
      <p:ext uri="{BB962C8B-B14F-4D97-AF65-F5344CB8AC3E}">
        <p14:creationId xmlns:p14="http://schemas.microsoft.com/office/powerpoint/2010/main" val="3124965216"/>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Frame</Template>
  <TotalTime>5429</TotalTime>
  <Words>2270</Words>
  <Application>Microsoft Office PowerPoint</Application>
  <PresentationFormat>Widescreen</PresentationFormat>
  <Paragraphs>140</Paragraphs>
  <Slides>22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Cambria</vt:lpstr>
      <vt:lpstr>Corbel</vt:lpstr>
      <vt:lpstr>Wingdings</vt:lpstr>
      <vt:lpstr>Wingdings 2</vt:lpstr>
      <vt:lpstr>Frame</vt:lpstr>
      <vt:lpstr>PowerPoint Presentation</vt:lpstr>
      <vt:lpstr>PowerPoint Presentation</vt:lpstr>
      <vt:lpstr>Security and Integrity</vt:lpstr>
      <vt:lpstr>Database Security</vt:lpstr>
      <vt:lpstr>Database Security</vt:lpstr>
      <vt:lpstr>Objectives Database Security</vt:lpstr>
      <vt:lpstr>Authorization and Authentication</vt:lpstr>
      <vt:lpstr>Audit trail</vt:lpstr>
      <vt:lpstr>Data Encryption</vt:lpstr>
      <vt:lpstr>Data Encryption</vt:lpstr>
      <vt:lpstr>Data Encryption</vt:lpstr>
      <vt:lpstr>Access control</vt:lpstr>
      <vt:lpstr>Access control</vt:lpstr>
      <vt:lpstr>Access control</vt:lpstr>
      <vt:lpstr>Access control</vt:lpstr>
      <vt:lpstr>Intrusion Detection System (IDS)</vt:lpstr>
      <vt:lpstr>Intrusion Detection System (IDS)</vt:lpstr>
      <vt:lpstr>Intrusion Detection System (IDS)</vt:lpstr>
      <vt:lpstr>SQL Injection</vt:lpstr>
      <vt:lpstr>SQL Injection</vt:lpstr>
      <vt:lpstr>SQL Injection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online  certificate  course</dc:title>
  <dc:creator>Deepak Mashru</dc:creator>
  <cp:lastModifiedBy>Dr. Rachit Adhvaryu</cp:lastModifiedBy>
  <cp:revision>331</cp:revision>
  <dcterms:created xsi:type="dcterms:W3CDTF">2019-05-12T04:30:40Z</dcterms:created>
  <dcterms:modified xsi:type="dcterms:W3CDTF">2023-06-19T08:37:20Z</dcterms:modified>
</cp:coreProperties>
</file>