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2"/>
  </p:notesMasterIdLst>
  <p:sldIdLst>
    <p:sldId id="256" r:id="rId2"/>
    <p:sldId id="275" r:id="rId3"/>
    <p:sldId id="316" r:id="rId4"/>
    <p:sldId id="312" r:id="rId5"/>
    <p:sldId id="279" r:id="rId6"/>
    <p:sldId id="313" r:id="rId7"/>
    <p:sldId id="281" r:id="rId8"/>
    <p:sldId id="314" r:id="rId9"/>
    <p:sldId id="295" r:id="rId10"/>
    <p:sldId id="317" r:id="rId11"/>
    <p:sldId id="296" r:id="rId12"/>
    <p:sldId id="297" r:id="rId13"/>
    <p:sldId id="298" r:id="rId14"/>
    <p:sldId id="299" r:id="rId15"/>
    <p:sldId id="309" r:id="rId16"/>
    <p:sldId id="311" r:id="rId17"/>
    <p:sldId id="262" r:id="rId18"/>
    <p:sldId id="277" r:id="rId19"/>
    <p:sldId id="300" r:id="rId20"/>
    <p:sldId id="278" r:id="rId21"/>
    <p:sldId id="301" r:id="rId22"/>
    <p:sldId id="280" r:id="rId23"/>
    <p:sldId id="282" r:id="rId24"/>
    <p:sldId id="283" r:id="rId25"/>
    <p:sldId id="302" r:id="rId26"/>
    <p:sldId id="284" r:id="rId27"/>
    <p:sldId id="285" r:id="rId28"/>
    <p:sldId id="303" r:id="rId29"/>
    <p:sldId id="287" r:id="rId30"/>
    <p:sldId id="288" r:id="rId31"/>
    <p:sldId id="290" r:id="rId32"/>
    <p:sldId id="304" r:id="rId33"/>
    <p:sldId id="292" r:id="rId34"/>
    <p:sldId id="307" r:id="rId35"/>
    <p:sldId id="308" r:id="rId36"/>
    <p:sldId id="269" r:id="rId37"/>
    <p:sldId id="265" r:id="rId38"/>
    <p:sldId id="266" r:id="rId39"/>
    <p:sldId id="267" r:id="rId40"/>
    <p:sldId id="315"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94660"/>
  </p:normalViewPr>
  <p:slideViewPr>
    <p:cSldViewPr>
      <p:cViewPr varScale="1">
        <p:scale>
          <a:sx n="107" d="100"/>
          <a:sy n="107" d="100"/>
        </p:scale>
        <p:origin x="1590" y="11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8D612A-E318-4A21-9C38-10285FC950D3}" type="datetimeFigureOut">
              <a:rPr lang="en-IN" smtClean="0"/>
              <a:pPr/>
              <a:t>31-05-23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B13B34-4E3B-431E-BA18-13410C9059A2}" type="slidenum">
              <a:rPr lang="en-IN" smtClean="0"/>
              <a:pPr/>
              <a:t>‹#›</a:t>
            </a:fld>
            <a:endParaRPr lang="en-IN"/>
          </a:p>
        </p:txBody>
      </p:sp>
    </p:spTree>
    <p:extLst>
      <p:ext uri="{BB962C8B-B14F-4D97-AF65-F5344CB8AC3E}">
        <p14:creationId xmlns:p14="http://schemas.microsoft.com/office/powerpoint/2010/main" val="3647045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2386" y="1298448"/>
            <a:ext cx="5486400" cy="3255264"/>
          </a:xfrm>
        </p:spPr>
        <p:txBody>
          <a:bodyPr anchor="b">
            <a:normAutofit/>
          </a:bodyPr>
          <a:lstStyle>
            <a:lvl1pPr algn="l">
              <a:defRPr sz="4425" spc="-75"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825011" y="4670246"/>
            <a:ext cx="5486400" cy="914400"/>
          </a:xfrm>
        </p:spPr>
        <p:txBody>
          <a:bodyPr anchor="t">
            <a:normAutofit/>
          </a:bodyPr>
          <a:lstStyle>
            <a:lvl1pPr marL="0" indent="0" algn="l">
              <a:buNone/>
              <a:defRPr sz="1650" cap="none" spc="0" baseline="0">
                <a:solidFill>
                  <a:schemeClr val="accent1">
                    <a:lumMod val="20000"/>
                    <a:lumOff val="80000"/>
                  </a:schemeClr>
                </a:solidFill>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6E4831-481F-4AF1-9D8E-170CD6E1C3F5}" type="datetimeFigureOut">
              <a:rPr lang="en-IN" smtClean="0"/>
              <a:pPr/>
              <a:t>31-05-23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3663971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B6E4831-481F-4AF1-9D8E-170CD6E1C3F5}" type="datetimeFigureOut">
              <a:rPr lang="en-IN" smtClean="0"/>
              <a:pPr/>
              <a:t>31-05-23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2673506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B6E4831-481F-4AF1-9D8E-170CD6E1C3F5}" type="datetimeFigureOut">
              <a:rPr lang="en-IN" smtClean="0"/>
              <a:pPr/>
              <a:t>31-05-23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2584041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0934" y="868680"/>
            <a:ext cx="2606040" cy="5120640"/>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63590" y="868680"/>
            <a:ext cx="2606040" cy="5120640"/>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FB6E4831-481F-4AF1-9D8E-170CD6E1C3F5}" type="datetimeFigureOut">
              <a:rPr lang="en-IN" smtClean="0"/>
              <a:pPr/>
              <a:t>31-05-23</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1922043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00934" y="1023586"/>
            <a:ext cx="2606040" cy="807720"/>
          </a:xfrm>
        </p:spPr>
        <p:txBody>
          <a:bodyPr anchor="b">
            <a:normAutofit/>
          </a:bodyPr>
          <a:lstStyle>
            <a:lvl1pPr marL="0" indent="0">
              <a:spcBef>
                <a:spcPts val="0"/>
              </a:spcBef>
              <a:buNone/>
              <a:defRPr sz="1500" b="1">
                <a:solidFill>
                  <a:schemeClr val="tx1">
                    <a:lumMod val="65000"/>
                    <a:lumOff val="3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2900934" y="1930936"/>
            <a:ext cx="2606040" cy="4023360"/>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63847" y="1023587"/>
            <a:ext cx="2606040" cy="813171"/>
          </a:xfrm>
        </p:spPr>
        <p:txBody>
          <a:bodyPr anchor="b">
            <a:normAutofit/>
          </a:bodyPr>
          <a:lstStyle>
            <a:lvl1pPr marL="0" indent="0">
              <a:spcBef>
                <a:spcPts val="0"/>
              </a:spcBef>
              <a:buNone/>
              <a:defRPr sz="1500" b="1">
                <a:solidFill>
                  <a:schemeClr val="tx1">
                    <a:lumMod val="65000"/>
                    <a:lumOff val="3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5863847" y="1930936"/>
            <a:ext cx="2606040" cy="4023360"/>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FB6E4831-481F-4AF1-9D8E-170CD6E1C3F5}" type="datetimeFigureOut">
              <a:rPr lang="en-IN" smtClean="0"/>
              <a:pPr/>
              <a:t>31-05-23</a:t>
            </a:fld>
            <a:endParaRPr lang="en-IN"/>
          </a:p>
        </p:txBody>
      </p:sp>
      <p:sp>
        <p:nvSpPr>
          <p:cNvPr id="11" name="Footer Placeholder 10"/>
          <p:cNvSpPr>
            <a:spLocks noGrp="1"/>
          </p:cNvSpPr>
          <p:nvPr>
            <p:ph type="ftr" sz="quarter" idx="11"/>
          </p:nvPr>
        </p:nvSpPr>
        <p:spPr/>
        <p:txBody>
          <a:bodyPr/>
          <a:lstStyle/>
          <a:p>
            <a:endParaRPr lang="en-IN"/>
          </a:p>
        </p:txBody>
      </p:sp>
      <p:sp>
        <p:nvSpPr>
          <p:cNvPr id="12" name="Slide Number Placeholder 11"/>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2924603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6E4831-481F-4AF1-9D8E-170CD6E1C3F5}" type="datetimeFigureOut">
              <a:rPr lang="en-IN" smtClean="0"/>
              <a:pPr/>
              <a:t>31-05-23</a:t>
            </a:fld>
            <a:endParaRPr lang="en-IN"/>
          </a:p>
        </p:txBody>
      </p:sp>
      <p:sp>
        <p:nvSpPr>
          <p:cNvPr id="7" name="Footer Placeholder 6"/>
          <p:cNvSpPr>
            <a:spLocks noGrp="1"/>
          </p:cNvSpPr>
          <p:nvPr>
            <p:ph type="ftr" sz="quarter" idx="11"/>
          </p:nvPr>
        </p:nvSpPr>
        <p:spPr/>
        <p:txBody>
          <a:bodyPr/>
          <a:lstStyle/>
          <a:p>
            <a:endParaRPr lang="en-IN"/>
          </a:p>
        </p:txBody>
      </p:sp>
      <p:sp>
        <p:nvSpPr>
          <p:cNvPr id="8" name="Slide Number Placeholder 7"/>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2020015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FB6E4831-481F-4AF1-9D8E-170CD6E1C3F5}" type="datetimeFigureOut">
              <a:rPr lang="en-IN" smtClean="0"/>
              <a:pPr/>
              <a:t>31-05-23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3349837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377440"/>
          </a:xfrm>
        </p:spPr>
        <p:txBody>
          <a:bodyPr anchor="b">
            <a:normAutofit/>
          </a:bodyPr>
          <a:lstStyle>
            <a:lvl1pPr>
              <a:defRPr sz="2400" b="0" baseline="0"/>
            </a:lvl1pPr>
          </a:lstStyle>
          <a:p>
            <a:r>
              <a:rPr lang="en-US"/>
              <a:t>Click to edit Master title style</a:t>
            </a:r>
            <a:endParaRPr lang="en-US" dirty="0"/>
          </a:p>
        </p:txBody>
      </p:sp>
      <p:sp>
        <p:nvSpPr>
          <p:cNvPr id="3" name="Content Placeholder 2"/>
          <p:cNvSpPr>
            <a:spLocks noGrp="1"/>
          </p:cNvSpPr>
          <p:nvPr>
            <p:ph idx="1"/>
          </p:nvPr>
        </p:nvSpPr>
        <p:spPr>
          <a:xfrm>
            <a:off x="2900934" y="868680"/>
            <a:ext cx="5486400" cy="5120640"/>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2024" y="3494176"/>
            <a:ext cx="2125980" cy="2321990"/>
          </a:xfrm>
        </p:spPr>
        <p:txBody>
          <a:bodyPr anchor="t">
            <a:normAutofit/>
          </a:bodyPr>
          <a:lstStyle>
            <a:lvl1pPr marL="0" indent="0">
              <a:lnSpc>
                <a:spcPct val="100000"/>
              </a:lnSpc>
              <a:buNone/>
              <a:defRPr sz="1050">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8" name="Date Placeholder 7"/>
          <p:cNvSpPr>
            <a:spLocks noGrp="1"/>
          </p:cNvSpPr>
          <p:nvPr>
            <p:ph type="dt" sz="half" idx="10"/>
          </p:nvPr>
        </p:nvSpPr>
        <p:spPr/>
        <p:txBody>
          <a:bodyPr/>
          <a:lstStyle/>
          <a:p>
            <a:fld id="{FB6E4831-481F-4AF1-9D8E-170CD6E1C3F5}" type="datetimeFigureOut">
              <a:rPr lang="en-IN" smtClean="0"/>
              <a:pPr/>
              <a:t>31-05-23</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627468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37744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677983" y="767419"/>
            <a:ext cx="6086423" cy="5330952"/>
          </a:xfrm>
          <a:solidFill>
            <a:schemeClr val="bg1">
              <a:lumMod val="75000"/>
            </a:schemeClr>
          </a:solidFill>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92024" y="3493008"/>
            <a:ext cx="2125980" cy="2322576"/>
          </a:xfrm>
        </p:spPr>
        <p:txBody>
          <a:bodyPr anchor="t">
            <a:normAutofit/>
          </a:bodyPr>
          <a:lstStyle>
            <a:lvl1pPr marL="0" indent="0">
              <a:lnSpc>
                <a:spcPct val="100000"/>
              </a:lnSpc>
              <a:buNone/>
              <a:defRPr sz="1050">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8" name="Date Placeholder 7"/>
          <p:cNvSpPr>
            <a:spLocks noGrp="1"/>
          </p:cNvSpPr>
          <p:nvPr>
            <p:ph type="dt" sz="half" idx="10"/>
          </p:nvPr>
        </p:nvSpPr>
        <p:spPr/>
        <p:txBody>
          <a:bodyPr/>
          <a:lstStyle/>
          <a:p>
            <a:fld id="{FB6E4831-481F-4AF1-9D8E-170CD6E1C3F5}" type="datetimeFigureOut">
              <a:rPr lang="en-IN" smtClean="0"/>
              <a:pPr/>
              <a:t>31-05-23</a:t>
            </a:fld>
            <a:endParaRPr lang="en-IN"/>
          </a:p>
        </p:txBody>
      </p:sp>
      <p:sp>
        <p:nvSpPr>
          <p:cNvPr id="9" name="Footer Placeholder 8"/>
          <p:cNvSpPr>
            <a:spLocks noGrp="1"/>
          </p:cNvSpPr>
          <p:nvPr>
            <p:ph type="ftr" sz="quarter" idx="11"/>
          </p:nvPr>
        </p:nvSpPr>
        <p:spPr>
          <a:xfrm>
            <a:off x="2624326" y="6356351"/>
            <a:ext cx="4433638" cy="365125"/>
          </a:xfrm>
        </p:spPr>
        <p:txBody>
          <a:bodyPr/>
          <a:lstStyle/>
          <a:p>
            <a:endParaRPr lang="en-IN"/>
          </a:p>
        </p:txBody>
      </p:sp>
      <p:sp>
        <p:nvSpPr>
          <p:cNvPr id="10" name="Slide Number Placeholder 9"/>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6892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6E4831-481F-4AF1-9D8E-170CD6E1C3F5}" type="datetimeFigureOut">
              <a:rPr lang="en-IN" smtClean="0"/>
              <a:pPr/>
              <a:t>31-05-23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647580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5750" y="990600"/>
            <a:ext cx="211455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0934" y="868680"/>
            <a:ext cx="5486400" cy="512064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6E4831-481F-4AF1-9D8E-170CD6E1C3F5}" type="datetimeFigureOut">
              <a:rPr lang="en-IN" smtClean="0"/>
              <a:pPr/>
              <a:t>31-05-23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11CE39-2868-44A2-A0C6-827D458F7A8B}" type="slidenum">
              <a:rPr lang="en-IN" smtClean="0"/>
              <a:pPr/>
              <a:t>‹#›</a:t>
            </a:fld>
            <a:endParaRPr lang="en-IN"/>
          </a:p>
        </p:txBody>
      </p:sp>
    </p:spTree>
    <p:extLst>
      <p:ext uri="{BB962C8B-B14F-4D97-AF65-F5344CB8AC3E}">
        <p14:creationId xmlns:p14="http://schemas.microsoft.com/office/powerpoint/2010/main" val="2718726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9689" y="1123838"/>
            <a:ext cx="221061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2901951" y="864108"/>
            <a:ext cx="5486400" cy="512064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6849" y="6356351"/>
            <a:ext cx="2057400" cy="365125"/>
          </a:xfrm>
          <a:prstGeom prst="rect">
            <a:avLst/>
          </a:prstGeom>
        </p:spPr>
        <p:txBody>
          <a:bodyPr vert="horz" lIns="91440" tIns="45720" rIns="91440" bIns="45720" rtlCol="0" anchor="ctr"/>
          <a:lstStyle>
            <a:lvl1pPr algn="l">
              <a:defRPr sz="825">
                <a:solidFill>
                  <a:schemeClr val="tx1">
                    <a:lumMod val="50000"/>
                    <a:lumOff val="50000"/>
                  </a:schemeClr>
                </a:solidFill>
              </a:defRPr>
            </a:lvl1pPr>
          </a:lstStyle>
          <a:p>
            <a:fld id="{FB6E4831-481F-4AF1-9D8E-170CD6E1C3F5}" type="datetimeFigureOut">
              <a:rPr lang="en-IN" smtClean="0"/>
              <a:pPr/>
              <a:t>31-05-23</a:t>
            </a:fld>
            <a:endParaRPr lang="en-IN"/>
          </a:p>
        </p:txBody>
      </p:sp>
      <p:sp>
        <p:nvSpPr>
          <p:cNvPr id="5" name="Footer Placeholder 4"/>
          <p:cNvSpPr>
            <a:spLocks noGrp="1"/>
          </p:cNvSpPr>
          <p:nvPr>
            <p:ph type="ftr" sz="quarter" idx="3"/>
          </p:nvPr>
        </p:nvSpPr>
        <p:spPr>
          <a:xfrm>
            <a:off x="2901951" y="6356351"/>
            <a:ext cx="4433638" cy="365125"/>
          </a:xfrm>
          <a:prstGeom prst="rect">
            <a:avLst/>
          </a:prstGeom>
        </p:spPr>
        <p:txBody>
          <a:bodyPr vert="horz" lIns="91440" tIns="45720" rIns="91440" bIns="45720" rtlCol="0" anchor="ctr"/>
          <a:lstStyle>
            <a:lvl1pPr algn="l">
              <a:defRPr sz="825">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7975602" y="6356351"/>
            <a:ext cx="1148195" cy="365125"/>
          </a:xfrm>
          <a:prstGeom prst="rect">
            <a:avLst/>
          </a:prstGeom>
        </p:spPr>
        <p:txBody>
          <a:bodyPr vert="horz" lIns="91440" tIns="45720" rIns="91440" bIns="45720" rtlCol="0" anchor="ctr"/>
          <a:lstStyle>
            <a:lvl1pPr algn="r">
              <a:defRPr sz="900" b="1">
                <a:solidFill>
                  <a:schemeClr val="accent1"/>
                </a:solidFill>
              </a:defRPr>
            </a:lvl1pPr>
          </a:lstStyle>
          <a:p>
            <a:fld id="{9C11CE39-2868-44A2-A0C6-827D458F7A8B}" type="slidenum">
              <a:rPr lang="en-IN" smtClean="0"/>
              <a:pPr/>
              <a:t>‹#›</a:t>
            </a:fld>
            <a:endParaRPr lang="en-IN"/>
          </a:p>
        </p:txBody>
      </p:sp>
    </p:spTree>
    <p:extLst>
      <p:ext uri="{BB962C8B-B14F-4D97-AF65-F5344CB8AC3E}">
        <p14:creationId xmlns:p14="http://schemas.microsoft.com/office/powerpoint/2010/main" val="407387330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85800" rtl="0" eaLnBrk="1" latinLnBrk="0" hangingPunct="1">
        <a:lnSpc>
          <a:spcPct val="90000"/>
        </a:lnSpc>
        <a:spcBef>
          <a:spcPct val="0"/>
        </a:spcBef>
        <a:buNone/>
        <a:defRPr sz="2700" kern="1200" spc="-45" baseline="0">
          <a:solidFill>
            <a:srgbClr val="FFFFFF"/>
          </a:solid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buClr>
        <a:buFont typeface="Wingdings 2" pitchFamily="18" charset="2"/>
        <a:buChar char=""/>
        <a:defRPr sz="1500" kern="1200">
          <a:solidFill>
            <a:schemeClr val="tx1">
              <a:lumMod val="65000"/>
              <a:lumOff val="35000"/>
            </a:schemeClr>
          </a:solidFill>
          <a:latin typeface="+mn-lt"/>
          <a:ea typeface="+mn-ea"/>
          <a:cs typeface="+mn-cs"/>
        </a:defRPr>
      </a:lvl1pPr>
      <a:lvl2pPr marL="5143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350" kern="1200">
          <a:solidFill>
            <a:schemeClr val="tx1">
              <a:lumMod val="65000"/>
              <a:lumOff val="35000"/>
            </a:schemeClr>
          </a:solidFill>
          <a:latin typeface="+mn-lt"/>
          <a:ea typeface="+mn-ea"/>
          <a:cs typeface="+mn-cs"/>
        </a:defRPr>
      </a:lvl2pPr>
      <a:lvl3pPr marL="8572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200" kern="1200">
          <a:solidFill>
            <a:schemeClr val="tx1">
              <a:lumMod val="65000"/>
              <a:lumOff val="35000"/>
            </a:schemeClr>
          </a:solidFill>
          <a:latin typeface="+mn-lt"/>
          <a:ea typeface="+mn-ea"/>
          <a:cs typeface="+mn-cs"/>
        </a:defRPr>
      </a:lvl3pPr>
      <a:lvl4pPr marL="12001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4pPr>
      <a:lvl5pPr marL="15430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5pPr>
      <a:lvl6pPr marL="18859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6pPr>
      <a:lvl7pPr marL="22288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7pPr>
      <a:lvl8pPr marL="25717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8pPr>
      <a:lvl9pPr marL="29146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C:\Users\parul\Desktop\temp.png"/>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89" name="Google Shape;89;p1"/>
          <p:cNvSpPr/>
          <p:nvPr/>
        </p:nvSpPr>
        <p:spPr>
          <a:xfrm>
            <a:off x="368184" y="1698182"/>
            <a:ext cx="8390965" cy="1091454"/>
          </a:xfrm>
          <a:prstGeom prst="rect">
            <a:avLst/>
          </a:prstGeom>
          <a:noFill/>
          <a:ln>
            <a:noFill/>
          </a:ln>
        </p:spPr>
        <p:txBody>
          <a:bodyPr spcFirstLastPara="1" wrap="square" lIns="68569" tIns="34275" rIns="68569" bIns="34275" anchor="t" anchorCtr="0">
            <a:noAutofit/>
          </a:bodyPr>
          <a:lstStyle/>
          <a:p>
            <a:pPr algn="ctr">
              <a:buClr>
                <a:srgbClr val="000000"/>
              </a:buClr>
              <a:buSzPts val="3500"/>
            </a:pPr>
            <a:r>
              <a:rPr lang="en-IN" sz="3200" b="1" dirty="0">
                <a:solidFill>
                  <a:srgbClr val="000000"/>
                </a:solidFill>
                <a:latin typeface="Calibri"/>
                <a:ea typeface="Calibri"/>
                <a:cs typeface="Calibri"/>
                <a:sym typeface="Calibri"/>
              </a:rPr>
              <a:t>Database Management System (303105203)</a:t>
            </a:r>
          </a:p>
          <a:p>
            <a:pPr algn="ctr">
              <a:buClr>
                <a:srgbClr val="000000"/>
              </a:buClr>
              <a:buSzPts val="3500"/>
            </a:pPr>
            <a:endParaRPr lang="en-IN" sz="1400" b="1" dirty="0">
              <a:solidFill>
                <a:srgbClr val="000000"/>
              </a:solidFill>
              <a:latin typeface="Calibri"/>
              <a:ea typeface="Calibri"/>
              <a:cs typeface="Calibri"/>
              <a:sym typeface="Calibri"/>
            </a:endParaRPr>
          </a:p>
          <a:p>
            <a:pPr algn="ctr">
              <a:buClr>
                <a:srgbClr val="000000"/>
              </a:buClr>
              <a:buSzPts val="3500"/>
            </a:pPr>
            <a:r>
              <a:rPr lang="en-IN" sz="2800" b="1" dirty="0">
                <a:solidFill>
                  <a:srgbClr val="000000"/>
                </a:solidFill>
                <a:latin typeface="Calibri"/>
                <a:ea typeface="Calibri"/>
                <a:cs typeface="Calibri"/>
                <a:sym typeface="Calibri"/>
              </a:rPr>
              <a:t>Unit – 2: SQL &amp; its </a:t>
            </a:r>
            <a:r>
              <a:rPr lang="en-US" sz="2800" b="1" dirty="0">
                <a:solidFill>
                  <a:srgbClr val="000000"/>
                </a:solidFill>
                <a:latin typeface="Calibri"/>
                <a:ea typeface="Calibri"/>
                <a:cs typeface="Calibri"/>
                <a:sym typeface="Calibri"/>
              </a:rPr>
              <a:t>Components</a:t>
            </a:r>
            <a:endParaRPr lang="en-IN" sz="2800" b="1" dirty="0">
              <a:solidFill>
                <a:srgbClr val="000000"/>
              </a:solidFill>
              <a:latin typeface="Calibri"/>
              <a:ea typeface="Calibri"/>
              <a:cs typeface="Calibri"/>
              <a:sym typeface="Calibri"/>
            </a:endParaRPr>
          </a:p>
          <a:p>
            <a:pPr algn="ctr">
              <a:buClr>
                <a:srgbClr val="000000"/>
              </a:buClr>
              <a:buSzPts val="3500"/>
            </a:pPr>
            <a:endParaRPr sz="1350" dirty="0"/>
          </a:p>
        </p:txBody>
      </p:sp>
      <p:sp>
        <p:nvSpPr>
          <p:cNvPr id="90" name="Google Shape;90;p1"/>
          <p:cNvSpPr/>
          <p:nvPr/>
        </p:nvSpPr>
        <p:spPr>
          <a:xfrm>
            <a:off x="679076" y="2997994"/>
            <a:ext cx="7678271" cy="577454"/>
          </a:xfrm>
          <a:prstGeom prst="rect">
            <a:avLst/>
          </a:prstGeom>
          <a:noFill/>
          <a:ln>
            <a:noFill/>
          </a:ln>
        </p:spPr>
        <p:txBody>
          <a:bodyPr spcFirstLastPara="1" wrap="square" lIns="68569" tIns="34275" rIns="68569" bIns="34275" anchor="t" anchorCtr="0">
            <a:noAutofit/>
          </a:bodyPr>
          <a:lstStyle/>
          <a:p>
            <a:pPr algn="ctr">
              <a:buClr>
                <a:srgbClr val="000000"/>
              </a:buClr>
              <a:buSzPts val="2200"/>
            </a:pPr>
            <a:r>
              <a:rPr lang="en-IN" sz="1650" b="1" dirty="0">
                <a:solidFill>
                  <a:srgbClr val="000000"/>
                </a:solidFill>
                <a:latin typeface="Calibri"/>
                <a:ea typeface="Calibri"/>
                <a:cs typeface="Calibri"/>
                <a:sym typeface="Calibri"/>
              </a:rPr>
              <a:t>Dr. Rachit Adhvaryu, </a:t>
            </a:r>
          </a:p>
          <a:p>
            <a:pPr algn="ctr">
              <a:buClr>
                <a:srgbClr val="000000"/>
              </a:buClr>
              <a:buSzPts val="2200"/>
            </a:pPr>
            <a:r>
              <a:rPr lang="en-IN" sz="1650" dirty="0">
                <a:solidFill>
                  <a:srgbClr val="000000"/>
                </a:solidFill>
                <a:latin typeface="Calibri"/>
                <a:ea typeface="Calibri"/>
                <a:cs typeface="Calibri"/>
                <a:sym typeface="Calibri"/>
              </a:rPr>
              <a:t>Assistant Professor, Computer Science &amp; Engineering</a:t>
            </a:r>
            <a:endParaRPr sz="1650" dirty="0">
              <a:solidFill>
                <a:srgbClr val="000000"/>
              </a:solidFill>
              <a:latin typeface="Calibri"/>
              <a:ea typeface="Calibri"/>
              <a:cs typeface="Calibri"/>
              <a:sym typeface="Calibri"/>
            </a:endParaRPr>
          </a:p>
        </p:txBody>
      </p:sp>
      <p:pic>
        <p:nvPicPr>
          <p:cNvPr id="91" name="Google Shape;91;p1" descr="C:\Users\parul\Desktop\Registered Logosd.png"/>
          <p:cNvPicPr preferRelativeResize="0"/>
          <p:nvPr/>
        </p:nvPicPr>
        <p:blipFill rotWithShape="1">
          <a:blip r:embed="rId4">
            <a:alphaModFix/>
          </a:blip>
          <a:srcRect/>
          <a:stretch/>
        </p:blipFill>
        <p:spPr>
          <a:xfrm>
            <a:off x="3581400" y="685800"/>
            <a:ext cx="1981200" cy="685800"/>
          </a:xfrm>
          <a:prstGeom prst="rect">
            <a:avLst/>
          </a:prstGeom>
          <a:noFill/>
          <a:ln>
            <a:noFill/>
          </a:ln>
        </p:spPr>
      </p:pic>
      <p:grpSp>
        <p:nvGrpSpPr>
          <p:cNvPr id="92" name="Google Shape;92;p1"/>
          <p:cNvGrpSpPr/>
          <p:nvPr/>
        </p:nvGrpSpPr>
        <p:grpSpPr>
          <a:xfrm>
            <a:off x="2206230" y="2895600"/>
            <a:ext cx="4731544" cy="70247"/>
            <a:chOff x="1428728" y="2571744"/>
            <a:chExt cx="6309404" cy="94298"/>
          </a:xfrm>
        </p:grpSpPr>
        <p:cxnSp>
          <p:nvCxnSpPr>
            <p:cNvPr id="93" name="Google Shape;93;p1"/>
            <p:cNvCxnSpPr/>
            <p:nvPr/>
          </p:nvCxnSpPr>
          <p:spPr>
            <a:xfrm>
              <a:off x="1428728" y="2618094"/>
              <a:ext cx="6287177" cy="1598"/>
            </a:xfrm>
            <a:prstGeom prst="straightConnector1">
              <a:avLst/>
            </a:prstGeom>
            <a:noFill/>
            <a:ln w="9525" cap="flat" cmpd="sng">
              <a:solidFill>
                <a:srgbClr val="000000"/>
              </a:solidFill>
              <a:prstDash val="solid"/>
              <a:round/>
              <a:headEnd type="none" w="med" len="med"/>
              <a:tailEnd type="none" w="med" len="med"/>
            </a:ln>
          </p:spPr>
        </p:cxnSp>
        <p:sp>
          <p:nvSpPr>
            <p:cNvPr id="94" name="Google Shape;94;p1"/>
            <p:cNvSpPr/>
            <p:nvPr/>
          </p:nvSpPr>
          <p:spPr>
            <a:xfrm rot="10800000">
              <a:off x="1428728" y="2571744"/>
              <a:ext cx="93672"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sp>
          <p:nvSpPr>
            <p:cNvPr id="95" name="Google Shape;95;p1"/>
            <p:cNvSpPr/>
            <p:nvPr/>
          </p:nvSpPr>
          <p:spPr>
            <a:xfrm rot="10800000">
              <a:off x="7644459" y="2571744"/>
              <a:ext cx="93673" cy="94298"/>
            </a:xfrm>
            <a:prstGeom prst="ellipse">
              <a:avLst/>
            </a:prstGeom>
            <a:solidFill>
              <a:srgbClr val="000000"/>
            </a:solidFill>
            <a:ln>
              <a:noFill/>
            </a:ln>
          </p:spPr>
          <p:txBody>
            <a:bodyPr spcFirstLastPara="1" wrap="square" lIns="68569" tIns="34275" rIns="68569" bIns="34275" anchor="ctr" anchorCtr="0">
              <a:noAutofit/>
            </a:bodyPr>
            <a:lstStyle/>
            <a:p>
              <a:pPr algn="ctr">
                <a:buClr>
                  <a:schemeClr val="dk1"/>
                </a:buClr>
                <a:buSzPts val="1800"/>
              </a:pPr>
              <a:endParaRPr sz="1350">
                <a:solidFill>
                  <a:schemeClr val="dk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9689" y="1700128"/>
            <a:ext cx="2210612" cy="3450887"/>
          </a:xfrm>
          <a:prstGeom prst="rect">
            <a:avLst/>
          </a:prstGeom>
        </p:spPr>
        <p:txBody>
          <a:bodyPr/>
          <a:lstStyle/>
          <a:p>
            <a:r>
              <a:rPr lang="en-IN" b="1" dirty="0">
                <a:solidFill>
                  <a:schemeClr val="tx1"/>
                </a:solidFill>
                <a:latin typeface="Cambria" panose="02040503050406030204" pitchFamily="18" charset="0"/>
                <a:ea typeface="Cambria" panose="02040503050406030204" pitchFamily="18" charset="0"/>
              </a:rPr>
              <a:t>Structured Query Language (SQL)</a:t>
            </a:r>
            <a:br>
              <a:rPr lang="en-US" sz="2400" dirty="0">
                <a:solidFill>
                  <a:schemeClr val="tx1"/>
                </a:solidFill>
                <a:latin typeface="Cambria" panose="02040503050406030204" pitchFamily="18" charset="0"/>
                <a:ea typeface="Cambria" panose="02040503050406030204" pitchFamily="18" charset="0"/>
              </a:rPr>
            </a:br>
            <a:endParaRPr lang="en-US" dirty="0"/>
          </a:p>
        </p:txBody>
      </p:sp>
      <p:sp>
        <p:nvSpPr>
          <p:cNvPr id="3" name="Content Placeholder 2"/>
          <p:cNvSpPr>
            <a:spLocks noGrp="1"/>
          </p:cNvSpPr>
          <p:nvPr>
            <p:ph idx="4294967295"/>
          </p:nvPr>
        </p:nvSpPr>
        <p:spPr>
          <a:xfrm>
            <a:off x="2901951" y="1505331"/>
            <a:ext cx="5486400" cy="3840480"/>
          </a:xfrm>
          <a:prstGeom prst="rect">
            <a:avLst/>
          </a:prstGeom>
        </p:spPr>
        <p:txBody>
          <a:bodyPr/>
          <a:lstStyle/>
          <a:p>
            <a:pPr marL="342900" indent="-342900"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lets you access and manipulate databases</a:t>
            </a:r>
          </a:p>
          <a:p>
            <a:pPr marL="342900" indent="-342900"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A language which allows to control the overall database.</a:t>
            </a:r>
          </a:p>
          <a:p>
            <a:pPr marL="342900" indent="-342900"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Divided into 4 sub parts as follows:</a:t>
            </a:r>
          </a:p>
          <a:p>
            <a:endParaRPr lang="en-US" dirty="0"/>
          </a:p>
        </p:txBody>
      </p:sp>
    </p:spTree>
    <p:extLst>
      <p:ext uri="{BB962C8B-B14F-4D97-AF65-F5344CB8AC3E}">
        <p14:creationId xmlns:p14="http://schemas.microsoft.com/office/powerpoint/2010/main" val="1969497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9689" y="1700128"/>
            <a:ext cx="2210612" cy="3450887"/>
          </a:xfrm>
          <a:prstGeom prst="rect">
            <a:avLst/>
          </a:prstGeom>
        </p:spPr>
        <p:txBody>
          <a:bodyPr/>
          <a:lstStyle/>
          <a:p>
            <a:r>
              <a:rPr lang="en-IN" b="1" dirty="0">
                <a:solidFill>
                  <a:schemeClr val="tx1"/>
                </a:solidFill>
                <a:latin typeface="Cambria" panose="02040503050406030204" pitchFamily="18" charset="0"/>
                <a:ea typeface="Cambria" panose="02040503050406030204" pitchFamily="18" charset="0"/>
              </a:rPr>
              <a:t>Data Definition Language (DDL)</a:t>
            </a:r>
            <a:br>
              <a:rPr lang="en-US" sz="2400" dirty="0">
                <a:solidFill>
                  <a:schemeClr val="tx1"/>
                </a:solidFill>
                <a:latin typeface="Cambria" panose="02040503050406030204" pitchFamily="18" charset="0"/>
                <a:ea typeface="Cambria" panose="02040503050406030204" pitchFamily="18" charset="0"/>
              </a:rPr>
            </a:br>
            <a:endParaRPr lang="en-US" dirty="0"/>
          </a:p>
        </p:txBody>
      </p:sp>
      <p:sp>
        <p:nvSpPr>
          <p:cNvPr id="3" name="Content Placeholder 2"/>
          <p:cNvSpPr>
            <a:spLocks noGrp="1"/>
          </p:cNvSpPr>
          <p:nvPr>
            <p:ph idx="4294967295"/>
          </p:nvPr>
        </p:nvSpPr>
        <p:spPr>
          <a:xfrm>
            <a:off x="2901951" y="1505331"/>
            <a:ext cx="5486400" cy="3840480"/>
          </a:xfrm>
          <a:prstGeom prst="rect">
            <a:avLst/>
          </a:prstGeom>
        </p:spPr>
        <p:txBody>
          <a:bodyPr/>
          <a:lstStyle/>
          <a:p>
            <a:pPr marL="342900" indent="-342900"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For definition and description.</a:t>
            </a:r>
          </a:p>
          <a:p>
            <a:pPr marL="342900" indent="-342900"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A language in which the storage structure and access methods used by the database system are specified.</a:t>
            </a:r>
          </a:p>
          <a:p>
            <a:pPr marL="342900" indent="-342900"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Specification notation for defining the database schema.</a:t>
            </a:r>
          </a:p>
          <a:p>
            <a:endParaRPr lang="en-US" dirty="0"/>
          </a:p>
        </p:txBody>
      </p:sp>
    </p:spTree>
    <p:extLst>
      <p:ext uri="{BB962C8B-B14F-4D97-AF65-F5344CB8AC3E}">
        <p14:creationId xmlns:p14="http://schemas.microsoft.com/office/powerpoint/2010/main" val="488806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9689" y="1700128"/>
            <a:ext cx="2210612" cy="3450887"/>
          </a:xfrm>
          <a:prstGeom prst="rect">
            <a:avLst/>
          </a:prstGeom>
        </p:spPr>
        <p:txBody>
          <a:bodyPr/>
          <a:lstStyle/>
          <a:p>
            <a:r>
              <a:rPr lang="en-IN" b="1" dirty="0">
                <a:solidFill>
                  <a:schemeClr val="tx1"/>
                </a:solidFill>
                <a:latin typeface="Cambria" panose="02040503050406030204" pitchFamily="18" charset="0"/>
                <a:ea typeface="Cambria" panose="02040503050406030204" pitchFamily="18" charset="0"/>
              </a:rPr>
              <a:t>Data Definition Language (DDL)</a:t>
            </a:r>
            <a:br>
              <a:rPr lang="en-US" sz="2400" dirty="0">
                <a:solidFill>
                  <a:schemeClr val="tx1"/>
                </a:solidFill>
                <a:latin typeface="Cambria" panose="02040503050406030204" pitchFamily="18" charset="0"/>
                <a:ea typeface="Cambria" panose="02040503050406030204" pitchFamily="18" charset="0"/>
              </a:rPr>
            </a:br>
            <a:endParaRPr lang="en-US" dirty="0"/>
          </a:p>
        </p:txBody>
      </p:sp>
      <p:sp>
        <p:nvSpPr>
          <p:cNvPr id="3" name="Content Placeholder 2"/>
          <p:cNvSpPr>
            <a:spLocks noGrp="1"/>
          </p:cNvSpPr>
          <p:nvPr>
            <p:ph idx="4294967295"/>
          </p:nvPr>
        </p:nvSpPr>
        <p:spPr>
          <a:xfrm>
            <a:off x="2901951" y="1505331"/>
            <a:ext cx="5486400" cy="3840480"/>
          </a:xfrm>
          <a:prstGeom prst="rect">
            <a:avLst/>
          </a:prstGeom>
        </p:spPr>
        <p:txBody>
          <a:bodyPr/>
          <a:lstStyle/>
          <a:p>
            <a:pPr marL="342900" indent="-342900" algn="just">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CREATE: </a:t>
            </a:r>
            <a:r>
              <a:rPr lang="en-US" sz="2100" dirty="0">
                <a:solidFill>
                  <a:schemeClr val="tx1"/>
                </a:solidFill>
                <a:latin typeface="Cambria" panose="02040503050406030204" pitchFamily="18" charset="0"/>
                <a:ea typeface="Cambria" panose="02040503050406030204" pitchFamily="18" charset="0"/>
              </a:rPr>
              <a:t>To create the database or its objects (like table, index, function, views, store procedure and triggers).</a:t>
            </a:r>
          </a:p>
          <a:p>
            <a:pPr marL="342900" indent="-342900" algn="just">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DROP: </a:t>
            </a:r>
            <a:r>
              <a:rPr lang="en-US" sz="2100" dirty="0">
                <a:solidFill>
                  <a:schemeClr val="tx1"/>
                </a:solidFill>
                <a:latin typeface="Cambria" panose="02040503050406030204" pitchFamily="18" charset="0"/>
                <a:ea typeface="Cambria" panose="02040503050406030204" pitchFamily="18" charset="0"/>
              </a:rPr>
              <a:t>To delete objects from the database.</a:t>
            </a:r>
          </a:p>
          <a:p>
            <a:pPr marL="342900" indent="-342900" algn="just">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ALTER: </a:t>
            </a:r>
            <a:r>
              <a:rPr lang="en-US" sz="2100" dirty="0">
                <a:solidFill>
                  <a:schemeClr val="tx1"/>
                </a:solidFill>
                <a:latin typeface="Cambria" panose="02040503050406030204" pitchFamily="18" charset="0"/>
                <a:ea typeface="Cambria" panose="02040503050406030204" pitchFamily="18" charset="0"/>
              </a:rPr>
              <a:t>To alter the structure of the database.</a:t>
            </a:r>
          </a:p>
          <a:p>
            <a:pPr marL="342900" indent="-342900" algn="just">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TRUNCATE: </a:t>
            </a:r>
            <a:r>
              <a:rPr lang="en-US" sz="2100" dirty="0">
                <a:solidFill>
                  <a:schemeClr val="tx1"/>
                </a:solidFill>
                <a:latin typeface="Cambria" panose="02040503050406030204" pitchFamily="18" charset="0"/>
                <a:ea typeface="Cambria" panose="02040503050406030204" pitchFamily="18" charset="0"/>
              </a:rPr>
              <a:t>To remove all records from a table, including all spaces allocated for the records are removed.</a:t>
            </a:r>
          </a:p>
          <a:p>
            <a:pPr marL="342900" indent="-342900" algn="just">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RENAME: </a:t>
            </a:r>
            <a:r>
              <a:rPr lang="en-US" sz="2100" dirty="0">
                <a:solidFill>
                  <a:schemeClr val="tx1"/>
                </a:solidFill>
                <a:latin typeface="Cambria" panose="02040503050406030204" pitchFamily="18" charset="0"/>
                <a:ea typeface="Cambria" panose="02040503050406030204" pitchFamily="18" charset="0"/>
              </a:rPr>
              <a:t>To rename an object existing in the database.</a:t>
            </a:r>
            <a:endParaRPr lang="en-IN" sz="2100" dirty="0">
              <a:solidFill>
                <a:schemeClr val="tx1"/>
              </a:solidFill>
              <a:latin typeface="Cambria" panose="02040503050406030204" pitchFamily="18" charset="0"/>
              <a:ea typeface="Cambria" panose="02040503050406030204" pitchFamily="18" charset="0"/>
            </a:endParaRPr>
          </a:p>
          <a:p>
            <a:endParaRPr lang="en-US" dirty="0"/>
          </a:p>
        </p:txBody>
      </p:sp>
    </p:spTree>
    <p:extLst>
      <p:ext uri="{BB962C8B-B14F-4D97-AF65-F5344CB8AC3E}">
        <p14:creationId xmlns:p14="http://schemas.microsoft.com/office/powerpoint/2010/main" val="2019982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9688" y="1700128"/>
            <a:ext cx="2248711" cy="3450887"/>
          </a:xfrm>
          <a:prstGeom prst="rect">
            <a:avLst/>
          </a:prstGeom>
        </p:spPr>
        <p:txBody>
          <a:bodyPr/>
          <a:lstStyle/>
          <a:p>
            <a:r>
              <a:rPr lang="en-IN" b="1" dirty="0">
                <a:solidFill>
                  <a:schemeClr val="tx1"/>
                </a:solidFill>
                <a:latin typeface="Cambria" panose="02040503050406030204" pitchFamily="18" charset="0"/>
                <a:ea typeface="Cambria" panose="02040503050406030204" pitchFamily="18" charset="0"/>
              </a:rPr>
              <a:t>Data Manipulation Language (DML)</a:t>
            </a:r>
            <a:br>
              <a:rPr lang="en-IN" b="1" dirty="0">
                <a:solidFill>
                  <a:schemeClr val="tx1"/>
                </a:solidFill>
                <a:latin typeface="Cambria" panose="02040503050406030204" pitchFamily="18" charset="0"/>
                <a:ea typeface="Cambria" panose="02040503050406030204" pitchFamily="18" charset="0"/>
              </a:rPr>
            </a:br>
            <a:br>
              <a:rPr lang="en-US" sz="2400" dirty="0">
                <a:solidFill>
                  <a:schemeClr val="tx1"/>
                </a:solidFill>
                <a:latin typeface="Cambria" panose="02040503050406030204" pitchFamily="18" charset="0"/>
                <a:ea typeface="Cambria" panose="02040503050406030204" pitchFamily="18" charset="0"/>
              </a:rPr>
            </a:br>
            <a:endParaRPr lang="en-US" dirty="0"/>
          </a:p>
        </p:txBody>
      </p:sp>
      <p:sp>
        <p:nvSpPr>
          <p:cNvPr id="3" name="Content Placeholder 2"/>
          <p:cNvSpPr>
            <a:spLocks noGrp="1"/>
          </p:cNvSpPr>
          <p:nvPr>
            <p:ph idx="4294967295"/>
          </p:nvPr>
        </p:nvSpPr>
        <p:spPr>
          <a:xfrm>
            <a:off x="2901951" y="1505331"/>
            <a:ext cx="5486400" cy="3840480"/>
          </a:xfrm>
          <a:prstGeom prst="rect">
            <a:avLst/>
          </a:prstGeom>
        </p:spPr>
        <p:txBody>
          <a:bodyPr/>
          <a:lstStyle/>
          <a:p>
            <a:pPr marL="257175" indent="-257175">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Language for accessing and manipulating the data organized by the appropriate data model.</a:t>
            </a:r>
          </a:p>
          <a:p>
            <a:pPr lvl="1">
              <a:defRPr/>
            </a:pPr>
            <a:r>
              <a:rPr lang="en-US" sz="2100" dirty="0">
                <a:solidFill>
                  <a:schemeClr val="tx1"/>
                </a:solidFill>
                <a:latin typeface="Cambria" panose="02040503050406030204" pitchFamily="18" charset="0"/>
                <a:ea typeface="Cambria" panose="02040503050406030204" pitchFamily="18" charset="0"/>
              </a:rPr>
              <a:t>DML also known as query language.</a:t>
            </a:r>
          </a:p>
          <a:p>
            <a:pPr marL="257175" indent="-257175">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Two classes of languages </a:t>
            </a:r>
          </a:p>
          <a:p>
            <a:pPr marL="600075" lvl="1" indent="-257175">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Procedural – User specifies what data is required and how to get those data. </a:t>
            </a:r>
          </a:p>
          <a:p>
            <a:pPr marL="600075" lvl="1" indent="-257175">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Declarative (nonprocedural) – User specifies what data is required without specifying how to get those data.</a:t>
            </a:r>
          </a:p>
          <a:p>
            <a:endParaRPr lang="en-US" dirty="0"/>
          </a:p>
        </p:txBody>
      </p:sp>
    </p:spTree>
    <p:extLst>
      <p:ext uri="{BB962C8B-B14F-4D97-AF65-F5344CB8AC3E}">
        <p14:creationId xmlns:p14="http://schemas.microsoft.com/office/powerpoint/2010/main" val="2450167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9688" y="1700128"/>
            <a:ext cx="2248711" cy="3450887"/>
          </a:xfrm>
          <a:prstGeom prst="rect">
            <a:avLst/>
          </a:prstGeom>
        </p:spPr>
        <p:txBody>
          <a:bodyPr/>
          <a:lstStyle/>
          <a:p>
            <a:r>
              <a:rPr lang="en-IN" b="1" dirty="0">
                <a:solidFill>
                  <a:schemeClr val="tx1"/>
                </a:solidFill>
                <a:latin typeface="Cambria" panose="02040503050406030204" pitchFamily="18" charset="0"/>
                <a:ea typeface="Cambria" panose="02040503050406030204" pitchFamily="18" charset="0"/>
              </a:rPr>
              <a:t>Data Manipulation Language (DML)</a:t>
            </a:r>
            <a:br>
              <a:rPr lang="en-IN" b="1" dirty="0">
                <a:solidFill>
                  <a:schemeClr val="tx1"/>
                </a:solidFill>
                <a:latin typeface="Cambria" panose="02040503050406030204" pitchFamily="18" charset="0"/>
                <a:ea typeface="Cambria" panose="02040503050406030204" pitchFamily="18" charset="0"/>
              </a:rPr>
            </a:br>
            <a:endParaRPr lang="en-US" dirty="0"/>
          </a:p>
        </p:txBody>
      </p:sp>
      <p:sp>
        <p:nvSpPr>
          <p:cNvPr id="3" name="Content Placeholder 2"/>
          <p:cNvSpPr>
            <a:spLocks noGrp="1"/>
          </p:cNvSpPr>
          <p:nvPr>
            <p:ph idx="4294967295"/>
          </p:nvPr>
        </p:nvSpPr>
        <p:spPr>
          <a:xfrm>
            <a:off x="2901951" y="1505331"/>
            <a:ext cx="5486400" cy="3840480"/>
          </a:xfrm>
          <a:prstGeom prst="rect">
            <a:avLst/>
          </a:prstGeom>
        </p:spPr>
        <p:txBody>
          <a:bodyPr/>
          <a:lstStyle/>
          <a:p>
            <a:pPr marL="257175" lvl="1" indent="-257175">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SELECT</a:t>
            </a:r>
            <a:r>
              <a:rPr lang="en-US" sz="2100" dirty="0">
                <a:solidFill>
                  <a:schemeClr val="tx1"/>
                </a:solidFill>
                <a:latin typeface="Cambria" panose="02040503050406030204" pitchFamily="18" charset="0"/>
                <a:ea typeface="Cambria" panose="02040503050406030204" pitchFamily="18" charset="0"/>
              </a:rPr>
              <a:t> – To retrieve data from the a database.</a:t>
            </a:r>
          </a:p>
          <a:p>
            <a:pPr marL="257175" lvl="1" indent="-257175">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INSERT</a:t>
            </a:r>
            <a:r>
              <a:rPr lang="en-US" sz="2100" dirty="0">
                <a:solidFill>
                  <a:schemeClr val="tx1"/>
                </a:solidFill>
                <a:latin typeface="Cambria" panose="02040503050406030204" pitchFamily="18" charset="0"/>
                <a:ea typeface="Cambria" panose="02040503050406030204" pitchFamily="18" charset="0"/>
              </a:rPr>
              <a:t> – To insert data into a table.</a:t>
            </a:r>
          </a:p>
          <a:p>
            <a:pPr marL="257175" lvl="1" indent="-257175">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UPDATE</a:t>
            </a:r>
            <a:r>
              <a:rPr lang="en-US" sz="2100" dirty="0">
                <a:solidFill>
                  <a:schemeClr val="tx1"/>
                </a:solidFill>
                <a:latin typeface="Cambria" panose="02040503050406030204" pitchFamily="18" charset="0"/>
                <a:ea typeface="Cambria" panose="02040503050406030204" pitchFamily="18" charset="0"/>
              </a:rPr>
              <a:t> – To update existing data within a table.</a:t>
            </a:r>
          </a:p>
          <a:p>
            <a:pPr marL="257175" lvl="1" indent="-257175">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DELETE</a:t>
            </a:r>
            <a:r>
              <a:rPr lang="en-US" sz="2100" dirty="0">
                <a:solidFill>
                  <a:schemeClr val="tx1"/>
                </a:solidFill>
                <a:latin typeface="Cambria" panose="02040503050406030204" pitchFamily="18" charset="0"/>
                <a:ea typeface="Cambria" panose="02040503050406030204" pitchFamily="18" charset="0"/>
              </a:rPr>
              <a:t> – To delete records from a database table</a:t>
            </a:r>
            <a:endParaRPr lang="en-IN" sz="2100" dirty="0">
              <a:solidFill>
                <a:schemeClr val="tx1"/>
              </a:solidFill>
              <a:latin typeface="Cambria" panose="02040503050406030204" pitchFamily="18" charset="0"/>
              <a:ea typeface="Cambria" panose="02040503050406030204" pitchFamily="18" charset="0"/>
            </a:endParaRPr>
          </a:p>
          <a:p>
            <a:endParaRPr lang="en-US" dirty="0"/>
          </a:p>
        </p:txBody>
      </p:sp>
    </p:spTree>
    <p:extLst>
      <p:ext uri="{BB962C8B-B14F-4D97-AF65-F5344CB8AC3E}">
        <p14:creationId xmlns:p14="http://schemas.microsoft.com/office/powerpoint/2010/main" val="4227500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9689" y="1700128"/>
            <a:ext cx="2210612" cy="3450887"/>
          </a:xfrm>
          <a:prstGeom prst="rect">
            <a:avLst/>
          </a:prstGeom>
        </p:spPr>
        <p:txBody>
          <a:bodyPr/>
          <a:lstStyle/>
          <a:p>
            <a:r>
              <a:rPr lang="en-IN" b="1" dirty="0">
                <a:solidFill>
                  <a:schemeClr val="tx1"/>
                </a:solidFill>
                <a:latin typeface="Cambria" panose="02040503050406030204" pitchFamily="18" charset="0"/>
                <a:ea typeface="Cambria" panose="02040503050406030204" pitchFamily="18" charset="0"/>
              </a:rPr>
              <a:t>Data Control Language (DCL)</a:t>
            </a:r>
            <a:br>
              <a:rPr lang="en-IN" b="1" dirty="0">
                <a:solidFill>
                  <a:schemeClr val="tx1"/>
                </a:solidFill>
                <a:latin typeface="Cambria" panose="02040503050406030204" pitchFamily="18" charset="0"/>
                <a:ea typeface="Cambria" panose="02040503050406030204" pitchFamily="18" charset="0"/>
              </a:rPr>
            </a:br>
            <a:endParaRPr lang="en-US" dirty="0"/>
          </a:p>
        </p:txBody>
      </p:sp>
      <p:sp>
        <p:nvSpPr>
          <p:cNvPr id="3" name="Content Placeholder 2"/>
          <p:cNvSpPr>
            <a:spLocks noGrp="1"/>
          </p:cNvSpPr>
          <p:nvPr>
            <p:ph idx="4294967295"/>
          </p:nvPr>
        </p:nvSpPr>
        <p:spPr>
          <a:xfrm>
            <a:off x="2901951" y="1505331"/>
            <a:ext cx="5486400" cy="3840480"/>
          </a:xfrm>
          <a:prstGeom prst="rect">
            <a:avLst/>
          </a:prstGeom>
        </p:spPr>
        <p:txBody>
          <a:bodyPr/>
          <a:lstStyle/>
          <a:p>
            <a:pPr marL="342900" indent="-342900"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Deals with the rights, permissions and other controls of the database system. </a:t>
            </a:r>
          </a:p>
          <a:p>
            <a:pPr marL="342900" indent="-342900"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Examples:</a:t>
            </a:r>
          </a:p>
          <a:p>
            <a:pPr marL="685800" lvl="1" indent="-342900" algn="just">
              <a:buClr>
                <a:schemeClr val="tx1"/>
              </a:buClr>
              <a:buFont typeface="Arial" panose="020B0604020202020204" pitchFamily="34" charset="0"/>
              <a:buChar char="•"/>
            </a:pPr>
            <a:r>
              <a:rPr lang="en-US" sz="2100" b="1" dirty="0">
                <a:solidFill>
                  <a:schemeClr val="tx1"/>
                </a:solidFill>
                <a:latin typeface="Cambria" panose="02040503050406030204" pitchFamily="18" charset="0"/>
                <a:ea typeface="Cambria" panose="02040503050406030204" pitchFamily="18" charset="0"/>
              </a:rPr>
              <a:t>GRANT</a:t>
            </a:r>
            <a:r>
              <a:rPr lang="en-US" sz="2100" dirty="0">
                <a:solidFill>
                  <a:schemeClr val="tx1"/>
                </a:solidFill>
                <a:latin typeface="Cambria" panose="02040503050406030204" pitchFamily="18" charset="0"/>
                <a:ea typeface="Cambria" panose="02040503050406030204" pitchFamily="18" charset="0"/>
              </a:rPr>
              <a:t>: gives user’s access privileges to database.</a:t>
            </a:r>
          </a:p>
          <a:p>
            <a:pPr marL="728663" lvl="1" indent="-385763" algn="just">
              <a:buClr>
                <a:schemeClr val="tx1"/>
              </a:buClr>
              <a:buFont typeface="Arial" panose="020B0604020202020204" pitchFamily="34" charset="0"/>
              <a:buChar char="•"/>
            </a:pPr>
            <a:r>
              <a:rPr lang="en-US" sz="2100" b="1" dirty="0">
                <a:solidFill>
                  <a:schemeClr val="tx1"/>
                </a:solidFill>
                <a:latin typeface="Cambria" panose="02040503050406030204" pitchFamily="18" charset="0"/>
                <a:ea typeface="Cambria" panose="02040503050406030204" pitchFamily="18" charset="0"/>
              </a:rPr>
              <a:t>REVOKE</a:t>
            </a:r>
            <a:r>
              <a:rPr lang="en-US" sz="2100" dirty="0">
                <a:solidFill>
                  <a:schemeClr val="tx1"/>
                </a:solidFill>
                <a:latin typeface="Cambria" panose="02040503050406030204" pitchFamily="18" charset="0"/>
                <a:ea typeface="Cambria" panose="02040503050406030204" pitchFamily="18" charset="0"/>
              </a:rPr>
              <a:t>: withdraw user’s access privileges given by using the GRANT command.</a:t>
            </a:r>
          </a:p>
          <a:p>
            <a:endParaRPr lang="en-US" dirty="0"/>
          </a:p>
        </p:txBody>
      </p:sp>
    </p:spTree>
    <p:extLst>
      <p:ext uri="{BB962C8B-B14F-4D97-AF65-F5344CB8AC3E}">
        <p14:creationId xmlns:p14="http://schemas.microsoft.com/office/powerpoint/2010/main" val="2050493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89689" y="1700128"/>
            <a:ext cx="2210612" cy="3450887"/>
          </a:xfrm>
          <a:prstGeom prst="rect">
            <a:avLst/>
          </a:prstGeom>
        </p:spPr>
        <p:txBody>
          <a:bodyPr/>
          <a:lstStyle/>
          <a:p>
            <a:r>
              <a:rPr lang="en-IN" b="1" dirty="0">
                <a:solidFill>
                  <a:schemeClr val="tx1"/>
                </a:solidFill>
                <a:latin typeface="Cambria" panose="02040503050406030204" pitchFamily="18" charset="0"/>
                <a:ea typeface="Cambria" panose="02040503050406030204" pitchFamily="18" charset="0"/>
              </a:rPr>
              <a:t>Transaction Control Language (TCL)</a:t>
            </a:r>
            <a:br>
              <a:rPr lang="en-IN" b="1" dirty="0">
                <a:solidFill>
                  <a:schemeClr val="tx1"/>
                </a:solidFill>
                <a:latin typeface="Cambria" panose="02040503050406030204" pitchFamily="18" charset="0"/>
                <a:ea typeface="Cambria" panose="02040503050406030204" pitchFamily="18" charset="0"/>
              </a:rPr>
            </a:br>
            <a:endParaRPr lang="en-US" dirty="0"/>
          </a:p>
        </p:txBody>
      </p:sp>
      <p:sp>
        <p:nvSpPr>
          <p:cNvPr id="3" name="Content Placeholder 2"/>
          <p:cNvSpPr>
            <a:spLocks noGrp="1"/>
          </p:cNvSpPr>
          <p:nvPr>
            <p:ph idx="4294967295"/>
          </p:nvPr>
        </p:nvSpPr>
        <p:spPr>
          <a:xfrm>
            <a:off x="2901951" y="1505331"/>
            <a:ext cx="5486400" cy="3840480"/>
          </a:xfrm>
          <a:prstGeom prst="rect">
            <a:avLst/>
          </a:prstGeom>
        </p:spPr>
        <p:txBody>
          <a:bodyPr/>
          <a:lstStyle/>
          <a:p>
            <a:pPr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Deals with the transaction within the database</a:t>
            </a:r>
          </a:p>
          <a:p>
            <a:pPr algn="just">
              <a:buClr>
                <a:schemeClr val="tx1"/>
              </a:buClr>
              <a:buFont typeface="Arial" panose="020B0604020202020204" pitchFamily="34" charset="0"/>
              <a:buChar char="•"/>
              <a:defRPr/>
            </a:pPr>
            <a:r>
              <a:rPr lang="en-US" sz="2100" dirty="0">
                <a:solidFill>
                  <a:schemeClr val="tx1"/>
                </a:solidFill>
                <a:latin typeface="Cambria" panose="02040503050406030204" pitchFamily="18" charset="0"/>
                <a:ea typeface="Cambria" panose="02040503050406030204" pitchFamily="18" charset="0"/>
              </a:rPr>
              <a:t>Examples:</a:t>
            </a:r>
          </a:p>
          <a:p>
            <a:pPr lvl="1" algn="just">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COMMIT</a:t>
            </a:r>
            <a:r>
              <a:rPr lang="en-US" sz="2100" dirty="0">
                <a:solidFill>
                  <a:schemeClr val="tx1"/>
                </a:solidFill>
                <a:latin typeface="Cambria" panose="02040503050406030204" pitchFamily="18" charset="0"/>
                <a:ea typeface="Cambria" panose="02040503050406030204" pitchFamily="18" charset="0"/>
              </a:rPr>
              <a:t>: commits a Transaction.</a:t>
            </a:r>
          </a:p>
          <a:p>
            <a:pPr lvl="1" algn="just">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ROLLBACK</a:t>
            </a:r>
            <a:r>
              <a:rPr lang="en-US" sz="2100" dirty="0">
                <a:solidFill>
                  <a:schemeClr val="tx1"/>
                </a:solidFill>
                <a:latin typeface="Cambria" panose="02040503050406030204" pitchFamily="18" charset="0"/>
                <a:ea typeface="Cambria" panose="02040503050406030204" pitchFamily="18" charset="0"/>
              </a:rPr>
              <a:t>: rollbacks a transaction in case of any error occurs.</a:t>
            </a:r>
          </a:p>
          <a:p>
            <a:pPr lvl="1" algn="just">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SAVEPOINT</a:t>
            </a:r>
            <a:r>
              <a:rPr lang="en-US" sz="2100" dirty="0">
                <a:solidFill>
                  <a:schemeClr val="tx1"/>
                </a:solidFill>
                <a:latin typeface="Cambria" panose="02040503050406030204" pitchFamily="18" charset="0"/>
                <a:ea typeface="Cambria" panose="02040503050406030204" pitchFamily="18" charset="0"/>
              </a:rPr>
              <a:t>: sets a </a:t>
            </a:r>
            <a:r>
              <a:rPr lang="en-US" sz="2100" dirty="0" err="1">
                <a:solidFill>
                  <a:schemeClr val="tx1"/>
                </a:solidFill>
                <a:latin typeface="Cambria" panose="02040503050406030204" pitchFamily="18" charset="0"/>
                <a:ea typeface="Cambria" panose="02040503050406030204" pitchFamily="18" charset="0"/>
              </a:rPr>
              <a:t>savepoint</a:t>
            </a:r>
            <a:r>
              <a:rPr lang="en-US" sz="2100" dirty="0">
                <a:solidFill>
                  <a:schemeClr val="tx1"/>
                </a:solidFill>
                <a:latin typeface="Cambria" panose="02040503050406030204" pitchFamily="18" charset="0"/>
                <a:ea typeface="Cambria" panose="02040503050406030204" pitchFamily="18" charset="0"/>
              </a:rPr>
              <a:t> within a transaction.</a:t>
            </a:r>
          </a:p>
          <a:p>
            <a:pPr lvl="1" algn="just">
              <a:buClr>
                <a:schemeClr val="tx1"/>
              </a:buClr>
              <a:buFont typeface="Arial" panose="020B0604020202020204" pitchFamily="34" charset="0"/>
              <a:buChar char="•"/>
              <a:defRPr/>
            </a:pPr>
            <a:r>
              <a:rPr lang="en-US" sz="2100" b="1" dirty="0">
                <a:solidFill>
                  <a:schemeClr val="tx1"/>
                </a:solidFill>
                <a:latin typeface="Cambria" panose="02040503050406030204" pitchFamily="18" charset="0"/>
                <a:ea typeface="Cambria" panose="02040503050406030204" pitchFamily="18" charset="0"/>
              </a:rPr>
              <a:t>SET TRANSACTION</a:t>
            </a:r>
            <a:r>
              <a:rPr lang="en-US" sz="2100" dirty="0">
                <a:solidFill>
                  <a:schemeClr val="tx1"/>
                </a:solidFill>
                <a:latin typeface="Cambria" panose="02040503050406030204" pitchFamily="18" charset="0"/>
                <a:ea typeface="Cambria" panose="02040503050406030204" pitchFamily="18" charset="0"/>
              </a:rPr>
              <a:t>:</a:t>
            </a:r>
          </a:p>
          <a:p>
            <a:pPr marL="377190" lvl="1" indent="0" algn="just">
              <a:buClr>
                <a:schemeClr val="tx1"/>
              </a:buClr>
              <a:buNone/>
              <a:defRPr/>
            </a:pPr>
            <a:r>
              <a:rPr lang="en-US" sz="2100" dirty="0">
                <a:solidFill>
                  <a:schemeClr val="tx1"/>
                </a:solidFill>
                <a:latin typeface="Cambria" panose="02040503050406030204" pitchFamily="18" charset="0"/>
                <a:ea typeface="Cambria" panose="02040503050406030204" pitchFamily="18" charset="0"/>
              </a:rPr>
              <a:t>	-specify characteristics for the 	transaction.</a:t>
            </a:r>
          </a:p>
          <a:p>
            <a:endParaRPr lang="en-US" dirty="0"/>
          </a:p>
        </p:txBody>
      </p:sp>
    </p:spTree>
    <p:extLst>
      <p:ext uri="{BB962C8B-B14F-4D97-AF65-F5344CB8AC3E}">
        <p14:creationId xmlns:p14="http://schemas.microsoft.com/office/powerpoint/2010/main" val="2457014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0" y="152400"/>
            <a:ext cx="6934200" cy="685800"/>
          </a:xfrm>
        </p:spPr>
        <p:txBody>
          <a:bodyPr>
            <a:normAutofit/>
          </a:bodyPr>
          <a:lstStyle/>
          <a:p>
            <a:r>
              <a:rPr lang="en-IN" dirty="0"/>
              <a:t>operators</a:t>
            </a:r>
          </a:p>
        </p:txBody>
      </p:sp>
      <p:sp>
        <p:nvSpPr>
          <p:cNvPr id="4" name="Title 1">
            <a:extLst>
              <a:ext uri="{FF2B5EF4-FFF2-40B4-BE49-F238E27FC236}">
                <a16:creationId xmlns:a16="http://schemas.microsoft.com/office/drawing/2014/main" id="{FD8A2114-ED8C-4010-BDA6-F76CE347FC88}"/>
              </a:ext>
            </a:extLst>
          </p:cNvPr>
          <p:cNvSpPr txBox="1">
            <a:spLocks/>
          </p:cNvSpPr>
          <p:nvPr/>
        </p:nvSpPr>
        <p:spPr>
          <a:xfrm>
            <a:off x="1981200" y="2971800"/>
            <a:ext cx="4876800" cy="70609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700" kern="1200" spc="-45" baseline="0">
                <a:solidFill>
                  <a:srgbClr val="FFFFFF"/>
                </a:solidFill>
                <a:latin typeface="+mj-lt"/>
                <a:ea typeface="+mj-ea"/>
                <a:cs typeface="+mj-cs"/>
              </a:defRPr>
            </a:lvl1pPr>
          </a:lstStyle>
          <a:p>
            <a:pPr algn="ctr"/>
            <a:r>
              <a:rPr lang="en-US" sz="4800" b="1" dirty="0">
                <a:solidFill>
                  <a:schemeClr val="tx1"/>
                </a:solidFill>
                <a:latin typeface="Cambria Math" panose="02040503050406030204" pitchFamily="18" charset="0"/>
                <a:ea typeface="Cambria Math" panose="02040503050406030204" pitchFamily="18" charset="0"/>
              </a:rPr>
              <a:t>Functions </a:t>
            </a:r>
          </a:p>
          <a:p>
            <a:pPr algn="ctr"/>
            <a:r>
              <a:rPr lang="en-US" sz="4800" b="1" dirty="0">
                <a:solidFill>
                  <a:schemeClr val="tx1"/>
                </a:solidFill>
                <a:latin typeface="Cambria Math" panose="02040503050406030204" pitchFamily="18" charset="0"/>
                <a:ea typeface="Cambria Math" panose="02040503050406030204" pitchFamily="18" charset="0"/>
              </a:rPr>
              <a:t>&amp; </a:t>
            </a:r>
          </a:p>
          <a:p>
            <a:pPr algn="ctr"/>
            <a:r>
              <a:rPr lang="en-US" sz="4800" b="1" dirty="0">
                <a:solidFill>
                  <a:schemeClr val="tx1"/>
                </a:solidFill>
                <a:latin typeface="Cambria Math" panose="02040503050406030204" pitchFamily="18" charset="0"/>
                <a:ea typeface="Cambria Math" panose="02040503050406030204" pitchFamily="18" charset="0"/>
              </a:rPr>
              <a:t>Operators</a:t>
            </a:r>
            <a:endParaRPr lang="en-IN" sz="4800" b="1"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056577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0" y="152400"/>
            <a:ext cx="6934200" cy="685800"/>
          </a:xfrm>
        </p:spPr>
        <p:txBody>
          <a:bodyPr>
            <a:normAutofit/>
          </a:bodyPr>
          <a:lstStyle/>
          <a:p>
            <a:r>
              <a:rPr lang="en-IN" dirty="0"/>
              <a:t>operators</a:t>
            </a:r>
          </a:p>
        </p:txBody>
      </p:sp>
      <p:sp>
        <p:nvSpPr>
          <p:cNvPr id="3" name="Content Placeholder 2"/>
          <p:cNvSpPr>
            <a:spLocks noGrp="1"/>
          </p:cNvSpPr>
          <p:nvPr>
            <p:ph idx="4294967295"/>
          </p:nvPr>
        </p:nvSpPr>
        <p:spPr>
          <a:xfrm>
            <a:off x="2667000" y="842808"/>
            <a:ext cx="6019800" cy="5172384"/>
          </a:xfrm>
        </p:spPr>
        <p:txBody>
          <a:bodyPr/>
          <a:lstStyle/>
          <a:p>
            <a:pPr marL="0" indent="0" algn="just">
              <a:buNone/>
            </a:pPr>
            <a:r>
              <a:rPr lang="en-IN" sz="2400" u="sng" dirty="0">
                <a:latin typeface="Cambria Math" panose="02040503050406030204" pitchFamily="18" charset="0"/>
                <a:ea typeface="Cambria Math" panose="02040503050406030204" pitchFamily="18" charset="0"/>
              </a:rPr>
              <a:t>AND operator:</a:t>
            </a:r>
            <a:r>
              <a:rPr lang="en-IN" sz="2400" dirty="0">
                <a:latin typeface="Cambria Math" panose="02040503050406030204" pitchFamily="18" charset="0"/>
                <a:ea typeface="Cambria Math" panose="02040503050406030204" pitchFamily="18" charset="0"/>
              </a:rPr>
              <a:t> allows to create sql statement     based on two or more condition.</a:t>
            </a:r>
          </a:p>
          <a:p>
            <a:pPr marL="292608" lvl="1" indent="0" algn="just">
              <a:buNone/>
            </a:pPr>
            <a:r>
              <a:rPr lang="en-IN" sz="2400" dirty="0">
                <a:latin typeface="Cambria Math" panose="02040503050406030204" pitchFamily="18" charset="0"/>
                <a:ea typeface="Cambria Math" panose="02040503050406030204" pitchFamily="18" charset="0"/>
              </a:rPr>
              <a:t>E.g.  select * from emp </a:t>
            </a:r>
          </a:p>
          <a:p>
            <a:pPr marL="292608" lvl="1" indent="0" algn="just">
              <a:buNone/>
            </a:pPr>
            <a:r>
              <a:rPr lang="en-IN" sz="2400" dirty="0">
                <a:latin typeface="Cambria Math" panose="02040503050406030204" pitchFamily="18" charset="0"/>
                <a:ea typeface="Cambria Math" panose="02040503050406030204" pitchFamily="18" charset="0"/>
              </a:rPr>
              <a:t>	 where salary&gt;=40,000 </a:t>
            </a:r>
            <a:r>
              <a:rPr lang="en-IN" sz="2400" dirty="0">
                <a:solidFill>
                  <a:srgbClr val="FF0000"/>
                </a:solidFill>
                <a:latin typeface="Cambria Math" panose="02040503050406030204" pitchFamily="18" charset="0"/>
                <a:ea typeface="Cambria Math" panose="02040503050406030204" pitchFamily="18" charset="0"/>
              </a:rPr>
              <a:t>AND</a:t>
            </a:r>
            <a:r>
              <a:rPr lang="en-IN" sz="2400" dirty="0">
                <a:latin typeface="Cambria Math" panose="02040503050406030204" pitchFamily="18" charset="0"/>
                <a:ea typeface="Cambria Math" panose="02040503050406030204" pitchFamily="18" charset="0"/>
              </a:rPr>
              <a:t> salary&lt;=55,000;</a:t>
            </a:r>
          </a:p>
          <a:p>
            <a:pPr marL="292608" lvl="1" indent="0" algn="just">
              <a:buNone/>
            </a:pPr>
            <a:endParaRPr lang="en-IN" sz="2400" dirty="0">
              <a:latin typeface="Cambria Math" panose="02040503050406030204" pitchFamily="18" charset="0"/>
              <a:ea typeface="Cambria Math" panose="02040503050406030204" pitchFamily="18" charset="0"/>
            </a:endParaRPr>
          </a:p>
          <a:p>
            <a:pPr marL="0" lvl="1" indent="0">
              <a:spcBef>
                <a:spcPts val="600"/>
              </a:spcBef>
              <a:buClr>
                <a:schemeClr val="tx2"/>
              </a:buClr>
              <a:buSzPct val="73000"/>
              <a:buNone/>
            </a:pPr>
            <a:r>
              <a:rPr lang="en-IN" sz="2400" u="sng" dirty="0">
                <a:solidFill>
                  <a:schemeClr val="tx1"/>
                </a:solidFill>
                <a:latin typeface="Cambria Math" panose="02040503050406030204" pitchFamily="18" charset="0"/>
                <a:ea typeface="Cambria Math" panose="02040503050406030204" pitchFamily="18" charset="0"/>
              </a:rPr>
              <a:t>OR operator:</a:t>
            </a:r>
            <a:r>
              <a:rPr lang="en-IN" sz="2400" dirty="0">
                <a:latin typeface="Cambria Math" panose="02040503050406030204" pitchFamily="18" charset="0"/>
                <a:ea typeface="Cambria Math" panose="02040503050406030204" pitchFamily="18" charset="0"/>
              </a:rPr>
              <a:t> </a:t>
            </a:r>
            <a:r>
              <a:rPr lang="en-IN" sz="2400" dirty="0">
                <a:solidFill>
                  <a:schemeClr val="tx1"/>
                </a:solidFill>
                <a:latin typeface="Cambria Math" panose="02040503050406030204" pitchFamily="18" charset="0"/>
                <a:ea typeface="Cambria Math" panose="02040503050406030204" pitchFamily="18" charset="0"/>
              </a:rPr>
              <a:t>allows to create sql statement where records are returned when any of the conditions are met.</a:t>
            </a:r>
          </a:p>
          <a:p>
            <a:pPr marL="292608" lvl="1" indent="0" algn="just">
              <a:buNone/>
            </a:pPr>
            <a:r>
              <a:rPr lang="en-IN" sz="2400" dirty="0">
                <a:solidFill>
                  <a:schemeClr val="tx1"/>
                </a:solidFill>
                <a:latin typeface="Cambria Math" panose="02040503050406030204" pitchFamily="18" charset="0"/>
                <a:ea typeface="Cambria Math" panose="02040503050406030204" pitchFamily="18" charset="0"/>
              </a:rPr>
              <a:t>   </a:t>
            </a:r>
            <a:r>
              <a:rPr lang="en-IN" sz="2400" dirty="0">
                <a:latin typeface="Cambria Math" panose="02040503050406030204" pitchFamily="18" charset="0"/>
                <a:ea typeface="Cambria Math" panose="02040503050406030204" pitchFamily="18" charset="0"/>
              </a:rPr>
              <a:t>E.g    select * from emp</a:t>
            </a:r>
          </a:p>
          <a:p>
            <a:pPr marL="292608" lvl="1" indent="0" algn="just">
              <a:buNone/>
            </a:pPr>
            <a:r>
              <a:rPr lang="en-IN" sz="2400" dirty="0">
                <a:latin typeface="Cambria Math" panose="02040503050406030204" pitchFamily="18" charset="0"/>
                <a:ea typeface="Cambria Math" panose="02040503050406030204" pitchFamily="18" charset="0"/>
              </a:rPr>
              <a:t>            where dept=‘I.T’ </a:t>
            </a:r>
            <a:r>
              <a:rPr lang="en-IN" sz="2400" dirty="0">
                <a:solidFill>
                  <a:srgbClr val="FF0000"/>
                </a:solidFill>
                <a:latin typeface="Cambria Math" panose="02040503050406030204" pitchFamily="18" charset="0"/>
                <a:ea typeface="Cambria Math" panose="02040503050406030204" pitchFamily="18" charset="0"/>
              </a:rPr>
              <a:t>OR</a:t>
            </a:r>
            <a:r>
              <a:rPr lang="en-IN" sz="2400" dirty="0">
                <a:latin typeface="Cambria Math" panose="02040503050406030204" pitchFamily="18" charset="0"/>
                <a:ea typeface="Cambria Math" panose="02040503050406030204" pitchFamily="18" charset="0"/>
              </a:rPr>
              <a:t> dept=‘C.E’;</a:t>
            </a:r>
          </a:p>
          <a:p>
            <a:pPr marL="292608" lvl="1" indent="0">
              <a:buNone/>
            </a:pPr>
            <a:endParaRPr lang="en-IN" sz="2600" u="sng" dirty="0">
              <a:solidFill>
                <a:schemeClr val="tx1"/>
              </a:solidFill>
            </a:endParaRPr>
          </a:p>
        </p:txBody>
      </p:sp>
      <p:sp>
        <p:nvSpPr>
          <p:cNvPr id="4" name="Title 1">
            <a:extLst>
              <a:ext uri="{FF2B5EF4-FFF2-40B4-BE49-F238E27FC236}">
                <a16:creationId xmlns:a16="http://schemas.microsoft.com/office/drawing/2014/main" id="{FD8A2114-ED8C-4010-BDA6-F76CE347FC88}"/>
              </a:ext>
            </a:extLst>
          </p:cNvPr>
          <p:cNvSpPr txBox="1">
            <a:spLocks/>
          </p:cNvSpPr>
          <p:nvPr/>
        </p:nvSpPr>
        <p:spPr>
          <a:xfrm>
            <a:off x="152400" y="3075955"/>
            <a:ext cx="2250976" cy="70609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700" kern="1200" spc="-45" baseline="0">
                <a:solidFill>
                  <a:srgbClr val="FFFFFF"/>
                </a:solidFill>
                <a:latin typeface="+mj-lt"/>
                <a:ea typeface="+mj-ea"/>
                <a:cs typeface="+mj-cs"/>
              </a:defRPr>
            </a:lvl1pPr>
          </a:lstStyle>
          <a:p>
            <a:r>
              <a:rPr lang="en-US" sz="4000" b="1" dirty="0">
                <a:solidFill>
                  <a:schemeClr val="tx1"/>
                </a:solidFill>
                <a:latin typeface="Cambria Math" panose="02040503050406030204" pitchFamily="18" charset="0"/>
                <a:ea typeface="Cambria Math" panose="02040503050406030204" pitchFamily="18" charset="0"/>
              </a:rPr>
              <a:t>Logical Functions</a:t>
            </a:r>
            <a:endParaRPr lang="en-IN" sz="4000" b="1"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259927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152400"/>
            <a:ext cx="7239000" cy="990600"/>
          </a:xfrm>
        </p:spPr>
        <p:txBody>
          <a:bodyPr/>
          <a:lstStyle/>
          <a:p>
            <a:r>
              <a:rPr lang="en-IN" dirty="0"/>
              <a:t>continue</a:t>
            </a:r>
          </a:p>
        </p:txBody>
      </p:sp>
      <p:sp>
        <p:nvSpPr>
          <p:cNvPr id="3" name="Content Placeholder 2"/>
          <p:cNvSpPr>
            <a:spLocks noGrp="1"/>
          </p:cNvSpPr>
          <p:nvPr>
            <p:ph idx="4294967295"/>
          </p:nvPr>
        </p:nvSpPr>
        <p:spPr>
          <a:xfrm>
            <a:off x="2667000" y="762000"/>
            <a:ext cx="6096000" cy="5007935"/>
          </a:xfrm>
        </p:spPr>
        <p:txBody>
          <a:bodyPr>
            <a:normAutofit/>
          </a:bodyPr>
          <a:lstStyle/>
          <a:p>
            <a:pPr marL="0" indent="0">
              <a:buNone/>
            </a:pPr>
            <a:r>
              <a:rPr lang="en-IN" sz="2400" dirty="0">
                <a:latin typeface="Cambria Math" panose="02040503050406030204" pitchFamily="18" charset="0"/>
                <a:ea typeface="Cambria Math" panose="02040503050406030204" pitchFamily="18" charset="0"/>
              </a:rPr>
              <a:t> </a:t>
            </a:r>
            <a:r>
              <a:rPr lang="en-IN" sz="2400" u="sng" dirty="0">
                <a:latin typeface="Cambria Math" panose="02040503050406030204" pitchFamily="18" charset="0"/>
                <a:ea typeface="Cambria Math" panose="02040503050406030204" pitchFamily="18" charset="0"/>
              </a:rPr>
              <a:t>Combination of AND + OR:</a:t>
            </a:r>
          </a:p>
          <a:p>
            <a:pPr marL="0" indent="0">
              <a:buNone/>
            </a:pPr>
            <a:endParaRPr lang="en-IN" sz="2400" dirty="0">
              <a:latin typeface="Cambria Math" panose="02040503050406030204" pitchFamily="18" charset="0"/>
              <a:ea typeface="Cambria Math" panose="02040503050406030204" pitchFamily="18" charset="0"/>
            </a:endParaRPr>
          </a:p>
          <a:p>
            <a:pPr marL="292608" lvl="1" indent="0" algn="just">
              <a:buNone/>
            </a:pPr>
            <a:r>
              <a:rPr lang="en-IN" sz="2400" dirty="0">
                <a:latin typeface="Cambria Math" panose="02040503050406030204" pitchFamily="18" charset="0"/>
                <a:ea typeface="Cambria Math" panose="02040503050406030204" pitchFamily="18" charset="0"/>
              </a:rPr>
              <a:t>E.g. Select * form student</a:t>
            </a:r>
          </a:p>
          <a:p>
            <a:pPr marL="292608" lvl="1" indent="0" algn="just">
              <a:buNone/>
            </a:pPr>
            <a:r>
              <a:rPr lang="en-IN" sz="2400" dirty="0">
                <a:latin typeface="Cambria Math" panose="02040503050406030204" pitchFamily="18" charset="0"/>
                <a:ea typeface="Cambria Math" panose="02040503050406030204" pitchFamily="18" charset="0"/>
              </a:rPr>
              <a:t>       Where  (branch=‘I.T’ </a:t>
            </a:r>
            <a:r>
              <a:rPr lang="en-IN" sz="2400" dirty="0">
                <a:solidFill>
                  <a:srgbClr val="FF0000"/>
                </a:solidFill>
                <a:latin typeface="Cambria Math" panose="02040503050406030204" pitchFamily="18" charset="0"/>
                <a:ea typeface="Cambria Math" panose="02040503050406030204" pitchFamily="18" charset="0"/>
              </a:rPr>
              <a:t>OR</a:t>
            </a:r>
            <a:r>
              <a:rPr lang="en-IN" sz="2400" dirty="0">
                <a:latin typeface="Cambria Math" panose="02040503050406030204" pitchFamily="18" charset="0"/>
                <a:ea typeface="Cambria Math" panose="02040503050406030204" pitchFamily="18" charset="0"/>
              </a:rPr>
              <a:t> branch=‘C.E’) </a:t>
            </a:r>
            <a:r>
              <a:rPr lang="en-IN" sz="2400" dirty="0">
                <a:solidFill>
                  <a:srgbClr val="FF0000"/>
                </a:solidFill>
                <a:latin typeface="Cambria Math" panose="02040503050406030204" pitchFamily="18" charset="0"/>
                <a:ea typeface="Cambria Math" panose="02040503050406030204" pitchFamily="18" charset="0"/>
              </a:rPr>
              <a:t>AND</a:t>
            </a:r>
            <a:r>
              <a:rPr lang="en-IN" sz="2400" dirty="0">
                <a:latin typeface="Cambria Math" panose="02040503050406030204" pitchFamily="18" charset="0"/>
                <a:ea typeface="Cambria Math" panose="02040503050406030204" pitchFamily="18" charset="0"/>
              </a:rPr>
              <a:t>   (per&gt;=80) </a:t>
            </a:r>
          </a:p>
          <a:p>
            <a:pPr marL="0" indent="0">
              <a:buNone/>
            </a:pPr>
            <a:endParaRPr lang="en-IN" sz="2400" u="sng" dirty="0">
              <a:latin typeface="Cambria Math" panose="02040503050406030204" pitchFamily="18" charset="0"/>
              <a:ea typeface="Cambria Math" panose="02040503050406030204" pitchFamily="18" charset="0"/>
            </a:endParaRPr>
          </a:p>
          <a:p>
            <a:pPr marL="0" indent="0">
              <a:buNone/>
            </a:pPr>
            <a:r>
              <a:rPr lang="en-IN" sz="2400" u="sng" dirty="0">
                <a:latin typeface="Cambria Math" panose="02040503050406030204" pitchFamily="18" charset="0"/>
                <a:ea typeface="Cambria Math" panose="02040503050406030204" pitchFamily="18" charset="0"/>
              </a:rPr>
              <a:t>NOT operator:</a:t>
            </a:r>
            <a:r>
              <a:rPr lang="en-IN" sz="2400" dirty="0">
                <a:latin typeface="Cambria Math" panose="02040503050406030204" pitchFamily="18" charset="0"/>
                <a:ea typeface="Cambria Math" panose="02040503050406030204" pitchFamily="18" charset="0"/>
              </a:rPr>
              <a:t> returns only those records that do not satisfy the condition.</a:t>
            </a:r>
          </a:p>
          <a:p>
            <a:pPr marL="292608" lvl="1" indent="0" algn="just">
              <a:buNone/>
            </a:pPr>
            <a:endParaRPr lang="en-IN" sz="2400" dirty="0">
              <a:latin typeface="Cambria Math" panose="02040503050406030204" pitchFamily="18" charset="0"/>
              <a:ea typeface="Cambria Math" panose="02040503050406030204" pitchFamily="18" charset="0"/>
            </a:endParaRPr>
          </a:p>
          <a:p>
            <a:pPr marL="292608" lvl="1" indent="0" algn="just">
              <a:buNone/>
            </a:pPr>
            <a:r>
              <a:rPr lang="en-IN" sz="2400" dirty="0">
                <a:latin typeface="Cambria Math" panose="02040503050406030204" pitchFamily="18" charset="0"/>
                <a:ea typeface="Cambria Math" panose="02040503050406030204" pitchFamily="18" charset="0"/>
              </a:rPr>
              <a:t>E.g.  select * from student</a:t>
            </a:r>
          </a:p>
          <a:p>
            <a:pPr marL="292608" lvl="1" indent="0" algn="just">
              <a:buNone/>
            </a:pPr>
            <a:r>
              <a:rPr lang="en-IN" sz="2400" dirty="0">
                <a:latin typeface="Cambria Math" panose="02040503050406030204" pitchFamily="18" charset="0"/>
                <a:ea typeface="Cambria Math" panose="02040503050406030204" pitchFamily="18" charset="0"/>
              </a:rPr>
              <a:t>        where </a:t>
            </a:r>
            <a:r>
              <a:rPr lang="en-IN" sz="2400" dirty="0">
                <a:solidFill>
                  <a:srgbClr val="FF0000"/>
                </a:solidFill>
                <a:latin typeface="Cambria Math" panose="02040503050406030204" pitchFamily="18" charset="0"/>
                <a:ea typeface="Cambria Math" panose="02040503050406030204" pitchFamily="18" charset="0"/>
              </a:rPr>
              <a:t>NOT</a:t>
            </a:r>
            <a:r>
              <a:rPr lang="en-IN" sz="2400" dirty="0">
                <a:latin typeface="Cambria Math" panose="02040503050406030204" pitchFamily="18" charset="0"/>
                <a:ea typeface="Cambria Math" panose="02040503050406030204" pitchFamily="18" charset="0"/>
              </a:rPr>
              <a:t> per&lt;50;</a:t>
            </a:r>
          </a:p>
        </p:txBody>
      </p:sp>
    </p:spTree>
    <p:extLst>
      <p:ext uri="{BB962C8B-B14F-4D97-AF65-F5344CB8AC3E}">
        <p14:creationId xmlns:p14="http://schemas.microsoft.com/office/powerpoint/2010/main" val="3641294592"/>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0" y="152400"/>
            <a:ext cx="7239000" cy="609600"/>
          </a:xfrm>
        </p:spPr>
        <p:txBody>
          <a:bodyPr>
            <a:normAutofit/>
          </a:bodyPr>
          <a:lstStyle/>
          <a:p>
            <a:r>
              <a:rPr lang="en-IN" dirty="0"/>
              <a:t>Pattern matching</a:t>
            </a:r>
          </a:p>
        </p:txBody>
      </p:sp>
      <p:sp>
        <p:nvSpPr>
          <p:cNvPr id="3" name="Content Placeholder 2"/>
          <p:cNvSpPr>
            <a:spLocks noGrp="1"/>
          </p:cNvSpPr>
          <p:nvPr>
            <p:ph idx="4294967295"/>
          </p:nvPr>
        </p:nvSpPr>
        <p:spPr>
          <a:xfrm>
            <a:off x="2667000" y="762000"/>
            <a:ext cx="6096000" cy="5791200"/>
          </a:xfrm>
        </p:spPr>
        <p:txBody>
          <a:bodyPr>
            <a:normAutofit/>
          </a:bodyPr>
          <a:lstStyle/>
          <a:p>
            <a:pPr marL="0" indent="0">
              <a:buNone/>
            </a:pPr>
            <a:r>
              <a:rPr lang="en-IN" sz="2400" dirty="0">
                <a:latin typeface="Cambria Math" panose="02040503050406030204" pitchFamily="18" charset="0"/>
                <a:ea typeface="Cambria Math" panose="02040503050406030204" pitchFamily="18" charset="0"/>
              </a:rPr>
              <a:t> </a:t>
            </a:r>
            <a:r>
              <a:rPr lang="en-IN" sz="2400" u="sng" dirty="0">
                <a:latin typeface="Cambria Math" panose="02040503050406030204" pitchFamily="18" charset="0"/>
                <a:ea typeface="Cambria Math" panose="02040503050406030204" pitchFamily="18" charset="0"/>
              </a:rPr>
              <a:t>LIKE:</a:t>
            </a:r>
            <a:r>
              <a:rPr lang="en-IN" sz="2400" dirty="0">
                <a:latin typeface="Cambria Math" panose="02040503050406030204" pitchFamily="18" charset="0"/>
                <a:ea typeface="Cambria Math" panose="02040503050406030204" pitchFamily="18" charset="0"/>
              </a:rPr>
              <a:t> allows comparison of one string value with another string value.</a:t>
            </a:r>
          </a:p>
          <a:p>
            <a:pPr marL="0" indent="0">
              <a:buNone/>
            </a:pPr>
            <a:r>
              <a:rPr lang="en-IN" sz="2400" dirty="0">
                <a:latin typeface="Cambria Math" panose="02040503050406030204" pitchFamily="18" charset="0"/>
                <a:ea typeface="Cambria Math" panose="02040503050406030204" pitchFamily="18" charset="0"/>
              </a:rPr>
              <a:t>1.% allows to match any string of any length.</a:t>
            </a:r>
          </a:p>
          <a:p>
            <a:pPr marL="0" indent="0">
              <a:buNone/>
            </a:pPr>
            <a:r>
              <a:rPr lang="en-IN" sz="2400" dirty="0">
                <a:latin typeface="Cambria Math" panose="02040503050406030204" pitchFamily="18" charset="0"/>
                <a:ea typeface="Cambria Math" panose="02040503050406030204" pitchFamily="18" charset="0"/>
              </a:rPr>
              <a:t>2._allows to match on single character.</a:t>
            </a:r>
          </a:p>
          <a:p>
            <a:pPr marL="0" indent="0">
              <a:buNone/>
            </a:pPr>
            <a:endParaRPr lang="en-IN" sz="2400" dirty="0">
              <a:latin typeface="Cambria Math" panose="02040503050406030204" pitchFamily="18" charset="0"/>
              <a:ea typeface="Cambria Math" panose="02040503050406030204" pitchFamily="18" charset="0"/>
            </a:endParaRPr>
          </a:p>
          <a:p>
            <a:pPr marL="0" indent="0">
              <a:buNone/>
            </a:pPr>
            <a:r>
              <a:rPr lang="en-IN" sz="2400" b="1" dirty="0">
                <a:latin typeface="Cambria Math" panose="02040503050406030204" pitchFamily="18" charset="0"/>
                <a:ea typeface="Cambria Math" panose="02040503050406030204" pitchFamily="18" charset="0"/>
              </a:rPr>
              <a:t>E.g.</a:t>
            </a:r>
          </a:p>
          <a:p>
            <a:pPr marL="0" indent="0">
              <a:buNone/>
            </a:pPr>
            <a:r>
              <a:rPr lang="en-IN" sz="2400" dirty="0">
                <a:latin typeface="Cambria Math" panose="02040503050406030204" pitchFamily="18" charset="0"/>
                <a:ea typeface="Cambria Math" panose="02040503050406030204" pitchFamily="18" charset="0"/>
              </a:rPr>
              <a:t>1.Select * from Emp</a:t>
            </a:r>
          </a:p>
          <a:p>
            <a:pPr marL="0" indent="0">
              <a:buNone/>
            </a:pPr>
            <a:r>
              <a:rPr lang="en-IN" sz="2400" dirty="0">
                <a:latin typeface="Cambria Math" panose="02040503050406030204" pitchFamily="18" charset="0"/>
                <a:ea typeface="Cambria Math" panose="02040503050406030204" pitchFamily="18" charset="0"/>
              </a:rPr>
              <a:t>      where FNM  </a:t>
            </a:r>
            <a:r>
              <a:rPr lang="en-IN" sz="2400" dirty="0">
                <a:solidFill>
                  <a:srgbClr val="FF0000"/>
                </a:solidFill>
                <a:latin typeface="Cambria Math" panose="02040503050406030204" pitchFamily="18" charset="0"/>
                <a:ea typeface="Cambria Math" panose="02040503050406030204" pitchFamily="18" charset="0"/>
              </a:rPr>
              <a:t>LIKE</a:t>
            </a:r>
            <a:r>
              <a:rPr lang="en-IN" sz="2400" dirty="0">
                <a:latin typeface="Cambria Math" panose="02040503050406030204" pitchFamily="18" charset="0"/>
                <a:ea typeface="Cambria Math" panose="02040503050406030204" pitchFamily="18" charset="0"/>
              </a:rPr>
              <a:t>  ‘Me%’;</a:t>
            </a:r>
          </a:p>
          <a:p>
            <a:pPr marL="0" indent="0">
              <a:buNone/>
            </a:pPr>
            <a:endParaRPr lang="en-IN" sz="2400" dirty="0">
              <a:latin typeface="Cambria Math" panose="02040503050406030204" pitchFamily="18" charset="0"/>
              <a:ea typeface="Cambria Math" panose="02040503050406030204" pitchFamily="18" charset="0"/>
            </a:endParaRPr>
          </a:p>
          <a:p>
            <a:pPr marL="0" indent="0">
              <a:buNone/>
            </a:pPr>
            <a:r>
              <a:rPr lang="en-IN" sz="2400" dirty="0">
                <a:latin typeface="Cambria Math" panose="02040503050406030204" pitchFamily="18" charset="0"/>
                <a:ea typeface="Cambria Math" panose="02040503050406030204" pitchFamily="18" charset="0"/>
              </a:rPr>
              <a:t>2.Select * from emp</a:t>
            </a:r>
          </a:p>
          <a:p>
            <a:pPr marL="0" indent="0">
              <a:buNone/>
            </a:pPr>
            <a:r>
              <a:rPr lang="en-IN" sz="2400" dirty="0">
                <a:latin typeface="Cambria Math" panose="02040503050406030204" pitchFamily="18" charset="0"/>
                <a:ea typeface="Cambria Math" panose="02040503050406030204" pitchFamily="18" charset="0"/>
              </a:rPr>
              <a:t>       where FNM </a:t>
            </a:r>
            <a:r>
              <a:rPr lang="en-IN" sz="2400" dirty="0">
                <a:solidFill>
                  <a:srgbClr val="FF0000"/>
                </a:solidFill>
                <a:latin typeface="Cambria Math" panose="02040503050406030204" pitchFamily="18" charset="0"/>
                <a:ea typeface="Cambria Math" panose="02040503050406030204" pitchFamily="18" charset="0"/>
              </a:rPr>
              <a:t>LIKE</a:t>
            </a:r>
            <a:r>
              <a:rPr lang="en-IN" sz="2400" dirty="0">
                <a:latin typeface="Cambria Math" panose="02040503050406030204" pitchFamily="18" charset="0"/>
                <a:ea typeface="Cambria Math" panose="02040503050406030204" pitchFamily="18" charset="0"/>
              </a:rPr>
              <a:t> ‘_a%’ </a:t>
            </a:r>
            <a:r>
              <a:rPr lang="en-IN" sz="2400" dirty="0">
                <a:solidFill>
                  <a:srgbClr val="FF0000"/>
                </a:solidFill>
                <a:latin typeface="Cambria Math" panose="02040503050406030204" pitchFamily="18" charset="0"/>
                <a:ea typeface="Cambria Math" panose="02040503050406030204" pitchFamily="18" charset="0"/>
              </a:rPr>
              <a:t>OR</a:t>
            </a:r>
            <a:r>
              <a:rPr lang="en-IN" sz="2400" dirty="0">
                <a:latin typeface="Cambria Math" panose="02040503050406030204" pitchFamily="18" charset="0"/>
                <a:ea typeface="Cambria Math" panose="02040503050406030204" pitchFamily="18" charset="0"/>
              </a:rPr>
              <a:t> FNM </a:t>
            </a:r>
            <a:r>
              <a:rPr lang="en-IN" sz="2400" dirty="0">
                <a:solidFill>
                  <a:srgbClr val="FF0000"/>
                </a:solidFill>
                <a:latin typeface="Cambria Math" panose="02040503050406030204" pitchFamily="18" charset="0"/>
                <a:ea typeface="Cambria Math" panose="02040503050406030204" pitchFamily="18" charset="0"/>
              </a:rPr>
              <a:t>LIKE</a:t>
            </a:r>
            <a:r>
              <a:rPr lang="en-IN" sz="2400" dirty="0">
                <a:latin typeface="Cambria Math" panose="02040503050406030204" pitchFamily="18" charset="0"/>
                <a:ea typeface="Cambria Math" panose="02040503050406030204" pitchFamily="18" charset="0"/>
              </a:rPr>
              <a:t> ‘_s%’;</a:t>
            </a:r>
          </a:p>
        </p:txBody>
      </p:sp>
      <p:sp>
        <p:nvSpPr>
          <p:cNvPr id="4" name="Title 1">
            <a:extLst>
              <a:ext uri="{FF2B5EF4-FFF2-40B4-BE49-F238E27FC236}">
                <a16:creationId xmlns:a16="http://schemas.microsoft.com/office/drawing/2014/main" id="{EF20DCA2-8968-4894-9A2E-0953C4E3AAAE}"/>
              </a:ext>
            </a:extLst>
          </p:cNvPr>
          <p:cNvSpPr txBox="1">
            <a:spLocks/>
          </p:cNvSpPr>
          <p:nvPr/>
        </p:nvSpPr>
        <p:spPr>
          <a:xfrm>
            <a:off x="152400" y="3075955"/>
            <a:ext cx="2250976" cy="70609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700" kern="1200" spc="-45" baseline="0">
                <a:solidFill>
                  <a:srgbClr val="FFFFFF"/>
                </a:solidFill>
                <a:latin typeface="+mj-lt"/>
                <a:ea typeface="+mj-ea"/>
                <a:cs typeface="+mj-cs"/>
              </a:defRPr>
            </a:lvl1pPr>
          </a:lstStyle>
          <a:p>
            <a:r>
              <a:rPr lang="en-US" sz="4000" b="1" dirty="0">
                <a:solidFill>
                  <a:schemeClr val="tx1"/>
                </a:solidFill>
                <a:latin typeface="Cambria Math" panose="02040503050406030204" pitchFamily="18" charset="0"/>
                <a:ea typeface="Cambria Math" panose="02040503050406030204" pitchFamily="18" charset="0"/>
              </a:rPr>
              <a:t>Like </a:t>
            </a:r>
          </a:p>
          <a:p>
            <a:r>
              <a:rPr lang="en-US" sz="4000" b="1" dirty="0">
                <a:solidFill>
                  <a:schemeClr val="tx1"/>
                </a:solidFill>
                <a:latin typeface="Cambria Math" panose="02040503050406030204" pitchFamily="18" charset="0"/>
                <a:ea typeface="Cambria Math" panose="02040503050406030204" pitchFamily="18" charset="0"/>
              </a:rPr>
              <a:t>Operator</a:t>
            </a:r>
            <a:endParaRPr lang="en-IN" sz="4000" b="1"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57700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901951" y="864108"/>
            <a:ext cx="5486400" cy="5120640"/>
          </a:xfrm>
        </p:spPr>
        <p:txBody>
          <a:bodyPr>
            <a:normAutofit/>
          </a:bodyPr>
          <a:lstStyle/>
          <a:p>
            <a:pPr marL="0" indent="0">
              <a:buNone/>
            </a:pPr>
            <a:endParaRPr lang="en-IN" sz="2800" dirty="0">
              <a:latin typeface="Cambria Math" panose="02040503050406030204" pitchFamily="18" charset="0"/>
              <a:ea typeface="Cambria Math" panose="02040503050406030204" pitchFamily="18" charset="0"/>
            </a:endParaRPr>
          </a:p>
          <a:p>
            <a:pPr marL="0" indent="0">
              <a:buNone/>
            </a:pPr>
            <a:r>
              <a:rPr lang="en-IN" sz="2800" dirty="0">
                <a:latin typeface="Cambria Math" panose="02040503050406030204" pitchFamily="18" charset="0"/>
                <a:ea typeface="Cambria Math" panose="02040503050406030204" pitchFamily="18" charset="0"/>
              </a:rPr>
              <a:t>3.Select  FNM  from  student </a:t>
            </a:r>
          </a:p>
          <a:p>
            <a:pPr marL="0" indent="0">
              <a:buNone/>
            </a:pPr>
            <a:r>
              <a:rPr lang="en-IN" sz="2800" dirty="0">
                <a:latin typeface="Cambria Math" panose="02040503050406030204" pitchFamily="18" charset="0"/>
                <a:ea typeface="Cambria Math" panose="02040503050406030204" pitchFamily="18" charset="0"/>
              </a:rPr>
              <a:t>     where FNM </a:t>
            </a:r>
            <a:r>
              <a:rPr lang="en-IN" sz="2800" dirty="0">
                <a:solidFill>
                  <a:srgbClr val="FF0000"/>
                </a:solidFill>
                <a:latin typeface="Cambria Math" panose="02040503050406030204" pitchFamily="18" charset="0"/>
                <a:ea typeface="Cambria Math" panose="02040503050406030204" pitchFamily="18" charset="0"/>
              </a:rPr>
              <a:t>LIKE</a:t>
            </a:r>
            <a:r>
              <a:rPr lang="en-IN" sz="2800" dirty="0">
                <a:latin typeface="Cambria Math" panose="02040503050406030204" pitchFamily="18" charset="0"/>
                <a:ea typeface="Cambria Math" panose="02040503050406030204" pitchFamily="18" charset="0"/>
              </a:rPr>
              <a:t> ‘De__’;</a:t>
            </a:r>
          </a:p>
          <a:p>
            <a:pPr marL="0" indent="0">
              <a:buNone/>
            </a:pPr>
            <a:endParaRPr lang="en-IN" sz="2800" dirty="0">
              <a:latin typeface="Cambria Math" panose="02040503050406030204" pitchFamily="18" charset="0"/>
              <a:ea typeface="Cambria Math" panose="02040503050406030204" pitchFamily="18" charset="0"/>
            </a:endParaRPr>
          </a:p>
          <a:p>
            <a:pPr marL="0" indent="0">
              <a:buNone/>
            </a:pPr>
            <a:endParaRPr lang="en-IN" sz="2800" dirty="0">
              <a:latin typeface="Cambria Math" panose="02040503050406030204" pitchFamily="18" charset="0"/>
              <a:ea typeface="Cambria Math" panose="02040503050406030204" pitchFamily="18" charset="0"/>
            </a:endParaRPr>
          </a:p>
          <a:p>
            <a:pPr marL="0" indent="0">
              <a:buNone/>
            </a:pPr>
            <a:r>
              <a:rPr lang="en-IN" sz="2800" dirty="0">
                <a:latin typeface="Cambria Math" panose="02040503050406030204" pitchFamily="18" charset="0"/>
                <a:ea typeface="Cambria Math" panose="02040503050406030204" pitchFamily="18" charset="0"/>
              </a:rPr>
              <a:t>4.Select FNM  from student</a:t>
            </a:r>
          </a:p>
          <a:p>
            <a:pPr marL="0" indent="0">
              <a:buNone/>
            </a:pPr>
            <a:r>
              <a:rPr lang="en-IN" sz="2800" dirty="0">
                <a:latin typeface="Cambria Math" panose="02040503050406030204" pitchFamily="18" charset="0"/>
                <a:ea typeface="Cambria Math" panose="02040503050406030204" pitchFamily="18" charset="0"/>
              </a:rPr>
              <a:t>      where FNM  </a:t>
            </a:r>
            <a:r>
              <a:rPr lang="en-IN" sz="2800" dirty="0">
                <a:solidFill>
                  <a:srgbClr val="FF0000"/>
                </a:solidFill>
                <a:latin typeface="Cambria Math" panose="02040503050406030204" pitchFamily="18" charset="0"/>
                <a:ea typeface="Cambria Math" panose="02040503050406030204" pitchFamily="18" charset="0"/>
              </a:rPr>
              <a:t>LIKE  </a:t>
            </a:r>
            <a:r>
              <a:rPr lang="en-IN" sz="2800" dirty="0">
                <a:latin typeface="Cambria Math" panose="02040503050406030204" pitchFamily="18" charset="0"/>
                <a:ea typeface="Cambria Math" panose="02040503050406030204" pitchFamily="18" charset="0"/>
              </a:rPr>
              <a:t>‘%V%’;</a:t>
            </a:r>
          </a:p>
        </p:txBody>
      </p:sp>
    </p:spTree>
    <p:extLst>
      <p:ext uri="{BB962C8B-B14F-4D97-AF65-F5344CB8AC3E}">
        <p14:creationId xmlns:p14="http://schemas.microsoft.com/office/powerpoint/2010/main" val="4230851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901951" y="864108"/>
            <a:ext cx="5486400" cy="5120640"/>
          </a:xfrm>
        </p:spPr>
        <p:txBody>
          <a:bodyPr>
            <a:normAutofit/>
          </a:bodyPr>
          <a:lstStyle/>
          <a:p>
            <a:pPr marL="0" indent="0">
              <a:buNone/>
            </a:pPr>
            <a:r>
              <a:rPr lang="en-IN" sz="2400" u="sng" dirty="0">
                <a:latin typeface="Cambria Math" panose="02040503050406030204" pitchFamily="18" charset="0"/>
                <a:ea typeface="Cambria Math" panose="02040503050406030204" pitchFamily="18" charset="0"/>
              </a:rPr>
              <a:t>Between:</a:t>
            </a:r>
            <a:r>
              <a:rPr lang="en-IN" sz="2400" dirty="0">
                <a:latin typeface="Cambria Math" panose="02040503050406030204" pitchFamily="18" charset="0"/>
                <a:ea typeface="Cambria Math" panose="02040503050406030204" pitchFamily="18" charset="0"/>
              </a:rPr>
              <a:t> allows the selection of rows that contains values within a specified lower and upper limit.</a:t>
            </a:r>
          </a:p>
          <a:p>
            <a:pPr marL="0" indent="0">
              <a:buNone/>
            </a:pPr>
            <a:endParaRPr lang="en-IN" sz="2400" dirty="0">
              <a:latin typeface="Cambria Math" panose="02040503050406030204" pitchFamily="18" charset="0"/>
              <a:ea typeface="Cambria Math" panose="02040503050406030204" pitchFamily="18" charset="0"/>
            </a:endParaRPr>
          </a:p>
          <a:p>
            <a:pPr marL="0" indent="0">
              <a:buNone/>
            </a:pPr>
            <a:r>
              <a:rPr lang="en-IN" sz="2400" dirty="0">
                <a:latin typeface="Cambria Math" panose="02040503050406030204" pitchFamily="18" charset="0"/>
                <a:ea typeface="Cambria Math" panose="02040503050406030204" pitchFamily="18" charset="0"/>
              </a:rPr>
              <a:t>E.g select FNM from student </a:t>
            </a:r>
          </a:p>
          <a:p>
            <a:pPr marL="0" indent="0">
              <a:buNone/>
            </a:pPr>
            <a:r>
              <a:rPr lang="en-IN" sz="2400" dirty="0">
                <a:latin typeface="Cambria Math" panose="02040503050406030204" pitchFamily="18" charset="0"/>
                <a:ea typeface="Cambria Math" panose="02040503050406030204" pitchFamily="18" charset="0"/>
              </a:rPr>
              <a:t>          where per </a:t>
            </a:r>
            <a:r>
              <a:rPr lang="en-IN" sz="2400" dirty="0">
                <a:solidFill>
                  <a:srgbClr val="FF0000"/>
                </a:solidFill>
                <a:latin typeface="Cambria Math" panose="02040503050406030204" pitchFamily="18" charset="0"/>
                <a:ea typeface="Cambria Math" panose="02040503050406030204" pitchFamily="18" charset="0"/>
              </a:rPr>
              <a:t>BETWEEN</a:t>
            </a:r>
            <a:r>
              <a:rPr lang="en-IN" sz="2400" dirty="0">
                <a:latin typeface="Cambria Math" panose="02040503050406030204" pitchFamily="18" charset="0"/>
                <a:ea typeface="Cambria Math" panose="02040503050406030204" pitchFamily="18" charset="0"/>
              </a:rPr>
              <a:t> 50 </a:t>
            </a:r>
            <a:r>
              <a:rPr lang="en-IN" sz="2400" dirty="0">
                <a:solidFill>
                  <a:srgbClr val="FF0000"/>
                </a:solidFill>
                <a:latin typeface="Cambria Math" panose="02040503050406030204" pitchFamily="18" charset="0"/>
                <a:ea typeface="Cambria Math" panose="02040503050406030204" pitchFamily="18" charset="0"/>
              </a:rPr>
              <a:t>AND</a:t>
            </a:r>
            <a:r>
              <a:rPr lang="en-IN" sz="2400" dirty="0">
                <a:latin typeface="Cambria Math" panose="02040503050406030204" pitchFamily="18" charset="0"/>
                <a:ea typeface="Cambria Math" panose="02040503050406030204" pitchFamily="18" charset="0"/>
              </a:rPr>
              <a:t> 80;</a:t>
            </a:r>
          </a:p>
        </p:txBody>
      </p:sp>
      <p:sp>
        <p:nvSpPr>
          <p:cNvPr id="7" name="Title 1">
            <a:extLst>
              <a:ext uri="{FF2B5EF4-FFF2-40B4-BE49-F238E27FC236}">
                <a16:creationId xmlns:a16="http://schemas.microsoft.com/office/drawing/2014/main" id="{471D923A-C384-4C0E-BA34-8C7EC65127A9}"/>
              </a:ext>
            </a:extLst>
          </p:cNvPr>
          <p:cNvSpPr txBox="1">
            <a:spLocks/>
          </p:cNvSpPr>
          <p:nvPr/>
        </p:nvSpPr>
        <p:spPr>
          <a:xfrm>
            <a:off x="152400" y="3075955"/>
            <a:ext cx="2250976" cy="70609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700" kern="1200" spc="-45" baseline="0">
                <a:solidFill>
                  <a:srgbClr val="FFFFFF"/>
                </a:solidFill>
                <a:latin typeface="+mj-lt"/>
                <a:ea typeface="+mj-ea"/>
                <a:cs typeface="+mj-cs"/>
              </a:defRPr>
            </a:lvl1pPr>
          </a:lstStyle>
          <a:p>
            <a:r>
              <a:rPr lang="en-US" sz="4000" b="1" dirty="0">
                <a:solidFill>
                  <a:schemeClr val="tx1"/>
                </a:solidFill>
                <a:latin typeface="Cambria Math" panose="02040503050406030204" pitchFamily="18" charset="0"/>
                <a:ea typeface="Cambria Math" panose="02040503050406030204" pitchFamily="18" charset="0"/>
              </a:rPr>
              <a:t>Between </a:t>
            </a:r>
          </a:p>
          <a:p>
            <a:r>
              <a:rPr lang="en-US" sz="4000" b="1" dirty="0">
                <a:solidFill>
                  <a:schemeClr val="tx1"/>
                </a:solidFill>
                <a:latin typeface="Cambria Math" panose="02040503050406030204" pitchFamily="18" charset="0"/>
                <a:ea typeface="Cambria Math" panose="02040503050406030204" pitchFamily="18" charset="0"/>
              </a:rPr>
              <a:t>Operator</a:t>
            </a:r>
            <a:endParaRPr lang="en-IN" sz="4000" b="1"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057769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819400" y="381000"/>
            <a:ext cx="5486400" cy="5832348"/>
          </a:xfrm>
        </p:spPr>
        <p:txBody>
          <a:bodyPr>
            <a:normAutofit/>
          </a:bodyPr>
          <a:lstStyle/>
          <a:p>
            <a:pPr marL="0" indent="0">
              <a:buNone/>
            </a:pPr>
            <a:r>
              <a:rPr lang="en-IN" sz="2400" u="sng" dirty="0">
                <a:latin typeface="Cambria Math" panose="02040503050406030204" pitchFamily="18" charset="0"/>
                <a:ea typeface="Cambria Math" panose="02040503050406030204" pitchFamily="18" charset="0"/>
              </a:rPr>
              <a:t>IN:</a:t>
            </a:r>
            <a:r>
              <a:rPr lang="en-IN" sz="2400" dirty="0">
                <a:latin typeface="Cambria Math" panose="02040503050406030204" pitchFamily="18" charset="0"/>
                <a:ea typeface="Cambria Math" panose="02040503050406030204" pitchFamily="18" charset="0"/>
              </a:rPr>
              <a:t> </a:t>
            </a:r>
          </a:p>
          <a:p>
            <a:pPr marL="0" indent="0">
              <a:buNone/>
            </a:pPr>
            <a:r>
              <a:rPr lang="en-US" sz="2400" dirty="0">
                <a:latin typeface="Cambria Math" panose="02040503050406030204" pitchFamily="18" charset="0"/>
                <a:ea typeface="Cambria Math" panose="02040503050406030204" pitchFamily="18" charset="0"/>
              </a:rPr>
              <a:t>The IN operator allows you to specify multiple values in a WHERE clause.</a:t>
            </a:r>
          </a:p>
          <a:p>
            <a:pPr marL="0" indent="0">
              <a:buNone/>
            </a:pPr>
            <a:endParaRPr lang="en-US" sz="2400" dirty="0">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The IN operator is a shorthand for multiple OR conditions.</a:t>
            </a:r>
            <a:endParaRPr lang="en-IN" sz="2400" dirty="0">
              <a:latin typeface="Cambria Math" panose="02040503050406030204" pitchFamily="18" charset="0"/>
              <a:ea typeface="Cambria Math" panose="02040503050406030204" pitchFamily="18" charset="0"/>
            </a:endParaRPr>
          </a:p>
          <a:p>
            <a:pPr marL="0" indent="0">
              <a:buNone/>
            </a:pPr>
            <a:endParaRPr lang="en-IN" sz="2400" dirty="0">
              <a:latin typeface="Cambria Math" panose="02040503050406030204" pitchFamily="18" charset="0"/>
              <a:ea typeface="Cambria Math" panose="02040503050406030204" pitchFamily="18" charset="0"/>
            </a:endParaRPr>
          </a:p>
          <a:p>
            <a:pPr marL="0" indent="0">
              <a:buNone/>
            </a:pPr>
            <a:r>
              <a:rPr lang="en-IN" sz="2400" dirty="0" err="1">
                <a:latin typeface="Cambria Math" panose="02040503050406030204" pitchFamily="18" charset="0"/>
                <a:ea typeface="Cambria Math" panose="02040503050406030204" pitchFamily="18" charset="0"/>
              </a:rPr>
              <a:t>E.g</a:t>
            </a:r>
            <a:r>
              <a:rPr lang="en-IN" sz="2400"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rPr>
              <a:t>selects all customers that are located in "Germany", "France" or "UK":</a:t>
            </a:r>
          </a:p>
          <a:p>
            <a:pPr marL="0" indent="0">
              <a:buNone/>
            </a:pPr>
            <a:endParaRPr lang="en-US" sz="2400" dirty="0">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SELECT * FROM Customers</a:t>
            </a:r>
          </a:p>
          <a:p>
            <a:pPr marL="0" indent="0">
              <a:buNone/>
            </a:pPr>
            <a:r>
              <a:rPr lang="en-US" sz="2400" dirty="0">
                <a:latin typeface="Cambria Math" panose="02040503050406030204" pitchFamily="18" charset="0"/>
                <a:ea typeface="Cambria Math" panose="02040503050406030204" pitchFamily="18" charset="0"/>
              </a:rPr>
              <a:t>WHERE Country IN ('Germany', 'France', 'UK');</a:t>
            </a:r>
            <a:endParaRPr lang="en-IN" sz="2400" dirty="0">
              <a:latin typeface="Cambria Math" panose="02040503050406030204" pitchFamily="18" charset="0"/>
              <a:ea typeface="Cambria Math" panose="02040503050406030204" pitchFamily="18" charset="0"/>
            </a:endParaRPr>
          </a:p>
        </p:txBody>
      </p:sp>
      <p:sp>
        <p:nvSpPr>
          <p:cNvPr id="7" name="Title 1">
            <a:extLst>
              <a:ext uri="{FF2B5EF4-FFF2-40B4-BE49-F238E27FC236}">
                <a16:creationId xmlns:a16="http://schemas.microsoft.com/office/drawing/2014/main" id="{471D923A-C384-4C0E-BA34-8C7EC65127A9}"/>
              </a:ext>
            </a:extLst>
          </p:cNvPr>
          <p:cNvSpPr txBox="1">
            <a:spLocks/>
          </p:cNvSpPr>
          <p:nvPr/>
        </p:nvSpPr>
        <p:spPr>
          <a:xfrm>
            <a:off x="152400" y="3075955"/>
            <a:ext cx="2250976" cy="70609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700" kern="1200" spc="-45" baseline="0">
                <a:solidFill>
                  <a:srgbClr val="FFFFFF"/>
                </a:solidFill>
                <a:latin typeface="+mj-lt"/>
                <a:ea typeface="+mj-ea"/>
                <a:cs typeface="+mj-cs"/>
              </a:defRPr>
            </a:lvl1pPr>
          </a:lstStyle>
          <a:p>
            <a:r>
              <a:rPr lang="en-US" sz="4000" b="1" dirty="0">
                <a:solidFill>
                  <a:schemeClr val="tx1"/>
                </a:solidFill>
                <a:latin typeface="Cambria Math" panose="02040503050406030204" pitchFamily="18" charset="0"/>
                <a:ea typeface="Cambria Math" panose="02040503050406030204" pitchFamily="18" charset="0"/>
              </a:rPr>
              <a:t>IN </a:t>
            </a:r>
          </a:p>
          <a:p>
            <a:r>
              <a:rPr lang="en-US" sz="4000" b="1" dirty="0">
                <a:solidFill>
                  <a:schemeClr val="tx1"/>
                </a:solidFill>
                <a:latin typeface="Cambria Math" panose="02040503050406030204" pitchFamily="18" charset="0"/>
                <a:ea typeface="Cambria Math" panose="02040503050406030204" pitchFamily="18" charset="0"/>
              </a:rPr>
              <a:t>Operator</a:t>
            </a:r>
            <a:endParaRPr lang="en-IN" sz="4000" b="1"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562009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743200" y="381000"/>
            <a:ext cx="5715000" cy="5832348"/>
          </a:xfrm>
        </p:spPr>
        <p:txBody>
          <a:bodyPr>
            <a:normAutofit/>
          </a:bodyPr>
          <a:lstStyle/>
          <a:p>
            <a:pPr marL="0" indent="0">
              <a:buNone/>
            </a:pPr>
            <a:r>
              <a:rPr lang="en-IN" sz="2400" u="sng" dirty="0">
                <a:latin typeface="Cambria Math" panose="02040503050406030204" pitchFamily="18" charset="0"/>
                <a:ea typeface="Cambria Math" panose="02040503050406030204" pitchFamily="18" charset="0"/>
              </a:rPr>
              <a:t>NOT IN:</a:t>
            </a:r>
            <a:r>
              <a:rPr lang="en-IN" sz="2400" dirty="0">
                <a:latin typeface="Cambria Math" panose="02040503050406030204" pitchFamily="18" charset="0"/>
                <a:ea typeface="Cambria Math" panose="02040503050406030204" pitchFamily="18" charset="0"/>
              </a:rPr>
              <a:t> </a:t>
            </a:r>
          </a:p>
          <a:p>
            <a:pPr marL="0" indent="0">
              <a:buNone/>
            </a:pPr>
            <a:r>
              <a:rPr lang="en-US" sz="2400" dirty="0">
                <a:latin typeface="Cambria Math" panose="02040503050406030204" pitchFamily="18" charset="0"/>
                <a:ea typeface="Cambria Math" panose="02040503050406030204" pitchFamily="18" charset="0"/>
              </a:rPr>
              <a:t>The NOT IN operator allows you to specify multiple values in a WHERE clause.</a:t>
            </a:r>
          </a:p>
          <a:p>
            <a:pPr marL="0" indent="0">
              <a:buNone/>
            </a:pPr>
            <a:endParaRPr lang="en-US" sz="2400" dirty="0">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The NOT IN operator is a shorthand for multiple OR conditions.</a:t>
            </a:r>
            <a:endParaRPr lang="en-IN" sz="2400" dirty="0">
              <a:latin typeface="Cambria Math" panose="02040503050406030204" pitchFamily="18" charset="0"/>
              <a:ea typeface="Cambria Math" panose="02040503050406030204" pitchFamily="18" charset="0"/>
            </a:endParaRPr>
          </a:p>
          <a:p>
            <a:pPr marL="0" indent="0">
              <a:buNone/>
            </a:pPr>
            <a:endParaRPr lang="en-IN" sz="2400" dirty="0">
              <a:latin typeface="Cambria Math" panose="02040503050406030204" pitchFamily="18" charset="0"/>
              <a:ea typeface="Cambria Math" panose="02040503050406030204" pitchFamily="18" charset="0"/>
            </a:endParaRPr>
          </a:p>
          <a:p>
            <a:pPr marL="0" indent="0">
              <a:buNone/>
            </a:pPr>
            <a:r>
              <a:rPr lang="en-IN" sz="2400" dirty="0" err="1">
                <a:latin typeface="Cambria Math" panose="02040503050406030204" pitchFamily="18" charset="0"/>
                <a:ea typeface="Cambria Math" panose="02040503050406030204" pitchFamily="18" charset="0"/>
              </a:rPr>
              <a:t>E.g</a:t>
            </a:r>
            <a:r>
              <a:rPr lang="en-IN" sz="2400"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rPr>
              <a:t>selects all customers that are located in other than "Germany", "France" or "UK":</a:t>
            </a:r>
          </a:p>
          <a:p>
            <a:pPr marL="0" indent="0">
              <a:buNone/>
            </a:pPr>
            <a:endParaRPr lang="en-US" sz="2400" dirty="0">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SELECT * FROM Customers</a:t>
            </a:r>
          </a:p>
          <a:p>
            <a:pPr marL="0" indent="0">
              <a:buNone/>
            </a:pPr>
            <a:r>
              <a:rPr lang="en-US" sz="2400" dirty="0">
                <a:latin typeface="Cambria Math" panose="02040503050406030204" pitchFamily="18" charset="0"/>
                <a:ea typeface="Cambria Math" panose="02040503050406030204" pitchFamily="18" charset="0"/>
              </a:rPr>
              <a:t>WHERE Country NOT IN ('Germany', 'France', 'UK');</a:t>
            </a:r>
            <a:endParaRPr lang="en-IN" sz="2400" dirty="0">
              <a:latin typeface="Cambria Math" panose="02040503050406030204" pitchFamily="18" charset="0"/>
              <a:ea typeface="Cambria Math" panose="02040503050406030204" pitchFamily="18" charset="0"/>
            </a:endParaRPr>
          </a:p>
        </p:txBody>
      </p:sp>
      <p:sp>
        <p:nvSpPr>
          <p:cNvPr id="7" name="Title 1">
            <a:extLst>
              <a:ext uri="{FF2B5EF4-FFF2-40B4-BE49-F238E27FC236}">
                <a16:creationId xmlns:a16="http://schemas.microsoft.com/office/drawing/2014/main" id="{471D923A-C384-4C0E-BA34-8C7EC65127A9}"/>
              </a:ext>
            </a:extLst>
          </p:cNvPr>
          <p:cNvSpPr txBox="1">
            <a:spLocks/>
          </p:cNvSpPr>
          <p:nvPr/>
        </p:nvSpPr>
        <p:spPr>
          <a:xfrm>
            <a:off x="152400" y="3075955"/>
            <a:ext cx="2250976" cy="70609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2700" kern="1200" spc="-45" baseline="0">
                <a:solidFill>
                  <a:srgbClr val="FFFFFF"/>
                </a:solidFill>
                <a:latin typeface="+mj-lt"/>
                <a:ea typeface="+mj-ea"/>
                <a:cs typeface="+mj-cs"/>
              </a:defRPr>
            </a:lvl1pPr>
          </a:lstStyle>
          <a:p>
            <a:r>
              <a:rPr lang="en-US" sz="4000" b="1" dirty="0">
                <a:solidFill>
                  <a:schemeClr val="tx1"/>
                </a:solidFill>
                <a:latin typeface="Cambria Math" panose="02040503050406030204" pitchFamily="18" charset="0"/>
                <a:ea typeface="Cambria Math" panose="02040503050406030204" pitchFamily="18" charset="0"/>
              </a:rPr>
              <a:t>NOT IN </a:t>
            </a:r>
          </a:p>
          <a:p>
            <a:r>
              <a:rPr lang="en-US" sz="4000" b="1" dirty="0">
                <a:solidFill>
                  <a:schemeClr val="tx1"/>
                </a:solidFill>
                <a:latin typeface="Cambria Math" panose="02040503050406030204" pitchFamily="18" charset="0"/>
                <a:ea typeface="Cambria Math" panose="02040503050406030204" pitchFamily="18" charset="0"/>
              </a:rPr>
              <a:t>Operator</a:t>
            </a:r>
            <a:endParaRPr lang="en-IN" sz="4000" b="1" dirty="0">
              <a:solidFill>
                <a:schemeClr val="tx1"/>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915765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0"/>
            <a:ext cx="7239000" cy="1143000"/>
          </a:xfrm>
        </p:spPr>
        <p:txBody>
          <a:bodyPr>
            <a:normAutofit/>
          </a:bodyPr>
          <a:lstStyle/>
          <a:p>
            <a:r>
              <a:rPr lang="en-US" dirty="0"/>
              <a:t>Types of single row functions</a:t>
            </a:r>
            <a:endParaRPr lang="en-IN" dirty="0"/>
          </a:p>
        </p:txBody>
      </p:sp>
      <p:sp>
        <p:nvSpPr>
          <p:cNvPr id="3" name="Content Placeholder 2"/>
          <p:cNvSpPr>
            <a:spLocks noGrp="1"/>
          </p:cNvSpPr>
          <p:nvPr>
            <p:ph idx="4294967295"/>
          </p:nvPr>
        </p:nvSpPr>
        <p:spPr>
          <a:xfrm>
            <a:off x="2667000" y="762000"/>
            <a:ext cx="6096000" cy="4846320"/>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There are different types of single row function:</a:t>
            </a:r>
          </a:p>
          <a:p>
            <a:endParaRPr lang="en-US" sz="2400" dirty="0">
              <a:latin typeface="Cambria Math" panose="02040503050406030204" pitchFamily="18" charset="0"/>
              <a:ea typeface="Cambria Math" panose="02040503050406030204" pitchFamily="18" charset="0"/>
            </a:endParaRPr>
          </a:p>
          <a:p>
            <a:r>
              <a:rPr lang="en-US" sz="2400" dirty="0">
                <a:latin typeface="Cambria Math" panose="02040503050406030204" pitchFamily="18" charset="0"/>
                <a:ea typeface="Cambria Math" panose="02040503050406030204" pitchFamily="18" charset="0"/>
              </a:rPr>
              <a:t>String/Character functions</a:t>
            </a:r>
          </a:p>
          <a:p>
            <a:r>
              <a:rPr lang="en-US" sz="2400" dirty="0">
                <a:latin typeface="Cambria Math" panose="02040503050406030204" pitchFamily="18" charset="0"/>
                <a:ea typeface="Cambria Math" panose="02040503050406030204" pitchFamily="18" charset="0"/>
              </a:rPr>
              <a:t>Aggregate functions</a:t>
            </a:r>
          </a:p>
          <a:p>
            <a:r>
              <a:rPr lang="en-US" sz="2400" dirty="0">
                <a:latin typeface="Cambria Math" panose="02040503050406030204" pitchFamily="18" charset="0"/>
                <a:ea typeface="Cambria Math" panose="02040503050406030204" pitchFamily="18" charset="0"/>
              </a:rPr>
              <a:t>Arithmetic functions</a:t>
            </a:r>
          </a:p>
          <a:p>
            <a:r>
              <a:rPr lang="en-US" sz="2400" dirty="0">
                <a:latin typeface="Cambria Math" panose="02040503050406030204" pitchFamily="18" charset="0"/>
                <a:ea typeface="Cambria Math" panose="02040503050406030204" pitchFamily="18" charset="0"/>
              </a:rPr>
              <a:t>Conversion functions</a:t>
            </a:r>
          </a:p>
          <a:p>
            <a:r>
              <a:rPr lang="en-US" sz="2400" dirty="0">
                <a:latin typeface="Cambria Math" panose="02040503050406030204" pitchFamily="18" charset="0"/>
                <a:ea typeface="Cambria Math" panose="02040503050406030204" pitchFamily="18" charset="0"/>
              </a:rPr>
              <a:t>Date function</a:t>
            </a:r>
          </a:p>
          <a:p>
            <a:endParaRPr lang="en-IN"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94242009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8965"/>
            <a:ext cx="7239000" cy="1143000"/>
          </a:xfrm>
        </p:spPr>
        <p:txBody>
          <a:bodyPr/>
          <a:lstStyle/>
          <a:p>
            <a:r>
              <a:rPr lang="en-US" u="sng" dirty="0"/>
              <a:t>String/character function</a:t>
            </a:r>
          </a:p>
        </p:txBody>
      </p:sp>
      <p:sp>
        <p:nvSpPr>
          <p:cNvPr id="3" name="Content Placeholder 2"/>
          <p:cNvSpPr>
            <a:spLocks noGrp="1"/>
          </p:cNvSpPr>
          <p:nvPr>
            <p:ph idx="4294967295"/>
          </p:nvPr>
        </p:nvSpPr>
        <p:spPr>
          <a:xfrm>
            <a:off x="2743200" y="762000"/>
            <a:ext cx="5867400" cy="5334000"/>
          </a:xfrm>
        </p:spPr>
        <p:txBody>
          <a:bodyPr>
            <a:noAutofit/>
          </a:bodyPr>
          <a:lstStyle/>
          <a:p>
            <a:pPr marL="0" indent="0">
              <a:buNone/>
            </a:pPr>
            <a:r>
              <a:rPr lang="en-US" sz="2400" dirty="0">
                <a:solidFill>
                  <a:schemeClr val="accent1">
                    <a:lumMod val="75000"/>
                  </a:schemeClr>
                </a:solidFill>
                <a:latin typeface="Cambria Math" panose="02040503050406030204" pitchFamily="18" charset="0"/>
                <a:ea typeface="Cambria Math" panose="02040503050406030204" pitchFamily="18" charset="0"/>
              </a:rPr>
              <a:t>1.</a:t>
            </a:r>
            <a:r>
              <a:rPr lang="en-US" sz="2400" b="1" u="sng" dirty="0">
                <a:solidFill>
                  <a:schemeClr val="accent1">
                    <a:lumMod val="75000"/>
                  </a:schemeClr>
                </a:solidFill>
                <a:latin typeface="Cambria Math" panose="02040503050406030204" pitchFamily="18" charset="0"/>
                <a:ea typeface="Cambria Math" panose="02040503050406030204" pitchFamily="18" charset="0"/>
              </a:rPr>
              <a:t>LOWER</a:t>
            </a:r>
            <a:r>
              <a:rPr lang="en-US" sz="2400" dirty="0">
                <a:latin typeface="Cambria Math" panose="02040503050406030204" pitchFamily="18" charset="0"/>
                <a:ea typeface="Cambria Math" panose="02040503050406030204" pitchFamily="18" charset="0"/>
              </a:rPr>
              <a:t>:- returns char, with all letters in lowercase</a:t>
            </a:r>
          </a:p>
          <a:p>
            <a:pPr>
              <a:buNone/>
            </a:pPr>
            <a:r>
              <a:rPr lang="en-US" sz="2400" dirty="0">
                <a:latin typeface="Cambria Math" panose="02040503050406030204" pitchFamily="18" charset="0"/>
                <a:ea typeface="Cambria Math" panose="02040503050406030204" pitchFamily="18" charset="0"/>
              </a:rPr>
              <a:t>	</a:t>
            </a:r>
          </a:p>
          <a:p>
            <a:pPr>
              <a:buNone/>
            </a:pPr>
            <a:r>
              <a:rPr lang="en-US" sz="2400" b="1" dirty="0">
                <a:latin typeface="Cambria Math" panose="02040503050406030204" pitchFamily="18" charset="0"/>
                <a:ea typeface="Cambria Math" panose="02040503050406030204" pitchFamily="18" charset="0"/>
              </a:rPr>
              <a:t>	Syntax</a:t>
            </a:r>
            <a:r>
              <a:rPr lang="en-US" sz="2400" dirty="0">
                <a:latin typeface="Cambria Math" panose="02040503050406030204" pitchFamily="18" charset="0"/>
                <a:ea typeface="Cambria Math" panose="02040503050406030204" pitchFamily="18" charset="0"/>
              </a:rPr>
              <a:t>:-</a:t>
            </a:r>
          </a:p>
          <a:p>
            <a:pPr>
              <a:buNone/>
            </a:pPr>
            <a:r>
              <a:rPr lang="en-US" sz="2400" dirty="0">
                <a:latin typeface="Cambria Math" panose="02040503050406030204" pitchFamily="18" charset="0"/>
                <a:ea typeface="Cambria Math" panose="02040503050406030204" pitchFamily="18" charset="0"/>
              </a:rPr>
              <a:t>		lower(char)</a:t>
            </a:r>
          </a:p>
          <a:p>
            <a:pPr>
              <a:buNone/>
            </a:pPr>
            <a:r>
              <a:rPr lang="en-US" sz="2400" b="1" dirty="0">
                <a:latin typeface="Cambria Math" panose="02040503050406030204" pitchFamily="18" charset="0"/>
                <a:ea typeface="Cambria Math" panose="02040503050406030204" pitchFamily="18" charset="0"/>
              </a:rPr>
              <a:t>	e.g.</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select lower(‘IVAN BAYROSS’)”Lower” from dual;</a:t>
            </a:r>
          </a:p>
          <a:p>
            <a:pPr>
              <a:buNone/>
            </a:pPr>
            <a:r>
              <a:rPr lang="en-US" sz="2400" dirty="0">
                <a:latin typeface="Cambria Math" panose="02040503050406030204" pitchFamily="18" charset="0"/>
                <a:ea typeface="Cambria Math" panose="02040503050406030204" pitchFamily="18" charset="0"/>
              </a:rPr>
              <a:t>	</a:t>
            </a:r>
          </a:p>
          <a:p>
            <a:pPr>
              <a:buNone/>
            </a:pPr>
            <a:r>
              <a:rPr lang="en-US" sz="2400" b="1" dirty="0">
                <a:latin typeface="Cambria Math" panose="02040503050406030204" pitchFamily="18" charset="0"/>
                <a:ea typeface="Cambria Math" panose="02040503050406030204" pitchFamily="18" charset="0"/>
              </a:rPr>
              <a:t>	Output</a:t>
            </a:r>
          </a:p>
          <a:p>
            <a:pPr>
              <a:buNone/>
            </a:pPr>
            <a:r>
              <a:rPr lang="en-US" sz="2400" dirty="0">
                <a:latin typeface="Cambria Math" panose="02040503050406030204" pitchFamily="18" charset="0"/>
                <a:ea typeface="Cambria Math" panose="02040503050406030204" pitchFamily="18" charset="0"/>
              </a:rPr>
              <a:t>		Lower</a:t>
            </a:r>
          </a:p>
          <a:p>
            <a:pPr>
              <a:buNone/>
            </a:pP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ivan  bayross</a:t>
            </a:r>
          </a:p>
        </p:txBody>
      </p:sp>
      <p:sp>
        <p:nvSpPr>
          <p:cNvPr id="4" name="Rectangle 3">
            <a:extLst>
              <a:ext uri="{FF2B5EF4-FFF2-40B4-BE49-F238E27FC236}">
                <a16:creationId xmlns:a16="http://schemas.microsoft.com/office/drawing/2014/main" id="{CB3EC4EF-3D5B-4DBF-B6AF-21A3336E459A}"/>
              </a:ext>
            </a:extLst>
          </p:cNvPr>
          <p:cNvSpPr/>
          <p:nvPr/>
        </p:nvSpPr>
        <p:spPr>
          <a:xfrm>
            <a:off x="0" y="2230022"/>
            <a:ext cx="2518793" cy="2123658"/>
          </a:xfrm>
          <a:prstGeom prst="rect">
            <a:avLst/>
          </a:prstGeom>
        </p:spPr>
        <p:txBody>
          <a:bodyPr wrap="square">
            <a:spAutoFit/>
          </a:bodyPr>
          <a:lstStyle/>
          <a:p>
            <a:r>
              <a:rPr lang="en-US" sz="4400" b="1" dirty="0">
                <a:latin typeface="Cambria Math" panose="02040503050406030204" pitchFamily="18" charset="0"/>
                <a:ea typeface="Cambria Math" panose="02040503050406030204" pitchFamily="18" charset="0"/>
              </a:rPr>
              <a:t>String or</a:t>
            </a:r>
          </a:p>
          <a:p>
            <a:r>
              <a:rPr lang="en-US" sz="4400" b="1" dirty="0">
                <a:latin typeface="Cambria Math" panose="02040503050406030204" pitchFamily="18" charset="0"/>
                <a:ea typeface="Cambria Math" panose="02040503050406030204" pitchFamily="18" charset="0"/>
              </a:rPr>
              <a:t>Character </a:t>
            </a:r>
          </a:p>
          <a:p>
            <a:r>
              <a:rPr lang="en-US" sz="4400" b="1" dirty="0">
                <a:latin typeface="Cambria Math" panose="02040503050406030204" pitchFamily="18" charset="0"/>
                <a:ea typeface="Cambria Math" panose="02040503050406030204" pitchFamily="18" charset="0"/>
              </a:rPr>
              <a:t>functions</a:t>
            </a:r>
          </a:p>
        </p:txBody>
      </p:sp>
    </p:spTree>
    <p:extLst>
      <p:ext uri="{BB962C8B-B14F-4D97-AF65-F5344CB8AC3E}">
        <p14:creationId xmlns:p14="http://schemas.microsoft.com/office/powerpoint/2010/main" val="210805216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762000"/>
            <a:ext cx="6096000" cy="5693736"/>
          </a:xfrm>
        </p:spPr>
        <p:txBody>
          <a:bodyPr>
            <a:normAutofit/>
          </a:bodyPr>
          <a:lstStyle/>
          <a:p>
            <a:pPr>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2.INITCAP</a:t>
            </a:r>
            <a:r>
              <a:rPr lang="en-US" sz="2400" dirty="0">
                <a:latin typeface="Cambria Math" panose="02040503050406030204" pitchFamily="18" charset="0"/>
                <a:ea typeface="Cambria Math" panose="02040503050406030204" pitchFamily="18" charset="0"/>
              </a:rPr>
              <a:t>:- returns a string with the first letter of each word in upper case.</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initcap(char)</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 </a:t>
            </a:r>
          </a:p>
          <a:p>
            <a:pPr>
              <a:buNone/>
            </a:pPr>
            <a:r>
              <a:rPr lang="en-US" sz="2400" dirty="0">
                <a:latin typeface="Cambria Math" panose="02040503050406030204" pitchFamily="18" charset="0"/>
                <a:ea typeface="Cambria Math" panose="02040503050406030204" pitchFamily="18" charset="0"/>
              </a:rPr>
              <a:t>		select initcap(‘IVAN BAYROSS’)”Title 	case”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p>
          <a:p>
            <a:pPr>
              <a:buNone/>
            </a:pPr>
            <a:r>
              <a:rPr lang="en-US" sz="2400" dirty="0">
                <a:latin typeface="Cambria Math" panose="02040503050406030204" pitchFamily="18" charset="0"/>
                <a:ea typeface="Cambria Math" panose="02040503050406030204" pitchFamily="18" charset="0"/>
              </a:rPr>
              <a:t>		Title case</a:t>
            </a:r>
          </a:p>
          <a:p>
            <a:pPr>
              <a:buNone/>
            </a:pP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Ivan Bayross</a:t>
            </a:r>
          </a:p>
          <a:p>
            <a:endParaRPr lang="en-IN"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56730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787192"/>
            <a:ext cx="6096000" cy="5461208"/>
          </a:xfrm>
        </p:spPr>
        <p:txBody>
          <a:bodyPr>
            <a:normAutofit/>
          </a:bodyPr>
          <a:lstStyle/>
          <a:p>
            <a:pPr marL="0" indent="0">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3.UPPER</a:t>
            </a:r>
            <a:r>
              <a:rPr lang="en-US" sz="2400" dirty="0">
                <a:latin typeface="Cambria Math" panose="02040503050406030204" pitchFamily="18" charset="0"/>
                <a:ea typeface="Cambria Math" panose="02040503050406030204" pitchFamily="18" charset="0"/>
              </a:rPr>
              <a:t>:- returns char, with all letters in uppercase.</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upper(char)</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 </a:t>
            </a:r>
          </a:p>
          <a:p>
            <a:pPr>
              <a:buNone/>
            </a:pPr>
            <a:r>
              <a:rPr lang="en-US" sz="2400" dirty="0">
                <a:latin typeface="Cambria Math" panose="02040503050406030204" pitchFamily="18" charset="0"/>
                <a:ea typeface="Cambria Math" panose="02040503050406030204" pitchFamily="18" charset="0"/>
              </a:rPr>
              <a:t>	select upper(‘ivan bayross’)”capitalized”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 </a:t>
            </a:r>
          </a:p>
          <a:p>
            <a:pPr>
              <a:buNone/>
            </a:pPr>
            <a:r>
              <a:rPr lang="en-US" sz="2400" b="1"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rPr>
              <a:t>	Capitalized</a:t>
            </a:r>
          </a:p>
          <a:p>
            <a:pPr>
              <a:buNone/>
            </a:pPr>
            <a:r>
              <a:rPr lang="en-US" sz="2400" dirty="0">
                <a:latin typeface="Cambria Math" panose="02040503050406030204" pitchFamily="18" charset="0"/>
                <a:ea typeface="Cambria Math" panose="02040503050406030204" pitchFamily="18" charset="0"/>
              </a:rPr>
              <a:t>		----------------	</a:t>
            </a:r>
          </a:p>
          <a:p>
            <a:pPr>
              <a:buNone/>
            </a:pPr>
            <a:r>
              <a:rPr lang="en-US" sz="2400" dirty="0">
                <a:latin typeface="Cambria Math" panose="02040503050406030204" pitchFamily="18" charset="0"/>
                <a:ea typeface="Cambria Math" panose="02040503050406030204" pitchFamily="18" charset="0"/>
              </a:rPr>
              <a:t>		IVAN BAYROSS</a:t>
            </a:r>
          </a:p>
          <a:p>
            <a:pPr>
              <a:buNone/>
            </a:pP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654715240"/>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838200"/>
            <a:ext cx="6096000" cy="5181600"/>
          </a:xfrm>
        </p:spPr>
        <p:txBody>
          <a:bodyPr>
            <a:noAutofit/>
          </a:bodyPr>
          <a:lstStyle/>
          <a:p>
            <a:pPr algn="just">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4.SUBSTR</a:t>
            </a:r>
            <a:r>
              <a:rPr lang="en-US" sz="2400" dirty="0">
                <a:latin typeface="Cambria Math" panose="02040503050406030204" pitchFamily="18" charset="0"/>
                <a:ea typeface="Cambria Math" panose="02040503050406030204" pitchFamily="18" charset="0"/>
              </a:rPr>
              <a:t>:-returns a portion of characters beginning at character m, and going up to character n.</a:t>
            </a:r>
          </a:p>
          <a:p>
            <a:pPr algn="just"/>
            <a:r>
              <a:rPr lang="en-US" sz="2400" dirty="0">
                <a:latin typeface="Cambria Math" panose="02040503050406030204" pitchFamily="18" charset="0"/>
                <a:ea typeface="Cambria Math" panose="02040503050406030204" pitchFamily="18" charset="0"/>
              </a:rPr>
              <a:t>if n is omitted the result returned is up to the last character in the string. The first position of char is 1.</a:t>
            </a:r>
          </a:p>
          <a:p>
            <a:pPr algn="just">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 </a:t>
            </a:r>
            <a:r>
              <a:rPr lang="en-US" sz="2400" dirty="0">
                <a:latin typeface="Cambria Math" panose="02040503050406030204" pitchFamily="18" charset="0"/>
                <a:ea typeface="Cambria Math" panose="02040503050406030204" pitchFamily="18" charset="0"/>
              </a:rPr>
              <a:t>substr(&lt;string&gt;,&lt;</a:t>
            </a:r>
            <a:r>
              <a:rPr lang="en-US" sz="2400" dirty="0" err="1">
                <a:latin typeface="Cambria Math" panose="02040503050406030204" pitchFamily="18" charset="0"/>
                <a:ea typeface="Cambria Math" panose="02040503050406030204" pitchFamily="18" charset="0"/>
              </a:rPr>
              <a:t>start_position</a:t>
            </a:r>
            <a:r>
              <a:rPr lang="en-US" sz="2400" dirty="0">
                <a:latin typeface="Cambria Math" panose="02040503050406030204" pitchFamily="18" charset="0"/>
                <a:ea typeface="Cambria Math" panose="02040503050406030204" pitchFamily="18" charset="0"/>
              </a:rPr>
              <a:t>&gt;,[&lt;length&gt;])</a:t>
            </a:r>
          </a:p>
          <a:p>
            <a:pPr marL="0" indent="0">
              <a:buNone/>
            </a:pPr>
            <a:r>
              <a:rPr lang="en-IN" sz="2400" dirty="0">
                <a:latin typeface="Cambria Math" panose="02040503050406030204" pitchFamily="18" charset="0"/>
                <a:ea typeface="Cambria Math" panose="02040503050406030204" pitchFamily="18" charset="0"/>
              </a:rPr>
              <a:t>     </a:t>
            </a:r>
            <a:r>
              <a:rPr lang="en-IN" sz="2400" b="1" dirty="0">
                <a:latin typeface="Cambria Math" panose="02040503050406030204" pitchFamily="18" charset="0"/>
                <a:ea typeface="Cambria Math" panose="02040503050406030204" pitchFamily="18" charset="0"/>
              </a:rPr>
              <a:t>e.g.</a:t>
            </a:r>
          </a:p>
          <a:p>
            <a:pPr marL="0" indent="0">
              <a:buNone/>
            </a:pPr>
            <a:r>
              <a:rPr lang="en-IN" sz="2400" dirty="0">
                <a:latin typeface="Cambria Math" panose="02040503050406030204" pitchFamily="18" charset="0"/>
                <a:ea typeface="Cambria Math" panose="02040503050406030204" pitchFamily="18" charset="0"/>
              </a:rPr>
              <a:t>	select substr(‘SECURE’,3,4) “Substring” 	</a:t>
            </a:r>
          </a:p>
          <a:p>
            <a:pPr marL="0" indent="0">
              <a:buNone/>
            </a:pPr>
            <a:r>
              <a:rPr lang="en-IN" sz="2400" dirty="0">
                <a:latin typeface="Cambria Math" panose="02040503050406030204" pitchFamily="18" charset="0"/>
                <a:ea typeface="Cambria Math" panose="02040503050406030204" pitchFamily="18" charset="0"/>
              </a:rPr>
              <a:t>	from dual;</a:t>
            </a:r>
          </a:p>
          <a:p>
            <a:pPr marL="0" indent="0">
              <a:buNone/>
            </a:pPr>
            <a:r>
              <a:rPr lang="en-IN" sz="2400" dirty="0">
                <a:latin typeface="Cambria Math" panose="02040503050406030204" pitchFamily="18" charset="0"/>
                <a:ea typeface="Cambria Math" panose="02040503050406030204" pitchFamily="18" charset="0"/>
              </a:rPr>
              <a:t>    </a:t>
            </a:r>
            <a:r>
              <a:rPr lang="en-IN" sz="2400" b="1" dirty="0">
                <a:latin typeface="Cambria Math" panose="02040503050406030204" pitchFamily="18" charset="0"/>
                <a:ea typeface="Cambria Math" panose="02040503050406030204" pitchFamily="18" charset="0"/>
              </a:rPr>
              <a:t>output:</a:t>
            </a:r>
          </a:p>
          <a:p>
            <a:pPr marL="0" indent="0">
              <a:buNone/>
            </a:pPr>
            <a:r>
              <a:rPr lang="en-IN" sz="2400" b="1" dirty="0">
                <a:latin typeface="Cambria Math" panose="02040503050406030204" pitchFamily="18" charset="0"/>
                <a:ea typeface="Cambria Math" panose="02040503050406030204" pitchFamily="18" charset="0"/>
              </a:rPr>
              <a:t>	</a:t>
            </a:r>
            <a:r>
              <a:rPr lang="en-IN" sz="2400" dirty="0">
                <a:latin typeface="Cambria Math" panose="02040503050406030204" pitchFamily="18" charset="0"/>
                <a:ea typeface="Cambria Math" panose="02040503050406030204" pitchFamily="18" charset="0"/>
              </a:rPr>
              <a:t>Substring</a:t>
            </a:r>
          </a:p>
          <a:p>
            <a:pPr marL="0" indent="0">
              <a:buNone/>
            </a:pPr>
            <a:r>
              <a:rPr lang="en-IN" sz="2400" b="1" dirty="0">
                <a:latin typeface="Cambria Math" panose="02040503050406030204" pitchFamily="18" charset="0"/>
                <a:ea typeface="Cambria Math" panose="02040503050406030204" pitchFamily="18" charset="0"/>
              </a:rPr>
              <a:t>	--------------</a:t>
            </a:r>
          </a:p>
          <a:p>
            <a:pPr marL="0" indent="0">
              <a:buNone/>
            </a:pPr>
            <a:r>
              <a:rPr lang="en-IN" sz="2400" b="1" dirty="0">
                <a:latin typeface="Cambria Math" panose="02040503050406030204" pitchFamily="18" charset="0"/>
                <a:ea typeface="Cambria Math" panose="02040503050406030204" pitchFamily="18" charset="0"/>
              </a:rPr>
              <a:t>	</a:t>
            </a:r>
            <a:r>
              <a:rPr lang="en-IN" sz="2400" dirty="0">
                <a:latin typeface="Cambria Math" panose="02040503050406030204" pitchFamily="18" charset="0"/>
                <a:ea typeface="Cambria Math" panose="02040503050406030204" pitchFamily="18" charset="0"/>
              </a:rPr>
              <a:t>CURE</a:t>
            </a:r>
            <a:endParaRPr lang="en-IN" sz="2400" b="1"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981777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685800"/>
            <a:ext cx="6096000" cy="5943600"/>
          </a:xfrm>
        </p:spPr>
        <p:txBody>
          <a:bodyPr>
            <a:noAutofit/>
          </a:bodyPr>
          <a:lstStyle/>
          <a:p>
            <a:pPr>
              <a:buNone/>
            </a:pPr>
            <a:r>
              <a:rPr lang="en-US" sz="2400" u="sng" dirty="0">
                <a:solidFill>
                  <a:schemeClr val="accent1">
                    <a:lumMod val="75000"/>
                  </a:schemeClr>
                </a:solidFill>
                <a:latin typeface="Cambria Math" panose="02040503050406030204" pitchFamily="18" charset="0"/>
                <a:ea typeface="Cambria Math" panose="02040503050406030204" pitchFamily="18" charset="0"/>
              </a:rPr>
              <a:t>5.</a:t>
            </a:r>
            <a:r>
              <a:rPr lang="en-US" sz="2400" b="1" u="sng" dirty="0">
                <a:solidFill>
                  <a:schemeClr val="accent1">
                    <a:lumMod val="75000"/>
                  </a:schemeClr>
                </a:solidFill>
                <a:latin typeface="Cambria Math" panose="02040503050406030204" pitchFamily="18" charset="0"/>
                <a:ea typeface="Cambria Math" panose="02040503050406030204" pitchFamily="18" charset="0"/>
              </a:rPr>
              <a:t>ASCII</a:t>
            </a:r>
            <a:r>
              <a:rPr lang="en-US" sz="2400" dirty="0">
                <a:latin typeface="Cambria Math" panose="02040503050406030204" pitchFamily="18" charset="0"/>
                <a:ea typeface="Cambria Math" panose="02040503050406030204" pitchFamily="18" charset="0"/>
              </a:rPr>
              <a:t>:-returns the number code that represents the specified character. </a:t>
            </a:r>
          </a:p>
          <a:p>
            <a:r>
              <a:rPr lang="en-US" sz="2400" dirty="0">
                <a:latin typeface="Cambria Math" panose="02040503050406030204" pitchFamily="18" charset="0"/>
                <a:ea typeface="Cambria Math" panose="02040503050406030204" pitchFamily="18" charset="0"/>
              </a:rPr>
              <a:t>If more than one character is entered, the function will return the value for the first character and ignore all the characters after the first.</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a:t>
            </a:r>
          </a:p>
          <a:p>
            <a:pPr>
              <a:buNone/>
            </a:pPr>
            <a:r>
              <a:rPr lang="en-US" sz="2400" dirty="0">
                <a:latin typeface="Cambria Math" panose="02040503050406030204" pitchFamily="18" charset="0"/>
                <a:ea typeface="Cambria Math" panose="02040503050406030204" pitchFamily="18" charset="0"/>
              </a:rPr>
              <a:t>			ascii(character)</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select ascii(‘a’) “Ascii 1”, ascii(‘A’) “Ascii 2”, ascii(‘cure’) “Ascii3”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p>
          <a:p>
            <a:pPr>
              <a:buNone/>
            </a:pPr>
            <a:r>
              <a:rPr lang="en-US" sz="2400" dirty="0">
                <a:latin typeface="Cambria Math" panose="02040503050406030204" pitchFamily="18" charset="0"/>
                <a:ea typeface="Cambria Math" panose="02040503050406030204" pitchFamily="18" charset="0"/>
              </a:rPr>
              <a:t>	Ascii1   Ascii2    Ascii3</a:t>
            </a:r>
          </a:p>
          <a:p>
            <a:pPr>
              <a:buNone/>
            </a:pP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97        65         99</a:t>
            </a:r>
          </a:p>
          <a:p>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622661454"/>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738487"/>
            <a:ext cx="6096000" cy="5357513"/>
          </a:xfrm>
        </p:spPr>
        <p:txBody>
          <a:bodyPr>
            <a:normAutofit/>
          </a:bodyPr>
          <a:lstStyle/>
          <a:p>
            <a:pPr>
              <a:buNone/>
            </a:pPr>
            <a:r>
              <a:rPr lang="en-US" sz="2400" dirty="0">
                <a:latin typeface="Cambria Math" panose="02040503050406030204" pitchFamily="18" charset="0"/>
                <a:ea typeface="Cambria Math" panose="02040503050406030204" pitchFamily="18" charset="0"/>
              </a:rPr>
              <a:t>		</a:t>
            </a:r>
          </a:p>
          <a:p>
            <a:pPr>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6. LENGTH</a:t>
            </a:r>
            <a:r>
              <a:rPr lang="en-US" sz="2400" dirty="0">
                <a:latin typeface="Cambria Math" panose="02040503050406030204" pitchFamily="18" charset="0"/>
                <a:ea typeface="Cambria Math" panose="02040503050406030204" pitchFamily="18" charset="0"/>
              </a:rPr>
              <a:t>:- returns a length of a word.</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a:t>
            </a:r>
          </a:p>
          <a:p>
            <a:pPr>
              <a:buNone/>
            </a:pPr>
            <a:r>
              <a:rPr lang="en-US" sz="2400" dirty="0">
                <a:latin typeface="Cambria Math" panose="02040503050406030204" pitchFamily="18" charset="0"/>
                <a:ea typeface="Cambria Math" panose="02040503050406030204" pitchFamily="18" charset="0"/>
              </a:rPr>
              <a:t>			 length(word)</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select length(‘</a:t>
            </a:r>
            <a:r>
              <a:rPr lang="en-US" sz="2400" dirty="0" err="1">
                <a:latin typeface="Cambria Math" panose="02040503050406030204" pitchFamily="18" charset="0"/>
                <a:ea typeface="Cambria Math" panose="02040503050406030204" pitchFamily="18" charset="0"/>
              </a:rPr>
              <a:t>sharanam</a:t>
            </a:r>
            <a:r>
              <a:rPr lang="en-US" sz="2400" dirty="0">
                <a:latin typeface="Cambria Math" panose="02040503050406030204" pitchFamily="18" charset="0"/>
                <a:ea typeface="Cambria Math" panose="02040503050406030204" pitchFamily="18" charset="0"/>
              </a:rPr>
              <a:t>’) “length of string”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p>
          <a:p>
            <a:pPr>
              <a:buNone/>
            </a:pPr>
            <a:r>
              <a:rPr lang="en-US" sz="2400" dirty="0">
                <a:latin typeface="Cambria Math" panose="02040503050406030204" pitchFamily="18" charset="0"/>
                <a:ea typeface="Cambria Math" panose="02040503050406030204" pitchFamily="18" charset="0"/>
              </a:rPr>
              <a:t>		length of string</a:t>
            </a:r>
          </a:p>
          <a:p>
            <a:pPr>
              <a:buNone/>
            </a:pPr>
            <a:r>
              <a:rPr lang="en-US" sz="2400" dirty="0">
                <a:latin typeface="Cambria Math" panose="02040503050406030204" pitchFamily="18" charset="0"/>
                <a:ea typeface="Cambria Math" panose="02040503050406030204" pitchFamily="18" charset="0"/>
              </a:rPr>
              <a:t>		--------------			</a:t>
            </a:r>
          </a:p>
          <a:p>
            <a:pPr>
              <a:buNone/>
            </a:pPr>
            <a:r>
              <a:rPr lang="en-US" sz="2400" dirty="0">
                <a:latin typeface="Cambria Math" panose="02040503050406030204" pitchFamily="18" charset="0"/>
                <a:ea typeface="Cambria Math" panose="02040503050406030204" pitchFamily="18" charset="0"/>
              </a:rPr>
              <a:t>		 8</a:t>
            </a:r>
          </a:p>
        </p:txBody>
      </p:sp>
    </p:spTree>
    <p:extLst>
      <p:ext uri="{BB962C8B-B14F-4D97-AF65-F5344CB8AC3E}">
        <p14:creationId xmlns:p14="http://schemas.microsoft.com/office/powerpoint/2010/main" val="8794254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762000"/>
            <a:ext cx="6096000" cy="5181600"/>
          </a:xfrm>
        </p:spPr>
        <p:txBody>
          <a:bodyPr>
            <a:normAutofit/>
          </a:bodyPr>
          <a:lstStyle/>
          <a:p>
            <a:r>
              <a:rPr lang="en-US" sz="2400" b="1" u="sng" dirty="0">
                <a:solidFill>
                  <a:schemeClr val="accent1">
                    <a:lumMod val="75000"/>
                  </a:schemeClr>
                </a:solidFill>
                <a:latin typeface="Cambria Math" panose="02040503050406030204" pitchFamily="18" charset="0"/>
                <a:ea typeface="Cambria Math" panose="02040503050406030204" pitchFamily="18" charset="0"/>
              </a:rPr>
              <a:t>7.LTRIM</a:t>
            </a:r>
            <a:r>
              <a:rPr lang="en-US" sz="2400" dirty="0">
                <a:latin typeface="Cambria Math" panose="02040503050406030204" pitchFamily="18" charset="0"/>
                <a:ea typeface="Cambria Math" panose="02040503050406030204" pitchFamily="18" charset="0"/>
              </a:rPr>
              <a:t>:- returns characters from the left of char with initial characters removed upto the first character not in set.</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a:t>
            </a:r>
          </a:p>
          <a:p>
            <a:pPr>
              <a:buNone/>
            </a:pPr>
            <a:r>
              <a:rPr lang="en-US" sz="2400" dirty="0">
                <a:latin typeface="Cambria Math" panose="02040503050406030204" pitchFamily="18" charset="0"/>
                <a:ea typeface="Cambria Math" panose="02040503050406030204" pitchFamily="18" charset="0"/>
              </a:rPr>
              <a:t>		ltrim(char[,set])</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select ltrim(‘nisha’,’n’) “LTRIM”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LTRIM</a:t>
            </a:r>
          </a:p>
          <a:p>
            <a:pPr>
              <a:buNone/>
            </a:pP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a:t>
            </a:r>
            <a:r>
              <a:rPr lang="en-US" sz="2400" dirty="0" err="1">
                <a:latin typeface="Cambria Math" panose="02040503050406030204" pitchFamily="18" charset="0"/>
                <a:ea typeface="Cambria Math" panose="02040503050406030204" pitchFamily="18" charset="0"/>
              </a:rPr>
              <a:t>isha</a:t>
            </a:r>
            <a:endParaRPr lang="en-US" sz="2400" dirty="0">
              <a:latin typeface="Cambria Math" panose="02040503050406030204" pitchFamily="18" charset="0"/>
              <a:ea typeface="Cambria Math" panose="02040503050406030204" pitchFamily="18" charset="0"/>
            </a:endParaRPr>
          </a:p>
          <a:p>
            <a:pPr>
              <a:buNone/>
            </a:pP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03453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783264"/>
            <a:ext cx="6096000" cy="5236536"/>
          </a:xfrm>
        </p:spPr>
        <p:txBody>
          <a:bodyPr>
            <a:normAutofit/>
          </a:bodyPr>
          <a:lstStyle/>
          <a:p>
            <a:pPr>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8.RTRIM</a:t>
            </a:r>
            <a:r>
              <a:rPr lang="en-US" sz="2400" dirty="0">
                <a:latin typeface="Cambria Math" panose="02040503050406030204" pitchFamily="18" charset="0"/>
                <a:ea typeface="Cambria Math" panose="02040503050406030204" pitchFamily="18" charset="0"/>
              </a:rPr>
              <a:t>:- returns char, with final characters removed after the last character not in set. ‘set’ is optional, it defaults to spaces.</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a:t>
            </a:r>
          </a:p>
          <a:p>
            <a:pPr>
              <a:buNone/>
            </a:pPr>
            <a:r>
              <a:rPr lang="en-US" sz="2400" dirty="0">
                <a:latin typeface="Cambria Math" panose="02040503050406030204" pitchFamily="18" charset="0"/>
                <a:ea typeface="Cambria Math" panose="02040503050406030204" pitchFamily="18" charset="0"/>
              </a:rPr>
              <a:t>		 rtrim(char[,set])</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select rtrim(‘sunila’,’a’) “RTRIM” from dual;</a:t>
            </a:r>
          </a:p>
          <a:p>
            <a:pPr>
              <a:buNone/>
            </a:pPr>
            <a:r>
              <a:rPr lang="en-US" sz="2400" b="1" dirty="0">
                <a:latin typeface="Cambria Math" panose="02040503050406030204" pitchFamily="18" charset="0"/>
                <a:ea typeface="Cambria Math" panose="02040503050406030204" pitchFamily="18" charset="0"/>
              </a:rPr>
              <a:t>	   Output</a:t>
            </a:r>
          </a:p>
          <a:p>
            <a:pPr>
              <a:buNone/>
            </a:pPr>
            <a:r>
              <a:rPr lang="en-US" sz="2400" b="1"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rPr>
              <a:t>RTRIM</a:t>
            </a:r>
          </a:p>
          <a:p>
            <a:pPr>
              <a:buNone/>
            </a:pPr>
            <a:r>
              <a:rPr lang="en-US" sz="2400" b="1" dirty="0">
                <a:latin typeface="Cambria Math" panose="02040503050406030204" pitchFamily="18" charset="0"/>
                <a:ea typeface="Cambria Math" panose="02040503050406030204" pitchFamily="18" charset="0"/>
              </a:rPr>
              <a:t>		-------------			</a:t>
            </a:r>
          </a:p>
          <a:p>
            <a:pPr>
              <a:buNone/>
            </a:pPr>
            <a:r>
              <a:rPr lang="en-US" sz="2400" dirty="0">
                <a:latin typeface="Cambria Math" panose="02040503050406030204" pitchFamily="18" charset="0"/>
                <a:ea typeface="Cambria Math" panose="02040503050406030204" pitchFamily="18" charset="0"/>
              </a:rPr>
              <a:t>		sunil</a:t>
            </a:r>
          </a:p>
          <a:p>
            <a:endParaRPr lang="en-IN"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745298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152400"/>
            <a:ext cx="6096000" cy="6781800"/>
          </a:xfrm>
        </p:spPr>
        <p:txBody>
          <a:bodyPr>
            <a:normAutofit lnSpcReduction="10000"/>
          </a:bodyPr>
          <a:lstStyle/>
          <a:p>
            <a:pPr marL="0" indent="0">
              <a:buNone/>
            </a:pPr>
            <a:r>
              <a:rPr lang="en-US" sz="2800" b="1" u="sng" dirty="0">
                <a:solidFill>
                  <a:schemeClr val="accent1">
                    <a:lumMod val="75000"/>
                  </a:schemeClr>
                </a:solidFill>
              </a:rPr>
              <a:t> </a:t>
            </a:r>
            <a:r>
              <a:rPr lang="en-US" sz="2800" b="1" u="sng" dirty="0">
                <a:solidFill>
                  <a:schemeClr val="accent1">
                    <a:lumMod val="75000"/>
                  </a:schemeClr>
                </a:solidFill>
                <a:latin typeface="Cambria Math" panose="02040503050406030204" pitchFamily="18" charset="0"/>
                <a:ea typeface="Cambria Math" panose="02040503050406030204" pitchFamily="18" charset="0"/>
              </a:rPr>
              <a:t>9. TRIM</a:t>
            </a:r>
            <a:r>
              <a:rPr lang="en-US" dirty="0">
                <a:latin typeface="Cambria Math" panose="02040503050406030204" pitchFamily="18" charset="0"/>
                <a:ea typeface="Cambria Math" panose="02040503050406030204" pitchFamily="18" charset="0"/>
              </a:rPr>
              <a:t>:- remove all specified character either from beginning or the ending of a string.</a:t>
            </a:r>
          </a:p>
          <a:p>
            <a:pPr>
              <a:buNone/>
            </a:pPr>
            <a:r>
              <a:rPr lang="en-US" dirty="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Syntax:</a:t>
            </a:r>
            <a:r>
              <a:rPr lang="en-US" dirty="0">
                <a:latin typeface="Cambria Math" panose="02040503050406030204" pitchFamily="18" charset="0"/>
                <a:ea typeface="Cambria Math" panose="02040503050406030204" pitchFamily="18" charset="0"/>
              </a:rPr>
              <a:t>- </a:t>
            </a:r>
          </a:p>
          <a:p>
            <a:pPr>
              <a:buNone/>
            </a:pPr>
            <a:r>
              <a:rPr lang="en-US" dirty="0">
                <a:latin typeface="Cambria Math" panose="02040503050406030204" pitchFamily="18" charset="0"/>
                <a:ea typeface="Cambria Math" panose="02040503050406030204" pitchFamily="18" charset="0"/>
              </a:rPr>
              <a:t>	trim([leading|trailing|both[&lt;trim_character&gt;from]]&lt;string&gt;)</a:t>
            </a:r>
          </a:p>
          <a:p>
            <a:pPr>
              <a:buNone/>
            </a:pPr>
            <a:r>
              <a:rPr lang="en-US" dirty="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e.g.</a:t>
            </a:r>
            <a:r>
              <a:rPr lang="en-US" dirty="0">
                <a:latin typeface="Cambria Math" panose="02040503050406030204" pitchFamily="18" charset="0"/>
                <a:ea typeface="Cambria Math" panose="02040503050406030204" pitchFamily="18" charset="0"/>
              </a:rPr>
              <a:t> </a:t>
            </a:r>
          </a:p>
          <a:p>
            <a:pPr>
              <a:buNone/>
            </a:pPr>
            <a:r>
              <a:rPr lang="en-US" dirty="0">
                <a:solidFill>
                  <a:schemeClr val="accent6">
                    <a:lumMod val="50000"/>
                  </a:schemeClr>
                </a:solidFill>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select trim(‘  hansel  ’) “trim both side” from dual;</a:t>
            </a:r>
          </a:p>
          <a:p>
            <a:pPr>
              <a:buNone/>
            </a:pPr>
            <a:r>
              <a:rPr lang="en-US" dirty="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Output</a:t>
            </a:r>
            <a:endParaRPr lang="en-US" dirty="0">
              <a:latin typeface="Cambria Math" panose="02040503050406030204" pitchFamily="18" charset="0"/>
              <a:ea typeface="Cambria Math" panose="02040503050406030204" pitchFamily="18" charset="0"/>
            </a:endParaRPr>
          </a:p>
          <a:p>
            <a:pPr>
              <a:lnSpc>
                <a:spcPct val="120000"/>
              </a:lnSpc>
              <a:spcBef>
                <a:spcPts val="0"/>
              </a:spcBef>
              <a:buNone/>
            </a:pPr>
            <a:r>
              <a:rPr lang="en-US" dirty="0">
                <a:latin typeface="Cambria Math" panose="02040503050406030204" pitchFamily="18" charset="0"/>
                <a:ea typeface="Cambria Math" panose="02040503050406030204" pitchFamily="18" charset="0"/>
              </a:rPr>
              <a:t>		trim both side</a:t>
            </a:r>
          </a:p>
          <a:p>
            <a:pPr>
              <a:lnSpc>
                <a:spcPct val="120000"/>
              </a:lnSpc>
              <a:spcBef>
                <a:spcPts val="0"/>
              </a:spcBef>
              <a:buNone/>
            </a:pPr>
            <a:r>
              <a:rPr lang="en-US" dirty="0">
                <a:latin typeface="Cambria Math" panose="02040503050406030204" pitchFamily="18" charset="0"/>
                <a:ea typeface="Cambria Math" panose="02040503050406030204" pitchFamily="18" charset="0"/>
              </a:rPr>
              <a:t>		-------------------	</a:t>
            </a:r>
          </a:p>
          <a:p>
            <a:pPr>
              <a:lnSpc>
                <a:spcPct val="120000"/>
              </a:lnSpc>
              <a:spcBef>
                <a:spcPts val="0"/>
              </a:spcBef>
              <a:buNone/>
            </a:pPr>
            <a:r>
              <a:rPr lang="en-US" dirty="0">
                <a:latin typeface="Cambria Math" panose="02040503050406030204" pitchFamily="18" charset="0"/>
                <a:ea typeface="Cambria Math" panose="02040503050406030204" pitchFamily="18" charset="0"/>
              </a:rPr>
              <a:t>		hansel</a:t>
            </a:r>
          </a:p>
          <a:p>
            <a:pPr>
              <a:buNone/>
            </a:pPr>
            <a:r>
              <a:rPr lang="en-US" dirty="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e.g.</a:t>
            </a:r>
            <a:r>
              <a:rPr lang="en-US" dirty="0">
                <a:solidFill>
                  <a:schemeClr val="accent6">
                    <a:lumMod val="50000"/>
                  </a:schemeClr>
                </a:solidFill>
                <a:latin typeface="Cambria Math" panose="02040503050406030204" pitchFamily="18" charset="0"/>
                <a:ea typeface="Cambria Math" panose="02040503050406030204" pitchFamily="18" charset="0"/>
              </a:rPr>
              <a:t> </a:t>
            </a:r>
          </a:p>
          <a:p>
            <a:pPr>
              <a:buNone/>
            </a:pPr>
            <a:r>
              <a:rPr lang="en-US" dirty="0">
                <a:solidFill>
                  <a:schemeClr val="accent6">
                    <a:lumMod val="50000"/>
                  </a:schemeClr>
                </a:solidFill>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select trim(leading ‘x’ from ‘xxxhanselxxx’) “remove prefixes” from dual;</a:t>
            </a:r>
          </a:p>
          <a:p>
            <a:pPr>
              <a:buNone/>
            </a:pPr>
            <a:r>
              <a:rPr lang="en-US" dirty="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Output:</a:t>
            </a:r>
            <a:r>
              <a:rPr lang="en-US" dirty="0">
                <a:latin typeface="Cambria Math" panose="02040503050406030204" pitchFamily="18" charset="0"/>
                <a:ea typeface="Cambria Math" panose="02040503050406030204" pitchFamily="18" charset="0"/>
              </a:rPr>
              <a:t> </a:t>
            </a:r>
          </a:p>
          <a:p>
            <a:pPr>
              <a:buNone/>
            </a:pPr>
            <a:r>
              <a:rPr lang="en-US" dirty="0">
                <a:latin typeface="Cambria Math" panose="02040503050406030204" pitchFamily="18" charset="0"/>
                <a:ea typeface="Cambria Math" panose="02040503050406030204" pitchFamily="18" charset="0"/>
              </a:rPr>
              <a:t>              remove prefixes</a:t>
            </a:r>
          </a:p>
          <a:p>
            <a:pPr>
              <a:buNone/>
            </a:pPr>
            <a:r>
              <a:rPr lang="en-US" dirty="0">
                <a:latin typeface="Cambria Math" panose="02040503050406030204" pitchFamily="18" charset="0"/>
                <a:ea typeface="Cambria Math" panose="02040503050406030204" pitchFamily="18" charset="0"/>
              </a:rPr>
              <a:t>	          ---------------------	</a:t>
            </a:r>
          </a:p>
          <a:p>
            <a:pPr>
              <a:buNone/>
            </a:pPr>
            <a:r>
              <a:rPr lang="en-US" dirty="0">
                <a:latin typeface="Cambria Math" panose="02040503050406030204" pitchFamily="18" charset="0"/>
                <a:ea typeface="Cambria Math" panose="02040503050406030204" pitchFamily="18" charset="0"/>
              </a:rPr>
              <a:t>		    hanselxxx</a:t>
            </a:r>
          </a:p>
          <a:p>
            <a:pPr>
              <a:buNone/>
            </a:pPr>
            <a:r>
              <a:rPr lang="en-US" dirty="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e.g.</a:t>
            </a:r>
            <a:r>
              <a:rPr lang="en-US" dirty="0">
                <a:latin typeface="Cambria Math" panose="02040503050406030204" pitchFamily="18" charset="0"/>
                <a:ea typeface="Cambria Math" panose="02040503050406030204" pitchFamily="18" charset="0"/>
              </a:rPr>
              <a:t> </a:t>
            </a:r>
          </a:p>
          <a:p>
            <a:pPr>
              <a:buNone/>
            </a:pPr>
            <a:r>
              <a:rPr lang="en-US" dirty="0">
                <a:latin typeface="Cambria Math" panose="02040503050406030204" pitchFamily="18" charset="0"/>
                <a:ea typeface="Cambria Math" panose="02040503050406030204" pitchFamily="18" charset="0"/>
              </a:rPr>
              <a:t>    select trim(both ‘x’ from ‘xxxhanselxxx’) “remove both” from dual;</a:t>
            </a:r>
          </a:p>
          <a:p>
            <a:pPr>
              <a:buNone/>
            </a:pPr>
            <a:r>
              <a:rPr lang="en-US" dirty="0">
                <a:latin typeface="Cambria Math" panose="02040503050406030204" pitchFamily="18" charset="0"/>
                <a:ea typeface="Cambria Math" panose="02040503050406030204" pitchFamily="18" charset="0"/>
              </a:rPr>
              <a:t>	</a:t>
            </a:r>
            <a:r>
              <a:rPr lang="en-US" b="1" dirty="0">
                <a:latin typeface="Cambria Math" panose="02040503050406030204" pitchFamily="18" charset="0"/>
                <a:ea typeface="Cambria Math" panose="02040503050406030204" pitchFamily="18" charset="0"/>
              </a:rPr>
              <a:t>Output:</a:t>
            </a:r>
          </a:p>
          <a:p>
            <a:pPr>
              <a:buNone/>
            </a:pPr>
            <a:r>
              <a:rPr lang="en-US" b="1"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remove both</a:t>
            </a:r>
          </a:p>
          <a:p>
            <a:pPr>
              <a:buNone/>
            </a:pPr>
            <a:r>
              <a:rPr lang="en-US" dirty="0">
                <a:latin typeface="Cambria Math" panose="02040503050406030204" pitchFamily="18" charset="0"/>
                <a:ea typeface="Cambria Math" panose="02040503050406030204" pitchFamily="18" charset="0"/>
              </a:rPr>
              <a:t>		--------------------</a:t>
            </a:r>
          </a:p>
          <a:p>
            <a:pPr>
              <a:buNone/>
            </a:pPr>
            <a:r>
              <a:rPr lang="en-US" dirty="0">
                <a:latin typeface="Cambria Math" panose="02040503050406030204" pitchFamily="18" charset="0"/>
                <a:ea typeface="Cambria Math" panose="02040503050406030204" pitchFamily="18" charset="0"/>
              </a:rPr>
              <a:t>		hansel</a:t>
            </a:r>
          </a:p>
        </p:txBody>
      </p:sp>
    </p:spTree>
    <p:extLst>
      <p:ext uri="{BB962C8B-B14F-4D97-AF65-F5344CB8AC3E}">
        <p14:creationId xmlns:p14="http://schemas.microsoft.com/office/powerpoint/2010/main" val="103102246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533400"/>
            <a:ext cx="6096000" cy="5998536"/>
          </a:xfrm>
        </p:spPr>
        <p:txBody>
          <a:bodyPr>
            <a:normAutofit/>
          </a:bodyPr>
          <a:lstStyle/>
          <a:p>
            <a:pPr marL="0" indent="0">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10.LPAD</a:t>
            </a:r>
            <a:r>
              <a:rPr lang="en-US" sz="2400" dirty="0">
                <a:latin typeface="Cambria Math" panose="02040503050406030204" pitchFamily="18" charset="0"/>
                <a:ea typeface="Cambria Math" panose="02040503050406030204" pitchFamily="18" charset="0"/>
              </a:rPr>
              <a:t>:- returns char1, left-papped to length n with the sequence of character specified in char2. </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a:t>
            </a:r>
          </a:p>
          <a:p>
            <a:pPr>
              <a:buNone/>
            </a:pPr>
            <a:r>
              <a:rPr lang="en-US" sz="2400" dirty="0">
                <a:latin typeface="Cambria Math" panose="02040503050406030204" pitchFamily="18" charset="0"/>
                <a:ea typeface="Cambria Math" panose="02040503050406030204" pitchFamily="18" charset="0"/>
              </a:rPr>
              <a:t>		lpad(‘char1,n[,char2])</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select lpad(‘page1’,10, ‘*’) “lpad” from dual;</a:t>
            </a:r>
          </a:p>
          <a:p>
            <a:pPr>
              <a:buNone/>
            </a:pPr>
            <a:r>
              <a:rPr lang="en-US" sz="2400" dirty="0">
                <a:latin typeface="Cambria Math" panose="02040503050406030204" pitchFamily="18" charset="0"/>
                <a:ea typeface="Cambria Math" panose="02040503050406030204" pitchFamily="18" charset="0"/>
              </a:rPr>
              <a:t>		Output</a:t>
            </a:r>
          </a:p>
          <a:p>
            <a:pPr>
              <a:buNone/>
            </a:pPr>
            <a:r>
              <a:rPr lang="en-US" sz="2400" dirty="0">
                <a:latin typeface="Cambria Math" panose="02040503050406030204" pitchFamily="18" charset="0"/>
                <a:ea typeface="Cambria Math" panose="02040503050406030204" pitchFamily="18" charset="0"/>
              </a:rPr>
              <a:t>		</a:t>
            </a:r>
            <a:r>
              <a:rPr lang="en-US" sz="2400" dirty="0" err="1">
                <a:latin typeface="Cambria Math" panose="02040503050406030204" pitchFamily="18" charset="0"/>
                <a:ea typeface="Cambria Math" panose="02040503050406030204" pitchFamily="18" charset="0"/>
              </a:rPr>
              <a:t>lapad</a:t>
            </a:r>
            <a:endParaRPr lang="en-US" sz="2400" dirty="0">
              <a:latin typeface="Cambria Math" panose="02040503050406030204" pitchFamily="18" charset="0"/>
              <a:ea typeface="Cambria Math" panose="02040503050406030204" pitchFamily="18" charset="0"/>
            </a:endParaRPr>
          </a:p>
          <a:p>
            <a:pPr>
              <a:buNone/>
            </a:pP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*****page1</a:t>
            </a:r>
          </a:p>
        </p:txBody>
      </p:sp>
    </p:spTree>
    <p:extLst>
      <p:ext uri="{BB962C8B-B14F-4D97-AF65-F5344CB8AC3E}">
        <p14:creationId xmlns:p14="http://schemas.microsoft.com/office/powerpoint/2010/main" val="206966652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743200" y="762000"/>
            <a:ext cx="6019800" cy="5867400"/>
          </a:xfrm>
        </p:spPr>
        <p:txBody>
          <a:bodyPr>
            <a:normAutofit/>
          </a:bodyPr>
          <a:lstStyle/>
          <a:p>
            <a:pPr>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11. RPAD</a:t>
            </a:r>
            <a:r>
              <a:rPr lang="en-US" sz="2400" dirty="0">
                <a:latin typeface="Cambria Math" panose="02040503050406030204" pitchFamily="18" charset="0"/>
                <a:ea typeface="Cambria Math" panose="02040503050406030204" pitchFamily="18" charset="0"/>
              </a:rPr>
              <a:t>:- returns char1, right </a:t>
            </a:r>
            <a:r>
              <a:rPr lang="en-US" sz="2400" dirty="0" err="1">
                <a:latin typeface="Cambria Math" panose="02040503050406030204" pitchFamily="18" charset="0"/>
                <a:ea typeface="Cambria Math" panose="02040503050406030204" pitchFamily="18" charset="0"/>
              </a:rPr>
              <a:t>papped</a:t>
            </a:r>
            <a:r>
              <a:rPr lang="en-US" sz="2400" dirty="0">
                <a:latin typeface="Cambria Math" panose="02040503050406030204" pitchFamily="18" charset="0"/>
                <a:ea typeface="Cambria Math" panose="02040503050406030204" pitchFamily="18" charset="0"/>
              </a:rPr>
              <a:t> to length n with the character specified in char2.</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rpad(char1,n[,char2])</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select rpad(ivan,10,’x’) “RPAD”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RPAD</a:t>
            </a:r>
          </a:p>
          <a:p>
            <a:pPr>
              <a:buNone/>
            </a:pPr>
            <a:r>
              <a:rPr lang="en-US" sz="2400" dirty="0">
                <a:latin typeface="Cambria Math" panose="02040503050406030204" pitchFamily="18" charset="0"/>
                <a:ea typeface="Cambria Math" panose="02040503050406030204" pitchFamily="18" charset="0"/>
              </a:rPr>
              <a:t>	      ----------------			</a:t>
            </a:r>
          </a:p>
          <a:p>
            <a:pPr>
              <a:buNone/>
            </a:pPr>
            <a:r>
              <a:rPr lang="en-US" sz="2400" dirty="0">
                <a:latin typeface="Cambria Math" panose="02040503050406030204" pitchFamily="18" charset="0"/>
                <a:ea typeface="Cambria Math" panose="02040503050406030204" pitchFamily="18" charset="0"/>
              </a:rPr>
              <a:t>		</a:t>
            </a:r>
            <a:r>
              <a:rPr lang="en-US" sz="2400" dirty="0" err="1">
                <a:latin typeface="Cambria Math" panose="02040503050406030204" pitchFamily="18" charset="0"/>
                <a:ea typeface="Cambria Math" panose="02040503050406030204" pitchFamily="18" charset="0"/>
              </a:rPr>
              <a:t>ivanxxxxxx</a:t>
            </a:r>
            <a:endParaRPr lang="en-US" sz="2400" dirty="0">
              <a:latin typeface="Cambria Math" panose="02040503050406030204" pitchFamily="18" charset="0"/>
              <a:ea typeface="Cambria Math" panose="02040503050406030204" pitchFamily="18" charset="0"/>
            </a:endParaRPr>
          </a:p>
          <a:p>
            <a:endParaRPr lang="en-IN"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024054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0"/>
            <a:ext cx="7239000" cy="838200"/>
          </a:xfrm>
        </p:spPr>
        <p:txBody>
          <a:bodyPr/>
          <a:lstStyle/>
          <a:p>
            <a:r>
              <a:rPr lang="en-US" dirty="0"/>
              <a:t>NUMERIC FUNCTIONS…..</a:t>
            </a:r>
          </a:p>
        </p:txBody>
      </p:sp>
      <p:sp>
        <p:nvSpPr>
          <p:cNvPr id="3" name="Content Placeholder 2"/>
          <p:cNvSpPr>
            <a:spLocks noGrp="1"/>
          </p:cNvSpPr>
          <p:nvPr>
            <p:ph idx="4294967295"/>
          </p:nvPr>
        </p:nvSpPr>
        <p:spPr>
          <a:xfrm>
            <a:off x="2667000" y="685800"/>
            <a:ext cx="6096000" cy="5715000"/>
          </a:xfrm>
        </p:spPr>
        <p:txBody>
          <a:bodyPr>
            <a:noAutofit/>
          </a:bodyPr>
          <a:lstStyle/>
          <a:p>
            <a:pPr marL="0" indent="0">
              <a:buNone/>
            </a:pPr>
            <a:r>
              <a:rPr lang="en-US" sz="2400" dirty="0">
                <a:latin typeface="Cambria Math" panose="02040503050406030204" pitchFamily="18" charset="0"/>
                <a:ea typeface="Cambria Math" panose="02040503050406030204" pitchFamily="18" charset="0"/>
              </a:rPr>
              <a:t>1. </a:t>
            </a:r>
            <a:r>
              <a:rPr lang="en-US" sz="2400" b="1" u="sng" dirty="0">
                <a:solidFill>
                  <a:schemeClr val="accent1">
                    <a:lumMod val="75000"/>
                  </a:schemeClr>
                </a:solidFill>
                <a:latin typeface="Cambria Math" panose="02040503050406030204" pitchFamily="18" charset="0"/>
                <a:ea typeface="Cambria Math" panose="02040503050406030204" pitchFamily="18" charset="0"/>
              </a:rPr>
              <a:t>ABS</a:t>
            </a:r>
            <a:r>
              <a:rPr lang="en-US" sz="2400" dirty="0">
                <a:latin typeface="Cambria Math" panose="02040503050406030204" pitchFamily="18" charset="0"/>
                <a:ea typeface="Cambria Math" panose="02040503050406030204" pitchFamily="18" charset="0"/>
              </a:rPr>
              <a:t>:- returns the absolute value of ‘n’.</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 ABS(-15)</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Select ABS(-15) “absolute”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absolute</a:t>
            </a:r>
          </a:p>
          <a:p>
            <a:pPr>
              <a:buNone/>
            </a:pP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15</a:t>
            </a:r>
          </a:p>
          <a:p>
            <a:pPr marL="0" indent="0">
              <a:buNone/>
            </a:pPr>
            <a:r>
              <a:rPr lang="en-US" sz="2400" dirty="0">
                <a:latin typeface="Cambria Math" panose="02040503050406030204" pitchFamily="18" charset="0"/>
                <a:ea typeface="Cambria Math" panose="02040503050406030204" pitchFamily="18" charset="0"/>
              </a:rPr>
              <a:t>2.</a:t>
            </a:r>
            <a:r>
              <a:rPr lang="en-US" sz="2400" b="1" u="sng" dirty="0">
                <a:solidFill>
                  <a:schemeClr val="accent1">
                    <a:lumMod val="75000"/>
                  </a:schemeClr>
                </a:solidFill>
                <a:latin typeface="Cambria Math" panose="02040503050406030204" pitchFamily="18" charset="0"/>
                <a:ea typeface="Cambria Math" panose="02040503050406030204" pitchFamily="18" charset="0"/>
              </a:rPr>
              <a:t>POWER</a:t>
            </a:r>
            <a:r>
              <a:rPr lang="en-US" sz="2400" dirty="0">
                <a:latin typeface="Cambria Math" panose="02040503050406030204" pitchFamily="18" charset="0"/>
                <a:ea typeface="Cambria Math" panose="02040503050406030204" pitchFamily="18" charset="0"/>
              </a:rPr>
              <a:t>:- returns m raised to the nth power. n must be an integer else an error is 	returned.</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:-power(m,n)</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Select power(3,2)”raised”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raised</a:t>
            </a:r>
          </a:p>
          <a:p>
            <a:pPr>
              <a:buNone/>
            </a:pP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9</a:t>
            </a:r>
          </a:p>
        </p:txBody>
      </p:sp>
      <p:sp>
        <p:nvSpPr>
          <p:cNvPr id="5" name="Rectangle 4">
            <a:extLst>
              <a:ext uri="{FF2B5EF4-FFF2-40B4-BE49-F238E27FC236}">
                <a16:creationId xmlns:a16="http://schemas.microsoft.com/office/drawing/2014/main" id="{6F598E33-AC35-4043-8E05-D8014552EA66}"/>
              </a:ext>
            </a:extLst>
          </p:cNvPr>
          <p:cNvSpPr/>
          <p:nvPr/>
        </p:nvSpPr>
        <p:spPr>
          <a:xfrm>
            <a:off x="0" y="2767280"/>
            <a:ext cx="2518793" cy="1323439"/>
          </a:xfrm>
          <a:prstGeom prst="rect">
            <a:avLst/>
          </a:prstGeom>
        </p:spPr>
        <p:txBody>
          <a:bodyPr wrap="square">
            <a:spAutoFit/>
          </a:bodyPr>
          <a:lstStyle/>
          <a:p>
            <a:r>
              <a:rPr lang="en-US" sz="4000" b="1" dirty="0">
                <a:latin typeface="Cambria Math" panose="02040503050406030204" pitchFamily="18" charset="0"/>
                <a:ea typeface="Cambria Math" panose="02040503050406030204" pitchFamily="18" charset="0"/>
              </a:rPr>
              <a:t>Arithmetic</a:t>
            </a:r>
          </a:p>
          <a:p>
            <a:r>
              <a:rPr lang="en-US" sz="4000" b="1" dirty="0">
                <a:latin typeface="Cambria Math" panose="02040503050406030204" pitchFamily="18" charset="0"/>
                <a:ea typeface="Cambria Math" panose="02040503050406030204" pitchFamily="18" charset="0"/>
              </a:rPr>
              <a:t>functions</a:t>
            </a:r>
          </a:p>
        </p:txBody>
      </p:sp>
    </p:spTree>
    <p:extLst>
      <p:ext uri="{BB962C8B-B14F-4D97-AF65-F5344CB8AC3E}">
        <p14:creationId xmlns:p14="http://schemas.microsoft.com/office/powerpoint/2010/main" val="1128436499"/>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762000"/>
            <a:ext cx="6096000" cy="5410200"/>
          </a:xfrm>
        </p:spPr>
        <p:txBody>
          <a:bodyPr>
            <a:normAutofit lnSpcReduction="10000"/>
          </a:bodyPr>
          <a:lstStyle/>
          <a:p>
            <a:pPr marL="0" indent="0">
              <a:buNone/>
            </a:pPr>
            <a:r>
              <a:rPr lang="en-US" sz="2400" dirty="0">
                <a:latin typeface="Cambria Math" panose="02040503050406030204" pitchFamily="18" charset="0"/>
                <a:ea typeface="Cambria Math" panose="02040503050406030204" pitchFamily="18" charset="0"/>
              </a:rPr>
              <a:t>3.</a:t>
            </a:r>
            <a:r>
              <a:rPr lang="en-US" sz="2400" b="1" u="sng" dirty="0">
                <a:solidFill>
                  <a:schemeClr val="accent1">
                    <a:lumMod val="75000"/>
                  </a:schemeClr>
                </a:solidFill>
                <a:latin typeface="Cambria Math" panose="02040503050406030204" pitchFamily="18" charset="0"/>
                <a:ea typeface="Cambria Math" panose="02040503050406030204" pitchFamily="18" charset="0"/>
              </a:rPr>
              <a:t>Round</a:t>
            </a:r>
            <a:r>
              <a:rPr lang="en-US" sz="2400" dirty="0">
                <a:latin typeface="Cambria Math" panose="02040503050406030204" pitchFamily="18" charset="0"/>
                <a:ea typeface="Cambria Math" panose="02040503050406030204" pitchFamily="18" charset="0"/>
              </a:rPr>
              <a:t>:-returns n, rounded to m places to the right of the decimal point. If m is omitted, n is rounded to 0 places. </a:t>
            </a:r>
          </a:p>
          <a:p>
            <a:pPr marL="0" indent="0">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:-round(n,[m])</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select round(15.91,1) “round” from dual;</a:t>
            </a:r>
          </a:p>
          <a:p>
            <a:pPr>
              <a:spcBef>
                <a:spcPts val="0"/>
              </a:spcBef>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round</a:t>
            </a:r>
          </a:p>
          <a:p>
            <a:pPr>
              <a:spcBef>
                <a:spcPts val="0"/>
              </a:spcBef>
              <a:buNone/>
            </a:pPr>
            <a:r>
              <a:rPr lang="en-US" sz="2400" dirty="0">
                <a:latin typeface="Cambria Math" panose="02040503050406030204" pitchFamily="18" charset="0"/>
                <a:ea typeface="Cambria Math" panose="02040503050406030204" pitchFamily="18" charset="0"/>
              </a:rPr>
              <a:t>		      -----------	</a:t>
            </a:r>
          </a:p>
          <a:p>
            <a:pPr>
              <a:spcBef>
                <a:spcPts val="0"/>
              </a:spcBef>
              <a:buNone/>
            </a:pPr>
            <a:r>
              <a:rPr lang="en-US" sz="2400" dirty="0">
                <a:latin typeface="Cambria Math" panose="02040503050406030204" pitchFamily="18" charset="0"/>
                <a:ea typeface="Cambria Math" panose="02040503050406030204" pitchFamily="18" charset="0"/>
              </a:rPr>
              <a:t>		       15.9</a:t>
            </a:r>
          </a:p>
          <a:p>
            <a:pPr>
              <a:buNone/>
            </a:pPr>
            <a:r>
              <a:rPr lang="en-US" sz="2400" dirty="0">
                <a:latin typeface="Cambria Math" panose="02040503050406030204" pitchFamily="18" charset="0"/>
                <a:ea typeface="Cambria Math" panose="02040503050406030204" pitchFamily="18" charset="0"/>
              </a:rPr>
              <a:t>4.</a:t>
            </a:r>
            <a:r>
              <a:rPr lang="en-US" sz="2400" b="1" u="sng" dirty="0">
                <a:solidFill>
                  <a:schemeClr val="accent1">
                    <a:lumMod val="75000"/>
                  </a:schemeClr>
                </a:solidFill>
                <a:latin typeface="Cambria Math" panose="02040503050406030204" pitchFamily="18" charset="0"/>
                <a:ea typeface="Cambria Math" panose="02040503050406030204" pitchFamily="18" charset="0"/>
              </a:rPr>
              <a:t>SQRT</a:t>
            </a:r>
            <a:r>
              <a:rPr lang="en-US" sz="2400" dirty="0">
                <a:latin typeface="Cambria Math" panose="02040503050406030204" pitchFamily="18" charset="0"/>
                <a:ea typeface="Cambria Math" panose="02040503050406030204" pitchFamily="18" charset="0"/>
              </a:rPr>
              <a:t>:- returns square root of n. </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:-sqrt(n)</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 </a:t>
            </a:r>
            <a:r>
              <a:rPr lang="en-US" sz="2400" dirty="0">
                <a:latin typeface="Cambria Math" panose="02040503050406030204" pitchFamily="18" charset="0"/>
                <a:ea typeface="Cambria Math" panose="02040503050406030204" pitchFamily="18" charset="0"/>
              </a:rPr>
              <a:t>select sqrt(25) “square root”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     </a:t>
            </a:r>
            <a:r>
              <a:rPr lang="en-US" sz="2400" dirty="0">
                <a:latin typeface="Cambria Math" panose="02040503050406030204" pitchFamily="18" charset="0"/>
                <a:ea typeface="Cambria Math" panose="02040503050406030204" pitchFamily="18" charset="0"/>
              </a:rPr>
              <a:t>square root</a:t>
            </a:r>
          </a:p>
          <a:p>
            <a:pPr>
              <a:buNone/>
            </a:pP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5</a:t>
            </a:r>
          </a:p>
        </p:txBody>
      </p:sp>
    </p:spTree>
    <p:extLst>
      <p:ext uri="{BB962C8B-B14F-4D97-AF65-F5344CB8AC3E}">
        <p14:creationId xmlns:p14="http://schemas.microsoft.com/office/powerpoint/2010/main" val="95239536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590800" y="762000"/>
            <a:ext cx="6172200" cy="5334000"/>
          </a:xfrm>
        </p:spPr>
        <p:txBody>
          <a:bodyPr>
            <a:normAutofit/>
          </a:bodyPr>
          <a:lstStyle/>
          <a:p>
            <a:pPr marL="0" indent="0">
              <a:buNone/>
            </a:pPr>
            <a:r>
              <a:rPr lang="en-US" sz="2400" b="1" dirty="0">
                <a:solidFill>
                  <a:schemeClr val="bg2">
                    <a:lumMod val="50000"/>
                  </a:schemeClr>
                </a:solidFill>
                <a:latin typeface="Cambria Math" panose="02040503050406030204" pitchFamily="18" charset="0"/>
                <a:ea typeface="Cambria Math" panose="02040503050406030204" pitchFamily="18" charset="0"/>
              </a:rPr>
              <a:t>5. </a:t>
            </a:r>
            <a:r>
              <a:rPr lang="en-US" sz="2400" b="1" u="sng" dirty="0">
                <a:solidFill>
                  <a:schemeClr val="bg2">
                    <a:lumMod val="50000"/>
                  </a:schemeClr>
                </a:solidFill>
                <a:latin typeface="Cambria Math" panose="02040503050406030204" pitchFamily="18" charset="0"/>
                <a:ea typeface="Cambria Math" panose="02040503050406030204" pitchFamily="18" charset="0"/>
              </a:rPr>
              <a:t>GREATEST </a:t>
            </a:r>
            <a:r>
              <a:rPr lang="en-US" sz="2400" b="1" dirty="0">
                <a:solidFill>
                  <a:schemeClr val="bg2">
                    <a:lumMod val="50000"/>
                  </a:schemeClr>
                </a:solidFill>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rPr>
              <a:t>returns a greatest value in 	a list of expressions.</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-greatest(expr1,expr2,expr3…expr n)</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select greatest(4,5,17) “num”, </a:t>
            </a:r>
          </a:p>
          <a:p>
            <a:pPr>
              <a:buNone/>
            </a:pPr>
            <a:endParaRPr lang="en-US" sz="2400" dirty="0">
              <a:latin typeface="Cambria Math" panose="02040503050406030204" pitchFamily="18" charset="0"/>
              <a:ea typeface="Cambria Math" panose="02040503050406030204" pitchFamily="18" charset="0"/>
            </a:endParaRPr>
          </a:p>
          <a:p>
            <a:pPr>
              <a:buNone/>
            </a:pPr>
            <a:r>
              <a:rPr lang="en-US" sz="2400" dirty="0">
                <a:latin typeface="Cambria Math" panose="02040503050406030204" pitchFamily="18" charset="0"/>
                <a:ea typeface="Cambria Math" panose="02040503050406030204" pitchFamily="18" charset="0"/>
              </a:rPr>
              <a:t>		greatest(‘4’, ‘5’, ‘17’) “text”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num    text</a:t>
            </a:r>
          </a:p>
          <a:p>
            <a:pPr>
              <a:buNone/>
            </a:pPr>
            <a:r>
              <a:rPr lang="en-US" sz="2400" dirty="0">
                <a:latin typeface="Cambria Math" panose="02040503050406030204" pitchFamily="18" charset="0"/>
                <a:ea typeface="Cambria Math" panose="02040503050406030204" pitchFamily="18" charset="0"/>
              </a:rPr>
              <a:t>		----------------        </a:t>
            </a:r>
          </a:p>
          <a:p>
            <a:pPr>
              <a:buNone/>
            </a:pPr>
            <a:r>
              <a:rPr lang="en-US" sz="2400" dirty="0">
                <a:latin typeface="Cambria Math" panose="02040503050406030204" pitchFamily="18" charset="0"/>
                <a:ea typeface="Cambria Math" panose="02040503050406030204" pitchFamily="18" charset="0"/>
              </a:rPr>
              <a:t>		17         5</a:t>
            </a:r>
          </a:p>
        </p:txBody>
      </p:sp>
    </p:spTree>
    <p:extLst>
      <p:ext uri="{BB962C8B-B14F-4D97-AF65-F5344CB8AC3E}">
        <p14:creationId xmlns:p14="http://schemas.microsoft.com/office/powerpoint/2010/main" val="118647836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738487"/>
            <a:ext cx="6096000" cy="5357513"/>
          </a:xfrm>
        </p:spPr>
        <p:txBody>
          <a:bodyPr>
            <a:normAutofit/>
          </a:bodyPr>
          <a:lstStyle/>
          <a:p>
            <a:pPr marL="0" indent="0">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6.LEAST</a:t>
            </a:r>
            <a:r>
              <a:rPr lang="en-US" sz="2400" dirty="0">
                <a:latin typeface="Cambria Math" panose="02040503050406030204" pitchFamily="18" charset="0"/>
                <a:ea typeface="Cambria Math" panose="02040503050406030204" pitchFamily="18" charset="0"/>
              </a:rPr>
              <a:t>:- returns the least value in a list of expressions.</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 least(expr1,expr2,…..,exprn);</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select least(4,5,17)”num”,</a:t>
            </a:r>
          </a:p>
          <a:p>
            <a:pPr>
              <a:buNone/>
            </a:pPr>
            <a:endParaRPr lang="en-US" sz="2400" dirty="0">
              <a:latin typeface="Cambria Math" panose="02040503050406030204" pitchFamily="18" charset="0"/>
              <a:ea typeface="Cambria Math" panose="02040503050406030204" pitchFamily="18" charset="0"/>
            </a:endParaRPr>
          </a:p>
          <a:p>
            <a:pPr>
              <a:buNone/>
            </a:pPr>
            <a:r>
              <a:rPr lang="en-US" sz="2400" dirty="0">
                <a:latin typeface="Cambria Math" panose="02040503050406030204" pitchFamily="18" charset="0"/>
                <a:ea typeface="Cambria Math" panose="02040503050406030204" pitchFamily="18" charset="0"/>
              </a:rPr>
              <a:t> 	least(‘4’,’5’,’17’)”text”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num  text</a:t>
            </a:r>
          </a:p>
          <a:p>
            <a:pPr>
              <a:buNone/>
            </a:pPr>
            <a:r>
              <a:rPr lang="en-US" sz="2400" dirty="0">
                <a:latin typeface="Cambria Math" panose="02040503050406030204" pitchFamily="18" charset="0"/>
                <a:ea typeface="Cambria Math" panose="02040503050406030204" pitchFamily="18" charset="0"/>
              </a:rPr>
              <a:t>	---------------</a:t>
            </a:r>
          </a:p>
          <a:p>
            <a:pPr>
              <a:buNone/>
            </a:pPr>
            <a:r>
              <a:rPr lang="en-US" sz="2400" dirty="0">
                <a:latin typeface="Cambria Math" panose="02040503050406030204" pitchFamily="18" charset="0"/>
                <a:ea typeface="Cambria Math" panose="02040503050406030204" pitchFamily="18" charset="0"/>
              </a:rPr>
              <a:t>	   4     17</a:t>
            </a:r>
          </a:p>
          <a:p>
            <a:pPr>
              <a:buNone/>
            </a:pPr>
            <a:endParaRPr lang="en-US" sz="2400" dirty="0">
              <a:latin typeface="Cambria Math" panose="02040503050406030204" pitchFamily="18" charset="0"/>
              <a:ea typeface="Cambria Math" panose="02040503050406030204" pitchFamily="18" charset="0"/>
            </a:endParaRPr>
          </a:p>
          <a:p>
            <a:endParaRPr lang="en-IN"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2309337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685800"/>
            <a:ext cx="6096000" cy="5410200"/>
          </a:xfrm>
        </p:spPr>
        <p:txBody>
          <a:bodyPr>
            <a:normAutofit/>
          </a:bodyPr>
          <a:lstStyle/>
          <a:p>
            <a:pPr>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8. FLOOR</a:t>
            </a:r>
            <a:r>
              <a:rPr lang="en-US" sz="2400" dirty="0">
                <a:latin typeface="Cambria Math" panose="02040503050406030204" pitchFamily="18" charset="0"/>
                <a:ea typeface="Cambria Math" panose="02040503050406030204" pitchFamily="18" charset="0"/>
              </a:rPr>
              <a:t>:- return a largest integer value that is equal to less than a number.</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-floor(n)</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select floor(24.8) “flr1”, 	floor(13.15)”flr2”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=24    13</a:t>
            </a:r>
          </a:p>
          <a:p>
            <a:pPr>
              <a:buNone/>
            </a:pPr>
            <a:endParaRPr lang="en-US" sz="2400" dirty="0">
              <a:latin typeface="Cambria Math" panose="02040503050406030204" pitchFamily="18" charset="0"/>
              <a:ea typeface="Cambria Math" panose="02040503050406030204" pitchFamily="18" charset="0"/>
            </a:endParaRPr>
          </a:p>
          <a:p>
            <a:pPr>
              <a:buNone/>
            </a:pPr>
            <a:r>
              <a:rPr lang="en-US" sz="2400" b="1" u="sng" dirty="0">
                <a:solidFill>
                  <a:schemeClr val="accent1">
                    <a:lumMod val="75000"/>
                  </a:schemeClr>
                </a:solidFill>
                <a:latin typeface="Cambria Math" panose="02040503050406030204" pitchFamily="18" charset="0"/>
                <a:ea typeface="Cambria Math" panose="02040503050406030204" pitchFamily="18" charset="0"/>
              </a:rPr>
              <a:t>9.CEIL</a:t>
            </a:r>
            <a:r>
              <a:rPr lang="en-US" sz="2400" dirty="0">
                <a:latin typeface="Cambria Math" panose="02040503050406030204" pitchFamily="18" charset="0"/>
                <a:ea typeface="Cambria Math" panose="02040503050406030204" pitchFamily="18" charset="0"/>
              </a:rPr>
              <a:t>:-return the smallest integer value that is greater than or equal to a number.</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Syntax:</a:t>
            </a:r>
            <a:r>
              <a:rPr lang="en-US" sz="2400" dirty="0">
                <a:latin typeface="Cambria Math" panose="02040503050406030204" pitchFamily="18" charset="0"/>
                <a:ea typeface="Cambria Math" panose="02040503050406030204" pitchFamily="18" charset="0"/>
              </a:rPr>
              <a:t>-ceil(n)</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select ceil(24.8)”ceil”, 	ceil(13.15)”ceil2” from dual;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25    14</a:t>
            </a:r>
          </a:p>
        </p:txBody>
      </p:sp>
    </p:spTree>
    <p:extLst>
      <p:ext uri="{BB962C8B-B14F-4D97-AF65-F5344CB8AC3E}">
        <p14:creationId xmlns:p14="http://schemas.microsoft.com/office/powerpoint/2010/main" val="22819411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320040"/>
            <a:ext cx="7239000" cy="670560"/>
          </a:xfrm>
        </p:spPr>
        <p:txBody>
          <a:bodyPr>
            <a:normAutofit/>
          </a:bodyPr>
          <a:lstStyle/>
          <a:p>
            <a:r>
              <a:rPr lang="en-US" dirty="0"/>
              <a:t>AGGREGATE FUNCTIONS.....</a:t>
            </a:r>
          </a:p>
        </p:txBody>
      </p:sp>
      <p:sp>
        <p:nvSpPr>
          <p:cNvPr id="3" name="Content Placeholder 2"/>
          <p:cNvSpPr>
            <a:spLocks noGrp="1"/>
          </p:cNvSpPr>
          <p:nvPr>
            <p:ph idx="4294967295"/>
          </p:nvPr>
        </p:nvSpPr>
        <p:spPr>
          <a:xfrm>
            <a:off x="2667000" y="1007882"/>
            <a:ext cx="6096000" cy="5334000"/>
          </a:xfrm>
        </p:spPr>
        <p:txBody>
          <a:bodyPr>
            <a:noAutofit/>
          </a:bodyPr>
          <a:lstStyle/>
          <a:p>
            <a:pPr marL="0" indent="0">
              <a:buNone/>
            </a:pPr>
            <a:r>
              <a:rPr lang="en-US" sz="2400" dirty="0">
                <a:latin typeface="Cambria Math" panose="02040503050406030204" pitchFamily="18" charset="0"/>
                <a:ea typeface="Cambria Math" panose="02040503050406030204" pitchFamily="18" charset="0"/>
              </a:rPr>
              <a:t>1.</a:t>
            </a:r>
            <a:r>
              <a:rPr lang="en-US" sz="2400" b="1" u="sng" dirty="0">
                <a:solidFill>
                  <a:schemeClr val="accent1">
                    <a:lumMod val="75000"/>
                  </a:schemeClr>
                </a:solidFill>
                <a:latin typeface="Cambria Math" panose="02040503050406030204" pitchFamily="18" charset="0"/>
                <a:ea typeface="Cambria Math" panose="02040503050406030204" pitchFamily="18" charset="0"/>
              </a:rPr>
              <a:t>AVG</a:t>
            </a:r>
            <a:r>
              <a:rPr lang="en-US" sz="2400" dirty="0">
                <a:latin typeface="Cambria Math" panose="02040503050406030204" pitchFamily="18" charset="0"/>
                <a:ea typeface="Cambria Math" panose="02040503050406030204" pitchFamily="18" charset="0"/>
              </a:rPr>
              <a:t> :- returns the average value</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Select avg(sal) from </a:t>
            </a:r>
            <a:r>
              <a:rPr lang="en-US" sz="2400" dirty="0" err="1">
                <a:latin typeface="Cambria Math" panose="02040503050406030204" pitchFamily="18" charset="0"/>
                <a:ea typeface="Cambria Math" panose="02040503050406030204" pitchFamily="18" charset="0"/>
              </a:rPr>
              <a:t>emp</a:t>
            </a:r>
            <a:r>
              <a:rPr lang="en-US" sz="2400" dirty="0">
                <a:latin typeface="Cambria Math" panose="02040503050406030204" pitchFamily="18" charset="0"/>
                <a:ea typeface="Cambria Math" panose="02040503050406030204" pitchFamily="18" charset="0"/>
              </a:rPr>
              <a:t>;</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25000</a:t>
            </a:r>
          </a:p>
          <a:p>
            <a:pPr>
              <a:buNone/>
            </a:pPr>
            <a:endParaRPr lang="en-US" sz="2400" dirty="0">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2.</a:t>
            </a:r>
            <a:r>
              <a:rPr lang="en-US" sz="2400" b="1" u="sng" dirty="0">
                <a:solidFill>
                  <a:schemeClr val="accent1">
                    <a:lumMod val="75000"/>
                  </a:schemeClr>
                </a:solidFill>
                <a:latin typeface="Cambria Math" panose="02040503050406030204" pitchFamily="18" charset="0"/>
                <a:ea typeface="Cambria Math" panose="02040503050406030204" pitchFamily="18" charset="0"/>
              </a:rPr>
              <a:t>MIN</a:t>
            </a:r>
            <a:r>
              <a:rPr lang="en-US" sz="2400" dirty="0">
                <a:latin typeface="Cambria Math" panose="02040503050406030204" pitchFamily="18" charset="0"/>
                <a:ea typeface="Cambria Math" panose="02040503050406030204" pitchFamily="18" charset="0"/>
              </a:rPr>
              <a:t> :- return the minimum value of expr.</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 :-select min(sal) from emp;</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20000</a:t>
            </a:r>
          </a:p>
          <a:p>
            <a:pPr>
              <a:buNone/>
            </a:pPr>
            <a:endParaRPr lang="en-US" sz="2400" dirty="0">
              <a:latin typeface="Cambria Math" panose="02040503050406030204" pitchFamily="18" charset="0"/>
              <a:ea typeface="Cambria Math" panose="02040503050406030204" pitchFamily="18" charset="0"/>
            </a:endParaRPr>
          </a:p>
          <a:p>
            <a:pPr marL="0" indent="0">
              <a:buNone/>
            </a:pPr>
            <a:r>
              <a:rPr lang="en-US" sz="2400" dirty="0">
                <a:latin typeface="Cambria Math" panose="02040503050406030204" pitchFamily="18" charset="0"/>
                <a:ea typeface="Cambria Math" panose="02040503050406030204" pitchFamily="18" charset="0"/>
              </a:rPr>
              <a:t>3.</a:t>
            </a:r>
            <a:r>
              <a:rPr lang="en-US" sz="2400" b="1" u="sng" dirty="0">
                <a:solidFill>
                  <a:schemeClr val="accent1">
                    <a:lumMod val="75000"/>
                  </a:schemeClr>
                </a:solidFill>
                <a:latin typeface="Cambria Math" panose="02040503050406030204" pitchFamily="18" charset="0"/>
                <a:ea typeface="Cambria Math" panose="02040503050406030204" pitchFamily="18" charset="0"/>
              </a:rPr>
              <a:t>COUNT</a:t>
            </a:r>
            <a:r>
              <a:rPr lang="en-US" sz="2400" dirty="0">
                <a:latin typeface="Cambria Math" panose="02040503050406030204" pitchFamily="18" charset="0"/>
                <a:ea typeface="Cambria Math" panose="02040503050406030204" pitchFamily="18" charset="0"/>
              </a:rPr>
              <a:t> :- returns the no. of rows where expr. Is not null</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e.g.</a:t>
            </a:r>
            <a:r>
              <a:rPr lang="en-US" sz="2400" dirty="0">
                <a:latin typeface="Cambria Math" panose="02040503050406030204" pitchFamily="18" charset="0"/>
                <a:ea typeface="Cambria Math" panose="02040503050406030204" pitchFamily="18" charset="0"/>
              </a:rPr>
              <a:t>:-select count(acct_no) “no.of accounts” from acct_mstr;</a:t>
            </a:r>
          </a:p>
          <a:p>
            <a:pPr>
              <a:buNone/>
            </a:pPr>
            <a:r>
              <a:rPr lang="en-US" sz="2400" dirty="0">
                <a:latin typeface="Cambria Math" panose="02040503050406030204" pitchFamily="18" charset="0"/>
                <a:ea typeface="Cambria Math" panose="02040503050406030204" pitchFamily="18" charset="0"/>
              </a:rPr>
              <a:t>          </a:t>
            </a:r>
            <a:r>
              <a:rPr lang="en-US" sz="2400" b="1" dirty="0">
                <a:latin typeface="Cambria Math" panose="02040503050406030204" pitchFamily="18" charset="0"/>
                <a:ea typeface="Cambria Math" panose="02040503050406030204" pitchFamily="18" charset="0"/>
              </a:rPr>
              <a:t>output</a:t>
            </a:r>
            <a:r>
              <a:rPr lang="en-US" sz="2400" dirty="0">
                <a:latin typeface="Cambria Math" panose="02040503050406030204" pitchFamily="18" charset="0"/>
                <a:ea typeface="Cambria Math" panose="02040503050406030204" pitchFamily="18" charset="0"/>
              </a:rPr>
              <a:t>: No.of accounts</a:t>
            </a:r>
          </a:p>
          <a:p>
            <a:pPr>
              <a:buNone/>
            </a:pPr>
            <a:r>
              <a:rPr lang="en-US" sz="2400" dirty="0">
                <a:latin typeface="Cambria Math" panose="02040503050406030204" pitchFamily="18" charset="0"/>
                <a:ea typeface="Cambria Math" panose="02040503050406030204" pitchFamily="18" charset="0"/>
              </a:rPr>
              <a:t>		           --------------------</a:t>
            </a:r>
          </a:p>
          <a:p>
            <a:pPr>
              <a:buNone/>
            </a:pPr>
            <a:r>
              <a:rPr lang="en-US" sz="2400" b="1"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rPr>
              <a:t>100</a:t>
            </a:r>
            <a:r>
              <a:rPr lang="en-US" sz="2400" b="1" dirty="0">
                <a:latin typeface="Cambria Math" panose="02040503050406030204" pitchFamily="18" charset="0"/>
                <a:ea typeface="Cambria Math" panose="02040503050406030204" pitchFamily="18" charset="0"/>
              </a:rPr>
              <a:t>										</a:t>
            </a:r>
          </a:p>
        </p:txBody>
      </p:sp>
      <p:sp>
        <p:nvSpPr>
          <p:cNvPr id="4" name="Rectangle 3">
            <a:extLst>
              <a:ext uri="{FF2B5EF4-FFF2-40B4-BE49-F238E27FC236}">
                <a16:creationId xmlns:a16="http://schemas.microsoft.com/office/drawing/2014/main" id="{FAE7E117-4008-4448-8169-BEDEB1E349F1}"/>
              </a:ext>
            </a:extLst>
          </p:cNvPr>
          <p:cNvSpPr/>
          <p:nvPr/>
        </p:nvSpPr>
        <p:spPr>
          <a:xfrm>
            <a:off x="0" y="2438400"/>
            <a:ext cx="2514600" cy="1323439"/>
          </a:xfrm>
          <a:prstGeom prst="rect">
            <a:avLst/>
          </a:prstGeom>
        </p:spPr>
        <p:txBody>
          <a:bodyPr wrap="square">
            <a:spAutoFit/>
          </a:bodyPr>
          <a:lstStyle/>
          <a:p>
            <a:r>
              <a:rPr lang="en-US" sz="4000" b="1" dirty="0">
                <a:latin typeface="Cambria Math" panose="02040503050406030204" pitchFamily="18" charset="0"/>
                <a:ea typeface="Cambria Math" panose="02040503050406030204" pitchFamily="18" charset="0"/>
              </a:rPr>
              <a:t>Aggregate</a:t>
            </a:r>
          </a:p>
          <a:p>
            <a:r>
              <a:rPr lang="en-US" sz="4000" b="1" dirty="0">
                <a:latin typeface="Cambria Math" panose="02040503050406030204" pitchFamily="18" charset="0"/>
                <a:ea typeface="Cambria Math" panose="02040503050406030204" pitchFamily="18" charset="0"/>
              </a:rPr>
              <a:t>Functions</a:t>
            </a:r>
          </a:p>
        </p:txBody>
      </p:sp>
    </p:spTree>
    <p:extLst>
      <p:ext uri="{BB962C8B-B14F-4D97-AF65-F5344CB8AC3E}">
        <p14:creationId xmlns:p14="http://schemas.microsoft.com/office/powerpoint/2010/main" val="12173978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0" y="685800"/>
            <a:ext cx="6096000" cy="5715000"/>
          </a:xfrm>
        </p:spPr>
        <p:txBody>
          <a:bodyPr>
            <a:noAutofit/>
          </a:bodyPr>
          <a:lstStyle/>
          <a:p>
            <a:pPr marL="0" indent="0">
              <a:buNone/>
            </a:pPr>
            <a:r>
              <a:rPr lang="en-US" sz="2000" dirty="0">
                <a:latin typeface="Cambria Math" panose="02040503050406030204" pitchFamily="18" charset="0"/>
                <a:ea typeface="Cambria Math" panose="02040503050406030204" pitchFamily="18" charset="0"/>
              </a:rPr>
              <a:t>4.</a:t>
            </a:r>
            <a:r>
              <a:rPr lang="en-US" sz="2000" b="1" u="sng" dirty="0">
                <a:solidFill>
                  <a:schemeClr val="accent1">
                    <a:lumMod val="75000"/>
                  </a:schemeClr>
                </a:solidFill>
                <a:latin typeface="Cambria Math" panose="02040503050406030204" pitchFamily="18" charset="0"/>
                <a:ea typeface="Cambria Math" panose="02040503050406030204" pitchFamily="18" charset="0"/>
              </a:rPr>
              <a:t>MAX</a:t>
            </a:r>
            <a:r>
              <a:rPr lang="en-US" sz="2000" dirty="0">
                <a:latin typeface="Cambria Math" panose="02040503050406030204" pitchFamily="18" charset="0"/>
                <a:ea typeface="Cambria Math" panose="02040503050406030204" pitchFamily="18" charset="0"/>
              </a:rPr>
              <a:t>:- Returns the maximum value of expr.</a:t>
            </a:r>
          </a:p>
          <a:p>
            <a:pPr>
              <a:buNone/>
            </a:pPr>
            <a:r>
              <a:rPr lang="en-US" sz="2000" dirty="0">
                <a:latin typeface="Cambria Math" panose="02040503050406030204" pitchFamily="18" charset="0"/>
                <a:ea typeface="Cambria Math" panose="02040503050406030204" pitchFamily="18" charset="0"/>
              </a:rPr>
              <a:t>	</a:t>
            </a:r>
            <a:r>
              <a:rPr lang="en-US" sz="2000" b="1" dirty="0">
                <a:latin typeface="Cambria Math" panose="02040503050406030204" pitchFamily="18" charset="0"/>
                <a:ea typeface="Cambria Math" panose="02040503050406030204" pitchFamily="18" charset="0"/>
              </a:rPr>
              <a:t>e.g.:</a:t>
            </a:r>
            <a:r>
              <a:rPr lang="en-US" sz="2000" dirty="0">
                <a:latin typeface="Cambria Math" panose="02040503050406030204" pitchFamily="18" charset="0"/>
                <a:ea typeface="Cambria Math" panose="02040503050406030204" pitchFamily="18" charset="0"/>
              </a:rPr>
              <a:t>-select max(curbal) “max” from acct_mstr;</a:t>
            </a:r>
          </a:p>
          <a:p>
            <a:pPr>
              <a:buNone/>
            </a:pPr>
            <a:r>
              <a:rPr lang="en-US" sz="2000" b="1" dirty="0">
                <a:latin typeface="Cambria Math" panose="02040503050406030204" pitchFamily="18" charset="0"/>
                <a:ea typeface="Cambria Math" panose="02040503050406030204" pitchFamily="18" charset="0"/>
              </a:rPr>
              <a:t>   output</a:t>
            </a:r>
            <a:r>
              <a:rPr lang="en-US" sz="2000" dirty="0">
                <a:latin typeface="Cambria Math" panose="02040503050406030204" pitchFamily="18" charset="0"/>
                <a:ea typeface="Cambria Math" panose="02040503050406030204" pitchFamily="18" charset="0"/>
              </a:rPr>
              <a:t>:  max</a:t>
            </a:r>
          </a:p>
          <a:p>
            <a:pPr>
              <a:buNone/>
            </a:pPr>
            <a:r>
              <a:rPr lang="en-US" sz="2000" dirty="0">
                <a:latin typeface="Cambria Math" panose="02040503050406030204" pitchFamily="18" charset="0"/>
                <a:ea typeface="Cambria Math" panose="02040503050406030204" pitchFamily="18" charset="0"/>
              </a:rPr>
              <a:t>		    ----------</a:t>
            </a:r>
          </a:p>
          <a:p>
            <a:pPr>
              <a:buNone/>
            </a:pPr>
            <a:r>
              <a:rPr lang="en-US" sz="2000" b="1"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120000</a:t>
            </a:r>
            <a:r>
              <a:rPr lang="en-US" sz="2000" b="1" dirty="0">
                <a:latin typeface="Cambria Math" panose="02040503050406030204" pitchFamily="18" charset="0"/>
                <a:ea typeface="Cambria Math" panose="02040503050406030204" pitchFamily="18" charset="0"/>
              </a:rPr>
              <a:t>	</a:t>
            </a:r>
            <a:endParaRPr lang="en-US" sz="2000" dirty="0">
              <a:latin typeface="Cambria Math" panose="02040503050406030204" pitchFamily="18" charset="0"/>
              <a:ea typeface="Cambria Math" panose="02040503050406030204" pitchFamily="18" charset="0"/>
            </a:endParaRPr>
          </a:p>
          <a:p>
            <a:pPr marL="0" indent="0">
              <a:buNone/>
            </a:pPr>
            <a:r>
              <a:rPr lang="en-US" sz="2000" dirty="0">
                <a:latin typeface="Cambria Math" panose="02040503050406030204" pitchFamily="18" charset="0"/>
                <a:ea typeface="Cambria Math" panose="02040503050406030204" pitchFamily="18" charset="0"/>
              </a:rPr>
              <a:t>5.</a:t>
            </a:r>
            <a:r>
              <a:rPr lang="en-US" sz="2000" b="1" u="sng" dirty="0">
                <a:solidFill>
                  <a:schemeClr val="accent1">
                    <a:lumMod val="75000"/>
                  </a:schemeClr>
                </a:solidFill>
                <a:latin typeface="Cambria Math" panose="02040503050406030204" pitchFamily="18" charset="0"/>
                <a:ea typeface="Cambria Math" panose="02040503050406030204" pitchFamily="18" charset="0"/>
              </a:rPr>
              <a:t>SUM</a:t>
            </a:r>
            <a:r>
              <a:rPr lang="en-US" sz="2000" dirty="0">
                <a:latin typeface="Cambria Math" panose="02040503050406030204" pitchFamily="18" charset="0"/>
                <a:ea typeface="Cambria Math" panose="02040503050406030204" pitchFamily="18" charset="0"/>
              </a:rPr>
              <a:t>:-Returns the sum of the value of ‘n’</a:t>
            </a:r>
          </a:p>
          <a:p>
            <a:pPr>
              <a:buNone/>
            </a:pPr>
            <a:r>
              <a:rPr lang="en-US" sz="2000" dirty="0">
                <a:latin typeface="Cambria Math" panose="02040503050406030204" pitchFamily="18" charset="0"/>
                <a:ea typeface="Cambria Math" panose="02040503050406030204" pitchFamily="18" charset="0"/>
              </a:rPr>
              <a:t>	</a:t>
            </a:r>
            <a:r>
              <a:rPr lang="en-US" sz="2000" b="1" dirty="0">
                <a:latin typeface="Cambria Math" panose="02040503050406030204" pitchFamily="18" charset="0"/>
                <a:ea typeface="Cambria Math" panose="02040503050406030204" pitchFamily="18" charset="0"/>
              </a:rPr>
              <a:t>e.g.</a:t>
            </a:r>
            <a:r>
              <a:rPr lang="en-US" sz="2000" dirty="0">
                <a:latin typeface="Cambria Math" panose="02040503050406030204" pitchFamily="18" charset="0"/>
                <a:ea typeface="Cambria Math" panose="02040503050406030204" pitchFamily="18" charset="0"/>
              </a:rPr>
              <a:t>:-select sum(curbal) “total” from acct_mstr;</a:t>
            </a:r>
          </a:p>
          <a:p>
            <a:pPr>
              <a:buNone/>
            </a:pPr>
            <a:r>
              <a:rPr lang="en-US" sz="2000" dirty="0">
                <a:latin typeface="Cambria Math" panose="02040503050406030204" pitchFamily="18" charset="0"/>
                <a:ea typeface="Cambria Math" panose="02040503050406030204" pitchFamily="18" charset="0"/>
              </a:rPr>
              <a:t>	</a:t>
            </a:r>
            <a:r>
              <a:rPr lang="en-US" sz="2000" b="1" dirty="0">
                <a:latin typeface="Cambria Math" panose="02040503050406030204" pitchFamily="18" charset="0"/>
                <a:ea typeface="Cambria Math" panose="02040503050406030204" pitchFamily="18" charset="0"/>
              </a:rPr>
              <a:t> output</a:t>
            </a:r>
            <a:r>
              <a:rPr lang="en-US" sz="2000" dirty="0">
                <a:latin typeface="Cambria Math" panose="02040503050406030204" pitchFamily="18" charset="0"/>
                <a:ea typeface="Cambria Math" panose="02040503050406030204" pitchFamily="18" charset="0"/>
              </a:rPr>
              <a:t>: Total		      </a:t>
            </a:r>
          </a:p>
          <a:p>
            <a:pPr>
              <a:buNone/>
            </a:pPr>
            <a:r>
              <a:rPr lang="en-US" sz="2000" dirty="0">
                <a:latin typeface="Cambria Math" panose="02040503050406030204" pitchFamily="18" charset="0"/>
                <a:ea typeface="Cambria Math" panose="02040503050406030204" pitchFamily="18" charset="0"/>
              </a:rPr>
              <a:t>		    ----------</a:t>
            </a:r>
          </a:p>
          <a:p>
            <a:pPr>
              <a:buNone/>
            </a:pPr>
            <a:r>
              <a:rPr lang="en-US" sz="2000" b="1" dirty="0">
                <a:latin typeface="Cambria Math" panose="02040503050406030204" pitchFamily="18" charset="0"/>
                <a:ea typeface="Cambria Math" panose="02040503050406030204" pitchFamily="18" charset="0"/>
              </a:rPr>
              <a:t>		     </a:t>
            </a:r>
            <a:r>
              <a:rPr lang="en-US" sz="2000" dirty="0">
                <a:latin typeface="Cambria Math" panose="02040503050406030204" pitchFamily="18" charset="0"/>
                <a:ea typeface="Cambria Math" panose="02040503050406030204" pitchFamily="18" charset="0"/>
              </a:rPr>
              <a:t>1350000</a:t>
            </a:r>
            <a:r>
              <a:rPr lang="en-US" sz="2000" b="1" dirty="0">
                <a:latin typeface="Cambria Math" panose="02040503050406030204" pitchFamily="18" charset="0"/>
                <a:ea typeface="Cambria Math" panose="02040503050406030204" pitchFamily="18" charset="0"/>
              </a:rPr>
              <a:t>	</a:t>
            </a:r>
            <a:endParaRPr lang="en-US" sz="2000" dirty="0">
              <a:latin typeface="Cambria Math" panose="02040503050406030204" pitchFamily="18" charset="0"/>
              <a:ea typeface="Cambria Math" panose="02040503050406030204" pitchFamily="18" charset="0"/>
            </a:endParaRPr>
          </a:p>
          <a:p>
            <a:pPr>
              <a:buNone/>
            </a:pPr>
            <a:endParaRPr lang="en-US" sz="2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274357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514600"/>
            <a:ext cx="2514600" cy="706090"/>
          </a:xfrm>
        </p:spPr>
        <p:txBody>
          <a:bodyPr>
            <a:noAutofit/>
          </a:bodyPr>
          <a:lstStyle/>
          <a:p>
            <a:r>
              <a:rPr lang="en-US" sz="3200" b="1" dirty="0">
                <a:solidFill>
                  <a:schemeClr val="tx1"/>
                </a:solidFill>
                <a:latin typeface="Cambria Math" panose="02040503050406030204" pitchFamily="18" charset="0"/>
                <a:ea typeface="Cambria Math" panose="02040503050406030204" pitchFamily="18" charset="0"/>
              </a:rPr>
              <a:t>CONVERSION FUNCTIONS</a:t>
            </a:r>
            <a:endParaRPr lang="en-IN" sz="3200" b="1" dirty="0">
              <a:solidFill>
                <a:schemeClr val="tx1"/>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4294967295"/>
          </p:nvPr>
        </p:nvSpPr>
        <p:spPr>
          <a:xfrm>
            <a:off x="2667002" y="609600"/>
            <a:ext cx="6095998" cy="5410200"/>
          </a:xfrm>
        </p:spPr>
        <p:txBody>
          <a:bodyPr>
            <a:noAutofit/>
          </a:bodyPr>
          <a:lstStyle/>
          <a:p>
            <a:r>
              <a:rPr lang="en-US" sz="1600" b="1" dirty="0">
                <a:solidFill>
                  <a:schemeClr val="tx1"/>
                </a:solidFill>
                <a:latin typeface="Cambria Math" panose="02040503050406030204" pitchFamily="18" charset="0"/>
                <a:ea typeface="Cambria Math" panose="02040503050406030204" pitchFamily="18" charset="0"/>
              </a:rPr>
              <a:t>TO_CHAR(n [,fmt])</a:t>
            </a:r>
          </a:p>
          <a:p>
            <a:pPr>
              <a:buNone/>
            </a:pPr>
            <a:r>
              <a:rPr lang="en-US" sz="1600" dirty="0">
                <a:latin typeface="Cambria Math" panose="02040503050406030204" pitchFamily="18" charset="0"/>
                <a:ea typeface="Cambria Math" panose="02040503050406030204" pitchFamily="18" charset="0"/>
              </a:rPr>
              <a:t> Converts a value of number datatype to character datatype and date datatype. </a:t>
            </a:r>
          </a:p>
          <a:p>
            <a:pPr marL="0" indent="0">
              <a:buNone/>
            </a:pPr>
            <a:r>
              <a:rPr lang="en-US" sz="1600" dirty="0">
                <a:latin typeface="Cambria Math" panose="02040503050406030204" pitchFamily="18" charset="0"/>
                <a:ea typeface="Cambria Math" panose="02040503050406030204" pitchFamily="18" charset="0"/>
              </a:rPr>
              <a:t>     </a:t>
            </a:r>
            <a:endParaRPr lang="en-US" sz="1600" i="1" dirty="0">
              <a:latin typeface="Cambria Math" panose="02040503050406030204" pitchFamily="18" charset="0"/>
              <a:ea typeface="Cambria Math" panose="02040503050406030204" pitchFamily="18" charset="0"/>
            </a:endParaRPr>
          </a:p>
          <a:p>
            <a:pPr marL="0" indent="0">
              <a:buNone/>
            </a:pPr>
            <a:r>
              <a:rPr lang="en-US" sz="1600" b="1" i="1" dirty="0">
                <a:latin typeface="Cambria Math" panose="02040503050406030204" pitchFamily="18" charset="0"/>
                <a:ea typeface="Cambria Math" panose="02040503050406030204" pitchFamily="18" charset="0"/>
              </a:rPr>
              <a:t>     Example:	</a:t>
            </a:r>
          </a:p>
          <a:p>
            <a:pPr marL="0" indent="0">
              <a:buNone/>
            </a:pPr>
            <a:r>
              <a:rPr lang="en-US" sz="1600" dirty="0">
                <a:latin typeface="Cambria Math" panose="02040503050406030204" pitchFamily="18" charset="0"/>
                <a:ea typeface="Cambria Math" panose="02040503050406030204" pitchFamily="18" charset="0"/>
              </a:rPr>
              <a:t>     SELECT  SYSDATE, TO_CHAR(‘Oct-05-2020’,’mon’) FROM DUAL;</a:t>
            </a:r>
          </a:p>
          <a:p>
            <a:pPr marL="0" indent="0">
              <a:buNone/>
            </a:pPr>
            <a:r>
              <a:rPr lang="en-US" sz="1600" b="1" i="1" dirty="0">
                <a:latin typeface="Cambria Math" panose="02040503050406030204" pitchFamily="18" charset="0"/>
                <a:ea typeface="Cambria Math" panose="02040503050406030204" pitchFamily="18" charset="0"/>
              </a:rPr>
              <a:t>     OUTPUT:</a:t>
            </a:r>
          </a:p>
          <a:p>
            <a:pPr marL="0" indent="0">
              <a:buNone/>
            </a:pPr>
            <a:r>
              <a:rPr lang="en-US" sz="1600" i="1" dirty="0">
                <a:latin typeface="Cambria Math" panose="02040503050406030204" pitchFamily="18" charset="0"/>
                <a:ea typeface="Cambria Math" panose="02040503050406030204" pitchFamily="18" charset="0"/>
              </a:rPr>
              <a:t>     SYSDATE                           TO _CHAR(S</a:t>
            </a:r>
          </a:p>
          <a:p>
            <a:pPr marL="0" indent="0">
              <a:buNone/>
            </a:pPr>
            <a:r>
              <a:rPr lang="en-US" sz="1600" i="1" dirty="0">
                <a:latin typeface="Cambria Math" panose="02040503050406030204" pitchFamily="18" charset="0"/>
                <a:ea typeface="Cambria Math" panose="02040503050406030204" pitchFamily="18" charset="0"/>
              </a:rPr>
              <a:t>           -------------- -------------           ----------------------------------------</a:t>
            </a:r>
          </a:p>
          <a:p>
            <a:pPr marL="0" indent="0">
              <a:buNone/>
            </a:pPr>
            <a:r>
              <a:rPr lang="en-US" sz="1600" i="1" dirty="0">
                <a:latin typeface="Cambria Math" panose="02040503050406030204" pitchFamily="18" charset="0"/>
                <a:ea typeface="Cambria Math" panose="02040503050406030204" pitchFamily="18" charset="0"/>
              </a:rPr>
              <a:t>      Oct-05-2020			 Oct</a:t>
            </a:r>
            <a:endParaRPr lang="en-US"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0742799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idx="4294967295"/>
          </p:nvPr>
        </p:nvSpPr>
        <p:spPr>
          <a:xfrm>
            <a:off x="0" y="2722910"/>
            <a:ext cx="2429435" cy="706090"/>
          </a:xfrm>
        </p:spPr>
        <p:txBody>
          <a:bodyPr>
            <a:noAutofit/>
          </a:bodyPr>
          <a:lstStyle/>
          <a:p>
            <a:r>
              <a:rPr lang="en-US" sz="4000" b="1" dirty="0">
                <a:solidFill>
                  <a:schemeClr val="tx1"/>
                </a:solidFill>
                <a:latin typeface="Cambria Math" panose="02040503050406030204" pitchFamily="18" charset="0"/>
                <a:ea typeface="Cambria Math" panose="02040503050406030204" pitchFamily="18" charset="0"/>
              </a:rPr>
              <a:t>Date </a:t>
            </a:r>
            <a:br>
              <a:rPr lang="en-US" sz="4000" b="1" dirty="0">
                <a:solidFill>
                  <a:schemeClr val="tx1"/>
                </a:solidFill>
                <a:latin typeface="Cambria Math" panose="02040503050406030204" pitchFamily="18" charset="0"/>
                <a:ea typeface="Cambria Math" panose="02040503050406030204" pitchFamily="18" charset="0"/>
              </a:rPr>
            </a:br>
            <a:r>
              <a:rPr lang="en-US" sz="4000" b="1" dirty="0">
                <a:solidFill>
                  <a:schemeClr val="tx1"/>
                </a:solidFill>
                <a:latin typeface="Cambria Math" panose="02040503050406030204" pitchFamily="18" charset="0"/>
                <a:ea typeface="Cambria Math" panose="02040503050406030204" pitchFamily="18" charset="0"/>
              </a:rPr>
              <a:t>Functions</a:t>
            </a:r>
            <a:endParaRPr lang="en-IN" sz="4000" b="1" dirty="0">
              <a:solidFill>
                <a:schemeClr val="tx1"/>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4294967295"/>
          </p:nvPr>
        </p:nvSpPr>
        <p:spPr>
          <a:xfrm>
            <a:off x="2819400" y="762000"/>
            <a:ext cx="6096000" cy="5885719"/>
          </a:xfrm>
        </p:spPr>
        <p:txBody>
          <a:bodyPr>
            <a:noAutofit/>
          </a:bodyPr>
          <a:lstStyle/>
          <a:p>
            <a:r>
              <a:rPr lang="en-US" sz="2000" b="1" dirty="0">
                <a:solidFill>
                  <a:schemeClr val="tx1"/>
                </a:solidFill>
                <a:latin typeface="Cambria Math" panose="02040503050406030204" pitchFamily="18" charset="0"/>
                <a:ea typeface="Cambria Math" panose="02040503050406030204" pitchFamily="18" charset="0"/>
              </a:rPr>
              <a:t>SYSDATE</a:t>
            </a:r>
            <a:r>
              <a:rPr lang="en-US" sz="1600" dirty="0">
                <a:solidFill>
                  <a:schemeClr val="accent2">
                    <a:lumMod val="75000"/>
                  </a:schemeClr>
                </a:solidFill>
                <a:latin typeface="Cambria Math" panose="02040503050406030204" pitchFamily="18" charset="0"/>
                <a:ea typeface="Cambria Math" panose="02040503050406030204" pitchFamily="18" charset="0"/>
              </a:rPr>
              <a:t>     </a:t>
            </a:r>
          </a:p>
          <a:p>
            <a:pPr marL="0" indent="0" algn="just">
              <a:buNone/>
            </a:pPr>
            <a:r>
              <a:rPr lang="en-US" sz="1600" dirty="0">
                <a:latin typeface="Cambria Math" panose="02040503050406030204" pitchFamily="18" charset="0"/>
                <a:ea typeface="Cambria Math" panose="02040503050406030204" pitchFamily="18" charset="0"/>
              </a:rPr>
              <a:t> SYSDATE  is a pseudo-column that returns the system’s current date and time of type DATE. </a:t>
            </a:r>
          </a:p>
          <a:p>
            <a:pPr marL="0" indent="0" algn="just">
              <a:buNone/>
            </a:pPr>
            <a:r>
              <a:rPr lang="en-US" sz="1600" dirty="0">
                <a:latin typeface="Cambria Math" panose="02040503050406030204" pitchFamily="18" charset="0"/>
                <a:ea typeface="Cambria Math" panose="02040503050406030204" pitchFamily="18" charset="0"/>
              </a:rPr>
              <a:t>The SYSDATE can be used just as any other column name. it takes no arguments. </a:t>
            </a:r>
          </a:p>
          <a:p>
            <a:pPr marL="457200" lvl="1" indent="0">
              <a:buNone/>
            </a:pPr>
            <a:r>
              <a:rPr lang="en-US" sz="1600" i="1" dirty="0">
                <a:latin typeface="Cambria Math" panose="02040503050406030204" pitchFamily="18" charset="0"/>
                <a:ea typeface="Cambria Math" panose="02040503050406030204" pitchFamily="18" charset="0"/>
              </a:rPr>
              <a:t>          </a:t>
            </a:r>
            <a:r>
              <a:rPr lang="en-US" sz="1600" b="1" i="1" dirty="0">
                <a:solidFill>
                  <a:schemeClr val="tx1"/>
                </a:solidFill>
                <a:latin typeface="Cambria Math" panose="02040503050406030204" pitchFamily="18" charset="0"/>
                <a:ea typeface="Cambria Math" panose="02040503050406030204" pitchFamily="18" charset="0"/>
              </a:rPr>
              <a:t>Example</a:t>
            </a:r>
            <a:r>
              <a:rPr lang="en-US" sz="1600" b="1" i="1" dirty="0">
                <a:latin typeface="Cambria Math" panose="02040503050406030204" pitchFamily="18" charset="0"/>
                <a:ea typeface="Cambria Math" panose="02040503050406030204" pitchFamily="18" charset="0"/>
              </a:rPr>
              <a:t>:</a:t>
            </a:r>
          </a:p>
          <a:p>
            <a:pPr marL="0" indent="0">
              <a:buNone/>
            </a:pPr>
            <a:r>
              <a:rPr lang="en-US" sz="1600" b="1" i="1" dirty="0">
                <a:latin typeface="Cambria Math" panose="02040503050406030204" pitchFamily="18" charset="0"/>
                <a:ea typeface="Cambria Math" panose="02040503050406030204" pitchFamily="18" charset="0"/>
              </a:rPr>
              <a:t>                                 </a:t>
            </a:r>
            <a:r>
              <a:rPr lang="en-US" sz="1600" dirty="0">
                <a:latin typeface="Cambria Math" panose="02040503050406030204" pitchFamily="18" charset="0"/>
                <a:ea typeface="Cambria Math" panose="02040503050406030204" pitchFamily="18" charset="0"/>
              </a:rPr>
              <a:t>SELECT  SYSDATE FROM DUAL; </a:t>
            </a:r>
          </a:p>
          <a:p>
            <a:pPr marL="0" indent="0">
              <a:buNone/>
            </a:pPr>
            <a:r>
              <a:rPr lang="en-US" sz="1600" b="1" i="1" dirty="0">
                <a:latin typeface="Cambria Math" panose="02040503050406030204" pitchFamily="18" charset="0"/>
                <a:ea typeface="Cambria Math" panose="02040503050406030204" pitchFamily="18" charset="0"/>
              </a:rPr>
              <a:t>               </a:t>
            </a:r>
          </a:p>
          <a:p>
            <a:pPr marL="0" indent="0">
              <a:buNone/>
            </a:pPr>
            <a:r>
              <a:rPr lang="en-US" sz="1600" b="1" i="1" dirty="0">
                <a:latin typeface="Cambria Math" panose="02040503050406030204" pitchFamily="18" charset="0"/>
                <a:ea typeface="Cambria Math" panose="02040503050406030204" pitchFamily="18" charset="0"/>
              </a:rPr>
              <a:t>	output: </a:t>
            </a:r>
            <a:r>
              <a:rPr lang="en-US" sz="1600" dirty="0">
                <a:latin typeface="Cambria Math" panose="02040503050406030204" pitchFamily="18" charset="0"/>
                <a:ea typeface="Cambria Math" panose="02040503050406030204" pitchFamily="18" charset="0"/>
              </a:rPr>
              <a:t>Oct-03-2020</a:t>
            </a:r>
          </a:p>
          <a:p>
            <a:pPr marL="0" indent="0">
              <a:buNone/>
            </a:pPr>
            <a:endParaRPr lang="en-US" sz="1600" b="1" i="1" dirty="0">
              <a:latin typeface="Cambria Math" panose="02040503050406030204" pitchFamily="18" charset="0"/>
              <a:ea typeface="Cambria Math" panose="02040503050406030204" pitchFamily="18" charset="0"/>
            </a:endParaRPr>
          </a:p>
          <a:p>
            <a:r>
              <a:rPr lang="en-US" sz="2000" b="1" dirty="0">
                <a:solidFill>
                  <a:schemeClr val="tx1"/>
                </a:solidFill>
                <a:latin typeface="Cambria Math" panose="02040503050406030204" pitchFamily="18" charset="0"/>
                <a:ea typeface="Cambria Math" panose="02040503050406030204" pitchFamily="18" charset="0"/>
              </a:rPr>
              <a:t>ADD_MONTH(</a:t>
            </a:r>
            <a:r>
              <a:rPr lang="en-US" sz="2000" b="1" dirty="0" err="1">
                <a:solidFill>
                  <a:schemeClr val="tx1"/>
                </a:solidFill>
                <a:latin typeface="Cambria Math" panose="02040503050406030204" pitchFamily="18" charset="0"/>
                <a:ea typeface="Cambria Math" panose="02040503050406030204" pitchFamily="18" charset="0"/>
              </a:rPr>
              <a:t>d,n</a:t>
            </a:r>
            <a:r>
              <a:rPr lang="en-US" sz="2000" b="1" dirty="0">
                <a:solidFill>
                  <a:schemeClr val="tx1"/>
                </a:solidFill>
                <a:latin typeface="Cambria Math" panose="02040503050406030204" pitchFamily="18" charset="0"/>
                <a:ea typeface="Cambria Math" panose="02040503050406030204" pitchFamily="18" charset="0"/>
              </a:rPr>
              <a:t>)</a:t>
            </a:r>
          </a:p>
          <a:p>
            <a:pPr marL="0" indent="0">
              <a:buNone/>
            </a:pPr>
            <a:r>
              <a:rPr lang="en-US" sz="1600" dirty="0">
                <a:solidFill>
                  <a:schemeClr val="accent2">
                    <a:lumMod val="75000"/>
                  </a:schemeClr>
                </a:solidFill>
                <a:latin typeface="Cambria Math" panose="02040503050406030204" pitchFamily="18" charset="0"/>
                <a:ea typeface="Cambria Math" panose="02040503050406030204" pitchFamily="18" charset="0"/>
              </a:rPr>
              <a:t>       </a:t>
            </a:r>
          </a:p>
          <a:p>
            <a:pPr marL="0" indent="0">
              <a:buNone/>
            </a:pPr>
            <a:r>
              <a:rPr lang="en-US" sz="1600" dirty="0">
                <a:solidFill>
                  <a:schemeClr val="accent2">
                    <a:lumMod val="75000"/>
                  </a:schemeClr>
                </a:solidFill>
                <a:latin typeface="Cambria Math" panose="02040503050406030204" pitchFamily="18" charset="0"/>
                <a:ea typeface="Cambria Math" panose="02040503050406030204" pitchFamily="18" charset="0"/>
              </a:rPr>
              <a:t> </a:t>
            </a:r>
            <a:r>
              <a:rPr lang="en-US" sz="1600" dirty="0">
                <a:latin typeface="Cambria Math" panose="02040503050406030204" pitchFamily="18" charset="0"/>
                <a:ea typeface="Cambria Math" panose="02040503050406030204" pitchFamily="18" charset="0"/>
              </a:rPr>
              <a:t>This function adds months to  date, it returns a date as result.</a:t>
            </a:r>
          </a:p>
          <a:p>
            <a:pPr marL="0" indent="0">
              <a:buNone/>
            </a:pPr>
            <a:r>
              <a:rPr lang="en-US" sz="1600" b="1" i="1" dirty="0">
                <a:latin typeface="Cambria Math" panose="02040503050406030204" pitchFamily="18" charset="0"/>
                <a:ea typeface="Cambria Math" panose="02040503050406030204" pitchFamily="18" charset="0"/>
              </a:rPr>
              <a:t>Example:  </a:t>
            </a:r>
          </a:p>
          <a:p>
            <a:pPr marL="0" indent="0">
              <a:buNone/>
            </a:pPr>
            <a:r>
              <a:rPr lang="en-US" sz="1600" b="1" dirty="0">
                <a:latin typeface="Cambria Math" panose="02040503050406030204" pitchFamily="18" charset="0"/>
                <a:ea typeface="Cambria Math" panose="02040503050406030204" pitchFamily="18" charset="0"/>
              </a:rPr>
              <a:t>              </a:t>
            </a:r>
            <a:r>
              <a:rPr lang="en-US" sz="1600" dirty="0">
                <a:latin typeface="Cambria Math" panose="02040503050406030204" pitchFamily="18" charset="0"/>
                <a:ea typeface="Cambria Math" panose="02040503050406030204" pitchFamily="18" charset="0"/>
              </a:rPr>
              <a:t>SELECT SYSDATE, ADD_MONTHS(SYSDATE,4) FROM DUAL;</a:t>
            </a:r>
          </a:p>
          <a:p>
            <a:pPr marL="0" indent="0">
              <a:buNone/>
            </a:pPr>
            <a:r>
              <a:rPr lang="en-US" sz="1600" dirty="0">
                <a:latin typeface="Cambria Math" panose="02040503050406030204" pitchFamily="18" charset="0"/>
                <a:ea typeface="Cambria Math" panose="02040503050406030204" pitchFamily="18" charset="0"/>
              </a:rPr>
              <a:t> </a:t>
            </a:r>
          </a:p>
          <a:p>
            <a:pPr marL="0" indent="0">
              <a:buNone/>
            </a:pPr>
            <a:r>
              <a:rPr lang="en-US" sz="1600" b="1" i="1" dirty="0">
                <a:latin typeface="Cambria Math" panose="02040503050406030204" pitchFamily="18" charset="0"/>
                <a:ea typeface="Cambria Math" panose="02040503050406030204" pitchFamily="18" charset="0"/>
              </a:rPr>
              <a:t>OUTPUT:</a:t>
            </a:r>
          </a:p>
          <a:p>
            <a:pPr marL="0" indent="0">
              <a:buNone/>
            </a:pPr>
            <a:r>
              <a:rPr lang="en-US" sz="1600" dirty="0">
                <a:latin typeface="Cambria Math" panose="02040503050406030204" pitchFamily="18" charset="0"/>
                <a:ea typeface="Cambria Math" panose="02040503050406030204" pitchFamily="18" charset="0"/>
              </a:rPr>
              <a:t> SYSDATE        ADD_MONTHS</a:t>
            </a:r>
          </a:p>
          <a:p>
            <a:pPr marL="0" indent="0">
              <a:buNone/>
            </a:pPr>
            <a:r>
              <a:rPr lang="en-US" sz="1600" dirty="0">
                <a:latin typeface="Cambria Math" panose="02040503050406030204" pitchFamily="18" charset="0"/>
                <a:ea typeface="Cambria Math" panose="02040503050406030204" pitchFamily="18" charset="0"/>
              </a:rPr>
              <a:t>------------           ------------------</a:t>
            </a:r>
          </a:p>
          <a:p>
            <a:pPr marL="0" indent="0">
              <a:buNone/>
            </a:pPr>
            <a:r>
              <a:rPr lang="en-US" sz="1600" dirty="0">
                <a:latin typeface="Cambria Math" panose="02040503050406030204" pitchFamily="18" charset="0"/>
                <a:ea typeface="Cambria Math" panose="02040503050406030204" pitchFamily="18" charset="0"/>
              </a:rPr>
              <a:t>Oct-03-2020     Feb-03-2021</a:t>
            </a:r>
          </a:p>
          <a:p>
            <a:pPr marL="0" indent="0" algn="just">
              <a:buNone/>
            </a:pPr>
            <a:r>
              <a:rPr lang="en-US" sz="1600" b="1" i="1" dirty="0">
                <a:latin typeface="Cambria Math" panose="02040503050406030204" pitchFamily="18" charset="0"/>
                <a:ea typeface="Cambria Math" panose="02040503050406030204" pitchFamily="18" charset="0"/>
                <a:cs typeface="Cordia New" pitchFamily="34" charset="-34"/>
              </a:rPr>
              <a:t>                                                                                                                     </a:t>
            </a:r>
          </a:p>
        </p:txBody>
      </p:sp>
    </p:spTree>
    <p:extLst>
      <p:ext uri="{BB962C8B-B14F-4D97-AF65-F5344CB8AC3E}">
        <p14:creationId xmlns:p14="http://schemas.microsoft.com/office/powerpoint/2010/main" val="4034119473"/>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667001" y="132420"/>
            <a:ext cx="6096000" cy="6593160"/>
          </a:xfrm>
        </p:spPr>
        <p:txBody>
          <a:bodyPr>
            <a:normAutofit fontScale="85000" lnSpcReduction="10000"/>
          </a:bodyPr>
          <a:lstStyle/>
          <a:p>
            <a:r>
              <a:rPr lang="en-US" sz="2800" b="1" dirty="0">
                <a:solidFill>
                  <a:schemeClr val="tx2"/>
                </a:solidFill>
                <a:latin typeface="Cambria Math" panose="02040503050406030204" pitchFamily="18" charset="0"/>
                <a:ea typeface="Cambria Math" panose="02040503050406030204" pitchFamily="18" charset="0"/>
              </a:rPr>
              <a:t>MONTHS_BETWEEN(d1,d2) </a:t>
            </a:r>
          </a:p>
          <a:p>
            <a:pPr marL="0" indent="0" algn="just">
              <a:buNone/>
            </a:pPr>
            <a:r>
              <a:rPr lang="en-US" sz="1800" dirty="0">
                <a:latin typeface="Cambria Math" panose="02040503050406030204" pitchFamily="18" charset="0"/>
                <a:ea typeface="Cambria Math" panose="02040503050406030204" pitchFamily="18" charset="0"/>
              </a:rPr>
              <a:t>          </a:t>
            </a:r>
            <a:r>
              <a:rPr lang="en-US" sz="2200" dirty="0">
                <a:latin typeface="Cambria Math" panose="02040503050406030204" pitchFamily="18" charset="0"/>
                <a:ea typeface="Cambria Math" panose="02040503050406030204" pitchFamily="18" charset="0"/>
              </a:rPr>
              <a:t>This  function returns the number of months between two dates,  d1and d2. if d1 is later than d2, then the result is positive. If d1 is earlier than d2, then the result is negative. The output will be a number</a:t>
            </a:r>
            <a:r>
              <a:rPr lang="en-US" sz="1800" dirty="0">
                <a:latin typeface="Cambria Math" panose="02040503050406030204" pitchFamily="18" charset="0"/>
                <a:ea typeface="Cambria Math" panose="02040503050406030204" pitchFamily="18" charset="0"/>
              </a:rPr>
              <a:t>.</a:t>
            </a:r>
          </a:p>
          <a:p>
            <a:pPr marL="0" indent="0">
              <a:buNone/>
            </a:pPr>
            <a:r>
              <a:rPr lang="en-US" sz="1800" b="1" i="1" dirty="0">
                <a:latin typeface="Cambria Math" panose="02040503050406030204" pitchFamily="18" charset="0"/>
                <a:ea typeface="Cambria Math" panose="02040503050406030204" pitchFamily="18" charset="0"/>
              </a:rPr>
              <a:t>     Example</a:t>
            </a:r>
          </a:p>
          <a:p>
            <a:pPr marL="0" indent="0" algn="ctr">
              <a:buNone/>
            </a:pPr>
            <a:r>
              <a:rPr lang="en-US" sz="1800" dirty="0">
                <a:latin typeface="Cambria Math" panose="02040503050406030204" pitchFamily="18" charset="0"/>
                <a:ea typeface="Cambria Math" panose="02040503050406030204" pitchFamily="18" charset="0"/>
              </a:rPr>
              <a:t> SELECT  MONTHS_BETWEEN(“25-DEC-81’,25-DEC-79’) AS DATE1,           MONTHS_BETWEEN(‘25-DEC-79’,’25-DEC-81’) AS DATE2 FROM DUAL;</a:t>
            </a:r>
          </a:p>
          <a:p>
            <a:pPr marL="0" indent="0">
              <a:buNone/>
            </a:pPr>
            <a:r>
              <a:rPr lang="en-US" sz="1800" b="1" i="1" dirty="0">
                <a:latin typeface="Cambria Math" panose="02040503050406030204" pitchFamily="18" charset="0"/>
                <a:ea typeface="Cambria Math" panose="02040503050406030204" pitchFamily="18" charset="0"/>
              </a:rPr>
              <a:t>OUTPUT:</a:t>
            </a:r>
          </a:p>
          <a:p>
            <a:pPr marL="0" indent="0">
              <a:buNone/>
            </a:pPr>
            <a:r>
              <a:rPr lang="en-US" sz="1800" dirty="0">
                <a:latin typeface="Cambria Math" panose="02040503050406030204" pitchFamily="18" charset="0"/>
                <a:ea typeface="Cambria Math" panose="02040503050406030204" pitchFamily="18" charset="0"/>
              </a:rPr>
              <a:t>DATE1        DATE2</a:t>
            </a:r>
          </a:p>
          <a:p>
            <a:pPr marL="0" indent="0">
              <a:buNone/>
            </a:pPr>
            <a:r>
              <a:rPr lang="en-US" sz="1800" dirty="0">
                <a:latin typeface="Cambria Math" panose="02040503050406030204" pitchFamily="18" charset="0"/>
                <a:ea typeface="Cambria Math" panose="02040503050406030204" pitchFamily="18" charset="0"/>
              </a:rPr>
              <a:t>---------      ----------</a:t>
            </a:r>
          </a:p>
          <a:p>
            <a:pPr>
              <a:buAutoNum type="arabicPlain" startAt="24"/>
            </a:pPr>
            <a:r>
              <a:rPr lang="en-US" sz="1800" dirty="0">
                <a:latin typeface="Cambria Math" panose="02040503050406030204" pitchFamily="18" charset="0"/>
                <a:ea typeface="Cambria Math" panose="02040503050406030204" pitchFamily="18" charset="0"/>
              </a:rPr>
              <a:t>              -24</a:t>
            </a:r>
          </a:p>
          <a:p>
            <a:pPr>
              <a:buAutoNum type="arabicPlain" startAt="24"/>
            </a:pPr>
            <a:endParaRPr lang="en-US" sz="1600" b="1" dirty="0">
              <a:latin typeface="Cambria Math" panose="02040503050406030204" pitchFamily="18" charset="0"/>
              <a:ea typeface="Cambria Math" panose="02040503050406030204" pitchFamily="18" charset="0"/>
            </a:endParaRPr>
          </a:p>
          <a:p>
            <a:r>
              <a:rPr lang="en-US" sz="2800" b="1" dirty="0">
                <a:solidFill>
                  <a:schemeClr val="tx2"/>
                </a:solidFill>
                <a:latin typeface="Cambria Math" panose="02040503050406030204" pitchFamily="18" charset="0"/>
                <a:ea typeface="Cambria Math" panose="02040503050406030204" pitchFamily="18" charset="0"/>
              </a:rPr>
              <a:t>NEXT_DAY(DATE,DAY)</a:t>
            </a:r>
          </a:p>
          <a:p>
            <a:pPr marL="0" indent="0">
              <a:buNone/>
            </a:pPr>
            <a:r>
              <a:rPr lang="en-US" sz="2000" b="1" dirty="0">
                <a:latin typeface="Cambria Math" panose="02040503050406030204" pitchFamily="18" charset="0"/>
                <a:ea typeface="Cambria Math" panose="02040503050406030204" pitchFamily="18" charset="0"/>
              </a:rPr>
              <a:t>T</a:t>
            </a:r>
            <a:r>
              <a:rPr lang="en-US" sz="2000" dirty="0">
                <a:latin typeface="Cambria Math" panose="02040503050406030204" pitchFamily="18" charset="0"/>
                <a:ea typeface="Cambria Math" panose="02040503050406030204" pitchFamily="18" charset="0"/>
              </a:rPr>
              <a:t>HIS FUNCTION RETURNS THE DATE OF NEXT SPECIFIED DAY OF THE WEEK AFTER THE ‘DATE’.</a:t>
            </a:r>
          </a:p>
          <a:p>
            <a:pPr marL="0" indent="0">
              <a:buNone/>
            </a:pPr>
            <a:r>
              <a:rPr lang="en-US" sz="2000" b="1" i="1" dirty="0">
                <a:latin typeface="Cambria Math" panose="02040503050406030204" pitchFamily="18" charset="0"/>
                <a:ea typeface="Cambria Math" panose="02040503050406030204" pitchFamily="18" charset="0"/>
              </a:rPr>
              <a:t>EXAMPLE </a:t>
            </a:r>
          </a:p>
          <a:p>
            <a:pPr marL="0" indent="0">
              <a:buNone/>
            </a:pPr>
            <a:r>
              <a:rPr lang="en-US" sz="2000" dirty="0">
                <a:latin typeface="Cambria Math" panose="02040503050406030204" pitchFamily="18" charset="0"/>
                <a:ea typeface="Cambria Math" panose="02040503050406030204" pitchFamily="18" charset="0"/>
              </a:rPr>
              <a:t>SELECT SYSDATE, NEXT_DAY(SYSDATE,’FRIDAY’) FROM DUAL;</a:t>
            </a:r>
          </a:p>
          <a:p>
            <a:pPr marL="0" indent="0">
              <a:buNone/>
            </a:pPr>
            <a:r>
              <a:rPr lang="en-US" sz="2000" b="1" i="1" dirty="0">
                <a:latin typeface="Cambria Math" panose="02040503050406030204" pitchFamily="18" charset="0"/>
                <a:ea typeface="Cambria Math" panose="02040503050406030204" pitchFamily="18" charset="0"/>
              </a:rPr>
              <a:t>OUTPUT:</a:t>
            </a:r>
          </a:p>
          <a:p>
            <a:pPr marL="0" indent="0">
              <a:buNone/>
            </a:pPr>
            <a:r>
              <a:rPr lang="en-US" sz="2000" dirty="0">
                <a:latin typeface="Cambria Math" panose="02040503050406030204" pitchFamily="18" charset="0"/>
                <a:ea typeface="Cambria Math" panose="02040503050406030204" pitchFamily="18" charset="0"/>
              </a:rPr>
              <a:t>SYSDATE     </a:t>
            </a:r>
            <a:r>
              <a:rPr lang="en-US" sz="2000" dirty="0" err="1">
                <a:latin typeface="Cambria Math" panose="02040503050406030204" pitchFamily="18" charset="0"/>
                <a:ea typeface="Cambria Math" panose="02040503050406030204" pitchFamily="18" charset="0"/>
              </a:rPr>
              <a:t>NEXT_Day</a:t>
            </a:r>
            <a:r>
              <a:rPr lang="en-US" sz="2000" dirty="0">
                <a:latin typeface="Cambria Math" panose="02040503050406030204" pitchFamily="18" charset="0"/>
                <a:ea typeface="Cambria Math" panose="02040503050406030204" pitchFamily="18" charset="0"/>
              </a:rPr>
              <a:t>(</a:t>
            </a:r>
          </a:p>
          <a:p>
            <a:pPr marL="0" indent="0">
              <a:buNone/>
            </a:pPr>
            <a:r>
              <a:rPr lang="en-US" sz="1700" dirty="0">
                <a:latin typeface="Cambria Math" panose="02040503050406030204" pitchFamily="18" charset="0"/>
                <a:ea typeface="Cambria Math" panose="02040503050406030204" pitchFamily="18" charset="0"/>
              </a:rPr>
              <a:t>-------------         ---------------</a:t>
            </a:r>
          </a:p>
          <a:p>
            <a:pPr marL="0" indent="0">
              <a:buNone/>
            </a:pPr>
            <a:r>
              <a:rPr lang="en-US" sz="1700" dirty="0">
                <a:latin typeface="Cambria Math" panose="02040503050406030204" pitchFamily="18" charset="0"/>
                <a:ea typeface="Cambria Math" panose="02040503050406030204" pitchFamily="18" charset="0"/>
              </a:rPr>
              <a:t>03-OCT-20         09-oct-20</a:t>
            </a:r>
          </a:p>
          <a:p>
            <a:pPr marL="0" indent="0" algn="ctr">
              <a:buNone/>
            </a:pPr>
            <a:endParaRPr lang="en-IN" sz="2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230189176"/>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743200" y="152400"/>
            <a:ext cx="6019800" cy="6553200"/>
          </a:xfrm>
        </p:spPr>
        <p:txBody>
          <a:bodyPr>
            <a:normAutofit/>
          </a:bodyPr>
          <a:lstStyle/>
          <a:p>
            <a:r>
              <a:rPr lang="en-US" sz="2900" b="1" dirty="0">
                <a:solidFill>
                  <a:schemeClr val="tx1"/>
                </a:solidFill>
                <a:latin typeface="Cambria Math" panose="02040503050406030204" pitchFamily="18" charset="0"/>
                <a:ea typeface="Cambria Math" panose="02040503050406030204" pitchFamily="18" charset="0"/>
              </a:rPr>
              <a:t>LAST_DAY(d)</a:t>
            </a:r>
          </a:p>
          <a:p>
            <a:pPr marL="0" indent="0">
              <a:buNone/>
            </a:pPr>
            <a:r>
              <a:rPr lang="en-US" sz="2200" dirty="0">
                <a:latin typeface="Cambria Math" panose="02040503050406030204" pitchFamily="18" charset="0"/>
                <a:ea typeface="Cambria Math" panose="02040503050406030204" pitchFamily="18" charset="0"/>
              </a:rPr>
              <a:t>     This function returns the date of the last day of the month specified. The result will be a date.</a:t>
            </a:r>
          </a:p>
          <a:p>
            <a:pPr marL="0" indent="0">
              <a:buNone/>
            </a:pPr>
            <a:endParaRPr lang="en-US" sz="2200" b="1" i="1" dirty="0">
              <a:latin typeface="Cambria Math" panose="02040503050406030204" pitchFamily="18" charset="0"/>
              <a:ea typeface="Cambria Math" panose="02040503050406030204" pitchFamily="18" charset="0"/>
            </a:endParaRPr>
          </a:p>
          <a:p>
            <a:pPr marL="0" indent="0">
              <a:buNone/>
            </a:pPr>
            <a:r>
              <a:rPr lang="en-US" sz="2200" b="1" i="1" dirty="0">
                <a:latin typeface="Cambria Math" panose="02040503050406030204" pitchFamily="18" charset="0"/>
                <a:ea typeface="Cambria Math" panose="02040503050406030204" pitchFamily="18" charset="0"/>
              </a:rPr>
              <a:t>Example:</a:t>
            </a:r>
          </a:p>
          <a:p>
            <a:pPr marL="0" indent="0">
              <a:buNone/>
            </a:pPr>
            <a:r>
              <a:rPr lang="en-US" sz="2200" dirty="0">
                <a:latin typeface="Cambria Math" panose="02040503050406030204" pitchFamily="18" charset="0"/>
                <a:ea typeface="Cambria Math" panose="02040503050406030204" pitchFamily="18" charset="0"/>
              </a:rPr>
              <a:t>SELECT SYSDATE, LAST_DAY(SYSDATE) FROM DUAL;</a:t>
            </a:r>
          </a:p>
          <a:p>
            <a:pPr marL="0" indent="0">
              <a:buNone/>
            </a:pPr>
            <a:endParaRPr lang="en-US" sz="2200" b="1" i="1" dirty="0">
              <a:latin typeface="Cambria Math" panose="02040503050406030204" pitchFamily="18" charset="0"/>
              <a:ea typeface="Cambria Math" panose="02040503050406030204" pitchFamily="18" charset="0"/>
            </a:endParaRPr>
          </a:p>
          <a:p>
            <a:pPr marL="0" indent="0">
              <a:buNone/>
            </a:pPr>
            <a:r>
              <a:rPr lang="en-US" sz="2200" b="1" i="1" dirty="0">
                <a:latin typeface="Cambria Math" panose="02040503050406030204" pitchFamily="18" charset="0"/>
                <a:ea typeface="Cambria Math" panose="02040503050406030204" pitchFamily="18" charset="0"/>
              </a:rPr>
              <a:t>OUTPUT:</a:t>
            </a:r>
          </a:p>
          <a:p>
            <a:pPr marL="0" indent="0">
              <a:buNone/>
            </a:pPr>
            <a:r>
              <a:rPr lang="en-US" sz="2200" dirty="0">
                <a:latin typeface="Cambria Math" panose="02040503050406030204" pitchFamily="18" charset="0"/>
                <a:ea typeface="Cambria Math" panose="02040503050406030204" pitchFamily="18" charset="0"/>
              </a:rPr>
              <a:t>SYSDATE       LAST_DAY(</a:t>
            </a:r>
          </a:p>
          <a:p>
            <a:pPr marL="0" indent="0">
              <a:buNone/>
            </a:pPr>
            <a:r>
              <a:rPr lang="en-US" sz="2200" dirty="0">
                <a:latin typeface="Cambria Math" panose="02040503050406030204" pitchFamily="18" charset="0"/>
                <a:ea typeface="Cambria Math" panose="02040503050406030204" pitchFamily="18" charset="0"/>
              </a:rPr>
              <a:t>------------ ----     -------------------</a:t>
            </a:r>
          </a:p>
          <a:p>
            <a:pPr marL="0" indent="0">
              <a:buNone/>
            </a:pPr>
            <a:r>
              <a:rPr lang="en-US" sz="2200" dirty="0">
                <a:latin typeface="Cambria Math" panose="02040503050406030204" pitchFamily="18" charset="0"/>
                <a:ea typeface="Cambria Math" panose="02040503050406030204" pitchFamily="18" charset="0"/>
              </a:rPr>
              <a:t>03-SEP-13           30-SEP-13</a:t>
            </a:r>
          </a:p>
          <a:p>
            <a:pPr marL="0" indent="0">
              <a:buNone/>
            </a:pPr>
            <a:endParaRPr lang="en-US" sz="2200" b="1" dirty="0">
              <a:latin typeface="Cambria Math" panose="02040503050406030204" pitchFamily="18" charset="0"/>
              <a:ea typeface="Cambria Math" panose="02040503050406030204" pitchFamily="18" charset="0"/>
            </a:endParaRPr>
          </a:p>
          <a:p>
            <a:endParaRPr lang="en-IN" sz="2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543301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8151" y="2140370"/>
            <a:ext cx="5486400" cy="2441448"/>
          </a:xfrm>
        </p:spPr>
        <p:txBody>
          <a:bodyPr>
            <a:normAutofit/>
          </a:bodyPr>
          <a:lstStyle/>
          <a:p>
            <a:pPr algn="ctr"/>
            <a:r>
              <a:rPr lang="en-US" sz="12450" b="1" dirty="0">
                <a:solidFill>
                  <a:schemeClr val="tx1"/>
                </a:solidFill>
              </a:rPr>
              <a:t>Thanks</a:t>
            </a:r>
          </a:p>
        </p:txBody>
      </p:sp>
    </p:spTree>
    <p:extLst>
      <p:ext uri="{BB962C8B-B14F-4D97-AF65-F5344CB8AC3E}">
        <p14:creationId xmlns:p14="http://schemas.microsoft.com/office/powerpoint/2010/main" val="3124965216"/>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themeOverride>
</file>

<file path=docProps/app.xml><?xml version="1.0" encoding="utf-8"?>
<Properties xmlns="http://schemas.openxmlformats.org/officeDocument/2006/extended-properties" xmlns:vt="http://schemas.openxmlformats.org/officeDocument/2006/docPropsVTypes">
  <Template/>
  <TotalTime>5182</TotalTime>
  <Words>2759</Words>
  <Application>Microsoft Office PowerPoint</Application>
  <PresentationFormat>On-screen Show (4:3)</PresentationFormat>
  <Paragraphs>381</Paragraphs>
  <Slides>40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Cambria</vt:lpstr>
      <vt:lpstr>Cambria Math</vt:lpstr>
      <vt:lpstr>Corbel</vt:lpstr>
      <vt:lpstr>Wingdings 2</vt:lpstr>
      <vt:lpstr>Frame</vt:lpstr>
      <vt:lpstr>PowerPoint Presentation</vt:lpstr>
      <vt:lpstr>Structured Query Language (SQL) </vt:lpstr>
      <vt:lpstr>Data Definition Language (DDL) </vt:lpstr>
      <vt:lpstr>Data Definition Language (DDL) </vt:lpstr>
      <vt:lpstr>Data Manipulation Language (DML)  </vt:lpstr>
      <vt:lpstr>Data Manipulation Language (DML) </vt:lpstr>
      <vt:lpstr>Data Control Language (DCL) </vt:lpstr>
      <vt:lpstr>Transaction Control Language (TCL) </vt:lpstr>
      <vt:lpstr>operators</vt:lpstr>
      <vt:lpstr>operators</vt:lpstr>
      <vt:lpstr>continue</vt:lpstr>
      <vt:lpstr>Pattern matching</vt:lpstr>
      <vt:lpstr>PowerPoint Presentation</vt:lpstr>
      <vt:lpstr>PowerPoint Presentation</vt:lpstr>
      <vt:lpstr>PowerPoint Presentation</vt:lpstr>
      <vt:lpstr>PowerPoint Presentation</vt:lpstr>
      <vt:lpstr>Types of single row functions</vt:lpstr>
      <vt:lpstr>String/character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NUMERIC FUNCTIONS…..</vt:lpstr>
      <vt:lpstr>PowerPoint Presentation</vt:lpstr>
      <vt:lpstr>PowerPoint Presentation</vt:lpstr>
      <vt:lpstr>PowerPoint Presentation</vt:lpstr>
      <vt:lpstr>PowerPoint Presentation</vt:lpstr>
      <vt:lpstr>AGGREGATE FUNCTIONS.....</vt:lpstr>
      <vt:lpstr>PowerPoint Presentation</vt:lpstr>
      <vt:lpstr>CONVERSION FUNCTIONS</vt:lpstr>
      <vt:lpstr>Date  Functions</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Rachit Adhvaryu</cp:lastModifiedBy>
  <cp:revision>160</cp:revision>
  <dcterms:created xsi:type="dcterms:W3CDTF">2013-08-31T06:09:37Z</dcterms:created>
  <dcterms:modified xsi:type="dcterms:W3CDTF">2023-05-31T08:43:02Z</dcterms:modified>
</cp:coreProperties>
</file>