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60" r:id="rId3"/>
    <p:sldId id="297" r:id="rId4"/>
    <p:sldId id="298" r:id="rId5"/>
    <p:sldId id="299" r:id="rId6"/>
    <p:sldId id="300" r:id="rId7"/>
    <p:sldId id="301" r:id="rId8"/>
    <p:sldId id="302" r:id="rId9"/>
    <p:sldId id="303" r:id="rId10"/>
    <p:sldId id="304" r:id="rId11"/>
    <p:sldId id="305" r:id="rId12"/>
    <p:sldId id="306" r:id="rId13"/>
    <p:sldId id="309" r:id="rId14"/>
    <p:sldId id="319" r:id="rId15"/>
    <p:sldId id="320" r:id="rId16"/>
    <p:sldId id="321" r:id="rId17"/>
    <p:sldId id="322" r:id="rId18"/>
    <p:sldId id="323" r:id="rId19"/>
    <p:sldId id="324" r:id="rId20"/>
    <p:sldId id="325" r:id="rId21"/>
    <p:sldId id="326" r:id="rId22"/>
    <p:sldId id="327" r:id="rId23"/>
    <p:sldId id="329" r:id="rId24"/>
    <p:sldId id="331" r:id="rId25"/>
    <p:sldId id="332" r:id="rId26"/>
    <p:sldId id="333" r:id="rId27"/>
    <p:sldId id="334" r:id="rId28"/>
    <p:sldId id="29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FCFF"/>
    <a:srgbClr val="FFFFFF"/>
    <a:srgbClr val="11BBAF"/>
    <a:srgbClr val="FFCA4F"/>
    <a:srgbClr val="854F89"/>
    <a:srgbClr val="FFE152"/>
    <a:srgbClr val="DD00FF"/>
    <a:srgbClr val="D8D5ED"/>
    <a:srgbClr val="40B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varScale="1">
        <p:scale>
          <a:sx n="107" d="100"/>
          <a:sy n="107" d="100"/>
        </p:scale>
        <p:origin x="720"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EE027-3832-4EC4-8CAE-DB5DD688184C}"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B528B5-C058-4B1C-9409-3691A7A108CF}" type="slidenum">
              <a:rPr lang="en-US" smtClean="0"/>
              <a:t>‹#›</a:t>
            </a:fld>
            <a:endParaRPr lang="en-US"/>
          </a:p>
        </p:txBody>
      </p:sp>
    </p:spTree>
    <p:extLst>
      <p:ext uri="{BB962C8B-B14F-4D97-AF65-F5344CB8AC3E}">
        <p14:creationId xmlns:p14="http://schemas.microsoft.com/office/powerpoint/2010/main" val="182530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486396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6810215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B6E4831-481F-4AF1-9D8E-170CD6E1C3F5}" type="datetimeFigureOut">
              <a:rPr lang="en-IN" smtClean="0"/>
              <a:pPr/>
              <a:t>19-06-23</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108997466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9" name="Google Shape;89;p1"/>
          <p:cNvSpPr/>
          <p:nvPr/>
        </p:nvSpPr>
        <p:spPr>
          <a:xfrm>
            <a:off x="1892185" y="1698182"/>
            <a:ext cx="8390965" cy="1091454"/>
          </a:xfrm>
          <a:prstGeom prst="rect">
            <a:avLst/>
          </a:prstGeom>
          <a:noFill/>
          <a:ln>
            <a:noFill/>
          </a:ln>
        </p:spPr>
        <p:txBody>
          <a:bodyPr spcFirstLastPara="1" wrap="square" lIns="68569" tIns="34275" rIns="68569" bIns="34275" anchor="t" anchorCtr="0">
            <a:noAutofit/>
          </a:bodyPr>
          <a:lstStyle/>
          <a:p>
            <a:pPr algn="ctr">
              <a:buClr>
                <a:srgbClr val="000000"/>
              </a:buClr>
              <a:buSzPts val="3500"/>
            </a:pPr>
            <a:r>
              <a:rPr lang="en-IN" sz="3200" b="1" dirty="0">
                <a:solidFill>
                  <a:srgbClr val="000000"/>
                </a:solidFill>
                <a:latin typeface="Calibri"/>
                <a:ea typeface="Calibri"/>
                <a:cs typeface="Calibri"/>
                <a:sym typeface="Calibri"/>
              </a:rPr>
              <a:t>Database Management System (303105203)</a:t>
            </a:r>
          </a:p>
          <a:p>
            <a:pPr algn="ctr">
              <a:buClr>
                <a:srgbClr val="000000"/>
              </a:buClr>
              <a:buSzPts val="3500"/>
            </a:pPr>
            <a:endParaRPr lang="en-IN" sz="1400" b="1" dirty="0">
              <a:solidFill>
                <a:srgbClr val="000000"/>
              </a:solidFill>
              <a:latin typeface="Calibri"/>
              <a:ea typeface="Calibri"/>
              <a:cs typeface="Calibri"/>
              <a:sym typeface="Calibri"/>
            </a:endParaRPr>
          </a:p>
          <a:p>
            <a:pPr algn="ctr">
              <a:buClr>
                <a:srgbClr val="000000"/>
              </a:buClr>
              <a:buSzPts val="3500"/>
            </a:pPr>
            <a:r>
              <a:rPr lang="en-IN" sz="2800" b="1" dirty="0">
                <a:solidFill>
                  <a:srgbClr val="000000"/>
                </a:solidFill>
                <a:latin typeface="Calibri"/>
                <a:ea typeface="Calibri"/>
                <a:cs typeface="Calibri"/>
                <a:sym typeface="Calibri"/>
              </a:rPr>
              <a:t>Unit – 7: Query processing and Optimization </a:t>
            </a:r>
          </a:p>
          <a:p>
            <a:pPr algn="ctr">
              <a:buClr>
                <a:srgbClr val="000000"/>
              </a:buClr>
              <a:buSzPts val="3500"/>
            </a:pPr>
            <a:endParaRPr sz="1350" dirty="0"/>
          </a:p>
        </p:txBody>
      </p:sp>
      <p:sp>
        <p:nvSpPr>
          <p:cNvPr id="90" name="Google Shape;90;p1"/>
          <p:cNvSpPr/>
          <p:nvPr/>
        </p:nvSpPr>
        <p:spPr>
          <a:xfrm>
            <a:off x="2203077" y="2997994"/>
            <a:ext cx="7678271" cy="577454"/>
          </a:xfrm>
          <a:prstGeom prst="rect">
            <a:avLst/>
          </a:prstGeom>
          <a:noFill/>
          <a:ln>
            <a:noFill/>
          </a:ln>
        </p:spPr>
        <p:txBody>
          <a:bodyPr spcFirstLastPara="1" wrap="square" lIns="68569" tIns="34275" rIns="68569" bIns="34275" anchor="t" anchorCtr="0">
            <a:noAutofit/>
          </a:bodyPr>
          <a:lstStyle/>
          <a:p>
            <a:pPr algn="ctr">
              <a:buClr>
                <a:srgbClr val="000000"/>
              </a:buClr>
              <a:buSzPts val="2200"/>
            </a:pPr>
            <a:r>
              <a:rPr lang="en-IN" sz="1650" b="1" dirty="0">
                <a:solidFill>
                  <a:srgbClr val="000000"/>
                </a:solidFill>
                <a:latin typeface="Calibri"/>
                <a:ea typeface="Calibri"/>
                <a:cs typeface="Calibri"/>
                <a:sym typeface="Calibri"/>
              </a:rPr>
              <a:t>Dr. Rachit Adhvaryu, </a:t>
            </a:r>
          </a:p>
          <a:p>
            <a:pPr algn="ctr">
              <a:buClr>
                <a:srgbClr val="000000"/>
              </a:buClr>
              <a:buSzPts val="2200"/>
            </a:pPr>
            <a:r>
              <a:rPr lang="en-IN" sz="1650" dirty="0">
                <a:solidFill>
                  <a:srgbClr val="000000"/>
                </a:solidFill>
                <a:latin typeface="Calibri"/>
                <a:ea typeface="Calibri"/>
                <a:cs typeface="Calibri"/>
                <a:sym typeface="Calibri"/>
              </a:rPr>
              <a:t>Assistant Professor, Computer Science &amp; Engineering</a:t>
            </a:r>
            <a:endParaRPr sz="1650"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5105400" y="685800"/>
            <a:ext cx="1981200" cy="685800"/>
          </a:xfrm>
          <a:prstGeom prst="rect">
            <a:avLst/>
          </a:prstGeom>
          <a:noFill/>
          <a:ln>
            <a:noFill/>
          </a:ln>
        </p:spPr>
      </p:pic>
      <p:grpSp>
        <p:nvGrpSpPr>
          <p:cNvPr id="92" name="Google Shape;92;p1"/>
          <p:cNvGrpSpPr/>
          <p:nvPr/>
        </p:nvGrpSpPr>
        <p:grpSpPr>
          <a:xfrm>
            <a:off x="3730230" y="2895601"/>
            <a:ext cx="4731544" cy="70247"/>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Query Processing</a:t>
            </a:r>
          </a:p>
        </p:txBody>
      </p:sp>
      <p:sp>
        <p:nvSpPr>
          <p:cNvPr id="6" name="Rectangle 5">
            <a:extLst>
              <a:ext uri="{FF2B5EF4-FFF2-40B4-BE49-F238E27FC236}">
                <a16:creationId xmlns:a16="http://schemas.microsoft.com/office/drawing/2014/main" id="{0F4CE4F2-39FB-4AB9-A82C-DFB095193EDB}"/>
              </a:ext>
            </a:extLst>
          </p:cNvPr>
          <p:cNvSpPr/>
          <p:nvPr/>
        </p:nvSpPr>
        <p:spPr>
          <a:xfrm>
            <a:off x="3534771" y="712928"/>
            <a:ext cx="8038530" cy="3046988"/>
          </a:xfrm>
          <a:prstGeom prst="rect">
            <a:avLst/>
          </a:prstGeom>
        </p:spPr>
        <p:txBody>
          <a:bodyPr wrap="square">
            <a:spAutoFit/>
          </a:bodyPr>
          <a:lstStyle/>
          <a:p>
            <a:pPr marL="457200" indent="-457200">
              <a:buFont typeface="Wingdings" panose="05000000000000000000" pitchFamily="2" charset="2"/>
              <a:buChar char="Ø"/>
            </a:pPr>
            <a:r>
              <a:rPr lang="en-US" sz="2400" b="1" dirty="0"/>
              <a:t>Query processing </a:t>
            </a:r>
            <a:r>
              <a:rPr lang="en-US" sz="2400" dirty="0"/>
              <a:t>refers to the range of activities involved in extracting data from a database.</a:t>
            </a:r>
          </a:p>
          <a:p>
            <a:pPr marL="457200" indent="-4572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Basic steps of query processing are:</a:t>
            </a:r>
          </a:p>
          <a:p>
            <a:endParaRPr lang="en-US" sz="2400" dirty="0">
              <a:latin typeface="Cambria Math" panose="02040503050406030204" pitchFamily="18" charset="0"/>
              <a:ea typeface="Cambria Math" panose="02040503050406030204" pitchFamily="18" charset="0"/>
            </a:endParaRPr>
          </a:p>
          <a:p>
            <a:pPr>
              <a:buFont typeface="Monotype Sorts" charset="2"/>
              <a:buNone/>
            </a:pPr>
            <a:r>
              <a:rPr lang="en-US" sz="2400" dirty="0">
                <a:latin typeface="Cambria" panose="02040503050406030204" pitchFamily="18" charset="0"/>
                <a:ea typeface="Cambria" panose="02040503050406030204" pitchFamily="18" charset="0"/>
              </a:rPr>
              <a:t>1.	Parsing and translation</a:t>
            </a:r>
          </a:p>
          <a:p>
            <a:pPr>
              <a:buFont typeface="Monotype Sorts" charset="2"/>
              <a:buNone/>
            </a:pPr>
            <a:r>
              <a:rPr lang="en-US" sz="2400" dirty="0">
                <a:latin typeface="Cambria" panose="02040503050406030204" pitchFamily="18" charset="0"/>
                <a:ea typeface="Cambria" panose="02040503050406030204" pitchFamily="18" charset="0"/>
              </a:rPr>
              <a:t>2.	Optimization</a:t>
            </a:r>
          </a:p>
          <a:p>
            <a:pPr>
              <a:buFont typeface="Monotype Sorts" charset="2"/>
              <a:buNone/>
            </a:pPr>
            <a:r>
              <a:rPr lang="en-US" sz="2400" dirty="0">
                <a:latin typeface="Cambria" panose="02040503050406030204" pitchFamily="18" charset="0"/>
                <a:ea typeface="Cambria" panose="02040503050406030204" pitchFamily="18" charset="0"/>
              </a:rPr>
              <a:t>3.	Evaluation</a:t>
            </a:r>
          </a:p>
          <a:p>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9657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Steps of Query processing:</a:t>
            </a:r>
          </a:p>
        </p:txBody>
      </p:sp>
      <p:pic>
        <p:nvPicPr>
          <p:cNvPr id="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718" y="1381620"/>
            <a:ext cx="72326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3592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Steps of Query processing:</a:t>
            </a:r>
            <a:endParaRPr lang="en-US" b="1" dirty="0">
              <a:solidFill>
                <a:schemeClr val="tx1"/>
              </a:solidFill>
              <a:latin typeface="+mn-lt"/>
            </a:endParaRPr>
          </a:p>
        </p:txBody>
      </p:sp>
      <p:sp>
        <p:nvSpPr>
          <p:cNvPr id="3" name="Rectangle 2"/>
          <p:cNvSpPr/>
          <p:nvPr/>
        </p:nvSpPr>
        <p:spPr>
          <a:xfrm>
            <a:off x="3808396" y="604073"/>
            <a:ext cx="7222156" cy="6370975"/>
          </a:xfrm>
          <a:prstGeom prst="rect">
            <a:avLst/>
          </a:prstGeom>
        </p:spPr>
        <p:txBody>
          <a:bodyPr wrap="square">
            <a:spAutoFit/>
          </a:bodyPr>
          <a:lstStyle/>
          <a:p>
            <a:pPr algn="just"/>
            <a:r>
              <a:rPr lang="en-US" sz="2400" dirty="0">
                <a:latin typeface="Cambria" panose="02040503050406030204" pitchFamily="18" charset="0"/>
                <a:ea typeface="Cambria" panose="02040503050406030204" pitchFamily="18" charset="0"/>
              </a:rPr>
              <a:t>1. Parsing and translation.</a:t>
            </a:r>
          </a:p>
          <a:p>
            <a:pPr marL="285750" lvl="0" indent="-28575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first action the system must take in query processing is to translate a given query into its internal form. </a:t>
            </a:r>
          </a:p>
          <a:p>
            <a:pPr marL="285750" lvl="0" indent="-28575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translation process is similar to the work performed by the </a:t>
            </a:r>
            <a:r>
              <a:rPr lang="en-US" sz="2400" b="1" dirty="0">
                <a:latin typeface="Cambria" panose="02040503050406030204" pitchFamily="18" charset="0"/>
                <a:ea typeface="Cambria" panose="02040503050406030204" pitchFamily="18" charset="0"/>
              </a:rPr>
              <a:t>parser</a:t>
            </a:r>
            <a:r>
              <a:rPr lang="en-US" sz="2400" dirty="0">
                <a:latin typeface="Cambria" panose="02040503050406030204" pitchFamily="18" charset="0"/>
                <a:ea typeface="Cambria" panose="02040503050406030204" pitchFamily="18" charset="0"/>
              </a:rPr>
              <a:t> of a compiler. </a:t>
            </a:r>
          </a:p>
          <a:p>
            <a:pPr marL="285750" lvl="0" indent="-28575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generating the internal form of the query, the parser checks the syntax of the user’s query, verifies that the relation names appearing in the query are names of the relations in the database, and so on. </a:t>
            </a:r>
          </a:p>
          <a:p>
            <a:pPr marL="285750" lvl="0" indent="-28575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system constructs a parse-tree representation of the query, which it then translates into a relational-algebra expression. If the query was expressed in terms of a view, the translation phase also replaces all uses of the view by the relational-algebra expression that defines the view.</a:t>
            </a: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770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Steps of Query processing:</a:t>
            </a:r>
            <a:endParaRPr lang="en-US" b="1" dirty="0">
              <a:solidFill>
                <a:schemeClr val="tx1"/>
              </a:solidFill>
              <a:latin typeface="+mn-lt"/>
            </a:endParaRPr>
          </a:p>
        </p:txBody>
      </p:sp>
      <p:sp>
        <p:nvSpPr>
          <p:cNvPr id="3" name="Rectangle 2"/>
          <p:cNvSpPr/>
          <p:nvPr/>
        </p:nvSpPr>
        <p:spPr>
          <a:xfrm>
            <a:off x="3808396" y="604073"/>
            <a:ext cx="7222156" cy="3785652"/>
          </a:xfrm>
          <a:prstGeom prst="rect">
            <a:avLst/>
          </a:prstGeom>
        </p:spPr>
        <p:txBody>
          <a:bodyPr wrap="square">
            <a:spAutoFit/>
          </a:bodyPr>
          <a:lstStyle/>
          <a:p>
            <a:pPr algn="just"/>
            <a:r>
              <a:rPr lang="en-US" sz="2400" dirty="0">
                <a:latin typeface="Cambria" panose="02040503050406030204" pitchFamily="18" charset="0"/>
                <a:ea typeface="Cambria" panose="02040503050406030204" pitchFamily="18" charset="0"/>
              </a:rPr>
              <a:t>2. Evaluation Plan.</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 relational algebra operation annotated with instructions on how to evaluate it is called an evaluation primitive. A sequence of primitive operations that can be used to evaluate a query is a query-execution plan or </a:t>
            </a:r>
            <a:r>
              <a:rPr lang="en-US" sz="2400" b="1" dirty="0">
                <a:latin typeface="Cambria" panose="02040503050406030204" pitchFamily="18" charset="0"/>
                <a:ea typeface="Cambria" panose="02040503050406030204" pitchFamily="18" charset="0"/>
              </a:rPr>
              <a:t>query-evaluation</a:t>
            </a:r>
            <a:r>
              <a:rPr lang="en-US" sz="2400" dirty="0">
                <a:latin typeface="Cambria" panose="02040503050406030204" pitchFamily="18" charset="0"/>
                <a:ea typeface="Cambria" panose="02040503050406030204" pitchFamily="18" charset="0"/>
              </a:rPr>
              <a:t> plan.</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query-execution engine takes a query-evaluation plan, executes that plan, and returns the answers to the query.</a:t>
            </a: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38620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Steps of Query processing:</a:t>
            </a:r>
            <a:endParaRPr lang="en-US" b="1" dirty="0">
              <a:solidFill>
                <a:schemeClr val="tx1"/>
              </a:solidFill>
              <a:latin typeface="+mn-lt"/>
            </a:endParaRPr>
          </a:p>
        </p:txBody>
      </p:sp>
      <p:sp>
        <p:nvSpPr>
          <p:cNvPr id="3" name="Rectangle 2"/>
          <p:cNvSpPr/>
          <p:nvPr/>
        </p:nvSpPr>
        <p:spPr>
          <a:xfrm>
            <a:off x="3808396" y="604073"/>
            <a:ext cx="7222156" cy="4154984"/>
          </a:xfrm>
          <a:prstGeom prst="rect">
            <a:avLst/>
          </a:prstGeom>
        </p:spPr>
        <p:txBody>
          <a:bodyPr wrap="square">
            <a:spAutoFit/>
          </a:bodyPr>
          <a:lstStyle/>
          <a:p>
            <a:pPr algn="just"/>
            <a:r>
              <a:rPr lang="en-US" sz="2400" dirty="0">
                <a:latin typeface="Cambria" panose="02040503050406030204" pitchFamily="18" charset="0"/>
                <a:ea typeface="Cambria" panose="02040503050406030204" pitchFamily="18" charset="0"/>
              </a:rPr>
              <a:t>3. Optimization.</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It is the responsibility of the system to construct a query evaluation plan that minimizes the cost of query evaluation; this task is called </a:t>
            </a:r>
            <a:r>
              <a:rPr lang="en-US" sz="2400" b="1" dirty="0">
                <a:latin typeface="Cambria" panose="02040503050406030204" pitchFamily="18" charset="0"/>
                <a:ea typeface="Cambria" panose="02040503050406030204" pitchFamily="18" charset="0"/>
              </a:rPr>
              <a:t>query optimization</a:t>
            </a:r>
            <a:r>
              <a:rPr lang="en-US" sz="24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Once the query plan is chosen, the query is evaluated with that plan, and the result of the query is output.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order to optimize a query, a query optimizer must know the cost of each operation.</a:t>
            </a: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68882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Measures of Query cost</a:t>
            </a:r>
            <a:endParaRPr lang="en-US" b="1" dirty="0">
              <a:solidFill>
                <a:schemeClr val="tx1"/>
              </a:solidFill>
              <a:latin typeface="+mn-lt"/>
            </a:endParaRPr>
          </a:p>
        </p:txBody>
      </p:sp>
      <p:sp>
        <p:nvSpPr>
          <p:cNvPr id="3" name="Rectangle 2"/>
          <p:cNvSpPr/>
          <p:nvPr/>
        </p:nvSpPr>
        <p:spPr>
          <a:xfrm>
            <a:off x="3808396" y="604073"/>
            <a:ext cx="7222156" cy="6555641"/>
          </a:xfrm>
          <a:prstGeom prst="rect">
            <a:avLst/>
          </a:prstGeom>
        </p:spPr>
        <p:txBody>
          <a:bodyPr wrap="square">
            <a:spAutoFit/>
          </a:bodyPr>
          <a:lstStyle/>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There are multiple possible evaluation plans for a query, and it is important to be able to compare the alternatives in terms of their (estimated) cost, and choose the best plan.</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We must estimate the cost of individual operations, and combine them to get the cost of a query evaluation plan.</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The cost of query evaluation can be measured in terms of a number of different resources, including disk accesses, CPU time to execute a query, and, in a distributed or parallel database system, the cost of network communication.</a:t>
            </a:r>
          </a:p>
          <a:p>
            <a:pPr marL="34290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For simplicity we just use the </a:t>
            </a:r>
            <a:r>
              <a:rPr lang="en-US" sz="2200" b="1" dirty="0">
                <a:latin typeface="Cambria" panose="02040503050406030204" pitchFamily="18" charset="0"/>
                <a:ea typeface="Cambria" panose="02040503050406030204" pitchFamily="18" charset="0"/>
              </a:rPr>
              <a:t>number of block transfers</a:t>
            </a:r>
            <a:r>
              <a:rPr lang="en-US" sz="2200" i="1" dirty="0">
                <a:latin typeface="Cambria" panose="02040503050406030204" pitchFamily="18" charset="0"/>
                <a:ea typeface="Cambria" panose="02040503050406030204" pitchFamily="18" charset="0"/>
              </a:rPr>
              <a:t> from disk and the </a:t>
            </a:r>
            <a:r>
              <a:rPr lang="en-US" sz="2200" b="1" dirty="0">
                <a:latin typeface="Cambria" panose="02040503050406030204" pitchFamily="18" charset="0"/>
                <a:ea typeface="Cambria" panose="02040503050406030204" pitchFamily="18" charset="0"/>
              </a:rPr>
              <a:t>number of seeks</a:t>
            </a:r>
            <a:r>
              <a:rPr lang="en-US" sz="2200" dirty="0">
                <a:latin typeface="Cambria" panose="02040503050406030204" pitchFamily="18" charset="0"/>
                <a:ea typeface="Cambria" panose="02040503050406030204" pitchFamily="18" charset="0"/>
              </a:rPr>
              <a:t> as the cost measures</a:t>
            </a:r>
          </a:p>
          <a:p>
            <a:pPr lvl="1" algn="just"/>
            <a:r>
              <a:rPr lang="en-US" sz="2200" i="1" dirty="0" err="1">
                <a:latin typeface="Cambria" panose="02040503050406030204" pitchFamily="18" charset="0"/>
                <a:ea typeface="Cambria" panose="02040503050406030204" pitchFamily="18" charset="0"/>
              </a:rPr>
              <a:t>t</a:t>
            </a:r>
            <a:r>
              <a:rPr lang="en-US" sz="2200" i="1" baseline="-25000" dirty="0" err="1">
                <a:latin typeface="Cambria" panose="02040503050406030204" pitchFamily="18" charset="0"/>
                <a:ea typeface="Cambria" panose="02040503050406030204" pitchFamily="18" charset="0"/>
              </a:rPr>
              <a:t>T</a:t>
            </a:r>
            <a:r>
              <a:rPr lang="en-US" sz="2200" dirty="0">
                <a:latin typeface="Cambria" panose="02040503050406030204" pitchFamily="18" charset="0"/>
                <a:ea typeface="Cambria" panose="02040503050406030204" pitchFamily="18" charset="0"/>
              </a:rPr>
              <a:t> – time to transfer one block</a:t>
            </a:r>
          </a:p>
          <a:p>
            <a:pPr lvl="1" algn="just"/>
            <a:r>
              <a:rPr lang="en-US" sz="2200" i="1" dirty="0" err="1">
                <a:latin typeface="Cambria" panose="02040503050406030204" pitchFamily="18" charset="0"/>
                <a:ea typeface="Cambria" panose="02040503050406030204" pitchFamily="18" charset="0"/>
              </a:rPr>
              <a:t>t</a:t>
            </a:r>
            <a:r>
              <a:rPr lang="en-US" sz="2200" i="1" baseline="-25000" dirty="0" err="1">
                <a:latin typeface="Cambria" panose="02040503050406030204" pitchFamily="18" charset="0"/>
                <a:ea typeface="Cambria" panose="02040503050406030204" pitchFamily="18" charset="0"/>
              </a:rPr>
              <a:t>S</a:t>
            </a:r>
            <a:r>
              <a:rPr lang="en-US" sz="2200" dirty="0">
                <a:latin typeface="Cambria" panose="02040503050406030204" pitchFamily="18" charset="0"/>
                <a:ea typeface="Cambria" panose="02040503050406030204" pitchFamily="18" charset="0"/>
              </a:rPr>
              <a:t> – time for one seek</a:t>
            </a:r>
          </a:p>
          <a:p>
            <a:pPr lvl="1" algn="just"/>
            <a:r>
              <a:rPr lang="en-US" sz="2200" dirty="0">
                <a:latin typeface="Cambria" panose="02040503050406030204" pitchFamily="18" charset="0"/>
                <a:ea typeface="Cambria" panose="02040503050406030204" pitchFamily="18" charset="0"/>
              </a:rPr>
              <a:t>Cost for b block transfers plus S seeks</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        </a:t>
            </a:r>
            <a:r>
              <a:rPr lang="en-US" sz="2200" i="1" dirty="0">
                <a:latin typeface="Cambria" panose="02040503050406030204" pitchFamily="18" charset="0"/>
                <a:ea typeface="Cambria" panose="02040503050406030204" pitchFamily="18" charset="0"/>
              </a:rPr>
              <a:t>b * </a:t>
            </a:r>
            <a:r>
              <a:rPr lang="en-US" sz="2200" i="1" dirty="0" err="1">
                <a:latin typeface="Cambria" panose="02040503050406030204" pitchFamily="18" charset="0"/>
                <a:ea typeface="Cambria" panose="02040503050406030204" pitchFamily="18" charset="0"/>
              </a:rPr>
              <a:t>t</a:t>
            </a:r>
            <a:r>
              <a:rPr lang="en-US" sz="2200" i="1" baseline="-25000" dirty="0" err="1">
                <a:latin typeface="Cambria" panose="02040503050406030204" pitchFamily="18" charset="0"/>
                <a:ea typeface="Cambria" panose="02040503050406030204" pitchFamily="18" charset="0"/>
              </a:rPr>
              <a:t>T</a:t>
            </a:r>
            <a:r>
              <a:rPr lang="en-US" sz="2200" i="1" dirty="0">
                <a:latin typeface="Cambria" panose="02040503050406030204" pitchFamily="18" charset="0"/>
                <a:ea typeface="Cambria" panose="02040503050406030204" pitchFamily="18" charset="0"/>
              </a:rPr>
              <a:t> + S * </a:t>
            </a:r>
            <a:r>
              <a:rPr lang="en-US" sz="2200" i="1" dirty="0" err="1">
                <a:latin typeface="Cambria" panose="02040503050406030204" pitchFamily="18" charset="0"/>
                <a:ea typeface="Cambria" panose="02040503050406030204" pitchFamily="18" charset="0"/>
              </a:rPr>
              <a:t>t</a:t>
            </a:r>
            <a:r>
              <a:rPr lang="en-US" sz="2200" i="1" baseline="-25000" dirty="0" err="1">
                <a:latin typeface="Cambria" panose="02040503050406030204" pitchFamily="18" charset="0"/>
                <a:ea typeface="Cambria" panose="02040503050406030204" pitchFamily="18" charset="0"/>
              </a:rPr>
              <a:t>S</a:t>
            </a:r>
            <a:r>
              <a:rPr lang="en-US" sz="2200" dirty="0">
                <a:latin typeface="Cambria" panose="02040503050406030204" pitchFamily="18" charset="0"/>
                <a:ea typeface="Cambria" panose="02040503050406030204" pitchFamily="18" charset="0"/>
              </a:rPr>
              <a:t> </a:t>
            </a:r>
          </a:p>
          <a:p>
            <a:pPr lvl="0" algn="just"/>
            <a:endParaRPr lang="en-US" sz="2400" dirty="0"/>
          </a:p>
        </p:txBody>
      </p:sp>
    </p:spTree>
    <p:extLst>
      <p:ext uri="{BB962C8B-B14F-4D97-AF65-F5344CB8AC3E}">
        <p14:creationId xmlns:p14="http://schemas.microsoft.com/office/powerpoint/2010/main" val="157025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Measures of Query cost</a:t>
            </a:r>
            <a:endParaRPr lang="en-US" b="1" dirty="0">
              <a:solidFill>
                <a:schemeClr val="tx1"/>
              </a:solidFill>
              <a:latin typeface="+mn-lt"/>
            </a:endParaRPr>
          </a:p>
        </p:txBody>
      </p:sp>
      <p:sp>
        <p:nvSpPr>
          <p:cNvPr id="3" name="Rectangle 2"/>
          <p:cNvSpPr/>
          <p:nvPr/>
        </p:nvSpPr>
        <p:spPr>
          <a:xfrm>
            <a:off x="3721769" y="333137"/>
            <a:ext cx="8098054" cy="6109365"/>
          </a:xfrm>
          <a:prstGeom prst="rect">
            <a:avLst/>
          </a:prstGeom>
        </p:spPr>
        <p:txBody>
          <a:bodyPr wrap="square">
            <a:spAutoFit/>
          </a:bodyPr>
          <a:lstStyle/>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The costs of all the algorithms that we consider depend on the size of the buffer in main memory.</a:t>
            </a:r>
          </a:p>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The </a:t>
            </a:r>
            <a:r>
              <a:rPr lang="en-US" sz="2300" b="1" dirty="0">
                <a:latin typeface="Cambria" panose="02040503050406030204" pitchFamily="18" charset="0"/>
                <a:ea typeface="Cambria" panose="02040503050406030204" pitchFamily="18" charset="0"/>
              </a:rPr>
              <a:t>response time</a:t>
            </a:r>
            <a:r>
              <a:rPr lang="en-US" sz="2300" dirty="0">
                <a:latin typeface="Cambria" panose="02040503050406030204" pitchFamily="18" charset="0"/>
                <a:ea typeface="Cambria" panose="02040503050406030204" pitchFamily="18" charset="0"/>
              </a:rPr>
              <a:t> for a query-evaluation plan, assuming no other activity is going on in the computer, would account for all these costs, and could be used as a measure of the cost of the plan.</a:t>
            </a:r>
          </a:p>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The response time of a plan is very hard to estimate without actually executing the plan, for the following reasons:</a:t>
            </a:r>
          </a:p>
          <a:p>
            <a:pPr lvl="0" algn="just"/>
            <a:r>
              <a:rPr lang="en-US" sz="2300" dirty="0">
                <a:latin typeface="Cambria" panose="02040503050406030204" pitchFamily="18" charset="0"/>
                <a:ea typeface="Cambria" panose="02040503050406030204" pitchFamily="18" charset="0"/>
              </a:rPr>
              <a:t>1. The response time depends on the contents of the buffer when the query begins execution; this information is not available when the query is optimized, and is hard to account for even if it were available.</a:t>
            </a:r>
          </a:p>
          <a:p>
            <a:pPr lvl="0" algn="just"/>
            <a:r>
              <a:rPr lang="en-US" sz="2300" dirty="0">
                <a:latin typeface="Cambria" panose="02040503050406030204" pitchFamily="18" charset="0"/>
                <a:ea typeface="Cambria" panose="02040503050406030204" pitchFamily="18" charset="0"/>
              </a:rPr>
              <a:t>2. In a system with multiple disks, the response time depends on how accesses are distributed among disks, which is hard to estimate without detailed knowledge of data layout on disk.</a:t>
            </a:r>
          </a:p>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Interestingly, a plan may get a better response time at the cost of extra resource consumption.</a:t>
            </a:r>
          </a:p>
        </p:txBody>
      </p:sp>
    </p:spTree>
    <p:extLst>
      <p:ext uri="{BB962C8B-B14F-4D97-AF65-F5344CB8AC3E}">
        <p14:creationId xmlns:p14="http://schemas.microsoft.com/office/powerpoint/2010/main" val="3384791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effectLst>
                  <a:outerShdw blurRad="38100" dist="38100" dir="2700000" algn="tl">
                    <a:srgbClr val="C0C0C0"/>
                  </a:outerShdw>
                </a:effectLst>
                <a:latin typeface="Cambria" panose="02040503050406030204" pitchFamily="18" charset="0"/>
                <a:ea typeface="Cambria" panose="02040503050406030204" pitchFamily="18" charset="0"/>
              </a:rPr>
              <a:t>Selection Operation</a:t>
            </a:r>
            <a:endParaRPr lang="en-US"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683268" y="593020"/>
            <a:ext cx="8098054" cy="4154984"/>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query processing, the file scan is the lowest-level operator to access data.    </a:t>
            </a:r>
          </a:p>
          <a:p>
            <a:pPr marL="342900" indent="-342900" algn="just">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File scans </a:t>
            </a:r>
            <a:r>
              <a:rPr lang="en-US" sz="2400" dirty="0">
                <a:latin typeface="Cambria" panose="02040503050406030204" pitchFamily="18" charset="0"/>
                <a:ea typeface="Cambria" panose="02040503050406030204" pitchFamily="18" charset="0"/>
              </a:rPr>
              <a:t>are search algorithms that locate and retrieve records that fulfill a selection condition. </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relational systems, a file scan allows an entire relation to be read in those cases where the relation is stored in a single, dedicated file.</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There are two scan algorithms to implement in selection operation.</a:t>
            </a:r>
          </a:p>
          <a:p>
            <a:pPr algn="just"/>
            <a:r>
              <a:rPr lang="en-US" sz="2400" dirty="0">
                <a:latin typeface="Cambria" panose="02040503050406030204" pitchFamily="18" charset="0"/>
                <a:ea typeface="Cambria" panose="02040503050406030204" pitchFamily="18" charset="0"/>
              </a:rPr>
              <a:t>1. Linear search</a:t>
            </a:r>
          </a:p>
          <a:p>
            <a:pPr algn="just"/>
            <a:r>
              <a:rPr lang="en-US" sz="2400" dirty="0">
                <a:latin typeface="Cambria" panose="02040503050406030204" pitchFamily="18" charset="0"/>
                <a:ea typeface="Cambria" panose="02040503050406030204" pitchFamily="18" charset="0"/>
              </a:rPr>
              <a:t>2. Binary search</a:t>
            </a:r>
          </a:p>
        </p:txBody>
      </p:sp>
    </p:spTree>
    <p:extLst>
      <p:ext uri="{BB962C8B-B14F-4D97-AF65-F5344CB8AC3E}">
        <p14:creationId xmlns:p14="http://schemas.microsoft.com/office/powerpoint/2010/main" val="407006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1. Linear search (brute force algorithm)</a:t>
            </a:r>
          </a:p>
        </p:txBody>
      </p:sp>
      <p:sp>
        <p:nvSpPr>
          <p:cNvPr id="3" name="Rectangle 2"/>
          <p:cNvSpPr/>
          <p:nvPr/>
        </p:nvSpPr>
        <p:spPr>
          <a:xfrm>
            <a:off x="3519639" y="333138"/>
            <a:ext cx="8203932" cy="6524863"/>
          </a:xfrm>
          <a:prstGeom prst="rect">
            <a:avLst/>
          </a:prstGeom>
        </p:spPr>
        <p:txBody>
          <a:bodyPr wrap="square">
            <a:spAutoFit/>
          </a:bodyPr>
          <a:lstStyle/>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In a linear search(A1 </a:t>
            </a:r>
            <a:r>
              <a:rPr lang="en-US" sz="2200" dirty="0" err="1">
                <a:latin typeface="Cambria" panose="02040503050406030204" pitchFamily="18" charset="0"/>
                <a:ea typeface="Cambria" panose="02040503050406030204" pitchFamily="18" charset="0"/>
              </a:rPr>
              <a:t>Algoritm</a:t>
            </a:r>
            <a:r>
              <a:rPr lang="en-US" sz="2200" dirty="0">
                <a:latin typeface="Cambria" panose="02040503050406030204" pitchFamily="18" charset="0"/>
                <a:ea typeface="Cambria" panose="02040503050406030204" pitchFamily="18" charset="0"/>
              </a:rPr>
              <a:t>), the system scans each file block and tests all records to see whether they satisfy the selection condition. An initial seek is required to access the first block of the file.</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Since the records are grouped into disk blocks, each disk block is read into a main memory buffer, and then a search through the records within the disk block is conducted in main memory.</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Suppose </a:t>
            </a:r>
            <a:r>
              <a:rPr lang="en-US" sz="2200" dirty="0" err="1">
                <a:latin typeface="Cambria" panose="02040503050406030204" pitchFamily="18" charset="0"/>
                <a:ea typeface="Cambria" panose="02040503050406030204" pitchFamily="18" charset="0"/>
              </a:rPr>
              <a:t>t</a:t>
            </a:r>
            <a:r>
              <a:rPr lang="en-US" sz="2200" baseline="-25000" dirty="0" err="1">
                <a:latin typeface="Cambria" panose="02040503050406030204" pitchFamily="18" charset="0"/>
                <a:ea typeface="Cambria" panose="02040503050406030204" pitchFamily="18" charset="0"/>
              </a:rPr>
              <a:t>S</a:t>
            </a:r>
            <a:r>
              <a:rPr lang="en-US" sz="2200" dirty="0">
                <a:latin typeface="Cambria" panose="02040503050406030204" pitchFamily="18" charset="0"/>
                <a:ea typeface="Cambria" panose="02040503050406030204" pitchFamily="18" charset="0"/>
              </a:rPr>
              <a:t> is the seek time (number of Seek is usually one – to reach the beginning of the file) , </a:t>
            </a:r>
            <a:r>
              <a:rPr lang="en-US" sz="2200" dirty="0" err="1">
                <a:latin typeface="Cambria" panose="02040503050406030204" pitchFamily="18" charset="0"/>
                <a:ea typeface="Cambria" panose="02040503050406030204" pitchFamily="18" charset="0"/>
              </a:rPr>
              <a:t>t</a:t>
            </a:r>
            <a:r>
              <a:rPr lang="en-US" sz="2200" baseline="-25000" dirty="0" err="1">
                <a:latin typeface="Cambria" panose="02040503050406030204" pitchFamily="18" charset="0"/>
                <a:ea typeface="Cambria" panose="02040503050406030204" pitchFamily="18" charset="0"/>
              </a:rPr>
              <a:t>T</a:t>
            </a:r>
            <a:r>
              <a:rPr lang="en-US" sz="2200" dirty="0">
                <a:latin typeface="Cambria" panose="02040503050406030204" pitchFamily="18" charset="0"/>
                <a:ea typeface="Cambria" panose="02040503050406030204" pitchFamily="18" charset="0"/>
              </a:rPr>
              <a:t> is the number of traversal time for one block, and B is the number of blocks to be transferred, then the cost is calculated as:</a:t>
            </a:r>
          </a:p>
          <a:p>
            <a:pPr algn="ctr"/>
            <a:r>
              <a:rPr lang="en-US" sz="2200" dirty="0" err="1">
                <a:latin typeface="Cambria" panose="02040503050406030204" pitchFamily="18" charset="0"/>
                <a:ea typeface="Cambria" panose="02040503050406030204" pitchFamily="18" charset="0"/>
              </a:rPr>
              <a:t>tS</a:t>
            </a:r>
            <a:r>
              <a:rPr lang="en-US" sz="2200" dirty="0">
                <a:latin typeface="Cambria" panose="02040503050406030204" pitchFamily="18" charset="0"/>
                <a:ea typeface="Cambria" panose="02040503050406030204" pitchFamily="18" charset="0"/>
              </a:rPr>
              <a:t> + (B*</a:t>
            </a:r>
            <a:r>
              <a:rPr lang="en-US" sz="2200" dirty="0" err="1">
                <a:latin typeface="Cambria" panose="02040503050406030204" pitchFamily="18" charset="0"/>
                <a:ea typeface="Cambria" panose="02040503050406030204" pitchFamily="18" charset="0"/>
              </a:rPr>
              <a:t>tT</a:t>
            </a:r>
            <a:r>
              <a:rPr lang="en-US" sz="22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This is the cost required to fetch the record based on non-key attribute. Suppose the search is based on the key value. Then the average cost of query is </a:t>
            </a:r>
            <a:r>
              <a:rPr lang="en-US" sz="2200" dirty="0" err="1">
                <a:latin typeface="Cambria" panose="02040503050406030204" pitchFamily="18" charset="0"/>
                <a:ea typeface="Cambria" panose="02040503050406030204" pitchFamily="18" charset="0"/>
              </a:rPr>
              <a:t>tS</a:t>
            </a:r>
            <a:r>
              <a:rPr lang="en-US" sz="2200" dirty="0">
                <a:latin typeface="Cambria" panose="02040503050406030204" pitchFamily="18" charset="0"/>
                <a:ea typeface="Cambria" panose="02040503050406030204" pitchFamily="18" charset="0"/>
              </a:rPr>
              <a:t> + (B*</a:t>
            </a:r>
            <a:r>
              <a:rPr lang="en-US" sz="2200" dirty="0" err="1">
                <a:latin typeface="Cambria" panose="02040503050406030204" pitchFamily="18" charset="0"/>
                <a:ea typeface="Cambria" panose="02040503050406030204" pitchFamily="18" charset="0"/>
              </a:rPr>
              <a:t>tT</a:t>
            </a:r>
            <a:r>
              <a:rPr lang="en-US" sz="2200" dirty="0">
                <a:latin typeface="Cambria" panose="02040503050406030204" pitchFamily="18" charset="0"/>
                <a:ea typeface="Cambria" panose="02040503050406030204" pitchFamily="18" charset="0"/>
              </a:rPr>
              <a:t>)/2 .</a:t>
            </a:r>
          </a:p>
          <a:p>
            <a:pPr marL="342900" lvl="0" indent="-342900"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 Although it may be slower than other algorithms for implementing selection, the linear-search algorithm can be applied to any file, regardless of the ordering of the file, or the availability of indices, or the nature of the selection operation.</a:t>
            </a:r>
          </a:p>
        </p:txBody>
      </p:sp>
    </p:spTree>
    <p:extLst>
      <p:ext uri="{BB962C8B-B14F-4D97-AF65-F5344CB8AC3E}">
        <p14:creationId xmlns:p14="http://schemas.microsoft.com/office/powerpoint/2010/main" val="4263542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2. Binary search</a:t>
            </a:r>
          </a:p>
        </p:txBody>
      </p:sp>
      <p:sp>
        <p:nvSpPr>
          <p:cNvPr id="3" name="Rectangle 2"/>
          <p:cNvSpPr/>
          <p:nvPr/>
        </p:nvSpPr>
        <p:spPr>
          <a:xfrm>
            <a:off x="3368842" y="333138"/>
            <a:ext cx="8354729" cy="6370975"/>
          </a:xfrm>
          <a:prstGeom prst="rect">
            <a:avLst/>
          </a:prstGeom>
        </p:spPr>
        <p:txBody>
          <a:bodyPr wrap="square">
            <a:spAutoFit/>
          </a:bodyPr>
          <a:lstStyle/>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If the selection condition involves an equality comparison on a key attribute on which the file is ordered, binary search which is more efficient than linear search can be used.</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method of selection is applicable only when the records are sorted based on the search key value and we have equal condition. i.e.; this method is not suitable for range operation or any other kind. The filter condition should be ‘search key column = value’, like we had ‘CLASS_NAME = ‘DESIGN_01’’.</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Suppose blocks of records are stored continuously in the memory than the cost of the query to fetch first record is calculated as log (B)* (</a:t>
            </a:r>
            <a:r>
              <a:rPr lang="en-US" sz="2400" dirty="0" err="1">
                <a:latin typeface="Cambria" panose="02040503050406030204" pitchFamily="18" charset="0"/>
                <a:ea typeface="Cambria" panose="02040503050406030204" pitchFamily="18" charset="0"/>
              </a:rPr>
              <a:t>ts</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tT</a:t>
            </a:r>
            <a:r>
              <a:rPr lang="en-US" sz="24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is because we need to traverse for each record in a tree till child node. i.e.; suppose we need to fetch two records DESIGN_01 and DESIGN_02. They are at two different child nodes. Hence we have seek-time for each of them and transfer time for each of the nodes.</a:t>
            </a:r>
          </a:p>
        </p:txBody>
      </p:sp>
    </p:spTree>
    <p:extLst>
      <p:ext uri="{BB962C8B-B14F-4D97-AF65-F5344CB8AC3E}">
        <p14:creationId xmlns:p14="http://schemas.microsoft.com/office/powerpoint/2010/main" val="2266255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Join operations.</a:t>
            </a:r>
          </a:p>
        </p:txBody>
      </p:sp>
      <p:sp>
        <p:nvSpPr>
          <p:cNvPr id="3" name="Rectangle 2"/>
          <p:cNvSpPr/>
          <p:nvPr/>
        </p:nvSpPr>
        <p:spPr>
          <a:xfrm>
            <a:off x="3542097" y="602646"/>
            <a:ext cx="8008220" cy="6001643"/>
          </a:xfrm>
          <a:prstGeom prst="rect">
            <a:avLst/>
          </a:prstGeom>
        </p:spPr>
        <p:txBody>
          <a:bodyPr wrap="square">
            <a:spAutoFit/>
          </a:bodyPr>
          <a:lstStyle/>
          <a:p>
            <a:pPr lvl="0"/>
            <a:r>
              <a:rPr lang="en-US" sz="2400" dirty="0"/>
              <a:t>JOIN operation is one of the most time-consuming operations in query processing.</a:t>
            </a:r>
          </a:p>
          <a:p>
            <a:pPr lvl="0"/>
            <a:r>
              <a:rPr lang="en-US" sz="2400" b="1" dirty="0" err="1"/>
              <a:t>Equi</a:t>
            </a:r>
            <a:r>
              <a:rPr lang="en-US" sz="2400" b="1" dirty="0"/>
              <a:t>-join </a:t>
            </a:r>
            <a:r>
              <a:rPr lang="en-US" sz="2400" dirty="0"/>
              <a:t>is a join of the form </a:t>
            </a:r>
            <a:r>
              <a:rPr lang="en-US" sz="2400" i="1" dirty="0"/>
              <a:t>r </a:t>
            </a:r>
            <a:r>
              <a:rPr lang="en-US" sz="2400" dirty="0"/>
              <a:t>⋈ </a:t>
            </a:r>
            <a:r>
              <a:rPr lang="en-US" sz="2400" i="1" dirty="0" err="1"/>
              <a:t>r.A</a:t>
            </a:r>
            <a:r>
              <a:rPr lang="en-US" sz="2400" dirty="0"/>
              <a:t>=</a:t>
            </a:r>
            <a:r>
              <a:rPr lang="en-US" sz="2400" i="1" dirty="0" err="1"/>
              <a:t>s.B</a:t>
            </a:r>
            <a:r>
              <a:rPr lang="en-US" sz="2400" i="1" dirty="0"/>
              <a:t> s</a:t>
            </a:r>
            <a:r>
              <a:rPr lang="en-US" sz="2400" dirty="0"/>
              <a:t>, where </a:t>
            </a:r>
            <a:r>
              <a:rPr lang="en-US" sz="2400" i="1" dirty="0"/>
              <a:t>A </a:t>
            </a:r>
            <a:r>
              <a:rPr lang="en-US" sz="2400" dirty="0"/>
              <a:t>and </a:t>
            </a:r>
            <a:r>
              <a:rPr lang="en-US" sz="2400" i="1" dirty="0"/>
              <a:t>B </a:t>
            </a:r>
            <a:r>
              <a:rPr lang="en-US" sz="2400" dirty="0"/>
              <a:t>are attributes or sets of attributes of relations </a:t>
            </a:r>
            <a:r>
              <a:rPr lang="en-US" sz="2400" i="1" dirty="0"/>
              <a:t>r </a:t>
            </a:r>
            <a:r>
              <a:rPr lang="en-US" sz="2400" dirty="0"/>
              <a:t>and </a:t>
            </a:r>
            <a:r>
              <a:rPr lang="en-US" sz="2400" i="1" dirty="0"/>
              <a:t>s</a:t>
            </a:r>
            <a:r>
              <a:rPr lang="en-US" sz="2400" dirty="0"/>
              <a:t>, respectively.</a:t>
            </a:r>
          </a:p>
          <a:p>
            <a:pPr marL="342900" lvl="0" indent="-342900" algn="just">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Nested loop join:</a:t>
            </a:r>
          </a:p>
          <a:p>
            <a:r>
              <a:rPr lang="en-US" sz="2400" dirty="0"/>
              <a:t>Relation </a:t>
            </a:r>
            <a:r>
              <a:rPr lang="en-US" sz="2400" i="1" dirty="0"/>
              <a:t>r </a:t>
            </a:r>
            <a:r>
              <a:rPr lang="en-US" sz="2400" dirty="0"/>
              <a:t>is called the </a:t>
            </a:r>
            <a:r>
              <a:rPr lang="en-US" sz="2400" b="1" dirty="0"/>
              <a:t>outer relation </a:t>
            </a:r>
            <a:r>
              <a:rPr lang="en-US" sz="2400" dirty="0"/>
              <a:t>and relation </a:t>
            </a:r>
            <a:r>
              <a:rPr lang="en-US" sz="2400" i="1" dirty="0"/>
              <a:t>s </a:t>
            </a:r>
            <a:r>
              <a:rPr lang="en-US" sz="2400" dirty="0"/>
              <a:t>the </a:t>
            </a:r>
            <a:r>
              <a:rPr lang="en-US" sz="2400" b="1" dirty="0"/>
              <a:t>inner relation </a:t>
            </a:r>
            <a:r>
              <a:rPr lang="en-US" sz="2400" dirty="0"/>
              <a:t>of the join, since the loop for </a:t>
            </a:r>
            <a:r>
              <a:rPr lang="en-US" sz="2400" i="1" dirty="0"/>
              <a:t>r </a:t>
            </a:r>
            <a:r>
              <a:rPr lang="en-US" sz="2400" dirty="0"/>
              <a:t>encloses the loop for </a:t>
            </a:r>
            <a:r>
              <a:rPr lang="en-US" sz="2400" i="1" dirty="0"/>
              <a:t>s</a:t>
            </a:r>
            <a:r>
              <a:rPr lang="en-US" sz="2400" dirty="0"/>
              <a:t>. The algorithm uses the notation </a:t>
            </a:r>
            <a:r>
              <a:rPr lang="en-US" sz="2400" i="1" dirty="0" err="1"/>
              <a:t>tr</a:t>
            </a:r>
            <a:r>
              <a:rPr lang="en-US" sz="2400" i="1" dirty="0"/>
              <a:t> </a:t>
            </a:r>
            <a:r>
              <a:rPr lang="en-US" sz="2400" dirty="0"/>
              <a:t>· </a:t>
            </a:r>
            <a:r>
              <a:rPr lang="en-US" sz="2400" i="1" dirty="0" err="1"/>
              <a:t>ts</a:t>
            </a:r>
            <a:r>
              <a:rPr lang="en-US" sz="2400" dirty="0"/>
              <a:t>, where </a:t>
            </a:r>
            <a:r>
              <a:rPr lang="en-US" sz="2400" i="1" dirty="0" err="1"/>
              <a:t>tr</a:t>
            </a:r>
            <a:r>
              <a:rPr lang="en-US" sz="2400" i="1" dirty="0"/>
              <a:t> </a:t>
            </a:r>
            <a:r>
              <a:rPr lang="en-US" sz="2400" dirty="0"/>
              <a:t>and </a:t>
            </a:r>
            <a:r>
              <a:rPr lang="en-US" sz="2400" i="1" dirty="0" err="1"/>
              <a:t>ts</a:t>
            </a:r>
            <a:r>
              <a:rPr lang="en-US" sz="2400" i="1" dirty="0"/>
              <a:t> </a:t>
            </a:r>
            <a:r>
              <a:rPr lang="en-US" sz="2400" dirty="0"/>
              <a:t>are tuples; </a:t>
            </a:r>
            <a:r>
              <a:rPr lang="en-US" sz="2400" i="1" dirty="0" err="1"/>
              <a:t>tr</a:t>
            </a:r>
            <a:r>
              <a:rPr lang="en-US" sz="2400" i="1" dirty="0"/>
              <a:t> </a:t>
            </a:r>
            <a:r>
              <a:rPr lang="en-US" sz="2400" dirty="0"/>
              <a:t>· </a:t>
            </a:r>
            <a:r>
              <a:rPr lang="en-US" sz="2400" i="1" dirty="0" err="1"/>
              <a:t>ts</a:t>
            </a:r>
            <a:r>
              <a:rPr lang="en-US" sz="2400" i="1" dirty="0"/>
              <a:t> </a:t>
            </a:r>
            <a:r>
              <a:rPr lang="en-US" sz="2400" dirty="0"/>
              <a:t>denotes the tuple constructed by concatenating the attribute values of tuples </a:t>
            </a:r>
            <a:r>
              <a:rPr lang="en-US" sz="2400" i="1" dirty="0" err="1"/>
              <a:t>tr</a:t>
            </a:r>
            <a:r>
              <a:rPr lang="en-US" sz="2400" i="1" dirty="0"/>
              <a:t> </a:t>
            </a:r>
            <a:r>
              <a:rPr lang="en-US" sz="2400" dirty="0"/>
              <a:t>and </a:t>
            </a:r>
            <a:r>
              <a:rPr lang="en-US" sz="2400" i="1" dirty="0" err="1"/>
              <a:t>ts</a:t>
            </a:r>
            <a:r>
              <a:rPr lang="en-US" sz="2400" i="1" dirty="0"/>
              <a:t> </a:t>
            </a:r>
            <a:r>
              <a:rPr lang="en-US" sz="2400" dirty="0"/>
              <a:t>.</a:t>
            </a:r>
          </a:p>
          <a:p>
            <a:r>
              <a:rPr lang="en-US" sz="2400" b="1" dirty="0"/>
              <a:t>for each </a:t>
            </a:r>
            <a:r>
              <a:rPr lang="en-US" sz="2400" dirty="0"/>
              <a:t>tuple </a:t>
            </a:r>
            <a:r>
              <a:rPr lang="en-US" sz="2400" i="1" dirty="0" err="1"/>
              <a:t>tr</a:t>
            </a:r>
            <a:r>
              <a:rPr lang="en-US" sz="2400" i="1" dirty="0"/>
              <a:t> </a:t>
            </a:r>
            <a:r>
              <a:rPr lang="en-US" sz="2400" b="1" dirty="0"/>
              <a:t>in </a:t>
            </a:r>
            <a:r>
              <a:rPr lang="en-US" sz="2400" i="1" dirty="0"/>
              <a:t>r </a:t>
            </a:r>
            <a:r>
              <a:rPr lang="en-US" sz="2400" b="1" dirty="0"/>
              <a:t>do begin</a:t>
            </a:r>
          </a:p>
          <a:p>
            <a:r>
              <a:rPr lang="en-US" sz="2400" b="1" dirty="0"/>
              <a:t>	for each </a:t>
            </a:r>
            <a:r>
              <a:rPr lang="en-US" sz="2400" dirty="0"/>
              <a:t>tuple </a:t>
            </a:r>
            <a:r>
              <a:rPr lang="en-US" sz="2400" i="1" dirty="0" err="1"/>
              <a:t>ts</a:t>
            </a:r>
            <a:r>
              <a:rPr lang="en-US" sz="2400" i="1" dirty="0"/>
              <a:t> </a:t>
            </a:r>
            <a:r>
              <a:rPr lang="en-US" sz="2400" b="1" dirty="0"/>
              <a:t>in </a:t>
            </a:r>
            <a:r>
              <a:rPr lang="en-US" sz="2400" i="1" dirty="0"/>
              <a:t>s </a:t>
            </a:r>
            <a:r>
              <a:rPr lang="en-US" sz="2400" b="1" dirty="0"/>
              <a:t>do begin</a:t>
            </a:r>
          </a:p>
          <a:p>
            <a:pPr lvl="1"/>
            <a:r>
              <a:rPr lang="en-US" sz="2400" dirty="0"/>
              <a:t>	test pair (</a:t>
            </a:r>
            <a:r>
              <a:rPr lang="en-US" sz="2400" i="1" dirty="0" err="1"/>
              <a:t>tr</a:t>
            </a:r>
            <a:r>
              <a:rPr lang="en-US" sz="2400" i="1" dirty="0"/>
              <a:t> , </a:t>
            </a:r>
            <a:r>
              <a:rPr lang="en-US" sz="2400" i="1" dirty="0" err="1"/>
              <a:t>ts</a:t>
            </a:r>
            <a:r>
              <a:rPr lang="en-US" sz="2400" i="1" dirty="0"/>
              <a:t> </a:t>
            </a:r>
            <a:r>
              <a:rPr lang="en-US" sz="2400" dirty="0"/>
              <a:t>) to see if they satisfy the join condition </a:t>
            </a:r>
          </a:p>
          <a:p>
            <a:pPr lvl="1"/>
            <a:r>
              <a:rPr lang="en-US" sz="2400" dirty="0"/>
              <a:t>	if they do, add </a:t>
            </a:r>
            <a:r>
              <a:rPr lang="en-US" sz="2400" i="1" dirty="0" err="1"/>
              <a:t>tr</a:t>
            </a:r>
            <a:r>
              <a:rPr lang="en-US" sz="2400" i="1" dirty="0"/>
              <a:t> </a:t>
            </a:r>
            <a:r>
              <a:rPr lang="en-US" sz="2400" dirty="0"/>
              <a:t>· </a:t>
            </a:r>
            <a:r>
              <a:rPr lang="en-US" sz="2400" i="1" dirty="0" err="1"/>
              <a:t>ts</a:t>
            </a:r>
            <a:r>
              <a:rPr lang="en-US" sz="2400" i="1" dirty="0"/>
              <a:t> </a:t>
            </a:r>
            <a:r>
              <a:rPr lang="en-US" sz="2400" dirty="0"/>
              <a:t>to the result;</a:t>
            </a:r>
          </a:p>
          <a:p>
            <a:r>
              <a:rPr lang="en-US" sz="2400" b="1" dirty="0"/>
              <a:t>	end</a:t>
            </a:r>
          </a:p>
          <a:p>
            <a:r>
              <a:rPr lang="en-US" sz="2400" b="1" dirty="0"/>
              <a:t>end</a:t>
            </a:r>
            <a:endParaRPr lang="en-US"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969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Join operations.</a:t>
            </a:r>
          </a:p>
        </p:txBody>
      </p:sp>
      <p:sp>
        <p:nvSpPr>
          <p:cNvPr id="3" name="Rectangle 2"/>
          <p:cNvSpPr/>
          <p:nvPr/>
        </p:nvSpPr>
        <p:spPr>
          <a:xfrm>
            <a:off x="3542097" y="602646"/>
            <a:ext cx="8008220" cy="4893647"/>
          </a:xfrm>
          <a:prstGeom prst="rect">
            <a:avLst/>
          </a:prstGeom>
        </p:spPr>
        <p:txBody>
          <a:bodyPr wrap="square">
            <a:spAutoFit/>
          </a:bodyPr>
          <a:lstStyle/>
          <a:p>
            <a:pPr marL="342900" indent="-342900" algn="just">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Indexed nested-loop join</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a nested-loop join, if an index is available on the inner loop’s join attribute, index lookups can replace file scans. For each tuple </a:t>
            </a:r>
            <a:r>
              <a:rPr lang="en-US" sz="2400" i="1" dirty="0" err="1">
                <a:latin typeface="Cambria" panose="02040503050406030204" pitchFamily="18" charset="0"/>
                <a:ea typeface="Cambria" panose="02040503050406030204" pitchFamily="18" charset="0"/>
              </a:rPr>
              <a:t>tr</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in the outer relation </a:t>
            </a:r>
            <a:r>
              <a:rPr lang="en-US" sz="2400" i="1" dirty="0">
                <a:latin typeface="Cambria" panose="02040503050406030204" pitchFamily="18" charset="0"/>
                <a:ea typeface="Cambria" panose="02040503050406030204" pitchFamily="18" charset="0"/>
              </a:rPr>
              <a:t>r</a:t>
            </a:r>
            <a:r>
              <a:rPr lang="en-US" sz="2400" dirty="0">
                <a:latin typeface="Cambria" panose="02040503050406030204" pitchFamily="18" charset="0"/>
                <a:ea typeface="Cambria" panose="02040503050406030204" pitchFamily="18" charset="0"/>
              </a:rPr>
              <a:t>, the index is used to look up tuples in </a:t>
            </a:r>
            <a:r>
              <a:rPr lang="en-US" sz="2400" i="1" dirty="0">
                <a:latin typeface="Cambria" panose="02040503050406030204" pitchFamily="18" charset="0"/>
                <a:ea typeface="Cambria" panose="02040503050406030204" pitchFamily="18" charset="0"/>
              </a:rPr>
              <a:t>s </a:t>
            </a:r>
            <a:r>
              <a:rPr lang="en-US" sz="2400" dirty="0">
                <a:latin typeface="Cambria" panose="02040503050406030204" pitchFamily="18" charset="0"/>
                <a:ea typeface="Cambria" panose="02040503050406030204" pitchFamily="18" charset="0"/>
              </a:rPr>
              <a:t>that will satisfy the join condition with tuple </a:t>
            </a:r>
            <a:r>
              <a:rPr lang="en-US" sz="2400" i="1" dirty="0" err="1">
                <a:latin typeface="Cambria" panose="02040503050406030204" pitchFamily="18" charset="0"/>
                <a:ea typeface="Cambria" panose="02040503050406030204" pitchFamily="18" charset="0"/>
              </a:rPr>
              <a:t>tr</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join method is called an </a:t>
            </a:r>
            <a:r>
              <a:rPr lang="en-US" sz="2400" b="1" dirty="0">
                <a:latin typeface="Cambria" panose="02040503050406030204" pitchFamily="18" charset="0"/>
                <a:ea typeface="Cambria" panose="02040503050406030204" pitchFamily="18" charset="0"/>
              </a:rPr>
              <a:t>indexed nested-loop join</a:t>
            </a:r>
            <a:r>
              <a:rPr lang="en-US" sz="2400" dirty="0">
                <a:latin typeface="Cambria" panose="02040503050406030204" pitchFamily="18" charset="0"/>
                <a:ea typeface="Cambria" panose="02040503050406030204" pitchFamily="18" charset="0"/>
              </a:rPr>
              <a:t>; Looking up tuples in </a:t>
            </a:r>
            <a:r>
              <a:rPr lang="en-US" sz="2400" i="1" dirty="0">
                <a:latin typeface="Cambria" panose="02040503050406030204" pitchFamily="18" charset="0"/>
                <a:ea typeface="Cambria" panose="02040503050406030204" pitchFamily="18" charset="0"/>
              </a:rPr>
              <a:t>s </a:t>
            </a:r>
            <a:r>
              <a:rPr lang="en-US" sz="2400" dirty="0">
                <a:latin typeface="Cambria" panose="02040503050406030204" pitchFamily="18" charset="0"/>
                <a:ea typeface="Cambria" panose="02040503050406030204" pitchFamily="18" charset="0"/>
              </a:rPr>
              <a:t>that will satisfy the join conditions with a given tuple </a:t>
            </a:r>
            <a:r>
              <a:rPr lang="en-US" sz="2400" i="1" dirty="0" err="1">
                <a:latin typeface="Cambria" panose="02040503050406030204" pitchFamily="18" charset="0"/>
                <a:ea typeface="Cambria" panose="02040503050406030204" pitchFamily="18" charset="0"/>
              </a:rPr>
              <a:t>tr</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 essentially a selection on </a:t>
            </a:r>
            <a:r>
              <a:rPr lang="en-US" sz="2400" i="1" dirty="0">
                <a:latin typeface="Cambria" panose="02040503050406030204" pitchFamily="18" charset="0"/>
                <a:ea typeface="Cambria" panose="02040503050406030204" pitchFamily="18" charset="0"/>
              </a:rPr>
              <a:t>s</a:t>
            </a:r>
            <a:r>
              <a:rPr lang="en-US" sz="2400" dirty="0">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example, consider </a:t>
            </a:r>
            <a:r>
              <a:rPr lang="en-US" sz="2400" i="1" dirty="0">
                <a:latin typeface="Cambria" panose="02040503050406030204" pitchFamily="18" charset="0"/>
                <a:ea typeface="Cambria" panose="02040503050406030204" pitchFamily="18" charset="0"/>
              </a:rPr>
              <a:t>student  </a:t>
            </a:r>
            <a:r>
              <a:rPr lang="en-US" sz="2400" dirty="0">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takes</a:t>
            </a:r>
            <a:r>
              <a:rPr lang="en-US" sz="2400" dirty="0">
                <a:latin typeface="Cambria" panose="02040503050406030204" pitchFamily="18" charset="0"/>
                <a:ea typeface="Cambria" panose="02040503050406030204" pitchFamily="18" charset="0"/>
              </a:rPr>
              <a:t>. Suppose</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that we have a </a:t>
            </a:r>
            <a:r>
              <a:rPr lang="en-US" sz="2400" i="1" dirty="0">
                <a:latin typeface="Cambria" panose="02040503050406030204" pitchFamily="18" charset="0"/>
                <a:ea typeface="Cambria" panose="02040503050406030204" pitchFamily="18" charset="0"/>
              </a:rPr>
              <a:t>student </a:t>
            </a:r>
            <a:r>
              <a:rPr lang="en-US" sz="2400" dirty="0">
                <a:latin typeface="Cambria" panose="02040503050406030204" pitchFamily="18" charset="0"/>
                <a:ea typeface="Cambria" panose="02040503050406030204" pitchFamily="18" charset="0"/>
              </a:rPr>
              <a:t>tuple with </a:t>
            </a:r>
            <a:r>
              <a:rPr lang="en-US" sz="2400" i="1" dirty="0">
                <a:latin typeface="Cambria" panose="02040503050406030204" pitchFamily="18" charset="0"/>
                <a:ea typeface="Cambria" panose="02040503050406030204" pitchFamily="18" charset="0"/>
              </a:rPr>
              <a:t>ID </a:t>
            </a:r>
            <a:r>
              <a:rPr lang="en-US" sz="2400" dirty="0">
                <a:latin typeface="Cambria" panose="02040503050406030204" pitchFamily="18" charset="0"/>
                <a:ea typeface="Cambria" panose="02040503050406030204" pitchFamily="18" charset="0"/>
              </a:rPr>
              <a:t>“00128”. Then, the relevant tuples in </a:t>
            </a:r>
            <a:r>
              <a:rPr lang="en-US" sz="2400" i="1" dirty="0">
                <a:latin typeface="Cambria" panose="02040503050406030204" pitchFamily="18" charset="0"/>
                <a:ea typeface="Cambria" panose="02040503050406030204" pitchFamily="18" charset="0"/>
              </a:rPr>
              <a:t>takes </a:t>
            </a:r>
            <a:r>
              <a:rPr lang="en-US" sz="2400" dirty="0">
                <a:latin typeface="Cambria" panose="02040503050406030204" pitchFamily="18" charset="0"/>
                <a:ea typeface="Cambria" panose="02040503050406030204" pitchFamily="18" charset="0"/>
              </a:rPr>
              <a:t>are those that satisfy the selection “</a:t>
            </a:r>
            <a:r>
              <a:rPr lang="en-US" sz="2400" i="1" dirty="0">
                <a:latin typeface="Cambria" panose="02040503050406030204" pitchFamily="18" charset="0"/>
                <a:ea typeface="Cambria" panose="02040503050406030204" pitchFamily="18" charset="0"/>
              </a:rPr>
              <a:t>ID </a:t>
            </a:r>
            <a:r>
              <a:rPr lang="en-US" sz="2400" dirty="0">
                <a:latin typeface="Cambria" panose="02040503050406030204" pitchFamily="18" charset="0"/>
                <a:ea typeface="Cambria" panose="02040503050406030204" pitchFamily="18" charset="0"/>
              </a:rPr>
              <a:t>= 00128”.</a:t>
            </a:r>
          </a:p>
        </p:txBody>
      </p:sp>
    </p:spTree>
    <p:extLst>
      <p:ext uri="{BB962C8B-B14F-4D97-AF65-F5344CB8AC3E}">
        <p14:creationId xmlns:p14="http://schemas.microsoft.com/office/powerpoint/2010/main" val="2896630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74720" y="687408"/>
            <a:ext cx="8008220" cy="267765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Now we consider how to evaluate an expression containing multiple operations.</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obvious way to evaluate an expression is simply to evaluate one operation at a time, in an appropriate order.</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There are two approaches of query optimization:-</a:t>
            </a:r>
          </a:p>
          <a:p>
            <a:pPr marL="457200" lvl="0" indent="-457200">
              <a:buFont typeface="+mj-lt"/>
              <a:buAutoNum type="arabicPeriod"/>
            </a:pPr>
            <a:r>
              <a:rPr lang="en-US" sz="2400" dirty="0">
                <a:latin typeface="Cambria" panose="02040503050406030204" pitchFamily="18" charset="0"/>
                <a:ea typeface="Cambria" panose="02040503050406030204" pitchFamily="18" charset="0"/>
              </a:rPr>
              <a:t>Materialization</a:t>
            </a:r>
          </a:p>
          <a:p>
            <a:pPr marL="457200" indent="-457200">
              <a:buFont typeface="+mj-lt"/>
              <a:buAutoNum type="arabicPeriod"/>
            </a:pPr>
            <a:r>
              <a:rPr lang="en-US" sz="2400" dirty="0">
                <a:latin typeface="Cambria" panose="02040503050406030204" pitchFamily="18" charset="0"/>
                <a:ea typeface="Cambria" panose="02040503050406030204" pitchFamily="18" charset="0"/>
              </a:rPr>
              <a:t>Pipeline</a:t>
            </a:r>
            <a:endParaRPr lang="en-US" sz="2400" dirty="0">
              <a:latin typeface="Cambria" panose="02040503050406030204" pitchFamily="18" charset="0"/>
              <a:ea typeface="Cambria" panose="02040503050406030204" pitchFamily="18" charset="0"/>
              <a:sym typeface="Symbol" panose="05050102010706020507" pitchFamily="18" charset="2"/>
            </a:endParaRPr>
          </a:p>
        </p:txBody>
      </p:sp>
    </p:spTree>
    <p:extLst>
      <p:ext uri="{BB962C8B-B14F-4D97-AF65-F5344CB8AC3E}">
        <p14:creationId xmlns:p14="http://schemas.microsoft.com/office/powerpoint/2010/main" val="165246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74720" y="687408"/>
            <a:ext cx="8008220" cy="3785652"/>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Now we consider how to evaluate an expression containing multiple operations.</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obvious way to evaluate an expression is simply to evaluate one operation at a time, in an appropriate order.</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There are two approaches of query optimization:-</a:t>
            </a:r>
          </a:p>
          <a:p>
            <a:pPr marL="457200" indent="-457200">
              <a:buFont typeface="+mj-lt"/>
              <a:buAutoNum type="arabicPeriod"/>
            </a:pPr>
            <a:r>
              <a:rPr lang="en-US" sz="2400" dirty="0">
                <a:latin typeface="Cambria" panose="02040503050406030204" pitchFamily="18" charset="0"/>
                <a:ea typeface="Cambria" panose="02040503050406030204" pitchFamily="18" charset="0"/>
              </a:rPr>
              <a:t>Materialization: </a:t>
            </a:r>
            <a:r>
              <a:rPr lang="en-US" sz="2400" dirty="0">
                <a:ea typeface="ＭＳ Ｐゴシック" panose="020B0600070205080204" pitchFamily="34" charset="-128"/>
              </a:rPr>
              <a:t>Generate results of an expression whose inputs are relations or are already computed, </a:t>
            </a:r>
            <a:r>
              <a:rPr lang="en-US" sz="2400" b="1" dirty="0">
                <a:solidFill>
                  <a:srgbClr val="3366CC"/>
                </a:solidFill>
                <a:ea typeface="ＭＳ Ｐゴシック" panose="020B0600070205080204" pitchFamily="34" charset="-128"/>
              </a:rPr>
              <a:t>materialize</a:t>
            </a:r>
            <a:r>
              <a:rPr lang="en-US" sz="2400" dirty="0">
                <a:ea typeface="ＭＳ Ｐゴシック" panose="020B0600070205080204" pitchFamily="34" charset="-128"/>
              </a:rPr>
              <a:t> (store) it on disk.  Repeat.</a:t>
            </a:r>
          </a:p>
          <a:p>
            <a:pPr marL="457200" indent="-457200">
              <a:buFont typeface="+mj-lt"/>
              <a:buAutoNum type="arabicPeriod"/>
            </a:pPr>
            <a:r>
              <a:rPr lang="en-US" sz="2400" dirty="0">
                <a:latin typeface="Cambria" panose="02040503050406030204" pitchFamily="18" charset="0"/>
                <a:ea typeface="Cambria" panose="02040503050406030204" pitchFamily="18" charset="0"/>
                <a:sym typeface="Symbol" panose="05050102010706020507" pitchFamily="18" charset="2"/>
              </a:rPr>
              <a:t>Pipeline: Pass on tuples to parent operations even as an operation is being executed.</a:t>
            </a:r>
          </a:p>
        </p:txBody>
      </p:sp>
    </p:spTree>
    <p:extLst>
      <p:ext uri="{BB962C8B-B14F-4D97-AF65-F5344CB8AC3E}">
        <p14:creationId xmlns:p14="http://schemas.microsoft.com/office/powerpoint/2010/main" val="1787632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26594" y="0"/>
            <a:ext cx="8268102" cy="7525137"/>
          </a:xfrm>
          <a:prstGeom prst="rect">
            <a:avLst/>
          </a:prstGeom>
        </p:spPr>
        <p:txBody>
          <a:bodyPr wrap="square">
            <a:spAutoFit/>
          </a:bodyPr>
          <a:lstStyle/>
          <a:p>
            <a:pPr marL="34290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1. Materialized:</a:t>
            </a:r>
          </a:p>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It is easiest to understand intuitively how to evaluate an expression by looking at a pictorial representation of the expression in an </a:t>
            </a:r>
            <a:r>
              <a:rPr lang="en-US" sz="2100" b="1" dirty="0">
                <a:latin typeface="Cambria" panose="02040503050406030204" pitchFamily="18" charset="0"/>
                <a:ea typeface="Cambria" panose="02040503050406030204" pitchFamily="18" charset="0"/>
              </a:rPr>
              <a:t>operator tree</a:t>
            </a:r>
            <a:r>
              <a:rPr lang="en-US" sz="2100" dirty="0">
                <a:latin typeface="Cambria" panose="02040503050406030204" pitchFamily="18" charset="0"/>
                <a:ea typeface="Cambria" panose="02040503050406030204" pitchFamily="18" charset="0"/>
              </a:rPr>
              <a:t>. Consider the expression:</a:t>
            </a:r>
          </a:p>
          <a:p>
            <a:pPr marL="342900" lvl="0" indent="-342900" algn="just">
              <a:buFont typeface="Wingdings" panose="05000000000000000000" pitchFamily="2" charset="2"/>
              <a:buChar char="Ø"/>
            </a:pPr>
            <a:r>
              <a:rPr lang="en-US" sz="2100" i="1" dirty="0">
                <a:latin typeface="Cambria" panose="02040503050406030204" pitchFamily="18" charset="0"/>
                <a:ea typeface="Cambria" panose="02040503050406030204" pitchFamily="18" charset="0"/>
              </a:rPr>
              <a:t>πname</a:t>
            </a:r>
            <a:r>
              <a:rPr lang="en-US" sz="2100" dirty="0">
                <a:latin typeface="Cambria" panose="02040503050406030204" pitchFamily="18" charset="0"/>
                <a:ea typeface="Cambria" panose="02040503050406030204" pitchFamily="18" charset="0"/>
              </a:rPr>
              <a:t>(</a:t>
            </a:r>
            <a:r>
              <a:rPr lang="en-US" sz="2100" dirty="0" err="1">
                <a:latin typeface="Cambria" panose="02040503050406030204" pitchFamily="18" charset="0"/>
                <a:ea typeface="Cambria" panose="02040503050406030204" pitchFamily="18" charset="0"/>
              </a:rPr>
              <a:t>σ</a:t>
            </a:r>
            <a:r>
              <a:rPr lang="en-US" sz="2100" i="1" dirty="0" err="1">
                <a:latin typeface="Cambria" panose="02040503050406030204" pitchFamily="18" charset="0"/>
                <a:ea typeface="Cambria" panose="02040503050406030204" pitchFamily="18" charset="0"/>
              </a:rPr>
              <a:t>building</a:t>
            </a:r>
            <a:r>
              <a:rPr lang="en-US" sz="2100" i="1"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=“Watson”(</a:t>
            </a:r>
            <a:r>
              <a:rPr lang="en-US" sz="2100" i="1" dirty="0">
                <a:latin typeface="Cambria" panose="02040503050406030204" pitchFamily="18" charset="0"/>
                <a:ea typeface="Cambria" panose="02040503050406030204" pitchFamily="18" charset="0"/>
              </a:rPr>
              <a:t>department</a:t>
            </a:r>
            <a:r>
              <a:rPr lang="en-US" sz="2100" dirty="0">
                <a:latin typeface="Cambria" panose="02040503050406030204" pitchFamily="18" charset="0"/>
                <a:ea typeface="Cambria" panose="02040503050406030204" pitchFamily="18" charset="0"/>
              </a:rPr>
              <a:t>) ⋈</a:t>
            </a:r>
            <a:r>
              <a:rPr lang="en-US" sz="2100" i="1" dirty="0">
                <a:latin typeface="Cambria" panose="02040503050406030204" pitchFamily="18" charset="0"/>
                <a:ea typeface="Cambria" panose="02040503050406030204" pitchFamily="18" charset="0"/>
              </a:rPr>
              <a:t> instructor</a:t>
            </a:r>
            <a:r>
              <a:rPr lang="en-US" sz="21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By repeating the process, we will eventually evaluate the operation at the root of the tree, giving the final result of the expression. In our example, we get the final result by executing the projection operation at the root of the tree, using as input the temporary relation created by the join.</a:t>
            </a:r>
          </a:p>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Evaluation as just described is called </a:t>
            </a:r>
            <a:r>
              <a:rPr lang="en-US" sz="2100" b="1" dirty="0">
                <a:latin typeface="Cambria" panose="02040503050406030204" pitchFamily="18" charset="0"/>
                <a:ea typeface="Cambria" panose="02040503050406030204" pitchFamily="18" charset="0"/>
              </a:rPr>
              <a:t>materialized evaluation</a:t>
            </a:r>
            <a:r>
              <a:rPr lang="en-US" sz="2100" dirty="0">
                <a:latin typeface="Cambria" panose="02040503050406030204" pitchFamily="18" charset="0"/>
                <a:ea typeface="Cambria" panose="02040503050406030204" pitchFamily="18" charset="0"/>
              </a:rPr>
              <a:t>, since the results of each intermediate operation are created (materialized) and then are used for evaluation of the next-level operations.</a:t>
            </a:r>
          </a:p>
          <a:p>
            <a:pPr marL="342900" lvl="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Ø"/>
            </a:pPr>
            <a:endParaRPr lang="en-US" sz="2100" dirty="0">
              <a:latin typeface="Cambria" panose="02040503050406030204" pitchFamily="18" charset="0"/>
              <a:ea typeface="Cambria" panose="02040503050406030204" pitchFamily="18" charset="0"/>
              <a:sym typeface="Symbol" panose="05050102010706020507" pitchFamily="18" charset="2"/>
            </a:endParaRPr>
          </a:p>
        </p:txBody>
      </p:sp>
      <p:pic>
        <p:nvPicPr>
          <p:cNvPr id="10" name="Picture 9"/>
          <p:cNvPicPr/>
          <p:nvPr/>
        </p:nvPicPr>
        <p:blipFill rotWithShape="1">
          <a:blip r:embed="rId2"/>
          <a:srcRect l="27742" t="31742" r="32364" b="26120"/>
          <a:stretch/>
        </p:blipFill>
        <p:spPr bwMode="auto">
          <a:xfrm>
            <a:off x="4870031" y="1985661"/>
            <a:ext cx="3272942" cy="18836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92235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84346" y="529390"/>
            <a:ext cx="8268102" cy="5410712"/>
          </a:xfrm>
          <a:prstGeom prst="rect">
            <a:avLst/>
          </a:prstGeom>
        </p:spPr>
        <p:txBody>
          <a:bodyPr wrap="square">
            <a:spAutoFit/>
          </a:bodyPr>
          <a:lstStyle/>
          <a:p>
            <a:pPr marL="342900" indent="-342900" algn="just">
              <a:lnSpc>
                <a:spcPct val="90000"/>
              </a:lnSpc>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Pipelined evaluation :</a:t>
            </a:r>
            <a:r>
              <a:rPr lang="en-US" sz="2400" dirty="0">
                <a:latin typeface="Cambria" panose="02040503050406030204" pitchFamily="18" charset="0"/>
                <a:ea typeface="Cambria" panose="02040503050406030204" pitchFamily="18" charset="0"/>
              </a:rPr>
              <a:t>  evaluate several operations simultaneously, passing the results of one operation on to the next.</a:t>
            </a:r>
          </a:p>
          <a:p>
            <a:pPr marL="342900"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E.g., in previous expression tree, don</a:t>
            </a:r>
            <a:r>
              <a:rPr lang="ja-JP" altLang="en-US" sz="2400" dirty="0">
                <a:latin typeface="Cambria" panose="02040503050406030204" pitchFamily="18" charset="0"/>
                <a:ea typeface="ＭＳ Ｐゴシック" panose="020B0600070205080204" pitchFamily="34" charset="-128"/>
              </a:rPr>
              <a:t>’</a:t>
            </a:r>
            <a:r>
              <a:rPr lang="en-US" altLang="ja-JP" sz="2400" dirty="0">
                <a:latin typeface="Cambria" panose="02040503050406030204" pitchFamily="18" charset="0"/>
                <a:ea typeface="Cambria" panose="02040503050406030204" pitchFamily="18" charset="0"/>
              </a:rPr>
              <a:t>t store result of</a:t>
            </a:r>
            <a:br>
              <a:rPr lang="en-US" altLang="ja-JP" sz="2400" dirty="0">
                <a:latin typeface="Cambria" panose="02040503050406030204" pitchFamily="18" charset="0"/>
                <a:ea typeface="Cambria" panose="02040503050406030204" pitchFamily="18" charset="0"/>
              </a:rPr>
            </a:br>
            <a:br>
              <a:rPr lang="en-US" altLang="ja-JP" sz="2400" dirty="0">
                <a:latin typeface="Cambria" panose="02040503050406030204" pitchFamily="18" charset="0"/>
                <a:ea typeface="Cambria" panose="02040503050406030204" pitchFamily="18" charset="0"/>
              </a:rPr>
            </a:br>
            <a:r>
              <a:rPr lang="en-US" altLang="ja-JP" sz="2400" dirty="0">
                <a:latin typeface="Cambria" panose="02040503050406030204" pitchFamily="18" charset="0"/>
                <a:ea typeface="Cambria" panose="02040503050406030204" pitchFamily="18" charset="0"/>
              </a:rPr>
              <a:t> </a:t>
            </a:r>
          </a:p>
          <a:p>
            <a:pPr marL="800100" lvl="1"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instead, pass tuples directly to the join..  Similarly, don</a:t>
            </a:r>
            <a:r>
              <a:rPr lang="ja-JP" altLang="en-US" sz="2400" dirty="0">
                <a:latin typeface="Cambria" panose="02040503050406030204" pitchFamily="18" charset="0"/>
                <a:ea typeface="ＭＳ Ｐゴシック" panose="020B0600070205080204" pitchFamily="34" charset="-128"/>
              </a:rPr>
              <a:t>’</a:t>
            </a:r>
            <a:r>
              <a:rPr lang="en-US" altLang="ja-JP" sz="2400" dirty="0">
                <a:latin typeface="Cambria" panose="02040503050406030204" pitchFamily="18" charset="0"/>
                <a:ea typeface="Cambria" panose="02040503050406030204" pitchFamily="18" charset="0"/>
              </a:rPr>
              <a:t>t store result of join, pass tuples directly to projection. </a:t>
            </a:r>
          </a:p>
          <a:p>
            <a:pPr marL="342900"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Much cheaper than materialization: no need to store a temporary relation to disk.</a:t>
            </a:r>
          </a:p>
          <a:p>
            <a:pPr marL="342900"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Pipelining may not always be possible – e.g., sort, hash-join. </a:t>
            </a:r>
          </a:p>
          <a:p>
            <a:pPr marL="342900"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pipelining to be effective, use evaluation algorithms that generate output tuples even as tuples are received for inputs to the operation. </a:t>
            </a:r>
          </a:p>
          <a:p>
            <a:pPr marL="342900" indent="-342900" algn="just">
              <a:lnSpc>
                <a:spcPct val="9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Pipelines can be executed in two ways:  </a:t>
            </a:r>
            <a:r>
              <a:rPr lang="en-US" sz="2400" b="1" dirty="0">
                <a:latin typeface="Cambria" panose="02040503050406030204" pitchFamily="18" charset="0"/>
                <a:ea typeface="Cambria" panose="02040503050406030204" pitchFamily="18" charset="0"/>
              </a:rPr>
              <a:t>demand driven</a:t>
            </a:r>
            <a:r>
              <a:rPr lang="en-US" sz="2400" dirty="0">
                <a:latin typeface="Cambria" panose="02040503050406030204" pitchFamily="18" charset="0"/>
                <a:ea typeface="Cambria" panose="02040503050406030204" pitchFamily="18" charset="0"/>
              </a:rPr>
              <a:t> and </a:t>
            </a:r>
            <a:r>
              <a:rPr lang="en-US" sz="2400" b="1" dirty="0">
                <a:latin typeface="Cambria" panose="02040503050406030204" pitchFamily="18" charset="0"/>
                <a:ea typeface="Cambria" panose="02040503050406030204" pitchFamily="18" charset="0"/>
              </a:rPr>
              <a:t>producer driven</a:t>
            </a:r>
            <a:r>
              <a:rPr lang="en-US" sz="2400" dirty="0">
                <a:latin typeface="Cambria" panose="02040503050406030204" pitchFamily="18" charset="0"/>
                <a:ea typeface="Cambria" panose="02040503050406030204" pitchFamily="18" charset="0"/>
              </a:rPr>
              <a:t> </a:t>
            </a:r>
          </a:p>
        </p:txBody>
      </p:sp>
      <p:graphicFrame>
        <p:nvGraphicFramePr>
          <p:cNvPr id="5" name="Object 5"/>
          <p:cNvGraphicFramePr>
            <a:graphicFrameLocks noChangeAspect="1"/>
          </p:cNvGraphicFramePr>
          <p:nvPr>
            <p:extLst>
              <p:ext uri="{D42A27DB-BD31-4B8C-83A1-F6EECF244321}">
                <p14:modId xmlns:p14="http://schemas.microsoft.com/office/powerpoint/2010/main" val="4171730945"/>
              </p:ext>
            </p:extLst>
          </p:nvPr>
        </p:nvGraphicFramePr>
        <p:xfrm>
          <a:off x="5664066" y="2013919"/>
          <a:ext cx="3386138" cy="484188"/>
        </p:xfrm>
        <a:graphic>
          <a:graphicData uri="http://schemas.openxmlformats.org/presentationml/2006/ole">
            <mc:AlternateContent xmlns:mc="http://schemas.openxmlformats.org/markup-compatibility/2006">
              <mc:Choice xmlns:v="urn:schemas-microsoft-com:vml" Requires="v">
                <p:oleObj name="Equation" r:id="rId2" imgW="1676400" imgH="241300" progId="Equation.3">
                  <p:embed/>
                </p:oleObj>
              </mc:Choice>
              <mc:Fallback>
                <p:oleObj name="Equation" r:id="rId2" imgW="16764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066" y="2013919"/>
                        <a:ext cx="3386138"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14141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84346" y="529390"/>
            <a:ext cx="8268102" cy="6370975"/>
          </a:xfrm>
          <a:prstGeom prst="rect">
            <a:avLst/>
          </a:prstGeom>
        </p:spPr>
        <p:txBody>
          <a:bodyPr wrap="square">
            <a:spAutoFit/>
          </a:bodyPr>
          <a:lstStyle/>
          <a:p>
            <a:pPr lvl="0"/>
            <a:r>
              <a:rPr lang="en-US" sz="2400" dirty="0">
                <a:latin typeface="Cambria" panose="02040503050406030204" pitchFamily="18" charset="0"/>
                <a:ea typeface="Cambria" panose="02040503050406030204" pitchFamily="18" charset="0"/>
              </a:rPr>
              <a:t>1. In a </a:t>
            </a:r>
            <a:r>
              <a:rPr lang="en-US" sz="2400" b="1" dirty="0">
                <a:latin typeface="Cambria" panose="02040503050406030204" pitchFamily="18" charset="0"/>
                <a:ea typeface="Cambria" panose="02040503050406030204" pitchFamily="18" charset="0"/>
              </a:rPr>
              <a:t>demand-driven pipeline</a:t>
            </a:r>
            <a:r>
              <a:rPr lang="en-US" sz="2400" dirty="0">
                <a:latin typeface="Cambria" panose="02040503050406030204" pitchFamily="18" charset="0"/>
                <a:ea typeface="Cambria" panose="02040503050406030204" pitchFamily="18" charset="0"/>
              </a:rPr>
              <a:t>, the system makes repeated requests for tuples from the operation at the top of the pipeline. Each time that an operation receives a request for tuples, it computes the next tuple (or tuples) to be returned, and then returns that tuple. </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If the inputs of the operation are not pipelined, the next tuple(s) to be returned can be computed from the input relations, while the system keeps track of what has been returned so far.  </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If it has some pipelined inputs, the operation also makes requests for tuples from its pipelined inputs. Using the tuples received from its pipelined inputs, the operation computes tuples for its output, and passes them up to its parent.</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Each operation in a demand-driven pipeline can be implemented as an </a:t>
            </a:r>
            <a:r>
              <a:rPr lang="en-US" sz="2400" b="1" dirty="0">
                <a:latin typeface="Cambria" panose="02040503050406030204" pitchFamily="18" charset="0"/>
                <a:ea typeface="Cambria" panose="02040503050406030204" pitchFamily="18" charset="0"/>
              </a:rPr>
              <a:t>iterator </a:t>
            </a:r>
            <a:r>
              <a:rPr lang="en-US" sz="2400" dirty="0">
                <a:latin typeface="Cambria" panose="02040503050406030204" pitchFamily="18" charset="0"/>
                <a:ea typeface="Cambria" panose="02040503050406030204" pitchFamily="18" charset="0"/>
              </a:rPr>
              <a:t>that provides the following functions: </a:t>
            </a:r>
            <a:r>
              <a:rPr lang="en-US" sz="2400" i="1" dirty="0">
                <a:latin typeface="Cambria" panose="02040503050406030204" pitchFamily="18" charset="0"/>
                <a:ea typeface="Cambria" panose="02040503050406030204" pitchFamily="18" charset="0"/>
              </a:rPr>
              <a:t>open</a:t>
            </a:r>
            <a:r>
              <a:rPr lang="en-US" sz="2400" dirty="0">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next</a:t>
            </a:r>
            <a:r>
              <a:rPr lang="en-US" sz="2400" dirty="0">
                <a:latin typeface="Cambria" panose="02040503050406030204" pitchFamily="18" charset="0"/>
                <a:ea typeface="Cambria" panose="02040503050406030204" pitchFamily="18" charset="0"/>
              </a:rPr>
              <a:t>(), and </a:t>
            </a:r>
            <a:r>
              <a:rPr lang="en-US" sz="2400" i="1" dirty="0">
                <a:latin typeface="Cambria" panose="02040503050406030204" pitchFamily="18" charset="0"/>
                <a:ea typeface="Cambria" panose="02040503050406030204" pitchFamily="18" charset="0"/>
              </a:rPr>
              <a:t>close</a:t>
            </a:r>
            <a:r>
              <a:rPr lang="en-US" sz="24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286962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84346" y="529390"/>
            <a:ext cx="8268102" cy="5632311"/>
          </a:xfrm>
          <a:prstGeom prst="rect">
            <a:avLst/>
          </a:prstGeom>
        </p:spPr>
        <p:txBody>
          <a:bodyPr wrap="square">
            <a:spAutoFit/>
          </a:bodyPr>
          <a:lstStyle/>
          <a:p>
            <a:pPr lvl="0" algn="just"/>
            <a:r>
              <a:rPr lang="en-US" sz="2400" dirty="0">
                <a:latin typeface="Cambria" panose="02040503050406030204" pitchFamily="18" charset="0"/>
                <a:ea typeface="Cambria" panose="02040503050406030204" pitchFamily="18" charset="0"/>
              </a:rPr>
              <a:t>2. In a </a:t>
            </a:r>
            <a:r>
              <a:rPr lang="en-US" sz="2400" b="1" dirty="0">
                <a:latin typeface="Cambria" panose="02040503050406030204" pitchFamily="18" charset="0"/>
                <a:ea typeface="Cambria" panose="02040503050406030204" pitchFamily="18" charset="0"/>
              </a:rPr>
              <a:t>producer-driven pipeline</a:t>
            </a:r>
            <a:r>
              <a:rPr lang="en-US" sz="2400" dirty="0">
                <a:latin typeface="Cambria" panose="02040503050406030204" pitchFamily="18" charset="0"/>
                <a:ea typeface="Cambria" panose="02040503050406030204" pitchFamily="18" charset="0"/>
              </a:rPr>
              <a:t>, operations do not wait for requests to produce tuples, but instead generate the tuples </a:t>
            </a:r>
            <a:r>
              <a:rPr lang="en-US" sz="2400" b="1" dirty="0">
                <a:latin typeface="Cambria" panose="02040503050406030204" pitchFamily="18" charset="0"/>
                <a:ea typeface="Cambria" panose="02040503050406030204" pitchFamily="18" charset="0"/>
              </a:rPr>
              <a:t>eagerly</a:t>
            </a:r>
            <a:r>
              <a:rPr lang="en-US" sz="2400" dirty="0">
                <a:latin typeface="Cambria" panose="02040503050406030204" pitchFamily="18" charset="0"/>
                <a:ea typeface="Cambria" panose="02040503050406030204" pitchFamily="18" charset="0"/>
              </a:rPr>
              <a:t>.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Each operation in a producer-driven pipeline is modeled as a separate process or thread within the system that takes a stream of tuples from its pipelined inputs and generates a stream of tuples for its output.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each pair of adjacent operations in a producer-driven pipeline, the system creates a buffer to hold tuples being passed from one operation to the next.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processes or threads corresponding to different operations execute concurrently.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Each operation at the bottom of a pipeline continually generates output tuples, and puts them in its output buffer, until the buffer is full. </a:t>
            </a:r>
          </a:p>
        </p:txBody>
      </p:sp>
    </p:spTree>
    <p:extLst>
      <p:ext uri="{BB962C8B-B14F-4D97-AF65-F5344CB8AC3E}">
        <p14:creationId xmlns:p14="http://schemas.microsoft.com/office/powerpoint/2010/main" val="4258927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Evaluation of Expressions</a:t>
            </a:r>
          </a:p>
        </p:txBody>
      </p:sp>
      <p:sp>
        <p:nvSpPr>
          <p:cNvPr id="3" name="Rectangle 2"/>
          <p:cNvSpPr/>
          <p:nvPr/>
        </p:nvSpPr>
        <p:spPr>
          <a:xfrm>
            <a:off x="3484346" y="529390"/>
            <a:ext cx="8268102" cy="4154984"/>
          </a:xfrm>
          <a:prstGeom prst="rect">
            <a:avLst/>
          </a:prstGeom>
        </p:spPr>
        <p:txBody>
          <a:bodyPr wrap="square">
            <a:spAutoFit/>
          </a:bodyPr>
          <a:lstStyle/>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An operation at any other level of a pipeline generates output tuples when it gets input tuples from lower down in the pipeline, until its output buffer is full. </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Once the operation uses a tuple from a pipelined input, it removes the tuple from its input buffer. In either case, once the output buffer is full, the operation waits until its parent operation removes tuples from the buffer, so that the buffer has space for more tuples. At this point, the operation generates more tuples, until the buffer is full again. </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operation repeats this process until all the output tuples have been generated.</a:t>
            </a:r>
          </a:p>
        </p:txBody>
      </p:sp>
    </p:spTree>
    <p:extLst>
      <p:ext uri="{BB962C8B-B14F-4D97-AF65-F5344CB8AC3E}">
        <p14:creationId xmlns:p14="http://schemas.microsoft.com/office/powerpoint/2010/main" val="1456866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Query optimization</a:t>
            </a:r>
          </a:p>
        </p:txBody>
      </p:sp>
      <p:sp>
        <p:nvSpPr>
          <p:cNvPr id="3" name="Rectangle 2"/>
          <p:cNvSpPr/>
          <p:nvPr/>
        </p:nvSpPr>
        <p:spPr>
          <a:xfrm>
            <a:off x="3484346" y="529390"/>
            <a:ext cx="8268102" cy="4524315"/>
          </a:xfrm>
          <a:prstGeom prst="rect">
            <a:avLst/>
          </a:prstGeom>
        </p:spPr>
        <p:txBody>
          <a:bodyPr wrap="square">
            <a:spAutoFit/>
          </a:bodyPr>
          <a:lstStyle/>
          <a:p>
            <a:pPr marL="342900" lvl="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Query optimization </a:t>
            </a:r>
            <a:r>
              <a:rPr lang="en-US" sz="2400" dirty="0">
                <a:latin typeface="Cambria" panose="02040503050406030204" pitchFamily="18" charset="0"/>
                <a:ea typeface="Cambria" panose="02040503050406030204" pitchFamily="18" charset="0"/>
              </a:rPr>
              <a:t>is the process of selecting the most efficient query-evaluation plan from among the many strategies usually possible for processing a given query, especially if the query is complex.</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One aspect of optimization occurs at the relational-algebra level, where the system attempts to find an expression that is equivalent to the given expression, but more efficient to execute.</a:t>
            </a:r>
          </a:p>
          <a:p>
            <a:pPr marL="342900" lvl="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When any query constructs the large intermediate relation and we want the same result but with small intermediate representation we convert that query by equivalent expression.</a:t>
            </a:r>
          </a:p>
        </p:txBody>
      </p:sp>
      <p:pic>
        <p:nvPicPr>
          <p:cNvPr id="10" name="Picture 9"/>
          <p:cNvPicPr/>
          <p:nvPr/>
        </p:nvPicPr>
        <p:blipFill rotWithShape="1">
          <a:blip r:embed="rId2"/>
          <a:srcRect l="16641" t="34538" r="25198" b="55079"/>
          <a:stretch/>
        </p:blipFill>
        <p:spPr bwMode="auto">
          <a:xfrm>
            <a:off x="3484346" y="4684374"/>
            <a:ext cx="8094845" cy="126550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91526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Equivalence rule:</a:t>
            </a:r>
          </a:p>
        </p:txBody>
      </p:sp>
      <p:sp>
        <p:nvSpPr>
          <p:cNvPr id="3" name="Rectangle 2"/>
          <p:cNvSpPr/>
          <p:nvPr/>
        </p:nvSpPr>
        <p:spPr>
          <a:xfrm>
            <a:off x="3484346" y="529390"/>
            <a:ext cx="8268102" cy="6370975"/>
          </a:xfrm>
          <a:prstGeom prst="rect">
            <a:avLst/>
          </a:prstGeom>
        </p:spPr>
        <p:txBody>
          <a:bodyPr wrap="square">
            <a:spAutoFit/>
          </a:bodyPr>
          <a:lstStyle/>
          <a:p>
            <a:pPr marL="457200" lvl="0" indent="-457200" algn="just">
              <a:buFont typeface="Wingdings" panose="05000000000000000000" pitchFamily="2" charset="2"/>
              <a:buChar char="Ø"/>
            </a:pPr>
            <a:r>
              <a:rPr lang="en-US" sz="2400" b="1" i="1" dirty="0">
                <a:latin typeface="Cambria" panose="02040503050406030204" pitchFamily="18" charset="0"/>
                <a:ea typeface="Cambria" panose="02040503050406030204" pitchFamily="18" charset="0"/>
              </a:rPr>
              <a:t>Transformation of relational expression to equivalent relational expression.</a:t>
            </a:r>
          </a:p>
          <a:p>
            <a:pPr marL="457200" lvl="0" indent="-4572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 query can be expressed in several different ways, with different costs of evaluation.</a:t>
            </a:r>
          </a:p>
          <a:p>
            <a:pPr marL="457200" lvl="0" indent="-4572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Two relational-algebra expressions are said to be </a:t>
            </a:r>
            <a:r>
              <a:rPr lang="en-US" sz="2400" b="1" dirty="0">
                <a:latin typeface="Cambria" panose="02040503050406030204" pitchFamily="18" charset="0"/>
                <a:ea typeface="Cambria" panose="02040503050406030204" pitchFamily="18" charset="0"/>
              </a:rPr>
              <a:t>equivalent </a:t>
            </a:r>
            <a:r>
              <a:rPr lang="en-US" sz="2400" dirty="0">
                <a:latin typeface="Cambria" panose="02040503050406030204" pitchFamily="18" charset="0"/>
                <a:ea typeface="Cambria" panose="02040503050406030204" pitchFamily="18" charset="0"/>
              </a:rPr>
              <a:t>if, on every legal database instance, the two expressions generate the same set of tuples.</a:t>
            </a:r>
          </a:p>
          <a:p>
            <a:pPr marL="457200" lvl="0" indent="-4572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An </a:t>
            </a:r>
            <a:r>
              <a:rPr lang="en-US" sz="2400" b="1" dirty="0">
                <a:latin typeface="Cambria" panose="02040503050406030204" pitchFamily="18" charset="0"/>
                <a:ea typeface="Cambria" panose="02040503050406030204" pitchFamily="18" charset="0"/>
              </a:rPr>
              <a:t>equivalence rule </a:t>
            </a:r>
            <a:r>
              <a:rPr lang="en-US" sz="2400" dirty="0">
                <a:latin typeface="Cambria" panose="02040503050406030204" pitchFamily="18" charset="0"/>
                <a:ea typeface="Cambria" panose="02040503050406030204" pitchFamily="18" charset="0"/>
              </a:rPr>
              <a:t>says that expressions of two forms are equivalent. We can replace an expression of the first form by an expression of the second form, or vice versa since the two expressions generate the same result on any valid database.</a:t>
            </a:r>
          </a:p>
          <a:p>
            <a:pPr marL="457200" lvl="0" indent="-4572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We use θ</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θ 1</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θ2, and so on to denote tables,</a:t>
            </a:r>
          </a:p>
          <a:p>
            <a:pPr marL="457200" lvl="0" indent="-457200" algn="just">
              <a:buFont typeface="Wingdings" panose="05000000000000000000" pitchFamily="2" charset="2"/>
              <a:buChar char="Ø"/>
            </a:pPr>
            <a:r>
              <a:rPr lang="en-US" sz="2400" i="1" dirty="0">
                <a:latin typeface="Cambria" panose="02040503050406030204" pitchFamily="18" charset="0"/>
                <a:ea typeface="Cambria" panose="02040503050406030204" pitchFamily="18" charset="0"/>
              </a:rPr>
              <a:t>L</a:t>
            </a:r>
            <a:r>
              <a:rPr lang="en-US" sz="2400" dirty="0">
                <a:latin typeface="Cambria" panose="02040503050406030204" pitchFamily="18" charset="0"/>
                <a:ea typeface="Cambria" panose="02040503050406030204" pitchFamily="18" charset="0"/>
              </a:rPr>
              <a:t>1, </a:t>
            </a:r>
            <a:r>
              <a:rPr lang="en-US" sz="2400" i="1" dirty="0">
                <a:latin typeface="Cambria" panose="02040503050406030204" pitchFamily="18" charset="0"/>
                <a:ea typeface="Cambria" panose="02040503050406030204" pitchFamily="18" charset="0"/>
              </a:rPr>
              <a:t>L</a:t>
            </a:r>
            <a:r>
              <a:rPr lang="en-US" sz="2400" dirty="0">
                <a:latin typeface="Cambria" panose="02040503050406030204" pitchFamily="18" charset="0"/>
                <a:ea typeface="Cambria" panose="02040503050406030204" pitchFamily="18" charset="0"/>
              </a:rPr>
              <a:t>2, </a:t>
            </a:r>
            <a:r>
              <a:rPr lang="en-US" sz="2400" i="1" dirty="0">
                <a:latin typeface="Cambria" panose="02040503050406030204" pitchFamily="18" charset="0"/>
                <a:ea typeface="Cambria" panose="02040503050406030204" pitchFamily="18" charset="0"/>
              </a:rPr>
              <a:t>L</a:t>
            </a:r>
            <a:r>
              <a:rPr lang="en-US" sz="2400" dirty="0">
                <a:latin typeface="Cambria" panose="02040503050406030204" pitchFamily="18" charset="0"/>
                <a:ea typeface="Cambria" panose="02040503050406030204" pitchFamily="18" charset="0"/>
              </a:rPr>
              <a:t>3, and so on to denote lists of attributes,</a:t>
            </a:r>
          </a:p>
          <a:p>
            <a:pPr marL="457200" lvl="0" indent="-457200" algn="just">
              <a:buFont typeface="Wingdings" panose="05000000000000000000" pitchFamily="2" charset="2"/>
              <a:buChar char="Ø"/>
            </a:pPr>
            <a:r>
              <a:rPr lang="en-US" sz="2400" i="1" dirty="0">
                <a:latin typeface="Cambria" panose="02040503050406030204" pitchFamily="18" charset="0"/>
                <a:ea typeface="Cambria" panose="02040503050406030204" pitchFamily="18" charset="0"/>
              </a:rPr>
              <a:t>E, E</a:t>
            </a:r>
            <a:r>
              <a:rPr lang="en-US" sz="2400" dirty="0">
                <a:latin typeface="Cambria" panose="02040503050406030204" pitchFamily="18" charset="0"/>
                <a:ea typeface="Cambria" panose="02040503050406030204" pitchFamily="18" charset="0"/>
              </a:rPr>
              <a:t>1</a:t>
            </a:r>
            <a:r>
              <a:rPr lang="en-US" sz="2400" i="1" dirty="0">
                <a:latin typeface="Cambria" panose="02040503050406030204" pitchFamily="18" charset="0"/>
                <a:ea typeface="Cambria" panose="02040503050406030204" pitchFamily="18" charset="0"/>
              </a:rPr>
              <a:t>, E</a:t>
            </a:r>
            <a:r>
              <a:rPr lang="en-US" sz="2400" dirty="0">
                <a:latin typeface="Cambria" panose="02040503050406030204" pitchFamily="18" charset="0"/>
                <a:ea typeface="Cambria" panose="02040503050406030204" pitchFamily="18" charset="0"/>
              </a:rPr>
              <a:t>2, and so on to denote relational-algebra expressions.</a:t>
            </a:r>
          </a:p>
          <a:p>
            <a:pPr lvl="0" algn="just"/>
            <a:endParaRPr lang="en-US" sz="2400" dirty="0"/>
          </a:p>
        </p:txBody>
      </p:sp>
    </p:spTree>
    <p:extLst>
      <p:ext uri="{BB962C8B-B14F-4D97-AF65-F5344CB8AC3E}">
        <p14:creationId xmlns:p14="http://schemas.microsoft.com/office/powerpoint/2010/main" val="2896858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Equivalence rule:</a:t>
            </a:r>
          </a:p>
        </p:txBody>
      </p:sp>
      <p:sp>
        <p:nvSpPr>
          <p:cNvPr id="3" name="Rectangle 2"/>
          <p:cNvSpPr/>
          <p:nvPr/>
        </p:nvSpPr>
        <p:spPr>
          <a:xfrm>
            <a:off x="3484346" y="529390"/>
            <a:ext cx="8268102" cy="6370975"/>
          </a:xfrm>
          <a:prstGeom prst="rect">
            <a:avLst/>
          </a:prstGeom>
        </p:spPr>
        <p:txBody>
          <a:bodyPr wrap="square">
            <a:spAutoFit/>
          </a:bodyPr>
          <a:lstStyle/>
          <a:p>
            <a:pPr lvl="0" algn="just"/>
            <a:r>
              <a:rPr lang="en-US" sz="2400" dirty="0">
                <a:latin typeface="Cambria" panose="02040503050406030204" pitchFamily="18" charset="0"/>
                <a:ea typeface="Cambria" panose="02040503050406030204" pitchFamily="18" charset="0"/>
              </a:rPr>
              <a:t>Rule:1</a:t>
            </a:r>
          </a:p>
          <a:p>
            <a:pPr algn="just"/>
            <a:r>
              <a:rPr lang="en-US" sz="2400" dirty="0">
                <a:latin typeface="Cambria" panose="02040503050406030204" pitchFamily="18" charset="0"/>
                <a:ea typeface="Cambria" panose="02040503050406030204" pitchFamily="18" charset="0"/>
              </a:rPr>
              <a:t>Conjunctive selection operations can be deconstructed into a sequence of individual selections. This transformation is referred to as a cascade of σ.</a:t>
            </a:r>
          </a:p>
          <a:p>
            <a:pPr algn="just"/>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a:p>
            <a:pPr algn="just"/>
            <a:r>
              <a:rPr lang="en-US" sz="2400" dirty="0">
                <a:latin typeface="Cambria" panose="02040503050406030204" pitchFamily="18" charset="0"/>
                <a:ea typeface="Cambria" panose="02040503050406030204" pitchFamily="18" charset="0"/>
              </a:rPr>
              <a:t>Rule:2 </a:t>
            </a:r>
          </a:p>
          <a:p>
            <a:pPr lvl="0" algn="just"/>
            <a:r>
              <a:rPr lang="en-US" sz="2400" dirty="0">
                <a:latin typeface="Cambria" panose="02040503050406030204" pitchFamily="18" charset="0"/>
                <a:ea typeface="Cambria" panose="02040503050406030204" pitchFamily="18" charset="0"/>
              </a:rPr>
              <a:t>Selection operations are </a:t>
            </a:r>
            <a:r>
              <a:rPr lang="en-US" sz="2400" b="1" dirty="0">
                <a:latin typeface="Cambria" panose="02040503050406030204" pitchFamily="18" charset="0"/>
                <a:ea typeface="Cambria" panose="02040503050406030204" pitchFamily="18" charset="0"/>
              </a:rPr>
              <a:t>commutative</a:t>
            </a:r>
            <a:r>
              <a:rPr lang="en-US" sz="2400" dirty="0">
                <a:latin typeface="Cambria" panose="02040503050406030204" pitchFamily="18" charset="0"/>
                <a:ea typeface="Cambria" panose="02040503050406030204" pitchFamily="18" charset="0"/>
              </a:rPr>
              <a:t>.</a:t>
            </a:r>
          </a:p>
          <a:p>
            <a:pPr lvl="0" algn="just"/>
            <a:endParaRPr lang="en-US" sz="2400" dirty="0">
              <a:latin typeface="Cambria" panose="02040503050406030204" pitchFamily="18" charset="0"/>
              <a:ea typeface="Cambria" panose="02040503050406030204" pitchFamily="18" charset="0"/>
            </a:endParaRPr>
          </a:p>
          <a:p>
            <a:pPr lvl="0" algn="just"/>
            <a:endParaRPr lang="en-US" sz="2400" dirty="0">
              <a:latin typeface="Cambria" panose="02040503050406030204" pitchFamily="18" charset="0"/>
              <a:ea typeface="Cambria" panose="02040503050406030204" pitchFamily="18" charset="0"/>
            </a:endParaRPr>
          </a:p>
          <a:p>
            <a:pPr lvl="0" algn="just"/>
            <a:r>
              <a:rPr lang="en-US" sz="2400" dirty="0">
                <a:latin typeface="Cambria" panose="02040503050406030204" pitchFamily="18" charset="0"/>
                <a:ea typeface="Cambria" panose="02040503050406030204" pitchFamily="18" charset="0"/>
              </a:rPr>
              <a:t>Rule:3</a:t>
            </a:r>
          </a:p>
          <a:p>
            <a:pPr algn="just"/>
            <a:r>
              <a:rPr lang="en-US" sz="2400" dirty="0">
                <a:latin typeface="Cambria" panose="02040503050406030204" pitchFamily="18" charset="0"/>
                <a:ea typeface="Cambria" panose="02040503050406030204" pitchFamily="18" charset="0"/>
              </a:rPr>
              <a:t>Only the final operations in a sequence of projection operations are needed; the others can be omitted. This transformation can also be referred to as a cascade of </a:t>
            </a:r>
            <a:r>
              <a:rPr lang="en-US" sz="2400" i="1" dirty="0">
                <a:latin typeface="Cambria" panose="02040503050406030204" pitchFamily="18" charset="0"/>
                <a:ea typeface="Cambria" panose="02040503050406030204" pitchFamily="18" charset="0"/>
              </a:rPr>
              <a:t>π</a:t>
            </a:r>
            <a:r>
              <a:rPr lang="en-US" sz="2400" dirty="0">
                <a:latin typeface="Cambria" panose="02040503050406030204" pitchFamily="18" charset="0"/>
                <a:ea typeface="Cambria" panose="02040503050406030204" pitchFamily="18" charset="0"/>
              </a:rPr>
              <a:t>.</a:t>
            </a:r>
          </a:p>
          <a:p>
            <a:pPr lvl="0" algn="just"/>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a:p>
            <a:pPr lvl="0" algn="just"/>
            <a:endParaRPr lang="en-US" sz="2400" dirty="0">
              <a:latin typeface="Cambria" panose="02040503050406030204" pitchFamily="18" charset="0"/>
              <a:ea typeface="Cambria" panose="02040503050406030204" pitchFamily="18" charset="0"/>
            </a:endParaRPr>
          </a:p>
        </p:txBody>
      </p:sp>
      <p:pic>
        <p:nvPicPr>
          <p:cNvPr id="4" name="Picture 3"/>
          <p:cNvPicPr/>
          <p:nvPr/>
        </p:nvPicPr>
        <p:blipFill rotWithShape="1">
          <a:blip r:embed="rId2"/>
          <a:srcRect l="38834" t="18975" r="39092" b="70039"/>
          <a:stretch/>
        </p:blipFill>
        <p:spPr bwMode="auto">
          <a:xfrm>
            <a:off x="4616216" y="2104844"/>
            <a:ext cx="4133850" cy="1042617"/>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3"/>
          <a:srcRect l="38293" t="31358" r="37446" b="63235"/>
          <a:stretch/>
        </p:blipFill>
        <p:spPr bwMode="auto">
          <a:xfrm>
            <a:off x="4616216" y="3619099"/>
            <a:ext cx="4485005" cy="534536"/>
          </a:xfrm>
          <a:prstGeom prst="rect">
            <a:avLst/>
          </a:prstGeom>
          <a:ln>
            <a:noFill/>
          </a:ln>
          <a:extLst>
            <a:ext uri="{53640926-AAD7-44D8-BBD7-CCE9431645EC}">
              <a14:shadowObscured xmlns:a14="http://schemas.microsoft.com/office/drawing/2010/main"/>
            </a:ext>
          </a:extLst>
        </p:spPr>
      </p:pic>
      <p:pic>
        <p:nvPicPr>
          <p:cNvPr id="6" name="Picture 5"/>
          <p:cNvPicPr/>
          <p:nvPr/>
        </p:nvPicPr>
        <p:blipFill rotWithShape="1">
          <a:blip r:embed="rId4"/>
          <a:srcRect l="33257" t="44719" r="39173" b="49069"/>
          <a:stretch/>
        </p:blipFill>
        <p:spPr bwMode="auto">
          <a:xfrm>
            <a:off x="4504623" y="5921628"/>
            <a:ext cx="5544152" cy="72942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88732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Equivalence rule:</a:t>
            </a:r>
          </a:p>
        </p:txBody>
      </p:sp>
      <p:sp>
        <p:nvSpPr>
          <p:cNvPr id="3" name="Rectangle 2"/>
          <p:cNvSpPr/>
          <p:nvPr/>
        </p:nvSpPr>
        <p:spPr>
          <a:xfrm>
            <a:off x="3638350" y="385012"/>
            <a:ext cx="8268102" cy="6001643"/>
          </a:xfrm>
          <a:prstGeom prst="rect">
            <a:avLst/>
          </a:prstGeom>
        </p:spPr>
        <p:txBody>
          <a:bodyPr wrap="square">
            <a:spAutoFit/>
          </a:bodyPr>
          <a:lstStyle/>
          <a:p>
            <a:pPr lvl="0"/>
            <a:r>
              <a:rPr lang="en-US" sz="2400" dirty="0">
                <a:latin typeface="Cambria" panose="02040503050406030204" pitchFamily="18" charset="0"/>
                <a:ea typeface="Cambria" panose="02040503050406030204" pitchFamily="18" charset="0"/>
              </a:rPr>
              <a:t>Rule: 4 </a:t>
            </a:r>
          </a:p>
          <a:p>
            <a:r>
              <a:rPr lang="en-US" sz="2400" dirty="0">
                <a:latin typeface="Cambria" panose="02040503050406030204" pitchFamily="18" charset="0"/>
                <a:ea typeface="Cambria" panose="02040503050406030204" pitchFamily="18" charset="0"/>
              </a:rPr>
              <a:t> Selections can be combined with Cartesian products and theta joins.</a:t>
            </a:r>
          </a:p>
          <a:p>
            <a:pPr lvl="0"/>
            <a:endParaRPr lang="en-US" sz="2400" dirty="0">
              <a:latin typeface="Cambria" panose="02040503050406030204" pitchFamily="18" charset="0"/>
              <a:ea typeface="Cambria" panose="02040503050406030204" pitchFamily="18" charset="0"/>
            </a:endParaRPr>
          </a:p>
          <a:p>
            <a:pPr lvl="0"/>
            <a:endParaRPr lang="en-US" sz="2400" dirty="0">
              <a:latin typeface="Cambria" panose="02040503050406030204" pitchFamily="18" charset="0"/>
              <a:ea typeface="Cambria" panose="02040503050406030204" pitchFamily="18" charset="0"/>
            </a:endParaRPr>
          </a:p>
          <a:p>
            <a:pPr lvl="0"/>
            <a:endParaRPr lang="en-US" sz="2400" dirty="0">
              <a:latin typeface="Cambria" panose="02040503050406030204" pitchFamily="18" charset="0"/>
              <a:ea typeface="Cambria" panose="02040503050406030204" pitchFamily="18" charset="0"/>
            </a:endParaRPr>
          </a:p>
          <a:p>
            <a:pPr lvl="0"/>
            <a:r>
              <a:rPr lang="en-US" sz="2400" dirty="0">
                <a:latin typeface="Cambria" panose="02040503050406030204" pitchFamily="18" charset="0"/>
                <a:ea typeface="Cambria" panose="02040503050406030204" pitchFamily="18" charset="0"/>
              </a:rPr>
              <a:t>Rule: 5</a:t>
            </a:r>
          </a:p>
          <a:p>
            <a:r>
              <a:rPr lang="en-US" sz="2400" dirty="0">
                <a:latin typeface="Cambria" panose="02040503050406030204" pitchFamily="18" charset="0"/>
                <a:ea typeface="Cambria" panose="02040503050406030204" pitchFamily="18" charset="0"/>
              </a:rPr>
              <a:t>Theta-join operations are commutative.</a:t>
            </a:r>
          </a:p>
          <a:p>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Rule:6</a:t>
            </a:r>
          </a:p>
          <a:p>
            <a:r>
              <a:rPr lang="en-US" sz="2400" dirty="0">
                <a:latin typeface="Cambria" panose="02040503050406030204" pitchFamily="18" charset="0"/>
                <a:ea typeface="Cambria" panose="02040503050406030204" pitchFamily="18" charset="0"/>
              </a:rPr>
              <a:t>A) Natural-join operations are </a:t>
            </a:r>
            <a:r>
              <a:rPr lang="en-US" sz="2400" b="1" dirty="0">
                <a:latin typeface="Cambria" panose="02040503050406030204" pitchFamily="18" charset="0"/>
                <a:ea typeface="Cambria" panose="02040503050406030204" pitchFamily="18" charset="0"/>
              </a:rPr>
              <a:t>associative</a:t>
            </a:r>
            <a:r>
              <a:rPr lang="en-US" sz="2400" dirty="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B) Theta joins are associative in the following manner</a:t>
            </a:r>
          </a:p>
          <a:p>
            <a:endParaRPr lang="en-US" sz="2400" dirty="0">
              <a:latin typeface="Cambria" panose="02040503050406030204" pitchFamily="18" charset="0"/>
              <a:ea typeface="Cambria" panose="02040503050406030204" pitchFamily="18" charset="0"/>
            </a:endParaRPr>
          </a:p>
          <a:p>
            <a:pPr lvl="0"/>
            <a:endParaRPr lang="en-US" sz="2400" dirty="0">
              <a:latin typeface="Cambria" panose="02040503050406030204" pitchFamily="18" charset="0"/>
              <a:ea typeface="Cambria" panose="02040503050406030204" pitchFamily="18" charset="0"/>
            </a:endParaRPr>
          </a:p>
        </p:txBody>
      </p:sp>
      <p:pic>
        <p:nvPicPr>
          <p:cNvPr id="7" name="Picture 6"/>
          <p:cNvPicPr/>
          <p:nvPr/>
        </p:nvPicPr>
        <p:blipFill rotWithShape="1">
          <a:blip r:embed="rId2"/>
          <a:srcRect l="24694" t="56099" r="57195" b="39479"/>
          <a:stretch/>
        </p:blipFill>
        <p:spPr bwMode="auto">
          <a:xfrm>
            <a:off x="5369342" y="1209999"/>
            <a:ext cx="2723850" cy="685182"/>
          </a:xfrm>
          <a:prstGeom prst="rect">
            <a:avLst/>
          </a:prstGeom>
          <a:ln>
            <a:noFill/>
          </a:ln>
          <a:extLst>
            <a:ext uri="{53640926-AAD7-44D8-BBD7-CCE9431645EC}">
              <a14:shadowObscured xmlns:a14="http://schemas.microsoft.com/office/drawing/2010/main"/>
            </a:ext>
          </a:extLst>
        </p:spPr>
      </p:pic>
      <p:pic>
        <p:nvPicPr>
          <p:cNvPr id="8" name="Picture 7"/>
          <p:cNvPicPr/>
          <p:nvPr/>
        </p:nvPicPr>
        <p:blipFill rotWithShape="1">
          <a:blip r:embed="rId2"/>
          <a:srcRect l="24583" t="65289" r="52278" b="29713"/>
          <a:stretch/>
        </p:blipFill>
        <p:spPr bwMode="auto">
          <a:xfrm>
            <a:off x="5369342" y="1873976"/>
            <a:ext cx="3303020" cy="688704"/>
          </a:xfrm>
          <a:prstGeom prst="rect">
            <a:avLst/>
          </a:prstGeom>
          <a:ln>
            <a:noFill/>
          </a:ln>
          <a:extLst>
            <a:ext uri="{53640926-AAD7-44D8-BBD7-CCE9431645EC}">
              <a14:shadowObscured xmlns:a14="http://schemas.microsoft.com/office/drawing/2010/main"/>
            </a:ext>
          </a:extLst>
        </p:spPr>
      </p:pic>
      <p:pic>
        <p:nvPicPr>
          <p:cNvPr id="9" name="Picture 8"/>
          <p:cNvPicPr/>
          <p:nvPr/>
        </p:nvPicPr>
        <p:blipFill rotWithShape="1">
          <a:blip r:embed="rId2"/>
          <a:srcRect l="38243" t="75474" r="42941" b="17908"/>
          <a:stretch/>
        </p:blipFill>
        <p:spPr bwMode="auto">
          <a:xfrm>
            <a:off x="5504873" y="3287467"/>
            <a:ext cx="3031958" cy="764177"/>
          </a:xfrm>
          <a:prstGeom prst="rect">
            <a:avLst/>
          </a:prstGeom>
          <a:ln>
            <a:noFill/>
          </a:ln>
          <a:extLst>
            <a:ext uri="{53640926-AAD7-44D8-BBD7-CCE9431645EC}">
              <a14:shadowObscured xmlns:a14="http://schemas.microsoft.com/office/drawing/2010/main"/>
            </a:ext>
          </a:extLst>
        </p:spPr>
      </p:pic>
      <p:pic>
        <p:nvPicPr>
          <p:cNvPr id="10" name="Picture 9"/>
          <p:cNvPicPr/>
          <p:nvPr/>
        </p:nvPicPr>
        <p:blipFill rotWithShape="1">
          <a:blip r:embed="rId3"/>
          <a:srcRect l="36394" t="24562" r="37071" b="70846"/>
          <a:stretch/>
        </p:blipFill>
        <p:spPr bwMode="auto">
          <a:xfrm>
            <a:off x="5794977" y="4776431"/>
            <a:ext cx="2877385" cy="492751"/>
          </a:xfrm>
          <a:prstGeom prst="rect">
            <a:avLst/>
          </a:prstGeom>
          <a:ln>
            <a:noFill/>
          </a:ln>
          <a:extLst>
            <a:ext uri="{53640926-AAD7-44D8-BBD7-CCE9431645EC}">
              <a14:shadowObscured xmlns:a14="http://schemas.microsoft.com/office/drawing/2010/main"/>
            </a:ext>
          </a:extLst>
        </p:spPr>
      </p:pic>
      <p:pic>
        <p:nvPicPr>
          <p:cNvPr id="11" name="Picture 10"/>
          <p:cNvPicPr/>
          <p:nvPr/>
        </p:nvPicPr>
        <p:blipFill rotWithShape="1">
          <a:blip r:embed="rId3"/>
          <a:srcRect l="33341" t="36543" r="34509" b="59067"/>
          <a:stretch/>
        </p:blipFill>
        <p:spPr bwMode="auto">
          <a:xfrm>
            <a:off x="4995512" y="5683108"/>
            <a:ext cx="4581625" cy="58228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71184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Equivalence rule:</a:t>
            </a:r>
          </a:p>
        </p:txBody>
      </p:sp>
      <p:sp>
        <p:nvSpPr>
          <p:cNvPr id="6" name="Rectangle 5"/>
          <p:cNvSpPr/>
          <p:nvPr/>
        </p:nvSpPr>
        <p:spPr>
          <a:xfrm>
            <a:off x="3519638" y="336884"/>
            <a:ext cx="7934426" cy="6428811"/>
          </a:xfrm>
          <a:prstGeom prst="rect">
            <a:avLst/>
          </a:prstGeom>
        </p:spPr>
        <p:txBody>
          <a:bodyPr wrap="square">
            <a:spAutoFit/>
          </a:bodyPr>
          <a:lstStyle/>
          <a:p>
            <a:pPr marR="0" lvl="0" algn="just">
              <a:lnSpc>
                <a:spcPct val="107000"/>
              </a:lnSpc>
              <a:spcBef>
                <a:spcPts val="0"/>
              </a:spcBef>
              <a:spcAft>
                <a:spcPts val="0"/>
              </a:spcAft>
            </a:pPr>
            <a:r>
              <a:rPr lang="en-US" sz="2200" dirty="0">
                <a:latin typeface="Cambria" panose="02040503050406030204" pitchFamily="18" charset="0"/>
                <a:ea typeface="Cambria" panose="02040503050406030204" pitchFamily="18" charset="0"/>
                <a:cs typeface="Calibri" panose="020F0502020204030204" pitchFamily="34" charset="0"/>
              </a:rPr>
              <a:t>Rule-7</a:t>
            </a:r>
            <a:endParaRPr lang="en-US" sz="2200" dirty="0">
              <a:latin typeface="Cambria" panose="02040503050406030204" pitchFamily="18" charset="0"/>
              <a:ea typeface="Cambria" panose="02040503050406030204" pitchFamily="18" charset="0"/>
              <a:cs typeface="Times New Roman" panose="02020603050405020304" pitchFamily="18" charset="0"/>
            </a:endParaRPr>
          </a:p>
          <a:p>
            <a:pPr marR="0" lvl="0" algn="just">
              <a:lnSpc>
                <a:spcPct val="107000"/>
              </a:lnSpc>
              <a:spcBef>
                <a:spcPts val="0"/>
              </a:spcBef>
              <a:spcAft>
                <a:spcPts val="0"/>
              </a:spcAft>
            </a:pPr>
            <a:r>
              <a:rPr lang="en-US" sz="2200" dirty="0">
                <a:latin typeface="Cambria" panose="02040503050406030204" pitchFamily="18" charset="0"/>
                <a:ea typeface="Cambria" panose="02040503050406030204" pitchFamily="18" charset="0"/>
                <a:cs typeface="Calibri" panose="020F0502020204030204" pitchFamily="34" charset="0"/>
              </a:rPr>
              <a:t>The selection operation distributes over the theta-join operation under the following two conditions:</a:t>
            </a:r>
            <a:endParaRPr lang="en-US" sz="2200" dirty="0">
              <a:latin typeface="Cambria" panose="02040503050406030204" pitchFamily="18" charset="0"/>
              <a:ea typeface="Cambria" panose="02040503050406030204" pitchFamily="18" charset="0"/>
              <a:cs typeface="Times New Roman" panose="02020603050405020304" pitchFamily="18" charset="0"/>
            </a:endParaRPr>
          </a:p>
          <a:p>
            <a:pPr marL="800100" marR="0" indent="-342900" algn="just">
              <a:lnSpc>
                <a:spcPct val="107000"/>
              </a:lnSpc>
              <a:spcBef>
                <a:spcPts val="0"/>
              </a:spcBef>
              <a:spcAft>
                <a:spcPts val="0"/>
              </a:spcAft>
              <a:buAutoNum type="alphaUcPeriod"/>
            </a:pPr>
            <a:r>
              <a:rPr lang="en-US" sz="2200" dirty="0">
                <a:latin typeface="Cambria" panose="02040503050406030204" pitchFamily="18" charset="0"/>
                <a:ea typeface="Cambria" panose="02040503050406030204" pitchFamily="18" charset="0"/>
                <a:cs typeface="Calibri" panose="020F0502020204030204" pitchFamily="34" charset="0"/>
              </a:rPr>
              <a:t>It distributes when all the attributes in selection condition θ 0 involve only the attributes of one of the expressions (say, </a:t>
            </a:r>
            <a:r>
              <a:rPr lang="en-US" sz="2200" i="1" dirty="0">
                <a:latin typeface="Cambria" panose="02040503050406030204" pitchFamily="18" charset="0"/>
                <a:ea typeface="Cambria" panose="02040503050406030204" pitchFamily="18" charset="0"/>
                <a:cs typeface="Calibri" panose="020F0502020204030204" pitchFamily="34" charset="0"/>
              </a:rPr>
              <a:t>E</a:t>
            </a:r>
            <a:r>
              <a:rPr lang="en-US" sz="2200" dirty="0">
                <a:latin typeface="Cambria" panose="02040503050406030204" pitchFamily="18" charset="0"/>
                <a:ea typeface="Cambria" panose="02040503050406030204" pitchFamily="18" charset="0"/>
                <a:cs typeface="Calibri" panose="020F0502020204030204" pitchFamily="34" charset="0"/>
              </a:rPr>
              <a:t>1) being joined.</a:t>
            </a:r>
          </a:p>
          <a:p>
            <a:pPr marL="800100" marR="0" indent="-342900" algn="just">
              <a:lnSpc>
                <a:spcPct val="107000"/>
              </a:lnSpc>
              <a:spcBef>
                <a:spcPts val="0"/>
              </a:spcBef>
              <a:spcAft>
                <a:spcPts val="0"/>
              </a:spcAft>
              <a:buAutoNum type="alphaUcPeriod"/>
            </a:pPr>
            <a:endParaRPr lang="en-US" sz="2200" dirty="0">
              <a:latin typeface="Cambria" panose="02040503050406030204" pitchFamily="18" charset="0"/>
              <a:ea typeface="Cambria" panose="02040503050406030204" pitchFamily="18" charset="0"/>
              <a:cs typeface="Calibri" panose="020F0502020204030204" pitchFamily="34" charset="0"/>
            </a:endParaRPr>
          </a:p>
          <a:p>
            <a:pPr marL="800100" marR="0" indent="-342900" algn="just">
              <a:lnSpc>
                <a:spcPct val="107000"/>
              </a:lnSpc>
              <a:spcBef>
                <a:spcPts val="0"/>
              </a:spcBef>
              <a:spcAft>
                <a:spcPts val="0"/>
              </a:spcAft>
              <a:buAutoNum type="alphaUcPeriod"/>
            </a:pPr>
            <a:endParaRPr lang="en-US" sz="2200" dirty="0">
              <a:latin typeface="Cambria" panose="02040503050406030204" pitchFamily="18" charset="0"/>
              <a:ea typeface="Cambria" panose="02040503050406030204" pitchFamily="18" charset="0"/>
              <a:cs typeface="Calibri" panose="020F0502020204030204" pitchFamily="34" charset="0"/>
            </a:endParaRPr>
          </a:p>
          <a:p>
            <a:pPr marL="800100" marR="0" indent="-342900" algn="just">
              <a:lnSpc>
                <a:spcPct val="107000"/>
              </a:lnSpc>
              <a:spcBef>
                <a:spcPts val="0"/>
              </a:spcBef>
              <a:spcAft>
                <a:spcPts val="0"/>
              </a:spcAft>
              <a:buAutoNum type="alphaUcPeriod"/>
            </a:pPr>
            <a:r>
              <a:rPr lang="en-US" sz="2200" dirty="0">
                <a:latin typeface="Cambria" panose="02040503050406030204" pitchFamily="18" charset="0"/>
                <a:ea typeface="Cambria" panose="02040503050406030204" pitchFamily="18" charset="0"/>
              </a:rPr>
              <a:t>It distributes when selection condition θ 1 involves only the attributes of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1 and θ 2 involves only the attributes of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2.</a:t>
            </a:r>
            <a:endParaRPr lang="en-US" sz="2200" dirty="0">
              <a:latin typeface="Cambria" panose="02040503050406030204" pitchFamily="18" charset="0"/>
              <a:ea typeface="Cambria" panose="02040503050406030204" pitchFamily="18" charset="0"/>
              <a:cs typeface="Calibri" panose="020F0502020204030204" pitchFamily="34" charset="0"/>
            </a:endParaRPr>
          </a:p>
          <a:p>
            <a:pPr marL="457200" marR="0" algn="just">
              <a:lnSpc>
                <a:spcPct val="107000"/>
              </a:lnSpc>
              <a:spcBef>
                <a:spcPts val="0"/>
              </a:spcBef>
              <a:spcAft>
                <a:spcPts val="0"/>
              </a:spcAft>
            </a:pPr>
            <a:endParaRPr lang="en-US" sz="2200" dirty="0">
              <a:latin typeface="Cambria" panose="02040503050406030204" pitchFamily="18" charset="0"/>
              <a:ea typeface="Cambria" panose="02040503050406030204" pitchFamily="18" charset="0"/>
              <a:cs typeface="Calibri" panose="020F0502020204030204" pitchFamily="34" charset="0"/>
            </a:endParaRPr>
          </a:p>
          <a:p>
            <a:pPr lvl="0"/>
            <a:r>
              <a:rPr lang="en-US" sz="2200" dirty="0">
                <a:latin typeface="Cambria" panose="02040503050406030204" pitchFamily="18" charset="0"/>
                <a:ea typeface="Cambria" panose="02040503050406030204" pitchFamily="18" charset="0"/>
              </a:rPr>
              <a:t>Rule-8</a:t>
            </a:r>
          </a:p>
          <a:p>
            <a:pPr lvl="0"/>
            <a:r>
              <a:rPr lang="en-US" sz="2200" dirty="0">
                <a:latin typeface="Cambria" panose="02040503050406030204" pitchFamily="18" charset="0"/>
                <a:ea typeface="Cambria" panose="02040503050406030204" pitchFamily="18" charset="0"/>
              </a:rPr>
              <a:t>The set operations union and intersection are commutative.</a:t>
            </a:r>
          </a:p>
          <a:p>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1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2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2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1</a:t>
            </a:r>
          </a:p>
          <a:p>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1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2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2 ∩ </a:t>
            </a:r>
            <a:r>
              <a:rPr lang="en-US" sz="2200" i="1" dirty="0">
                <a:latin typeface="Cambria" panose="02040503050406030204" pitchFamily="18" charset="0"/>
                <a:ea typeface="Cambria" panose="02040503050406030204" pitchFamily="18" charset="0"/>
              </a:rPr>
              <a:t>E</a:t>
            </a:r>
            <a:r>
              <a:rPr lang="en-US" sz="2200" dirty="0">
                <a:latin typeface="Cambria" panose="02040503050406030204" pitchFamily="18" charset="0"/>
                <a:ea typeface="Cambria" panose="02040503050406030204" pitchFamily="18" charset="0"/>
              </a:rPr>
              <a:t>1</a:t>
            </a:r>
          </a:p>
          <a:p>
            <a:pPr lvl="0"/>
            <a:r>
              <a:rPr lang="en-US" sz="2200" dirty="0">
                <a:latin typeface="Cambria" panose="02040503050406030204" pitchFamily="18" charset="0"/>
                <a:ea typeface="Cambria" panose="02040503050406030204" pitchFamily="18" charset="0"/>
              </a:rPr>
              <a:t>Set difference is not commutative.</a:t>
            </a:r>
          </a:p>
          <a:p>
            <a:pPr marL="457200" marR="0" algn="just">
              <a:lnSpc>
                <a:spcPct val="107000"/>
              </a:lnSpc>
              <a:spcBef>
                <a:spcPts val="0"/>
              </a:spcBef>
              <a:spcAft>
                <a:spcPts val="0"/>
              </a:spcAft>
            </a:pPr>
            <a:endParaRPr lang="en-US" dirty="0">
              <a:latin typeface="Calibri" panose="020F0502020204030204" pitchFamily="34" charset="0"/>
              <a:cs typeface="Calibri" panose="020F0502020204030204" pitchFamily="34" charset="0"/>
            </a:endParaRPr>
          </a:p>
        </p:txBody>
      </p:sp>
      <p:pic>
        <p:nvPicPr>
          <p:cNvPr id="13" name="Picture 12"/>
          <p:cNvPicPr/>
          <p:nvPr/>
        </p:nvPicPr>
        <p:blipFill rotWithShape="1">
          <a:blip r:embed="rId2"/>
          <a:srcRect l="36673" t="22168" r="38555" b="73033"/>
          <a:stretch/>
        </p:blipFill>
        <p:spPr bwMode="auto">
          <a:xfrm>
            <a:off x="5014762" y="2619497"/>
            <a:ext cx="4764505" cy="604965"/>
          </a:xfrm>
          <a:prstGeom prst="rect">
            <a:avLst/>
          </a:prstGeom>
          <a:ln>
            <a:noFill/>
          </a:ln>
          <a:extLst>
            <a:ext uri="{53640926-AAD7-44D8-BBD7-CCE9431645EC}">
              <a14:shadowObscured xmlns:a14="http://schemas.microsoft.com/office/drawing/2010/main"/>
            </a:ext>
          </a:extLst>
        </p:spPr>
      </p:pic>
      <p:pic>
        <p:nvPicPr>
          <p:cNvPr id="14" name="Picture 13"/>
          <p:cNvPicPr/>
          <p:nvPr/>
        </p:nvPicPr>
        <p:blipFill rotWithShape="1">
          <a:blip r:embed="rId2"/>
          <a:srcRect l="37185" t="21773" r="38593" b="72025"/>
          <a:stretch/>
        </p:blipFill>
        <p:spPr bwMode="auto">
          <a:xfrm>
            <a:off x="5094973" y="4108899"/>
            <a:ext cx="4783756" cy="6851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3878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Equivalence rule:</a:t>
            </a:r>
          </a:p>
        </p:txBody>
      </p:sp>
      <p:sp>
        <p:nvSpPr>
          <p:cNvPr id="3" name="Rectangle 2"/>
          <p:cNvSpPr/>
          <p:nvPr/>
        </p:nvSpPr>
        <p:spPr>
          <a:xfrm>
            <a:off x="3493970" y="422529"/>
            <a:ext cx="7892716" cy="3628942"/>
          </a:xfrm>
          <a:prstGeom prst="rect">
            <a:avLst/>
          </a:prstGeom>
        </p:spPr>
        <p:txBody>
          <a:bodyPr wrap="square">
            <a:sp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2400" dirty="0">
                <a:latin typeface="Cambria" panose="02040503050406030204" pitchFamily="18" charset="0"/>
                <a:ea typeface="Cambria" panose="02040503050406030204" pitchFamily="18" charset="0"/>
                <a:cs typeface="Calibri" panose="020F0502020204030204" pitchFamily="34" charset="0"/>
              </a:rPr>
              <a:t>Rule-9</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dirty="0">
                <a:latin typeface="Cambria" panose="02040503050406030204" pitchFamily="18" charset="0"/>
                <a:ea typeface="Cambria" panose="02040503050406030204" pitchFamily="18" charset="0"/>
                <a:cs typeface="Calibri" panose="020F0502020204030204" pitchFamily="34" charset="0"/>
              </a:rPr>
              <a:t>Set union and intersection are associative.</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457200" marR="0" algn="just">
              <a:lnSpc>
                <a:spcPct val="107000"/>
              </a:lnSpc>
              <a:spcBef>
                <a:spcPts val="0"/>
              </a:spcBef>
              <a:spcAft>
                <a:spcPts val="0"/>
              </a:spcAft>
            </a:pPr>
            <a:r>
              <a:rPr lang="en-US" sz="2400" dirty="0">
                <a:latin typeface="Cambria" panose="02040503050406030204" pitchFamily="18" charset="0"/>
                <a:ea typeface="Cambria" panose="02040503050406030204" pitchFamily="18" charset="0"/>
                <a:cs typeface="Calibri" panose="020F0502020204030204" pitchFamily="34" charset="0"/>
              </a:rPr>
              <a:t>(</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3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457200" marR="0" algn="just">
              <a:lnSpc>
                <a:spcPct val="107000"/>
              </a:lnSpc>
              <a:spcBef>
                <a:spcPts val="0"/>
              </a:spcBef>
              <a:spcAft>
                <a:spcPts val="0"/>
              </a:spcAft>
            </a:pPr>
            <a:r>
              <a:rPr lang="en-US" sz="2400" dirty="0">
                <a:latin typeface="Cambria" panose="02040503050406030204" pitchFamily="18" charset="0"/>
                <a:ea typeface="Cambria" panose="02040503050406030204" pitchFamily="18" charset="0"/>
                <a:cs typeface="Calibri" panose="020F0502020204030204" pitchFamily="34" charset="0"/>
              </a:rPr>
              <a:t>(</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3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 ∩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457200" marR="0" algn="just">
              <a:lnSpc>
                <a:spcPct val="107000"/>
              </a:lnSpc>
              <a:spcBef>
                <a:spcPts val="0"/>
              </a:spcBef>
              <a:spcAft>
                <a:spcPts val="0"/>
              </a:spcAft>
            </a:pPr>
            <a:r>
              <a:rPr lang="en-US" sz="2400" dirty="0">
                <a:latin typeface="Cambria" panose="02040503050406030204" pitchFamily="18" charset="0"/>
                <a:ea typeface="Cambria" panose="02040503050406030204" pitchFamily="18" charset="0"/>
                <a:cs typeface="Calibri" panose="020F0502020204030204" pitchFamily="34" charset="0"/>
              </a:rPr>
              <a:t> </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dirty="0">
                <a:latin typeface="Cambria" panose="02040503050406030204" pitchFamily="18" charset="0"/>
                <a:ea typeface="Cambria" panose="02040503050406030204" pitchFamily="18" charset="0"/>
                <a:cs typeface="Calibri" panose="020F0502020204030204" pitchFamily="34" charset="0"/>
              </a:rPr>
              <a:t>Rule-10</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dirty="0">
                <a:latin typeface="Cambria" panose="02040503050406030204" pitchFamily="18" charset="0"/>
                <a:ea typeface="Cambria" panose="02040503050406030204" pitchFamily="18" charset="0"/>
                <a:cs typeface="Calibri" panose="020F0502020204030204" pitchFamily="34" charset="0"/>
              </a:rPr>
              <a:t>The projection operation distributes over the union operation.</a:t>
            </a:r>
            <a:endParaRPr lang="en-US" sz="2400" dirty="0">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i="1" dirty="0">
                <a:latin typeface="Cambria" panose="02040503050406030204" pitchFamily="18" charset="0"/>
                <a:ea typeface="Cambria" panose="02040503050406030204" pitchFamily="18" charset="0"/>
                <a:cs typeface="Calibri" panose="020F0502020204030204" pitchFamily="34" charset="0"/>
              </a:rPr>
              <a:t>πL </a:t>
            </a:r>
            <a:r>
              <a:rPr lang="en-US" sz="2400" dirty="0">
                <a:latin typeface="Cambria" panose="02040503050406030204" pitchFamily="18" charset="0"/>
                <a:ea typeface="Cambria" panose="02040503050406030204" pitchFamily="18" charset="0"/>
                <a:cs typeface="Calibri" panose="020F0502020204030204" pitchFamily="34" charset="0"/>
              </a:rPr>
              <a:t>(</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 = (</a:t>
            </a:r>
            <a:r>
              <a:rPr lang="en-US" sz="2400" i="1" dirty="0">
                <a:latin typeface="Cambria" panose="02040503050406030204" pitchFamily="18" charset="0"/>
                <a:ea typeface="Cambria" panose="02040503050406030204" pitchFamily="18" charset="0"/>
                <a:cs typeface="Calibri" panose="020F0502020204030204" pitchFamily="34" charset="0"/>
              </a:rPr>
              <a:t>πL </a:t>
            </a:r>
            <a:r>
              <a:rPr lang="en-US" sz="2400" dirty="0">
                <a:latin typeface="Cambria" panose="02040503050406030204" pitchFamily="18" charset="0"/>
                <a:ea typeface="Cambria" panose="02040503050406030204" pitchFamily="18" charset="0"/>
                <a:cs typeface="Calibri" panose="020F0502020204030204" pitchFamily="34" charset="0"/>
              </a:rPr>
              <a:t>(</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1)) </a:t>
            </a:r>
            <a:r>
              <a:rPr lang="en-US" sz="2400" dirty="0">
                <a:latin typeface="Cambria" panose="02040503050406030204" pitchFamily="18" charset="0"/>
                <a:ea typeface="Cambria" panose="02040503050406030204" pitchFamily="18" charset="0"/>
                <a:cs typeface="Cambria Math" panose="02040503050406030204" pitchFamily="18"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i="1" dirty="0">
                <a:latin typeface="Cambria" panose="02040503050406030204" pitchFamily="18" charset="0"/>
                <a:ea typeface="Cambria" panose="02040503050406030204" pitchFamily="18" charset="0"/>
                <a:cs typeface="Calibri" panose="020F0502020204030204" pitchFamily="34" charset="0"/>
              </a:rPr>
              <a:t>πL </a:t>
            </a:r>
            <a:r>
              <a:rPr lang="en-US" sz="2400" dirty="0">
                <a:latin typeface="Cambria" panose="02040503050406030204" pitchFamily="18" charset="0"/>
                <a:ea typeface="Cambria" panose="02040503050406030204" pitchFamily="18" charset="0"/>
                <a:cs typeface="Calibri" panose="020F0502020204030204" pitchFamily="34" charset="0"/>
              </a:rPr>
              <a:t>(</a:t>
            </a:r>
            <a:r>
              <a:rPr lang="en-US" sz="2400" i="1" dirty="0">
                <a:latin typeface="Cambria" panose="02040503050406030204" pitchFamily="18" charset="0"/>
                <a:ea typeface="Cambria" panose="02040503050406030204" pitchFamily="18" charset="0"/>
                <a:cs typeface="Calibri" panose="020F0502020204030204" pitchFamily="34" charset="0"/>
              </a:rPr>
              <a:t>E</a:t>
            </a:r>
            <a:r>
              <a:rPr lang="en-US" sz="2400" dirty="0">
                <a:latin typeface="Cambria" panose="02040503050406030204" pitchFamily="18" charset="0"/>
                <a:ea typeface="Cambria" panose="02040503050406030204" pitchFamily="18" charset="0"/>
                <a:cs typeface="Calibri" panose="020F0502020204030204" pitchFamily="34" charset="0"/>
              </a:rPr>
              <a:t>2))</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095336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Cost based query optimization</a:t>
            </a:r>
          </a:p>
        </p:txBody>
      </p:sp>
      <p:sp>
        <p:nvSpPr>
          <p:cNvPr id="3" name="Rectangle 2"/>
          <p:cNvSpPr/>
          <p:nvPr/>
        </p:nvSpPr>
        <p:spPr>
          <a:xfrm>
            <a:off x="3455467" y="210774"/>
            <a:ext cx="8335479" cy="6766148"/>
          </a:xfrm>
          <a:prstGeom prst="rect">
            <a:avLst/>
          </a:prstGeom>
        </p:spPr>
        <p:txBody>
          <a:bodyPr wrap="square">
            <a:spAutoFit/>
          </a:bodyPr>
          <a:lstStyle/>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 cost based optimizer will look at all of the possible ways or scenarios in which a query can be executed – and each scenario will be assigned a ‘cost’, which indicates how efficiently that query can run.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database optimizes each SQL statement based on statistics collected about the accessed data.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optimizer determines the optimal plan for a SQL statement by examining multiple access methods, such as full table scan or index scans, different join methods such as nested loops and hash joins, different join orders, and possible transformations.</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a given query and environment, the optimizer assigns a relative numerical cost to each step of a possible plan, and then factors these values together to generate an overall cost estimate for the plan.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After calculating the costs of alternative plans, the optimizer chooses the plan with the lowest cost estimate. </a:t>
            </a:r>
          </a:p>
          <a:p>
            <a:pPr marL="342900" marR="0" lvl="0" indent="-342900" algn="just">
              <a:lnSpc>
                <a:spcPct val="107000"/>
              </a:lnSpc>
              <a:spcBef>
                <a:spcPts val="0"/>
              </a:spcBef>
              <a:spcAft>
                <a:spcPts val="0"/>
              </a:spcAft>
              <a:buFont typeface="Wingdings" panose="05000000000000000000" pitchFamily="2" charset="2"/>
              <a:buChar char="Ø"/>
            </a:pP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864833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16600" b="1" dirty="0">
                <a:solidFill>
                  <a:schemeClr val="tx1"/>
                </a:solidFill>
              </a:rPr>
              <a:t>Thanks</a:t>
            </a:r>
          </a:p>
        </p:txBody>
      </p:sp>
    </p:spTree>
    <p:extLst>
      <p:ext uri="{BB962C8B-B14F-4D97-AF65-F5344CB8AC3E}">
        <p14:creationId xmlns:p14="http://schemas.microsoft.com/office/powerpoint/2010/main" val="312496521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4855</TotalTime>
  <Words>3004</Words>
  <Application>Microsoft Office PowerPoint</Application>
  <PresentationFormat>Widescreen</PresentationFormat>
  <Paragraphs>194</Paragraphs>
  <Slides>28</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Calibri</vt:lpstr>
      <vt:lpstr>Cambria</vt:lpstr>
      <vt:lpstr>Cambria Math</vt:lpstr>
      <vt:lpstr>Corbel</vt:lpstr>
      <vt:lpstr>Monotype Sorts</vt:lpstr>
      <vt:lpstr>Wingdings</vt:lpstr>
      <vt:lpstr>Wingdings 2</vt:lpstr>
      <vt:lpstr>Frame</vt:lpstr>
      <vt:lpstr>Equation</vt:lpstr>
      <vt:lpstr>PowerPoint Presentation</vt:lpstr>
      <vt:lpstr>Query Processing</vt:lpstr>
      <vt:lpstr>Steps of Query processing:</vt:lpstr>
      <vt:lpstr>Steps of Query processing:</vt:lpstr>
      <vt:lpstr>Steps of Query processing:</vt:lpstr>
      <vt:lpstr>Steps of Query processing:</vt:lpstr>
      <vt:lpstr>Measures of Query cost</vt:lpstr>
      <vt:lpstr>Measures of Query cost</vt:lpstr>
      <vt:lpstr>Selection Operation</vt:lpstr>
      <vt:lpstr>1. Linear search (brute force algorithm)</vt:lpstr>
      <vt:lpstr>2. Binary search</vt:lpstr>
      <vt:lpstr>Join operations.</vt:lpstr>
      <vt:lpstr>Join operations.</vt:lpstr>
      <vt:lpstr>Evaluation of Expressions</vt:lpstr>
      <vt:lpstr>Evaluation of Expressions</vt:lpstr>
      <vt:lpstr>Evaluation of Expressions</vt:lpstr>
      <vt:lpstr>Evaluation of Expressions</vt:lpstr>
      <vt:lpstr>Evaluation of Expressions</vt:lpstr>
      <vt:lpstr>Evaluation of Expressions</vt:lpstr>
      <vt:lpstr>Evaluation of Expressions</vt:lpstr>
      <vt:lpstr>Query optimization</vt:lpstr>
      <vt:lpstr>Equivalence rule:</vt:lpstr>
      <vt:lpstr>Equivalence rule:</vt:lpstr>
      <vt:lpstr>Equivalence rule:</vt:lpstr>
      <vt:lpstr>Equivalence rule:</vt:lpstr>
      <vt:lpstr>Equivalence rule:</vt:lpstr>
      <vt:lpstr>Cost based query optimization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Dr. Rachit Adhvaryu</cp:lastModifiedBy>
  <cp:revision>287</cp:revision>
  <dcterms:created xsi:type="dcterms:W3CDTF">2019-05-12T04:30:40Z</dcterms:created>
  <dcterms:modified xsi:type="dcterms:W3CDTF">2023-06-19T08:35:49Z</dcterms:modified>
</cp:coreProperties>
</file>