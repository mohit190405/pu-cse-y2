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6" r:id="rId2"/>
    <p:sldId id="258" r:id="rId3"/>
    <p:sldId id="260" r:id="rId4"/>
    <p:sldId id="325" r:id="rId5"/>
    <p:sldId id="326" r:id="rId6"/>
    <p:sldId id="327" r:id="rId7"/>
    <p:sldId id="328" r:id="rId8"/>
    <p:sldId id="329" r:id="rId9"/>
    <p:sldId id="330" r:id="rId10"/>
    <p:sldId id="332" r:id="rId11"/>
    <p:sldId id="331" r:id="rId12"/>
    <p:sldId id="333" r:id="rId13"/>
    <p:sldId id="335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3" r:id="rId30"/>
    <p:sldId id="314" r:id="rId31"/>
    <p:sldId id="315" r:id="rId32"/>
    <p:sldId id="316" r:id="rId33"/>
    <p:sldId id="318" r:id="rId34"/>
    <p:sldId id="320" r:id="rId35"/>
    <p:sldId id="317" r:id="rId36"/>
    <p:sldId id="321" r:id="rId37"/>
    <p:sldId id="319" r:id="rId38"/>
    <p:sldId id="322" r:id="rId39"/>
    <p:sldId id="323" r:id="rId40"/>
    <p:sldId id="324" r:id="rId41"/>
    <p:sldId id="33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FCFF"/>
    <a:srgbClr val="FFFFFF"/>
    <a:srgbClr val="11BBAF"/>
    <a:srgbClr val="FFCA4F"/>
    <a:srgbClr val="854F89"/>
    <a:srgbClr val="FFE152"/>
    <a:srgbClr val="DD00FF"/>
    <a:srgbClr val="D8D5ED"/>
    <a:srgbClr val="40B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EE027-3832-4EC4-8CAE-DB5DD688184C}" type="datetimeFigureOut">
              <a:rPr lang="en-US" smtClean="0"/>
              <a:t>6/19/2023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B528B5-C058-4B1C-9409-3691A7A1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06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71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01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29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93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92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93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58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76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33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212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48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59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270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49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681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8050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835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662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380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963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684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559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5181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761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4876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528B5-C058-4B1C-9409-3691A7A108C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71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19-06-23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39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19-06-23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02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B6E4831-481F-4AF1-9D8E-170CD6E1C3F5}" type="datetimeFigureOut">
              <a:rPr lang="en-IN" smtClean="0"/>
              <a:pPr/>
              <a:t>19-06-23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97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my.safaribooksonline.com/9788131731925/gloss0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C:\Users\parul\Desktop\tem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1892185" y="1698182"/>
            <a:ext cx="8390965" cy="1091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buClr>
                <a:srgbClr val="000000"/>
              </a:buClr>
              <a:buSzPts val="3500"/>
            </a:pPr>
            <a:r>
              <a:rPr lang="en-IN" sz="32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Database Management System (303105203)</a:t>
            </a:r>
          </a:p>
          <a:p>
            <a:pPr algn="ctr">
              <a:buClr>
                <a:srgbClr val="000000"/>
              </a:buClr>
              <a:buSzPts val="3500"/>
            </a:pPr>
            <a:endParaRPr lang="en-IN" sz="14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3500"/>
            </a:pPr>
            <a:r>
              <a:rPr lang="en-IN" sz="2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 – 3: </a:t>
            </a:r>
            <a:r>
              <a:rPr lang="en-US" sz="2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Database Models</a:t>
            </a:r>
            <a:endParaRPr lang="en-IN" sz="28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3500"/>
            </a:pPr>
            <a:endParaRPr sz="1350" dirty="0"/>
          </a:p>
        </p:txBody>
      </p:sp>
      <p:sp>
        <p:nvSpPr>
          <p:cNvPr id="90" name="Google Shape;90;p1"/>
          <p:cNvSpPr/>
          <p:nvPr/>
        </p:nvSpPr>
        <p:spPr>
          <a:xfrm>
            <a:off x="2203077" y="2997994"/>
            <a:ext cx="7678271" cy="57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IN" sz="165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Dr. Rachit Adhvaryu, </a:t>
            </a:r>
          </a:p>
          <a:p>
            <a:pPr algn="ctr">
              <a:buClr>
                <a:srgbClr val="000000"/>
              </a:buClr>
              <a:buSzPts val="2200"/>
            </a:pPr>
            <a:r>
              <a:rPr lang="en-IN" sz="165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Assistant Professor, Computer Science &amp; Engineering</a:t>
            </a:r>
            <a:endParaRPr sz="165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 descr="C:\Users\parul\Desktop\Registered Logos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5400" y="685800"/>
            <a:ext cx="19812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"/>
          <p:cNvGrpSpPr/>
          <p:nvPr/>
        </p:nvGrpSpPr>
        <p:grpSpPr>
          <a:xfrm>
            <a:off x="3730230" y="2895601"/>
            <a:ext cx="4731544" cy="70247"/>
            <a:chOff x="1428728" y="2571744"/>
            <a:chExt cx="6309404" cy="94298"/>
          </a:xfrm>
        </p:grpSpPr>
        <p:cxnSp>
          <p:nvCxnSpPr>
            <p:cNvPr id="93" name="Google Shape;93;p1"/>
            <p:cNvCxnSpPr/>
            <p:nvPr/>
          </p:nvCxnSpPr>
          <p:spPr>
            <a:xfrm>
              <a:off x="1428728" y="2618094"/>
              <a:ext cx="6287177" cy="1598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4" name="Google Shape;94;p1"/>
            <p:cNvSpPr/>
            <p:nvPr/>
          </p:nvSpPr>
          <p:spPr>
            <a:xfrm rot="10800000">
              <a:off x="1428728" y="2571744"/>
              <a:ext cx="93672" cy="9429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800"/>
              </a:pP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 rot="10800000">
              <a:off x="7644459" y="2571744"/>
              <a:ext cx="93673" cy="9429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800"/>
              </a:pP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1069848" y="850505"/>
            <a:ext cx="7315200" cy="4479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7200" b="1" dirty="0"/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2295535" y="2643827"/>
            <a:ext cx="6120306" cy="4648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800" b="1" spc="-1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18565" y="439271"/>
            <a:ext cx="8360543" cy="556822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4000" dirty="0">
                <a:ln w="0"/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Basic concepts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4000" dirty="0">
                <a:ln w="0"/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Integrity constraints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4000" dirty="0">
                <a:ln w="0"/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Database models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4000" dirty="0">
                <a:ln w="0"/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E-R diagrams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4000" dirty="0">
                <a:ln w="0"/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Mapping cardinality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4000" dirty="0">
                <a:ln w="0"/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Participation Constraints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4000" dirty="0">
                <a:ln w="0"/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Weak entity set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4000" dirty="0">
                <a:ln w="0"/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Specialization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4000" dirty="0">
                <a:ln w="0"/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Generalization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4000" dirty="0">
                <a:ln w="0"/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Aggregation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4000" dirty="0">
                <a:ln w="0"/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E-R Diagram Example</a:t>
            </a:r>
          </a:p>
        </p:txBody>
      </p:sp>
    </p:spTree>
    <p:extLst>
      <p:ext uri="{BB962C8B-B14F-4D97-AF65-F5344CB8AC3E}">
        <p14:creationId xmlns:p14="http://schemas.microsoft.com/office/powerpoint/2010/main" val="3471075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Basic Concepts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4CE4F2-39FB-4AB9-A82C-DFB095193EDB}"/>
              </a:ext>
            </a:extLst>
          </p:cNvPr>
          <p:cNvSpPr/>
          <p:nvPr/>
        </p:nvSpPr>
        <p:spPr>
          <a:xfrm>
            <a:off x="3534771" y="712928"/>
            <a:ext cx="803853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Database design involves understanding operational and business needs of an organization, modeling the specified requirements, and realizing the requirements using a database.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The overall database design process has to follow a series of steps. The systematic process of designing a database is known as </a:t>
            </a:r>
            <a:r>
              <a:rPr lang="en-US" sz="26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 methodology</a:t>
            </a: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The goal of designing a database is to produce efficient, high quality, and minimum cost database.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In large organizations, database administrator (DBA) is responsible for designing an efficient database system</a:t>
            </a:r>
          </a:p>
        </p:txBody>
      </p:sp>
    </p:spTree>
    <p:extLst>
      <p:ext uri="{BB962C8B-B14F-4D97-AF65-F5344CB8AC3E}">
        <p14:creationId xmlns:p14="http://schemas.microsoft.com/office/powerpoint/2010/main" val="896577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Integrity Constraint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56932-A7F4-449D-9EAF-49A727720243}"/>
              </a:ext>
            </a:extLst>
          </p:cNvPr>
          <p:cNvSpPr/>
          <p:nvPr/>
        </p:nvSpPr>
        <p:spPr>
          <a:xfrm>
            <a:off x="3443784" y="681589"/>
            <a:ext cx="8306937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Integrity constraints are the set of rules imposed on database to maintain quality of data.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Integrity constraints ensures that any manipulation on data does not affect the data integrity.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It secures the data management.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Various Integrity Constraints are: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Check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Not null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Unique Key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Primary key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Foreign key</a:t>
            </a:r>
          </a:p>
        </p:txBody>
      </p:sp>
    </p:spTree>
    <p:extLst>
      <p:ext uri="{BB962C8B-B14F-4D97-AF65-F5344CB8AC3E}">
        <p14:creationId xmlns:p14="http://schemas.microsoft.com/office/powerpoint/2010/main" val="3280627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Integrity Constraint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3CDEB4-39F1-4611-9E2B-CE1519B46FA0}"/>
              </a:ext>
            </a:extLst>
          </p:cNvPr>
          <p:cNvSpPr/>
          <p:nvPr/>
        </p:nvSpPr>
        <p:spPr>
          <a:xfrm>
            <a:off x="3471081" y="722532"/>
            <a:ext cx="8252346" cy="5524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Check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This constraint is defined on a column of the table. </a:t>
            </a:r>
          </a:p>
          <a:p>
            <a:pPr marL="914400" lvl="1" indent="-457200" algn="just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14400" lvl="1" indent="-457200" algn="just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Limits the data values of variables to a specific set of values based on condition. 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The constraint can be applied for a single column or a group of columns.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endParaRPr lang="en-US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E.g. amount must be greater than 500. </a:t>
            </a:r>
            <a:endParaRPr lang="en-IN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IN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IN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Not null</a:t>
            </a:r>
          </a:p>
          <a:p>
            <a:pPr marL="971550" lvl="1" indent="-514350" algn="just">
              <a:buFont typeface="Wingdings" panose="05000000000000000000" pitchFamily="2" charset="2"/>
              <a:buChar char="ü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This constraint ensures that each column of all the rows in the table has some value (data). </a:t>
            </a:r>
          </a:p>
          <a:p>
            <a:pPr marL="971550" lvl="1" indent="-514350" algn="just">
              <a:buFont typeface="Wingdings" panose="05000000000000000000" pitchFamily="2" charset="2"/>
              <a:buChar char="ü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71550" lvl="1" indent="-514350" algn="just">
              <a:buFont typeface="Wingdings" panose="05000000000000000000" pitchFamily="2" charset="2"/>
              <a:buChar char="ü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Any column value cannot be NULL (empty).</a:t>
            </a:r>
          </a:p>
        </p:txBody>
      </p:sp>
    </p:spTree>
    <p:extLst>
      <p:ext uri="{BB962C8B-B14F-4D97-AF65-F5344CB8AC3E}">
        <p14:creationId xmlns:p14="http://schemas.microsoft.com/office/powerpoint/2010/main" val="582349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Integrity Constraint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3CDEB4-39F1-4611-9E2B-CE1519B46FA0}"/>
              </a:ext>
            </a:extLst>
          </p:cNvPr>
          <p:cNvSpPr/>
          <p:nvPr/>
        </p:nvSpPr>
        <p:spPr>
          <a:xfrm>
            <a:off x="3471081" y="722532"/>
            <a:ext cx="825234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3.   Unique Key</a:t>
            </a:r>
          </a:p>
          <a:p>
            <a:pPr marL="914400" lvl="1" indent="-457200" algn="just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Ensures that the data in each row for a single or group of columns is unique (distinct). 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A column can have NULL values, but cannot be duplicated.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endParaRPr lang="en-US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E.g. Roll Number of a student is Unique.</a:t>
            </a:r>
            <a:endParaRPr lang="en-IN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IN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/>
            <a:r>
              <a:rPr lang="en-IN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4. Primary Key</a:t>
            </a:r>
          </a:p>
          <a:p>
            <a:pPr marL="914400" lvl="1" indent="-457200" algn="just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Ensures that a column or a group of columns identify uniquely each row in the table.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A column cannot have NULL values and cannot be duplicated.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endParaRPr lang="en-US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E.g. Roll Number of a student is Unique.</a:t>
            </a:r>
            <a:endParaRPr lang="en-IN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651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Integrity Constraint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3CDEB4-39F1-4611-9E2B-CE1519B46FA0}"/>
              </a:ext>
            </a:extLst>
          </p:cNvPr>
          <p:cNvSpPr/>
          <p:nvPr/>
        </p:nvSpPr>
        <p:spPr>
          <a:xfrm>
            <a:off x="3471081" y="722532"/>
            <a:ext cx="8252346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5.   Foreign Key</a:t>
            </a:r>
          </a:p>
          <a:p>
            <a:pPr marL="914400" lvl="1" indent="-457200" algn="just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Also known as Referential Integrity Constraint</a:t>
            </a:r>
          </a:p>
          <a:p>
            <a:pPr marL="914400" lvl="1" indent="-457200" algn="just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14400" lvl="1" indent="-457200" algn="just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Allows a table to refer a column of another table with Primary Key</a:t>
            </a: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14400" lvl="1" indent="-457200" algn="just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14400" lvl="1" indent="-457200" algn="just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For e.g. </a:t>
            </a:r>
          </a:p>
          <a:p>
            <a:pPr lvl="2" algn="just">
              <a:buClr>
                <a:schemeClr val="tx1"/>
              </a:buClr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Student (</a:t>
            </a:r>
            <a:r>
              <a:rPr lang="en-IN" sz="2600" b="1" u="sng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sroll</a:t>
            </a: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, sname, std)</a:t>
            </a:r>
          </a:p>
          <a:p>
            <a:pPr lvl="2" algn="just">
              <a:buClr>
                <a:schemeClr val="tx1"/>
              </a:buClr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Result (</a:t>
            </a:r>
            <a:r>
              <a:rPr lang="en-IN" sz="26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sroll</a:t>
            </a: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, m1, m2, m3, result)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521A74-34DD-4B1E-BFAB-F0B3DBCD068D}"/>
              </a:ext>
            </a:extLst>
          </p:cNvPr>
          <p:cNvSpPr txBox="1"/>
          <p:nvPr/>
        </p:nvSpPr>
        <p:spPr>
          <a:xfrm>
            <a:off x="4909604" y="4389988"/>
            <a:ext cx="3197166" cy="738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Foreign Key referring to </a:t>
            </a:r>
            <a:r>
              <a:rPr lang="en-US" sz="2400" b="1" dirty="0">
                <a:ln w="0"/>
                <a:solidFill>
                  <a:srgbClr val="B5FC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sroll </a:t>
            </a:r>
            <a:r>
              <a:rPr lang="en-US" dirty="0"/>
              <a:t>column of Student table</a:t>
            </a:r>
            <a:endParaRPr lang="en-US" b="1" dirty="0"/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19D42D66-AA27-4AA8-9EF3-D6D953C025AD}"/>
              </a:ext>
            </a:extLst>
          </p:cNvPr>
          <p:cNvSpPr/>
          <p:nvPr/>
        </p:nvSpPr>
        <p:spPr>
          <a:xfrm rot="5400000">
            <a:off x="5739072" y="4033060"/>
            <a:ext cx="466580" cy="247276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D985C7-DA5A-4E76-B644-151D8814243A}"/>
              </a:ext>
            </a:extLst>
          </p:cNvPr>
          <p:cNvSpPr txBox="1"/>
          <p:nvPr/>
        </p:nvSpPr>
        <p:spPr>
          <a:xfrm>
            <a:off x="6859617" y="2632974"/>
            <a:ext cx="147527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Primary Key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F54E92BD-2F32-4F93-966E-D497D27C0C7A}"/>
              </a:ext>
            </a:extLst>
          </p:cNvPr>
          <p:cNvSpPr/>
          <p:nvPr/>
        </p:nvSpPr>
        <p:spPr>
          <a:xfrm rot="19111611">
            <a:off x="6355647" y="2844563"/>
            <a:ext cx="466580" cy="247276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5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Database Models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7B75C9-10A4-4849-8B29-B16CC7381499}"/>
              </a:ext>
            </a:extLst>
          </p:cNvPr>
          <p:cNvSpPr/>
          <p:nvPr/>
        </p:nvSpPr>
        <p:spPr>
          <a:xfrm>
            <a:off x="3430135" y="362051"/>
            <a:ext cx="8225051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A database model describes the logical structure of a database.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It describes whether how a data can be stored, accessed and updated.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The most popular example of a database model is Relational Model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Types of Database Model are: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71550" lvl="1" indent="-514350" algn="just">
              <a:buFont typeface="+mj-lt"/>
              <a:buAutoNum type="arabicPeriod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Hierarchical Model</a:t>
            </a:r>
          </a:p>
          <a:p>
            <a:pPr marL="971550" lvl="1" indent="-514350" algn="just">
              <a:buFont typeface="+mj-lt"/>
              <a:buAutoNum type="arabicPeriod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71550" lvl="1" indent="-514350" algn="just">
              <a:buFont typeface="+mj-lt"/>
              <a:buAutoNum type="arabicPeriod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Network Model</a:t>
            </a:r>
          </a:p>
          <a:p>
            <a:pPr marL="971550" lvl="1" indent="-514350" algn="just">
              <a:buFont typeface="+mj-lt"/>
              <a:buAutoNum type="arabicPeriod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71550" lvl="1" indent="-514350" algn="just">
              <a:buFont typeface="+mj-lt"/>
              <a:buAutoNum type="arabicPeriod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Relational Model</a:t>
            </a:r>
          </a:p>
          <a:p>
            <a:pPr marL="971550" lvl="1" indent="-514350" algn="just">
              <a:buFont typeface="+mj-lt"/>
              <a:buAutoNum type="arabicPeriod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71550" lvl="1" indent="-514350" algn="just">
              <a:buFont typeface="+mj-lt"/>
              <a:buAutoNum type="arabicPeriod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Object Oriented Model</a:t>
            </a:r>
          </a:p>
          <a:p>
            <a:pPr marL="971550" lvl="1" indent="-514350" algn="just">
              <a:buFont typeface="+mj-lt"/>
              <a:buAutoNum type="arabicPeriod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971550" lvl="1" indent="-514350" algn="just">
              <a:buFont typeface="+mj-lt"/>
              <a:buAutoNum type="arabicPeriod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Entity Relationship Model</a:t>
            </a:r>
          </a:p>
        </p:txBody>
      </p:sp>
    </p:spTree>
    <p:extLst>
      <p:ext uri="{BB962C8B-B14F-4D97-AF65-F5344CB8AC3E}">
        <p14:creationId xmlns:p14="http://schemas.microsoft.com/office/powerpoint/2010/main" val="4020473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Database Models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(Hierarchical Model)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EAE882-FE1F-4B6F-9E37-9C84D57254F5}"/>
              </a:ext>
            </a:extLst>
          </p:cNvPr>
          <p:cNvSpPr/>
          <p:nvPr/>
        </p:nvSpPr>
        <p:spPr>
          <a:xfrm>
            <a:off x="3593911" y="690181"/>
            <a:ext cx="800668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In this, the data is organized into a tree-like structure, where each record has a single parent or root.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62AFD3-9EC1-4C5E-AD26-DC491274A70E}"/>
              </a:ext>
            </a:extLst>
          </p:cNvPr>
          <p:cNvSpPr/>
          <p:nvPr/>
        </p:nvSpPr>
        <p:spPr>
          <a:xfrm>
            <a:off x="6490648" y="1828800"/>
            <a:ext cx="1828800" cy="5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Department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EEBA62-A7CB-49F6-A723-108602E69C32}"/>
              </a:ext>
            </a:extLst>
          </p:cNvPr>
          <p:cNvCxnSpPr/>
          <p:nvPr/>
        </p:nvCxnSpPr>
        <p:spPr>
          <a:xfrm>
            <a:off x="5144289" y="2743200"/>
            <a:ext cx="451713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704577F-54AE-4761-BF05-A0679CC12962}"/>
              </a:ext>
            </a:extLst>
          </p:cNvPr>
          <p:cNvSpPr/>
          <p:nvPr/>
        </p:nvSpPr>
        <p:spPr>
          <a:xfrm>
            <a:off x="4242748" y="3117850"/>
            <a:ext cx="1828800" cy="5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Manager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8838D6-B3FC-479E-8729-9135D2FD0909}"/>
              </a:ext>
            </a:extLst>
          </p:cNvPr>
          <p:cNvSpPr/>
          <p:nvPr/>
        </p:nvSpPr>
        <p:spPr>
          <a:xfrm>
            <a:off x="8738548" y="3129842"/>
            <a:ext cx="1828800" cy="5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Worker</a:t>
            </a:r>
            <a:endParaRPr lang="en-US" i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A39D77-510B-41A5-9B67-D1FD1BCA02BA}"/>
              </a:ext>
            </a:extLst>
          </p:cNvPr>
          <p:cNvCxnSpPr/>
          <p:nvPr/>
        </p:nvCxnSpPr>
        <p:spPr>
          <a:xfrm>
            <a:off x="5152250" y="2743200"/>
            <a:ext cx="0" cy="374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A85129-DC56-4060-B9D9-FE6D5F8A451F}"/>
              </a:ext>
            </a:extLst>
          </p:cNvPr>
          <p:cNvCxnSpPr>
            <a:cxnSpLocks/>
          </p:cNvCxnSpPr>
          <p:nvPr/>
        </p:nvCxnSpPr>
        <p:spPr>
          <a:xfrm>
            <a:off x="7351814" y="2368800"/>
            <a:ext cx="0" cy="374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D2F402-4BFF-4515-9441-B59454022885}"/>
              </a:ext>
            </a:extLst>
          </p:cNvPr>
          <p:cNvCxnSpPr>
            <a:cxnSpLocks/>
          </p:cNvCxnSpPr>
          <p:nvPr/>
        </p:nvCxnSpPr>
        <p:spPr>
          <a:xfrm>
            <a:off x="9661425" y="2743200"/>
            <a:ext cx="0" cy="374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AB2CBB6-A30E-4942-80F8-BCD0591C26A9}"/>
              </a:ext>
            </a:extLst>
          </p:cNvPr>
          <p:cNvSpPr/>
          <p:nvPr/>
        </p:nvSpPr>
        <p:spPr>
          <a:xfrm>
            <a:off x="3593911" y="4100902"/>
            <a:ext cx="800668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The data is organised into tree-like structure with one data component connected to many other data components. </a:t>
            </a:r>
          </a:p>
          <a:p>
            <a:pPr marL="171450" indent="-171450" algn="just">
              <a:buFont typeface="Wingdings" panose="05000000000000000000" pitchFamily="2" charset="2"/>
              <a:buChar char="ü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For example, one department can have many managers and many workers.</a:t>
            </a:r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56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Database Models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(Network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Model)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EAE882-FE1F-4B6F-9E37-9C84D57254F5}"/>
              </a:ext>
            </a:extLst>
          </p:cNvPr>
          <p:cNvSpPr/>
          <p:nvPr/>
        </p:nvSpPr>
        <p:spPr>
          <a:xfrm>
            <a:off x="3542203" y="578725"/>
            <a:ext cx="800668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In this, the data is organized into a tree-like structure, where each record can have multiple parents or roots.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B2CBB6-A30E-4942-80F8-BCD0591C26A9}"/>
              </a:ext>
            </a:extLst>
          </p:cNvPr>
          <p:cNvSpPr/>
          <p:nvPr/>
        </p:nvSpPr>
        <p:spPr>
          <a:xfrm>
            <a:off x="3542203" y="5172653"/>
            <a:ext cx="800668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The data is organised into tree-like structure more than one data components connected to more than one other data components. 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9AB76D5-4682-49D4-8682-DA40372C6C78}"/>
              </a:ext>
            </a:extLst>
          </p:cNvPr>
          <p:cNvSpPr/>
          <p:nvPr/>
        </p:nvSpPr>
        <p:spPr>
          <a:xfrm>
            <a:off x="6825546" y="1886974"/>
            <a:ext cx="720000" cy="72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1F45034-12CD-4828-9188-043AE9082B1A}"/>
              </a:ext>
            </a:extLst>
          </p:cNvPr>
          <p:cNvSpPr/>
          <p:nvPr/>
        </p:nvSpPr>
        <p:spPr>
          <a:xfrm>
            <a:off x="5890146" y="2995774"/>
            <a:ext cx="720000" cy="72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5A12348-3C23-4E94-B64A-A5BD0A2FAE94}"/>
              </a:ext>
            </a:extLst>
          </p:cNvPr>
          <p:cNvSpPr/>
          <p:nvPr/>
        </p:nvSpPr>
        <p:spPr>
          <a:xfrm>
            <a:off x="7795146" y="3012874"/>
            <a:ext cx="720000" cy="72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1F5001-94D8-4F22-AC0C-86FBFC66E5E0}"/>
              </a:ext>
            </a:extLst>
          </p:cNvPr>
          <p:cNvCxnSpPr>
            <a:stCxn id="14" idx="3"/>
            <a:endCxn id="15" idx="7"/>
          </p:cNvCxnSpPr>
          <p:nvPr/>
        </p:nvCxnSpPr>
        <p:spPr>
          <a:xfrm flipH="1">
            <a:off x="6504704" y="2501532"/>
            <a:ext cx="426284" cy="5996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699F57-7B8D-4104-97EA-78A68C6552CE}"/>
              </a:ext>
            </a:extLst>
          </p:cNvPr>
          <p:cNvCxnSpPr>
            <a:stCxn id="14" idx="5"/>
            <a:endCxn id="16" idx="1"/>
          </p:cNvCxnSpPr>
          <p:nvPr/>
        </p:nvCxnSpPr>
        <p:spPr>
          <a:xfrm>
            <a:off x="7440104" y="2501532"/>
            <a:ext cx="460484" cy="6167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BF21DAF4-352E-4039-AC06-8E287F759246}"/>
              </a:ext>
            </a:extLst>
          </p:cNvPr>
          <p:cNvSpPr/>
          <p:nvPr/>
        </p:nvSpPr>
        <p:spPr>
          <a:xfrm>
            <a:off x="4975746" y="4105744"/>
            <a:ext cx="720000" cy="72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26F4B64-FD01-4C33-82D3-4CE123085B40}"/>
              </a:ext>
            </a:extLst>
          </p:cNvPr>
          <p:cNvSpPr/>
          <p:nvPr/>
        </p:nvSpPr>
        <p:spPr>
          <a:xfrm>
            <a:off x="6825546" y="4105744"/>
            <a:ext cx="720000" cy="72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7FEFF2F-856B-42CF-A2AF-E4198ED87938}"/>
              </a:ext>
            </a:extLst>
          </p:cNvPr>
          <p:cNvCxnSpPr>
            <a:endCxn id="19" idx="7"/>
          </p:cNvCxnSpPr>
          <p:nvPr/>
        </p:nvCxnSpPr>
        <p:spPr>
          <a:xfrm flipH="1">
            <a:off x="5590304" y="3611502"/>
            <a:ext cx="405284" cy="5996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055F32-3C76-4D72-BED6-E3A6BDB89A11}"/>
              </a:ext>
            </a:extLst>
          </p:cNvPr>
          <p:cNvCxnSpPr>
            <a:stCxn id="15" idx="5"/>
            <a:endCxn id="20" idx="1"/>
          </p:cNvCxnSpPr>
          <p:nvPr/>
        </p:nvCxnSpPr>
        <p:spPr>
          <a:xfrm>
            <a:off x="6504704" y="3610332"/>
            <a:ext cx="426284" cy="60085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F791DD1C-1CB1-42D7-8F78-2ABCBC791C34}"/>
              </a:ext>
            </a:extLst>
          </p:cNvPr>
          <p:cNvSpPr/>
          <p:nvPr/>
        </p:nvSpPr>
        <p:spPr>
          <a:xfrm>
            <a:off x="8727607" y="4105744"/>
            <a:ext cx="720000" cy="720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F3F8E6F-C0B1-4BFD-A69E-466D44C19377}"/>
              </a:ext>
            </a:extLst>
          </p:cNvPr>
          <p:cNvCxnSpPr>
            <a:stCxn id="16" idx="5"/>
            <a:endCxn id="23" idx="1"/>
          </p:cNvCxnSpPr>
          <p:nvPr/>
        </p:nvCxnSpPr>
        <p:spPr>
          <a:xfrm>
            <a:off x="8409704" y="3627432"/>
            <a:ext cx="423345" cy="58375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5BA0DFF-78C0-411A-ACE2-661BFA2DE474}"/>
              </a:ext>
            </a:extLst>
          </p:cNvPr>
          <p:cNvCxnSpPr>
            <a:stCxn id="16" idx="3"/>
            <a:endCxn id="20" idx="7"/>
          </p:cNvCxnSpPr>
          <p:nvPr/>
        </p:nvCxnSpPr>
        <p:spPr>
          <a:xfrm flipH="1">
            <a:off x="7440104" y="3627432"/>
            <a:ext cx="460484" cy="58375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04C1C0-2DF9-418A-8FA5-5BF27FA19C29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6610146" y="3355774"/>
            <a:ext cx="1185000" cy="171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39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 animBg="1"/>
      <p:bldP spid="19" grpId="0" animBg="1"/>
      <p:bldP spid="20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Database Models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(Relational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Model)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EAE882-FE1F-4B6F-9E37-9C84D57254F5}"/>
              </a:ext>
            </a:extLst>
          </p:cNvPr>
          <p:cNvSpPr/>
          <p:nvPr/>
        </p:nvSpPr>
        <p:spPr>
          <a:xfrm>
            <a:off x="3555851" y="1331547"/>
            <a:ext cx="8006686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In this, the data is stored in the table known as Relation.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A Relation contain Rows known as Tuples and column known as Attributes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3472CCC-ADB5-488A-BACA-7AA9B8E1A2AD}"/>
              </a:ext>
            </a:extLst>
          </p:cNvPr>
          <p:cNvGraphicFramePr>
            <a:graphicFrameLocks noGrp="1"/>
          </p:cNvGraphicFramePr>
          <p:nvPr/>
        </p:nvGraphicFramePr>
        <p:xfrm>
          <a:off x="3933968" y="4144693"/>
          <a:ext cx="5332862" cy="138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2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5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587">
                <a:tc>
                  <a:txBody>
                    <a:bodyPr/>
                    <a:lstStyle/>
                    <a:p>
                      <a:r>
                        <a:rPr lang="en-US" dirty="0"/>
                        <a:t>Eid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Employee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58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58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518C2F05-D26C-48EB-8320-CF41C9F2068C}"/>
              </a:ext>
            </a:extLst>
          </p:cNvPr>
          <p:cNvSpPr/>
          <p:nvPr/>
        </p:nvSpPr>
        <p:spPr>
          <a:xfrm>
            <a:off x="3820738" y="3599894"/>
            <a:ext cx="19113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Employee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38EB1E-E971-4B12-9532-6CDB21E8D38B}"/>
              </a:ext>
            </a:extLst>
          </p:cNvPr>
          <p:cNvSpPr/>
          <p:nvPr/>
        </p:nvSpPr>
        <p:spPr>
          <a:xfrm>
            <a:off x="6069718" y="3553728"/>
            <a:ext cx="121753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Relation</a:t>
            </a:r>
          </a:p>
        </p:txBody>
      </p:sp>
      <p:sp>
        <p:nvSpPr>
          <p:cNvPr id="32" name="Arrow: Left 31">
            <a:extLst>
              <a:ext uri="{FF2B5EF4-FFF2-40B4-BE49-F238E27FC236}">
                <a16:creationId xmlns:a16="http://schemas.microsoft.com/office/drawing/2014/main" id="{B20BC266-851E-4B46-B466-EA000FCAAC07}"/>
              </a:ext>
            </a:extLst>
          </p:cNvPr>
          <p:cNvSpPr/>
          <p:nvPr/>
        </p:nvSpPr>
        <p:spPr>
          <a:xfrm>
            <a:off x="5375930" y="3761738"/>
            <a:ext cx="474411" cy="137976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888A37F2-D550-41F6-ACB6-DBF51A218A23}"/>
              </a:ext>
            </a:extLst>
          </p:cNvPr>
          <p:cNvSpPr/>
          <p:nvPr/>
        </p:nvSpPr>
        <p:spPr>
          <a:xfrm>
            <a:off x="9471395" y="4296275"/>
            <a:ext cx="474411" cy="137976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72202A-E48D-42CF-B087-C1345AA92460}"/>
              </a:ext>
            </a:extLst>
          </p:cNvPr>
          <p:cNvSpPr/>
          <p:nvPr/>
        </p:nvSpPr>
        <p:spPr>
          <a:xfrm>
            <a:off x="10150371" y="4144693"/>
            <a:ext cx="121753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Attributes</a:t>
            </a:r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4B1F9DCF-2CCD-4278-89D0-D405AFCBBBCC}"/>
              </a:ext>
            </a:extLst>
          </p:cNvPr>
          <p:cNvSpPr/>
          <p:nvPr/>
        </p:nvSpPr>
        <p:spPr>
          <a:xfrm rot="7303405">
            <a:off x="4955316" y="5778640"/>
            <a:ext cx="474411" cy="137976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CDB2711-7FD4-4520-B065-4C0F1AEAAF30}"/>
              </a:ext>
            </a:extLst>
          </p:cNvPr>
          <p:cNvSpPr/>
          <p:nvPr/>
        </p:nvSpPr>
        <p:spPr>
          <a:xfrm>
            <a:off x="4514526" y="6085670"/>
            <a:ext cx="121753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Tuples</a:t>
            </a:r>
          </a:p>
        </p:txBody>
      </p:sp>
    </p:spTree>
    <p:extLst>
      <p:ext uri="{BB962C8B-B14F-4D97-AF65-F5344CB8AC3E}">
        <p14:creationId xmlns:p14="http://schemas.microsoft.com/office/powerpoint/2010/main" val="25706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4592" y="1123837"/>
            <a:ext cx="3336473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Database Models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(Object Oriented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Model)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AE007C-319E-4959-A29B-1A87B19BAC22}"/>
              </a:ext>
            </a:extLst>
          </p:cNvPr>
          <p:cNvSpPr/>
          <p:nvPr/>
        </p:nvSpPr>
        <p:spPr>
          <a:xfrm>
            <a:off x="3498376" y="377440"/>
            <a:ext cx="8156811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Object oriented data model is based upon real world situations. </a:t>
            </a:r>
          </a:p>
          <a:p>
            <a:pPr algn="just"/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/>
            <a:r>
              <a:rPr lang="en-US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Objects: </a:t>
            </a: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The real world components and situations are represented as objects</a:t>
            </a:r>
          </a:p>
          <a:p>
            <a:pPr algn="just"/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/>
            <a:r>
              <a:rPr lang="en-US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Attributes and Method: </a:t>
            </a:r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/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Every object has certain characteristics. These are represented using Attributes. The behavior of the objects is represented using Methods.</a:t>
            </a:r>
          </a:p>
          <a:p>
            <a:pPr algn="just"/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/>
            <a:r>
              <a:rPr lang="en-US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Class: </a:t>
            </a: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Similar attributes and methods are grouped together using a class. An object can be called as an instance of the class.</a:t>
            </a:r>
            <a:endParaRPr lang="en-IN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197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4592" y="1123837"/>
            <a:ext cx="3336473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Database Models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(Object Oriented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Model)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F0FED5-0878-480B-A85C-A22C73049331}"/>
              </a:ext>
            </a:extLst>
          </p:cNvPr>
          <p:cNvSpPr/>
          <p:nvPr/>
        </p:nvSpPr>
        <p:spPr>
          <a:xfrm>
            <a:off x="3607558" y="670467"/>
            <a:ext cx="8184108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Inheritance: </a:t>
            </a: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A new class can be derived from the original class. The derived class contains attributes and methods of the original class as well as its own.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AAF5DC-7854-44AB-9E2D-4CF9A344AB5B}"/>
              </a:ext>
            </a:extLst>
          </p:cNvPr>
          <p:cNvSpPr/>
          <p:nvPr/>
        </p:nvSpPr>
        <p:spPr>
          <a:xfrm>
            <a:off x="3607558" y="2070627"/>
            <a:ext cx="1308713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For E.g.</a:t>
            </a:r>
            <a:endParaRPr lang="en-US" sz="2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4F8D74-4FA7-4E26-82AC-1AA66340C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065" y="2670568"/>
            <a:ext cx="4620171" cy="35960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8B90473-E3D5-4CC1-9B90-B8B672418B10}"/>
              </a:ext>
            </a:extLst>
          </p:cNvPr>
          <p:cNvSpPr/>
          <p:nvPr/>
        </p:nvSpPr>
        <p:spPr>
          <a:xfrm>
            <a:off x="8011236" y="2846416"/>
            <a:ext cx="369854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Shape, Circle, Rectangle and Triangle are all classes in this model. 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Shape has methods as GetArea() and GetPerimeter()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Circle has the attributes Center and Radius.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Rectangle has the attributes Length and Breath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Triangle has the attributes Base and Height.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</a:rPr>
              <a:t>The Circle, Rectangle and Triangle classes inherit from the class Shape.</a:t>
            </a:r>
          </a:p>
        </p:txBody>
      </p:sp>
    </p:spTree>
    <p:extLst>
      <p:ext uri="{BB962C8B-B14F-4D97-AF65-F5344CB8AC3E}">
        <p14:creationId xmlns:p14="http://schemas.microsoft.com/office/powerpoint/2010/main" val="330911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E-R Diagram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58478C1-7A33-4624-969D-B1324DB4607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547850" y="2101754"/>
            <a:ext cx="8175577" cy="337099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Stands for Entity-Relationship diagram.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6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It is a graphical or a pictorial representation of a database.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6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It uses different types of symbols to represent various instances of database</a:t>
            </a:r>
          </a:p>
        </p:txBody>
      </p:sp>
    </p:spTree>
    <p:extLst>
      <p:ext uri="{BB962C8B-B14F-4D97-AF65-F5344CB8AC3E}">
        <p14:creationId xmlns:p14="http://schemas.microsoft.com/office/powerpoint/2010/main" val="1938116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E-R Diagram</a:t>
            </a:r>
            <a:b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(Entity)</a:t>
            </a:r>
            <a:endParaRPr lang="en-US" dirty="0"/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B44DA4F8-A213-4652-B8A9-3A200D2A5F9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527946" y="307074"/>
            <a:ext cx="8222775" cy="6537278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An entity is a “thing” or “object” in the real world that is distinguishable from all other objects. 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endParaRPr lang="en-US" altLang="en-US" sz="32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For example, each Employee in a firm is an entity.</a:t>
            </a:r>
          </a:p>
          <a:p>
            <a:pPr algn="just" eaLnBrk="1" hangingPunct="1"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An entity has a set of properties, and the values for some set of properties may uniquely identify an entity.</a:t>
            </a:r>
          </a:p>
        </p:txBody>
      </p:sp>
    </p:spTree>
    <p:extLst>
      <p:ext uri="{BB962C8B-B14F-4D97-AF65-F5344CB8AC3E}">
        <p14:creationId xmlns:p14="http://schemas.microsoft.com/office/powerpoint/2010/main" val="882578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E-R Diagram</a:t>
            </a:r>
            <a:b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(Entity)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B4914-B9DB-40FA-88CC-01AD3A0EB034}"/>
              </a:ext>
            </a:extLst>
          </p:cNvPr>
          <p:cNvSpPr/>
          <p:nvPr/>
        </p:nvSpPr>
        <p:spPr>
          <a:xfrm>
            <a:off x="3566615" y="715774"/>
            <a:ext cx="800668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An entity is represented by a </a:t>
            </a:r>
            <a:r>
              <a:rPr 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rectangle</a:t>
            </a:r>
            <a:r>
              <a:rPr lang="en-US" sz="32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which contains the name of an entity.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BF0F61-8297-4069-AD50-F0C8F69BA651}"/>
              </a:ext>
            </a:extLst>
          </p:cNvPr>
          <p:cNvSpPr/>
          <p:nvPr/>
        </p:nvSpPr>
        <p:spPr>
          <a:xfrm>
            <a:off x="3665074" y="2051813"/>
            <a:ext cx="1502228" cy="770709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Entity Name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91532D-F6C2-4975-81B7-CEF4543547A8}"/>
              </a:ext>
            </a:extLst>
          </p:cNvPr>
          <p:cNvSpPr txBox="1"/>
          <p:nvPr/>
        </p:nvSpPr>
        <p:spPr>
          <a:xfrm>
            <a:off x="5955460" y="2182265"/>
            <a:ext cx="98072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Symbol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8B9411-84C3-45DE-988E-34045E91A48E}"/>
              </a:ext>
            </a:extLst>
          </p:cNvPr>
          <p:cNvSpPr/>
          <p:nvPr/>
        </p:nvSpPr>
        <p:spPr>
          <a:xfrm>
            <a:off x="3665074" y="3318438"/>
            <a:ext cx="1502228" cy="770709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Employee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2035C7E7-2AFF-4355-9265-DBE53F1B851C}"/>
              </a:ext>
            </a:extLst>
          </p:cNvPr>
          <p:cNvSpPr/>
          <p:nvPr/>
        </p:nvSpPr>
        <p:spPr>
          <a:xfrm>
            <a:off x="5167302" y="2306473"/>
            <a:ext cx="788158" cy="245124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5FC595-9B1E-41A0-8C2A-CEFEE6543D18}"/>
              </a:ext>
            </a:extLst>
          </p:cNvPr>
          <p:cNvSpPr txBox="1"/>
          <p:nvPr/>
        </p:nvSpPr>
        <p:spPr>
          <a:xfrm>
            <a:off x="5955460" y="3415354"/>
            <a:ext cx="1155024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Example</a:t>
            </a: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75E138C9-9102-4663-9242-81A37B842B6E}"/>
              </a:ext>
            </a:extLst>
          </p:cNvPr>
          <p:cNvSpPr/>
          <p:nvPr/>
        </p:nvSpPr>
        <p:spPr>
          <a:xfrm>
            <a:off x="5167302" y="3539562"/>
            <a:ext cx="788158" cy="245124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35B36A-76EF-4158-8A3D-4E908BFEE71D}"/>
              </a:ext>
            </a:extLst>
          </p:cNvPr>
          <p:cNvSpPr/>
          <p:nvPr/>
        </p:nvSpPr>
        <p:spPr>
          <a:xfrm>
            <a:off x="3365017" y="4942180"/>
            <a:ext cx="81022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lvl="1" indent="-457200" algn="just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Write down the different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entities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of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college database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685800" lvl="1" indent="-457200" algn="just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Write down the different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entities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of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hotel database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8691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E-R Diagram</a:t>
            </a:r>
            <a:b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(Entity Set)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6DF87E-0694-4CF1-A1DB-23BED1F97C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561498" y="2331492"/>
            <a:ext cx="8243816" cy="254075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It is a collection of different entities of same type.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Examples: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All the employees working in a firm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All persons having an account in a bank</a:t>
            </a:r>
          </a:p>
          <a:p>
            <a:pPr lvl="1"/>
            <a:r>
              <a:rPr lang="en-US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All the students studying in a school</a:t>
            </a:r>
          </a:p>
        </p:txBody>
      </p:sp>
    </p:spTree>
    <p:extLst>
      <p:ext uri="{BB962C8B-B14F-4D97-AF65-F5344CB8AC3E}">
        <p14:creationId xmlns:p14="http://schemas.microsoft.com/office/powerpoint/2010/main" val="973766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E-R Diagram</a:t>
            </a:r>
            <a:b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(Attributes)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BF64F6-2A4E-4347-99C8-097181E8DF8D}"/>
              </a:ext>
            </a:extLst>
          </p:cNvPr>
          <p:cNvSpPr/>
          <p:nvPr/>
        </p:nvSpPr>
        <p:spPr>
          <a:xfrm>
            <a:off x="3646962" y="754505"/>
            <a:ext cx="788539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Each entity is described by a set of attributes/properties. In short, Attributes define details of Entity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endParaRPr lang="en-US" altLang="en-US" sz="5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An attribute is represented by an </a:t>
            </a:r>
            <a:r>
              <a:rPr lang="en-US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oval</a:t>
            </a: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 containing name of an attribute.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endParaRPr lang="en-US" sz="5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For e.g.,  Employee ID and Name are the attributes of Employee.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8B7229-B610-4088-81BE-5EEDD7894AD3}"/>
              </a:ext>
            </a:extLst>
          </p:cNvPr>
          <p:cNvSpPr/>
          <p:nvPr/>
        </p:nvSpPr>
        <p:spPr>
          <a:xfrm>
            <a:off x="3497037" y="3844350"/>
            <a:ext cx="1998617" cy="792730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Attribute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D78BD-8A63-400A-A96E-D35C57244888}"/>
              </a:ext>
            </a:extLst>
          </p:cNvPr>
          <p:cNvSpPr txBox="1"/>
          <p:nvPr/>
        </p:nvSpPr>
        <p:spPr>
          <a:xfrm>
            <a:off x="3959384" y="5056425"/>
            <a:ext cx="98072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Symbol</a:t>
            </a: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28CAF9E4-7055-479C-9CA9-44FB8BA6918F}"/>
              </a:ext>
            </a:extLst>
          </p:cNvPr>
          <p:cNvSpPr/>
          <p:nvPr/>
        </p:nvSpPr>
        <p:spPr>
          <a:xfrm rot="5400000">
            <a:off x="4243477" y="4720786"/>
            <a:ext cx="412535" cy="245124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600FA1-5479-400C-8516-790BD31CBE7C}"/>
              </a:ext>
            </a:extLst>
          </p:cNvPr>
          <p:cNvSpPr/>
          <p:nvPr/>
        </p:nvSpPr>
        <p:spPr>
          <a:xfrm>
            <a:off x="8571590" y="4672032"/>
            <a:ext cx="1698171" cy="744583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Employee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306F60-0CB1-4942-9250-C4A8FCA2536F}"/>
              </a:ext>
            </a:extLst>
          </p:cNvPr>
          <p:cNvCxnSpPr>
            <a:cxnSpLocks/>
            <a:stCxn id="13" idx="4"/>
            <a:endCxn id="11" idx="0"/>
          </p:cNvCxnSpPr>
          <p:nvPr/>
        </p:nvCxnSpPr>
        <p:spPr>
          <a:xfrm>
            <a:off x="8301104" y="4426658"/>
            <a:ext cx="1119572" cy="245374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C50AFDF-3CE6-4647-8705-A21E23C3D6D5}"/>
              </a:ext>
            </a:extLst>
          </p:cNvPr>
          <p:cNvSpPr/>
          <p:nvPr/>
        </p:nvSpPr>
        <p:spPr>
          <a:xfrm>
            <a:off x="7181531" y="3811829"/>
            <a:ext cx="2239145" cy="614829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Employee Id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09A1BD-1137-492F-9172-C017C12453B0}"/>
              </a:ext>
            </a:extLst>
          </p:cNvPr>
          <p:cNvCxnSpPr>
            <a:cxnSpLocks/>
            <a:stCxn id="15" idx="4"/>
            <a:endCxn id="11" idx="0"/>
          </p:cNvCxnSpPr>
          <p:nvPr/>
        </p:nvCxnSpPr>
        <p:spPr>
          <a:xfrm flipH="1">
            <a:off x="9420676" y="4406401"/>
            <a:ext cx="1224923" cy="265631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F989EE0-B5AC-4804-8EF0-ED4399E4A04E}"/>
              </a:ext>
            </a:extLst>
          </p:cNvPr>
          <p:cNvSpPr/>
          <p:nvPr/>
        </p:nvSpPr>
        <p:spPr>
          <a:xfrm>
            <a:off x="9608915" y="3791572"/>
            <a:ext cx="2073367" cy="614829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Name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E79C85-F012-4E6D-8FEF-B2CBA796D7E2}"/>
              </a:ext>
            </a:extLst>
          </p:cNvPr>
          <p:cNvSpPr txBox="1"/>
          <p:nvPr/>
        </p:nvSpPr>
        <p:spPr>
          <a:xfrm>
            <a:off x="6217628" y="5047283"/>
            <a:ext cx="1762175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Example</a:t>
            </a:r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75EADCF8-FEEE-465F-AA07-5D5A1A90928D}"/>
              </a:ext>
            </a:extLst>
          </p:cNvPr>
          <p:cNvSpPr/>
          <p:nvPr/>
        </p:nvSpPr>
        <p:spPr>
          <a:xfrm rot="8908250">
            <a:off x="7493867" y="4675800"/>
            <a:ext cx="526590" cy="335096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61F4C7-01F4-40BB-9C49-139033D2EF97}"/>
              </a:ext>
            </a:extLst>
          </p:cNvPr>
          <p:cNvSpPr/>
          <p:nvPr/>
        </p:nvSpPr>
        <p:spPr>
          <a:xfrm>
            <a:off x="3357503" y="5621741"/>
            <a:ext cx="81022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lvl="1" indent="-457200" algn="just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Write down the different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attributes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of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college database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685800" lvl="1" indent="-457200" algn="just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Write down the different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attributes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of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hotel database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7007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E-R Diagram</a:t>
            </a:r>
            <a:b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(Types of Attributes)</a:t>
            </a:r>
            <a:endParaRPr lang="en-US" dirty="0"/>
          </a:p>
        </p:txBody>
      </p:sp>
      <p:graphicFrame>
        <p:nvGraphicFramePr>
          <p:cNvPr id="16" name="Content Placeholder 5">
            <a:extLst>
              <a:ext uri="{FF2B5EF4-FFF2-40B4-BE49-F238E27FC236}">
                <a16:creationId xmlns:a16="http://schemas.microsoft.com/office/drawing/2014/main" id="{FFEE389D-67AE-40FD-9B62-7B0DA81B723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376142843"/>
              </p:ext>
            </p:extLst>
          </p:nvPr>
        </p:nvGraphicFramePr>
        <p:xfrm>
          <a:off x="3505200" y="800659"/>
          <a:ext cx="8224900" cy="473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30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Simple 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Composite Attribute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Content Placeholder 5">
            <a:extLst>
              <a:ext uri="{FF2B5EF4-FFF2-40B4-BE49-F238E27FC236}">
                <a16:creationId xmlns:a16="http://schemas.microsoft.com/office/drawing/2014/main" id="{C248C9C0-FB92-4D10-9A2C-4A624B0468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3925068"/>
              </p:ext>
            </p:extLst>
          </p:nvPr>
        </p:nvGraphicFramePr>
        <p:xfrm>
          <a:off x="3512176" y="1264638"/>
          <a:ext cx="82249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1458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Cannot be divided into sub attributes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Can be divided into sub attributes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Content Placeholder 5">
            <a:extLst>
              <a:ext uri="{FF2B5EF4-FFF2-40B4-BE49-F238E27FC236}">
                <a16:creationId xmlns:a16="http://schemas.microsoft.com/office/drawing/2014/main" id="{FF4830EF-A2BD-46F2-9894-A69C384035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3596703"/>
              </p:ext>
            </p:extLst>
          </p:nvPr>
        </p:nvGraphicFramePr>
        <p:xfrm>
          <a:off x="3504042" y="2112391"/>
          <a:ext cx="82249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0009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E.g. Employee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E.g. Name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</a:p>
                    <a:p>
                      <a:pPr lvl="2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(first name, middle name, last name)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</a:p>
                    <a:p>
                      <a:pPr lvl="1">
                        <a:spcBef>
                          <a:spcPts val="1200"/>
                        </a:spcBef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Address</a:t>
                      </a:r>
                    </a:p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(street, road, city)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Content Placeholder 5">
            <a:extLst>
              <a:ext uri="{FF2B5EF4-FFF2-40B4-BE49-F238E27FC236}">
                <a16:creationId xmlns:a16="http://schemas.microsoft.com/office/drawing/2014/main" id="{7DFFDE3B-0871-4897-956C-773DDE83DA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7947197"/>
              </p:ext>
            </p:extLst>
          </p:nvPr>
        </p:nvGraphicFramePr>
        <p:xfrm>
          <a:off x="3512176" y="3253311"/>
          <a:ext cx="8224900" cy="250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2048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Symbol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Symbol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val 19">
            <a:extLst>
              <a:ext uri="{FF2B5EF4-FFF2-40B4-BE49-F238E27FC236}">
                <a16:creationId xmlns:a16="http://schemas.microsoft.com/office/drawing/2014/main" id="{82124AD7-F10A-47A2-8A6E-26DD98CFCC79}"/>
              </a:ext>
            </a:extLst>
          </p:cNvPr>
          <p:cNvSpPr/>
          <p:nvPr/>
        </p:nvSpPr>
        <p:spPr>
          <a:xfrm>
            <a:off x="8958904" y="3484874"/>
            <a:ext cx="1558402" cy="437803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Name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717CFDB-1ABC-471F-A619-5836E1F8A97A}"/>
              </a:ext>
            </a:extLst>
          </p:cNvPr>
          <p:cNvCxnSpPr>
            <a:cxnSpLocks/>
            <a:stCxn id="27" idx="0"/>
            <a:endCxn id="20" idx="5"/>
          </p:cNvCxnSpPr>
          <p:nvPr/>
        </p:nvCxnSpPr>
        <p:spPr>
          <a:xfrm flipH="1" flipV="1">
            <a:off x="10289083" y="3858562"/>
            <a:ext cx="586739" cy="25001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5299784-7748-428C-BE9A-E2BE0FEBAADD}"/>
              </a:ext>
            </a:extLst>
          </p:cNvPr>
          <p:cNvSpPr/>
          <p:nvPr/>
        </p:nvSpPr>
        <p:spPr>
          <a:xfrm>
            <a:off x="7789610" y="4023342"/>
            <a:ext cx="1644980" cy="437803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First name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3C48EB7-66F5-4BD2-9E77-2AFDDC416864}"/>
              </a:ext>
            </a:extLst>
          </p:cNvPr>
          <p:cNvCxnSpPr>
            <a:cxnSpLocks/>
          </p:cNvCxnSpPr>
          <p:nvPr/>
        </p:nvCxnSpPr>
        <p:spPr>
          <a:xfrm flipV="1">
            <a:off x="9737912" y="3881732"/>
            <a:ext cx="193" cy="9125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9EFB9523-4E0E-442B-8E9E-100229891892}"/>
              </a:ext>
            </a:extLst>
          </p:cNvPr>
          <p:cNvSpPr/>
          <p:nvPr/>
        </p:nvSpPr>
        <p:spPr>
          <a:xfrm>
            <a:off x="10241067" y="4108576"/>
            <a:ext cx="1269509" cy="457991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Last name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99D0D36-D951-450D-9BE7-08007AF0B1D2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8612100" y="3817617"/>
            <a:ext cx="575027" cy="20572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6423D770-A08A-4D62-A7C7-45EFE62707D2}"/>
              </a:ext>
            </a:extLst>
          </p:cNvPr>
          <p:cNvSpPr/>
          <p:nvPr/>
        </p:nvSpPr>
        <p:spPr>
          <a:xfrm>
            <a:off x="3703362" y="3842161"/>
            <a:ext cx="2642653" cy="754581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Employee ID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AF11578-9205-4992-BDDE-E29777E56F79}"/>
              </a:ext>
            </a:extLst>
          </p:cNvPr>
          <p:cNvSpPr/>
          <p:nvPr/>
        </p:nvSpPr>
        <p:spPr>
          <a:xfrm>
            <a:off x="8783510" y="4835177"/>
            <a:ext cx="1908804" cy="437803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Middle name</a:t>
            </a:r>
          </a:p>
        </p:txBody>
      </p:sp>
    </p:spTree>
    <p:extLst>
      <p:ext uri="{BB962C8B-B14F-4D97-AF65-F5344CB8AC3E}">
        <p14:creationId xmlns:p14="http://schemas.microsoft.com/office/powerpoint/2010/main" val="3087019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E-R Diagram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(Types of Attributes)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16" name="Content Placeholder 5">
            <a:extLst>
              <a:ext uri="{FF2B5EF4-FFF2-40B4-BE49-F238E27FC236}">
                <a16:creationId xmlns:a16="http://schemas.microsoft.com/office/drawing/2014/main" id="{FFEE389D-67AE-40FD-9B62-7B0DA81B723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990334354"/>
              </p:ext>
            </p:extLst>
          </p:nvPr>
        </p:nvGraphicFramePr>
        <p:xfrm>
          <a:off x="3505200" y="800659"/>
          <a:ext cx="8224900" cy="473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30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Single-Valued 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Multi-Valued Attribute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Content Placeholder 5">
            <a:extLst>
              <a:ext uri="{FF2B5EF4-FFF2-40B4-BE49-F238E27FC236}">
                <a16:creationId xmlns:a16="http://schemas.microsoft.com/office/drawing/2014/main" id="{C248C9C0-FB92-4D10-9A2C-4A624B0468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2733438"/>
              </p:ext>
            </p:extLst>
          </p:nvPr>
        </p:nvGraphicFramePr>
        <p:xfrm>
          <a:off x="3512176" y="1264638"/>
          <a:ext cx="8224900" cy="591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1458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Can have only 1 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Can have multiple values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Content Placeholder 5">
            <a:extLst>
              <a:ext uri="{FF2B5EF4-FFF2-40B4-BE49-F238E27FC236}">
                <a16:creationId xmlns:a16="http://schemas.microsoft.com/office/drawing/2014/main" id="{FF4830EF-A2BD-46F2-9894-A69C384035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4543501"/>
              </p:ext>
            </p:extLst>
          </p:nvPr>
        </p:nvGraphicFramePr>
        <p:xfrm>
          <a:off x="3504042" y="2112391"/>
          <a:ext cx="82249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0009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E.g. Employee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E.g. Phone Number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</a:p>
                    <a:p>
                      <a:pPr lvl="2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(Can have more than 1 phone numbers)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</a:p>
                    <a:p>
                      <a:pPr lvl="1">
                        <a:spcBef>
                          <a:spcPts val="1200"/>
                        </a:spcBef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Address</a:t>
                      </a:r>
                    </a:p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(street, road, city)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Content Placeholder 5">
            <a:extLst>
              <a:ext uri="{FF2B5EF4-FFF2-40B4-BE49-F238E27FC236}">
                <a16:creationId xmlns:a16="http://schemas.microsoft.com/office/drawing/2014/main" id="{7DFFDE3B-0871-4897-956C-773DDE83DA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0776006"/>
              </p:ext>
            </p:extLst>
          </p:nvPr>
        </p:nvGraphicFramePr>
        <p:xfrm>
          <a:off x="3512176" y="3234519"/>
          <a:ext cx="8224900" cy="252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Symbol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Symbol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Oval 28">
            <a:extLst>
              <a:ext uri="{FF2B5EF4-FFF2-40B4-BE49-F238E27FC236}">
                <a16:creationId xmlns:a16="http://schemas.microsoft.com/office/drawing/2014/main" id="{6423D770-A08A-4D62-A7C7-45EFE62707D2}"/>
              </a:ext>
            </a:extLst>
          </p:cNvPr>
          <p:cNvSpPr/>
          <p:nvPr/>
        </p:nvSpPr>
        <p:spPr>
          <a:xfrm>
            <a:off x="3703362" y="3842161"/>
            <a:ext cx="2642653" cy="754581"/>
          </a:xfrm>
          <a:prstGeom prst="ellips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Employee ID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74A93C9-01E5-46F9-BA12-E9785FB3CD68}"/>
              </a:ext>
            </a:extLst>
          </p:cNvPr>
          <p:cNvGrpSpPr/>
          <p:nvPr/>
        </p:nvGrpSpPr>
        <p:grpSpPr>
          <a:xfrm>
            <a:off x="8079476" y="3922744"/>
            <a:ext cx="3398292" cy="1167871"/>
            <a:chOff x="5938171" y="3429000"/>
            <a:chExt cx="1758029" cy="54489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CEF00AB-5478-48D0-93D2-0A2E759A82D1}"/>
                </a:ext>
              </a:extLst>
            </p:cNvPr>
            <p:cNvSpPr/>
            <p:nvPr/>
          </p:nvSpPr>
          <p:spPr>
            <a:xfrm>
              <a:off x="6039945" y="3489994"/>
              <a:ext cx="1554480" cy="422910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Phone Number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CDAA00F-8C5C-4E20-A891-DD4EC4A315A2}"/>
                </a:ext>
              </a:extLst>
            </p:cNvPr>
            <p:cNvSpPr/>
            <p:nvPr/>
          </p:nvSpPr>
          <p:spPr>
            <a:xfrm>
              <a:off x="5938171" y="3429000"/>
              <a:ext cx="1758029" cy="544899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7399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E-R Diagram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(Types of Attributes)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16" name="Content Placeholder 5">
            <a:extLst>
              <a:ext uri="{FF2B5EF4-FFF2-40B4-BE49-F238E27FC236}">
                <a16:creationId xmlns:a16="http://schemas.microsoft.com/office/drawing/2014/main" id="{FFEE389D-67AE-40FD-9B62-7B0DA81B723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78502136"/>
              </p:ext>
            </p:extLst>
          </p:nvPr>
        </p:nvGraphicFramePr>
        <p:xfrm>
          <a:off x="4711866" y="820482"/>
          <a:ext cx="416484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4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876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Derived Attributes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112FAC8-19B1-4002-B01C-FDF95C2E1635}"/>
              </a:ext>
            </a:extLst>
          </p:cNvPr>
          <p:cNvSpPr/>
          <p:nvPr/>
        </p:nvSpPr>
        <p:spPr>
          <a:xfrm>
            <a:off x="4608812" y="1388239"/>
            <a:ext cx="42678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It’s value is derived or calculated from other attributes.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709B28-7334-4331-9F8B-4EB82331F1A9}"/>
              </a:ext>
            </a:extLst>
          </p:cNvPr>
          <p:cNvSpPr/>
          <p:nvPr/>
        </p:nvSpPr>
        <p:spPr>
          <a:xfrm>
            <a:off x="4608812" y="2588568"/>
            <a:ext cx="426789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For e.g. Age of a person can be easily known from his/her birthdate</a:t>
            </a:r>
          </a:p>
          <a:p>
            <a:pPr algn="just"/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/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Symbol: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E19862-8996-4E16-99C7-9F3ECF978A35}"/>
              </a:ext>
            </a:extLst>
          </p:cNvPr>
          <p:cNvSpPr/>
          <p:nvPr/>
        </p:nvSpPr>
        <p:spPr>
          <a:xfrm>
            <a:off x="4711866" y="4647978"/>
            <a:ext cx="1554480" cy="422910"/>
          </a:xfrm>
          <a:prstGeom prst="ellipse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773676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640406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E-R Diagram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(Attributes Example)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BA00F7-F4EF-4B8C-B2D2-5044962DE895}"/>
              </a:ext>
            </a:extLst>
          </p:cNvPr>
          <p:cNvSpPr/>
          <p:nvPr/>
        </p:nvSpPr>
        <p:spPr>
          <a:xfrm>
            <a:off x="5604501" y="3011420"/>
            <a:ext cx="1698171" cy="7445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Employee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589736A-8AB8-421E-910D-68BBA5784DCE}"/>
              </a:ext>
            </a:extLst>
          </p:cNvPr>
          <p:cNvCxnSpPr/>
          <p:nvPr/>
        </p:nvCxnSpPr>
        <p:spPr>
          <a:xfrm>
            <a:off x="7296674" y="3379355"/>
            <a:ext cx="881753" cy="1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1BEDBB4-8192-4D1C-9A2C-808FFA24C7C5}"/>
              </a:ext>
            </a:extLst>
          </p:cNvPr>
          <p:cNvCxnSpPr>
            <a:stCxn id="50" idx="4"/>
            <a:endCxn id="47" idx="0"/>
          </p:cNvCxnSpPr>
          <p:nvPr/>
        </p:nvCxnSpPr>
        <p:spPr>
          <a:xfrm>
            <a:off x="5490198" y="2575447"/>
            <a:ext cx="963389" cy="435973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84637013-82DE-4B28-AB90-36E4C91926A4}"/>
              </a:ext>
            </a:extLst>
          </p:cNvPr>
          <p:cNvSpPr/>
          <p:nvPr/>
        </p:nvSpPr>
        <p:spPr>
          <a:xfrm>
            <a:off x="4758678" y="2152537"/>
            <a:ext cx="146304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ID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98D9BD7-621D-4171-9E38-DB0FEE6B7FE9}"/>
              </a:ext>
            </a:extLst>
          </p:cNvPr>
          <p:cNvCxnSpPr>
            <a:stCxn id="52" idx="4"/>
            <a:endCxn id="47" idx="0"/>
          </p:cNvCxnSpPr>
          <p:nvPr/>
        </p:nvCxnSpPr>
        <p:spPr>
          <a:xfrm flipH="1">
            <a:off x="6453587" y="2553036"/>
            <a:ext cx="654734" cy="458384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D20CE6A3-4321-44FA-A3CE-A1509B479E54}"/>
              </a:ext>
            </a:extLst>
          </p:cNvPr>
          <p:cNvSpPr/>
          <p:nvPr/>
        </p:nvSpPr>
        <p:spPr>
          <a:xfrm>
            <a:off x="6376801" y="2130126"/>
            <a:ext cx="146304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D5A100E-6C6D-47C5-A7E1-A50904CFEF3F}"/>
              </a:ext>
            </a:extLst>
          </p:cNvPr>
          <p:cNvCxnSpPr>
            <a:stCxn id="47" idx="2"/>
            <a:endCxn id="66" idx="0"/>
          </p:cNvCxnSpPr>
          <p:nvPr/>
        </p:nvCxnSpPr>
        <p:spPr>
          <a:xfrm flipH="1">
            <a:off x="5371731" y="3756003"/>
            <a:ext cx="1081856" cy="343897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8717F7AF-D52E-45A3-97FB-C9EB4BA8F31D}"/>
              </a:ext>
            </a:extLst>
          </p:cNvPr>
          <p:cNvSpPr/>
          <p:nvPr/>
        </p:nvSpPr>
        <p:spPr>
          <a:xfrm>
            <a:off x="4601101" y="4159139"/>
            <a:ext cx="155448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Phone No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0A2BC34-D3C1-422E-9BCC-7BEA4912726C}"/>
              </a:ext>
            </a:extLst>
          </p:cNvPr>
          <p:cNvSpPr/>
          <p:nvPr/>
        </p:nvSpPr>
        <p:spPr>
          <a:xfrm>
            <a:off x="6837711" y="4145647"/>
            <a:ext cx="164592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Birth Date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80013F6-4E3D-4DA2-823B-DA6FEB68E34C}"/>
              </a:ext>
            </a:extLst>
          </p:cNvPr>
          <p:cNvCxnSpPr>
            <a:stCxn id="47" idx="2"/>
            <a:endCxn id="55" idx="0"/>
          </p:cNvCxnSpPr>
          <p:nvPr/>
        </p:nvCxnSpPr>
        <p:spPr>
          <a:xfrm>
            <a:off x="6453587" y="3756003"/>
            <a:ext cx="1207084" cy="389644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A93E8BA-DF28-4B47-BA09-BE6922F6F057}"/>
              </a:ext>
            </a:extLst>
          </p:cNvPr>
          <p:cNvCxnSpPr>
            <a:stCxn id="58" idx="4"/>
            <a:endCxn id="52" idx="1"/>
          </p:cNvCxnSpPr>
          <p:nvPr/>
        </p:nvCxnSpPr>
        <p:spPr>
          <a:xfrm>
            <a:off x="5618107" y="1707216"/>
            <a:ext cx="972951" cy="484844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F5E6BD4D-231D-4A43-9A27-63265C364731}"/>
              </a:ext>
            </a:extLst>
          </p:cNvPr>
          <p:cNvSpPr/>
          <p:nvPr/>
        </p:nvSpPr>
        <p:spPr>
          <a:xfrm>
            <a:off x="4749427" y="1284306"/>
            <a:ext cx="173736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First Name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BB2FD36-246B-433E-8DF2-93937641EE28}"/>
              </a:ext>
            </a:extLst>
          </p:cNvPr>
          <p:cNvCxnSpPr>
            <a:stCxn id="60" idx="4"/>
            <a:endCxn id="52" idx="7"/>
          </p:cNvCxnSpPr>
          <p:nvPr/>
        </p:nvCxnSpPr>
        <p:spPr>
          <a:xfrm flipH="1">
            <a:off x="7625584" y="1746218"/>
            <a:ext cx="1037217" cy="445842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61FFFC72-3771-4ED9-892F-D9EE2F7DB289}"/>
              </a:ext>
            </a:extLst>
          </p:cNvPr>
          <p:cNvSpPr/>
          <p:nvPr/>
        </p:nvSpPr>
        <p:spPr>
          <a:xfrm>
            <a:off x="7839841" y="1303807"/>
            <a:ext cx="1645920" cy="442411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Last Name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FB50584-FB19-4224-95EA-3DD4AC680BB9}"/>
              </a:ext>
            </a:extLst>
          </p:cNvPr>
          <p:cNvCxnSpPr>
            <a:stCxn id="62" idx="4"/>
            <a:endCxn id="52" idx="0"/>
          </p:cNvCxnSpPr>
          <p:nvPr/>
        </p:nvCxnSpPr>
        <p:spPr>
          <a:xfrm>
            <a:off x="7106547" y="1443877"/>
            <a:ext cx="1774" cy="686249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28F386CA-FCC9-47F0-85FE-1B6DA9A3CA4F}"/>
              </a:ext>
            </a:extLst>
          </p:cNvPr>
          <p:cNvSpPr/>
          <p:nvPr/>
        </p:nvSpPr>
        <p:spPr>
          <a:xfrm>
            <a:off x="6375027" y="803797"/>
            <a:ext cx="1463040" cy="6400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Middle Name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EB71CFE-0E67-4B79-9EBA-6B50F67502D8}"/>
              </a:ext>
            </a:extLst>
          </p:cNvPr>
          <p:cNvSpPr/>
          <p:nvPr/>
        </p:nvSpPr>
        <p:spPr>
          <a:xfrm>
            <a:off x="8178427" y="3167900"/>
            <a:ext cx="164592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Address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BD68BA4-9640-475B-8F13-0FEC2835A540}"/>
              </a:ext>
            </a:extLst>
          </p:cNvPr>
          <p:cNvCxnSpPr/>
          <p:nvPr/>
        </p:nvCxnSpPr>
        <p:spPr>
          <a:xfrm>
            <a:off x="4710048" y="3386342"/>
            <a:ext cx="881753" cy="1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2EAC3F80-1DBA-4495-8B6B-637A7B087A1E}"/>
              </a:ext>
            </a:extLst>
          </p:cNvPr>
          <p:cNvSpPr/>
          <p:nvPr/>
        </p:nvSpPr>
        <p:spPr>
          <a:xfrm>
            <a:off x="3048000" y="3174887"/>
            <a:ext cx="1645920" cy="422910"/>
          </a:xfrm>
          <a:prstGeom prst="ellipse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F7CEFFE-4A1A-48A8-A6DC-8E50C71D765E}"/>
              </a:ext>
            </a:extLst>
          </p:cNvPr>
          <p:cNvSpPr/>
          <p:nvPr/>
        </p:nvSpPr>
        <p:spPr>
          <a:xfrm>
            <a:off x="4492716" y="4099900"/>
            <a:ext cx="1758029" cy="544899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AD2A29C-7550-491D-BCA6-48F242B5B68E}"/>
              </a:ext>
            </a:extLst>
          </p:cNvPr>
          <p:cNvCxnSpPr>
            <a:endCxn id="63" idx="7"/>
          </p:cNvCxnSpPr>
          <p:nvPr/>
        </p:nvCxnSpPr>
        <p:spPr>
          <a:xfrm flipH="1">
            <a:off x="9583308" y="2572560"/>
            <a:ext cx="700242" cy="657274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CF6B2CAB-E9AF-45CE-ACE0-AFC2C495A346}"/>
              </a:ext>
            </a:extLst>
          </p:cNvPr>
          <p:cNvSpPr/>
          <p:nvPr/>
        </p:nvSpPr>
        <p:spPr>
          <a:xfrm>
            <a:off x="9737463" y="2172883"/>
            <a:ext cx="1737360" cy="42291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Apartment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966F98B-0210-48C1-A617-8969612FDC1E}"/>
              </a:ext>
            </a:extLst>
          </p:cNvPr>
          <p:cNvCxnSpPr>
            <a:stCxn id="70" idx="0"/>
            <a:endCxn id="63" idx="5"/>
          </p:cNvCxnSpPr>
          <p:nvPr/>
        </p:nvCxnSpPr>
        <p:spPr>
          <a:xfrm flipH="1" flipV="1">
            <a:off x="9583308" y="3528876"/>
            <a:ext cx="1022835" cy="633709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EC1DCC28-BB92-4F2B-B6CA-56936485F88C}"/>
              </a:ext>
            </a:extLst>
          </p:cNvPr>
          <p:cNvSpPr/>
          <p:nvPr/>
        </p:nvSpPr>
        <p:spPr>
          <a:xfrm>
            <a:off x="9783183" y="4162585"/>
            <a:ext cx="1645920" cy="442411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Area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29F1D35-38DA-4381-815C-EFC0D8D56CB4}"/>
              </a:ext>
            </a:extLst>
          </p:cNvPr>
          <p:cNvCxnSpPr>
            <a:stCxn id="72" idx="2"/>
            <a:endCxn id="63" idx="6"/>
          </p:cNvCxnSpPr>
          <p:nvPr/>
        </p:nvCxnSpPr>
        <p:spPr>
          <a:xfrm flipH="1">
            <a:off x="9824347" y="3369402"/>
            <a:ext cx="295013" cy="9953"/>
          </a:xfrm>
          <a:prstGeom prst="lin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AC7FF5A8-3523-446C-8E81-0A2311A99277}"/>
              </a:ext>
            </a:extLst>
          </p:cNvPr>
          <p:cNvSpPr/>
          <p:nvPr/>
        </p:nvSpPr>
        <p:spPr>
          <a:xfrm>
            <a:off x="10119360" y="3049362"/>
            <a:ext cx="1463040" cy="640080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Street</a:t>
            </a:r>
          </a:p>
        </p:txBody>
      </p:sp>
      <p:sp>
        <p:nvSpPr>
          <p:cNvPr id="73" name="Rounded Rectangular Callout 4">
            <a:extLst>
              <a:ext uri="{FF2B5EF4-FFF2-40B4-BE49-F238E27FC236}">
                <a16:creationId xmlns:a16="http://schemas.microsoft.com/office/drawing/2014/main" id="{0FBC5C23-4F72-4135-B163-1D7AA5D0C295}"/>
              </a:ext>
            </a:extLst>
          </p:cNvPr>
          <p:cNvSpPr/>
          <p:nvPr/>
        </p:nvSpPr>
        <p:spPr>
          <a:xfrm>
            <a:off x="8238852" y="2562654"/>
            <a:ext cx="1307334" cy="457200"/>
          </a:xfrm>
          <a:prstGeom prst="wedgeRoundRectCallout">
            <a:avLst>
              <a:gd name="adj1" fmla="val -20833"/>
              <a:gd name="adj2" fmla="val 84375"/>
              <a:gd name="adj3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Composite</a:t>
            </a:r>
          </a:p>
        </p:txBody>
      </p:sp>
      <p:sp>
        <p:nvSpPr>
          <p:cNvPr id="74" name="Rounded Rectangular Callout 31">
            <a:extLst>
              <a:ext uri="{FF2B5EF4-FFF2-40B4-BE49-F238E27FC236}">
                <a16:creationId xmlns:a16="http://schemas.microsoft.com/office/drawing/2014/main" id="{4F862D2E-7A56-49E9-9AE5-9AA08FCC017D}"/>
              </a:ext>
            </a:extLst>
          </p:cNvPr>
          <p:cNvSpPr/>
          <p:nvPr/>
        </p:nvSpPr>
        <p:spPr>
          <a:xfrm>
            <a:off x="3426578" y="1698047"/>
            <a:ext cx="1307334" cy="457200"/>
          </a:xfrm>
          <a:prstGeom prst="wedgeRoundRectCallout">
            <a:avLst>
              <a:gd name="adj1" fmla="val 52389"/>
              <a:gd name="adj2" fmla="val 81250"/>
              <a:gd name="adj3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Simple</a:t>
            </a:r>
          </a:p>
        </p:txBody>
      </p:sp>
      <p:sp>
        <p:nvSpPr>
          <p:cNvPr id="75" name="Rounded Rectangular Callout 32">
            <a:extLst>
              <a:ext uri="{FF2B5EF4-FFF2-40B4-BE49-F238E27FC236}">
                <a16:creationId xmlns:a16="http://schemas.microsoft.com/office/drawing/2014/main" id="{D21E972E-6B7C-4115-B91C-A3AAF7748499}"/>
              </a:ext>
            </a:extLst>
          </p:cNvPr>
          <p:cNvSpPr/>
          <p:nvPr/>
        </p:nvSpPr>
        <p:spPr>
          <a:xfrm>
            <a:off x="7993996" y="2069187"/>
            <a:ext cx="1307334" cy="457200"/>
          </a:xfrm>
          <a:prstGeom prst="wedgeRoundRectCallout">
            <a:avLst>
              <a:gd name="adj1" fmla="val -65641"/>
              <a:gd name="adj2" fmla="val 28125"/>
              <a:gd name="adj3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Composite</a:t>
            </a:r>
          </a:p>
        </p:txBody>
      </p:sp>
      <p:sp>
        <p:nvSpPr>
          <p:cNvPr id="76" name="Rounded Rectangular Callout 33">
            <a:extLst>
              <a:ext uri="{FF2B5EF4-FFF2-40B4-BE49-F238E27FC236}">
                <a16:creationId xmlns:a16="http://schemas.microsoft.com/office/drawing/2014/main" id="{962D18A6-DD29-4F4F-98DD-2CEEC5FB86E6}"/>
              </a:ext>
            </a:extLst>
          </p:cNvPr>
          <p:cNvSpPr/>
          <p:nvPr/>
        </p:nvSpPr>
        <p:spPr>
          <a:xfrm>
            <a:off x="3428686" y="1702450"/>
            <a:ext cx="1307334" cy="640080"/>
          </a:xfrm>
          <a:prstGeom prst="wedgeRoundRectCallout">
            <a:avLst>
              <a:gd name="adj1" fmla="val 52389"/>
              <a:gd name="adj2" fmla="val 81250"/>
              <a:gd name="adj3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Single Value</a:t>
            </a:r>
          </a:p>
        </p:txBody>
      </p:sp>
      <p:sp>
        <p:nvSpPr>
          <p:cNvPr id="77" name="Rounded Rectangular Callout 36">
            <a:extLst>
              <a:ext uri="{FF2B5EF4-FFF2-40B4-BE49-F238E27FC236}">
                <a16:creationId xmlns:a16="http://schemas.microsoft.com/office/drawing/2014/main" id="{52F01684-BF26-42B9-B552-DB8F4A029CF3}"/>
              </a:ext>
            </a:extLst>
          </p:cNvPr>
          <p:cNvSpPr/>
          <p:nvPr/>
        </p:nvSpPr>
        <p:spPr>
          <a:xfrm>
            <a:off x="3134548" y="3709696"/>
            <a:ext cx="1307334" cy="640080"/>
          </a:xfrm>
          <a:prstGeom prst="wedgeRoundRectCallout">
            <a:avLst>
              <a:gd name="adj1" fmla="val 62103"/>
              <a:gd name="adj2" fmla="val 71329"/>
              <a:gd name="adj3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Multiple Value</a:t>
            </a:r>
          </a:p>
        </p:txBody>
      </p:sp>
      <p:sp>
        <p:nvSpPr>
          <p:cNvPr id="79" name="Rounded Rectangular Callout 42">
            <a:extLst>
              <a:ext uri="{FF2B5EF4-FFF2-40B4-BE49-F238E27FC236}">
                <a16:creationId xmlns:a16="http://schemas.microsoft.com/office/drawing/2014/main" id="{7E90FFD3-1FD0-4D8E-9308-92AA9A66A7A9}"/>
              </a:ext>
            </a:extLst>
          </p:cNvPr>
          <p:cNvSpPr/>
          <p:nvPr/>
        </p:nvSpPr>
        <p:spPr>
          <a:xfrm>
            <a:off x="3156200" y="2550582"/>
            <a:ext cx="1307334" cy="457200"/>
          </a:xfrm>
          <a:prstGeom prst="wedgeRoundRectCallout">
            <a:avLst>
              <a:gd name="adj1" fmla="val -23869"/>
              <a:gd name="adj2" fmla="val 92014"/>
              <a:gd name="adj3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Derived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E2502F3-1B7E-4089-8402-624425E0D3A4}"/>
              </a:ext>
            </a:extLst>
          </p:cNvPr>
          <p:cNvSpPr/>
          <p:nvPr/>
        </p:nvSpPr>
        <p:spPr>
          <a:xfrm>
            <a:off x="2306472" y="5580272"/>
            <a:ext cx="96326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lvl="1" indent="-457200" algn="just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Create E-R Diagram for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college database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 Use all types of Attributes</a:t>
            </a:r>
          </a:p>
          <a:p>
            <a:pPr marL="685800" lvl="1" indent="-457200" algn="just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Create E-R Diagram for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hotel database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 Use all types of Attributes</a:t>
            </a:r>
          </a:p>
        </p:txBody>
      </p:sp>
    </p:spTree>
    <p:extLst>
      <p:ext uri="{BB962C8B-B14F-4D97-AF65-F5344CB8AC3E}">
        <p14:creationId xmlns:p14="http://schemas.microsoft.com/office/powerpoint/2010/main" val="346577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0" grpId="0" animBg="1"/>
      <p:bldP spid="52" grpId="0" animBg="1"/>
      <p:bldP spid="54" grpId="0" animBg="1"/>
      <p:bldP spid="55" grpId="0" animBg="1"/>
      <p:bldP spid="58" grpId="0" animBg="1"/>
      <p:bldP spid="60" grpId="0" animBg="1"/>
      <p:bldP spid="62" grpId="0" animBg="1"/>
      <p:bldP spid="63" grpId="0" animBg="1"/>
      <p:bldP spid="65" grpId="0" animBg="1"/>
      <p:bldP spid="66" grpId="0" animBg="1"/>
      <p:bldP spid="68" grpId="0" animBg="1"/>
      <p:bldP spid="70" grpId="0" animBg="1"/>
      <p:bldP spid="72" grpId="0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9" grpId="0" animBg="1"/>
      <p:bldP spid="79" grpId="1" animBg="1"/>
      <p:bldP spid="8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E-R Diagram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(Relationship Set)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B3321E-F727-4AEB-9FCA-2CA0EB0DC870}"/>
              </a:ext>
            </a:extLst>
          </p:cNvPr>
          <p:cNvSpPr/>
          <p:nvPr/>
        </p:nvSpPr>
        <p:spPr>
          <a:xfrm>
            <a:off x="3580262" y="736684"/>
            <a:ext cx="8102221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Relationship is link</a:t>
            </a:r>
            <a:r>
              <a:rPr lang="en-US" sz="26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between several entities.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It must be placed between two entities and a line linking it to an entity.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A relationship is represented by a </a:t>
            </a:r>
            <a:r>
              <a:rPr lang="en-US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diamond</a:t>
            </a:r>
            <a:r>
              <a:rPr lang="en-US" sz="26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containing relationship details.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A Relationship between 2 Entities is called </a:t>
            </a:r>
            <a:r>
              <a:rPr lang="en-US" sz="2600" b="1" u="sng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Binary Relationship</a:t>
            </a: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 and A Relationship between 3 Entities is called </a:t>
            </a:r>
            <a:r>
              <a:rPr lang="en-US" sz="2600" b="1" u="sng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Ternary Relationship.</a:t>
            </a:r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F961EA-C4FD-4F8B-AF39-8D9E10AC7AC6}"/>
              </a:ext>
            </a:extLst>
          </p:cNvPr>
          <p:cNvSpPr txBox="1"/>
          <p:nvPr/>
        </p:nvSpPr>
        <p:spPr>
          <a:xfrm>
            <a:off x="4682716" y="5710533"/>
            <a:ext cx="98072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Symbol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A571269B-9CB0-44C9-93F9-6574818CB0A1}"/>
              </a:ext>
            </a:extLst>
          </p:cNvPr>
          <p:cNvSpPr/>
          <p:nvPr/>
        </p:nvSpPr>
        <p:spPr>
          <a:xfrm rot="5400000">
            <a:off x="4966809" y="5374894"/>
            <a:ext cx="412535" cy="245124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9F4AD8A2-2C42-4772-87B9-6933B2BB5C43}"/>
              </a:ext>
            </a:extLst>
          </p:cNvPr>
          <p:cNvSpPr/>
          <p:nvPr/>
        </p:nvSpPr>
        <p:spPr>
          <a:xfrm>
            <a:off x="3638272" y="4240777"/>
            <a:ext cx="3103172" cy="892630"/>
          </a:xfrm>
          <a:prstGeom prst="diamond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Relationship Detail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8DFF64-2457-4E5E-92DB-41A3D29C25E9}"/>
              </a:ext>
            </a:extLst>
          </p:cNvPr>
          <p:cNvSpPr/>
          <p:nvPr/>
        </p:nvSpPr>
        <p:spPr>
          <a:xfrm>
            <a:off x="9857422" y="4314801"/>
            <a:ext cx="1698171" cy="744583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Student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3A346A-5C54-4048-A34D-62E1AB10F23B}"/>
              </a:ext>
            </a:extLst>
          </p:cNvPr>
          <p:cNvSpPr/>
          <p:nvPr/>
        </p:nvSpPr>
        <p:spPr>
          <a:xfrm>
            <a:off x="7829268" y="5983918"/>
            <a:ext cx="1698171" cy="744583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Book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034C523F-9EE1-4FC3-A7C2-DCF458366B2B}"/>
              </a:ext>
            </a:extLst>
          </p:cNvPr>
          <p:cNvSpPr/>
          <p:nvPr/>
        </p:nvSpPr>
        <p:spPr>
          <a:xfrm>
            <a:off x="9895876" y="5835871"/>
            <a:ext cx="1724298" cy="892630"/>
          </a:xfrm>
          <a:prstGeom prst="diamond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Issue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8E0D52-6BF2-4FD3-BC31-A2F0E6BF3CE0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9527439" y="6282185"/>
            <a:ext cx="368437" cy="1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0E576C-8894-4783-AA4A-B608C1777AB7}"/>
              </a:ext>
            </a:extLst>
          </p:cNvPr>
          <p:cNvCxnSpPr>
            <a:cxnSpLocks/>
          </p:cNvCxnSpPr>
          <p:nvPr/>
        </p:nvCxnSpPr>
        <p:spPr>
          <a:xfrm>
            <a:off x="10758025" y="5059384"/>
            <a:ext cx="0" cy="776487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B2AC69E-311C-45CE-9D97-319D080608D0}"/>
              </a:ext>
            </a:extLst>
          </p:cNvPr>
          <p:cNvSpPr txBox="1"/>
          <p:nvPr/>
        </p:nvSpPr>
        <p:spPr>
          <a:xfrm>
            <a:off x="7260966" y="4240777"/>
            <a:ext cx="1762175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Example</a:t>
            </a:r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D68976A7-A6D6-48AE-9931-7542AC7BFFA0}"/>
              </a:ext>
            </a:extLst>
          </p:cNvPr>
          <p:cNvSpPr/>
          <p:nvPr/>
        </p:nvSpPr>
        <p:spPr>
          <a:xfrm rot="13216920">
            <a:off x="8447803" y="4735039"/>
            <a:ext cx="526590" cy="335096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41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Mapping Cardinality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EEECDB-442F-4E7A-BC07-2821E555543E}"/>
              </a:ext>
            </a:extLst>
          </p:cNvPr>
          <p:cNvSpPr/>
          <p:nvPr/>
        </p:nvSpPr>
        <p:spPr>
          <a:xfrm>
            <a:off x="3621206" y="703324"/>
            <a:ext cx="802033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It defined number of entities of one entity set connected to number of entities of another entity set</a:t>
            </a:r>
            <a:r>
              <a:rPr lang="en-US" sz="26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using a relationship set.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Mapping cardinalities are most useful in describing binary relationship sets.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The mapping cardinality are of following types: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One to One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One to Many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Many to One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Many to Many</a:t>
            </a:r>
          </a:p>
        </p:txBody>
      </p:sp>
    </p:spTree>
    <p:extLst>
      <p:ext uri="{BB962C8B-B14F-4D97-AF65-F5344CB8AC3E}">
        <p14:creationId xmlns:p14="http://schemas.microsoft.com/office/powerpoint/2010/main" val="1171293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Mapping Cardinality (One to One)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9F243D-FE55-407C-9DAF-93E1A40E7EAC}"/>
              </a:ext>
            </a:extLst>
          </p:cNvPr>
          <p:cNvSpPr/>
          <p:nvPr/>
        </p:nvSpPr>
        <p:spPr>
          <a:xfrm>
            <a:off x="3757683" y="649238"/>
            <a:ext cx="787021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An entity in entity set </a:t>
            </a:r>
            <a:r>
              <a:rPr lang="en-US" altLang="en-US" sz="2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is associated with at most one entity in entity set </a:t>
            </a:r>
            <a:r>
              <a:rPr lang="en-US" altLang="en-US" sz="2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and an entity in entity set </a:t>
            </a:r>
            <a:r>
              <a:rPr lang="en-US" altLang="en-US" sz="2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is associated with at most one entity in entity set </a:t>
            </a:r>
            <a:r>
              <a:rPr lang="en-US" altLang="en-US" sz="2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Content Placeholder 6" descr="oneone.gif">
            <a:extLst>
              <a:ext uri="{FF2B5EF4-FFF2-40B4-BE49-F238E27FC236}">
                <a16:creationId xmlns:a16="http://schemas.microsoft.com/office/drawing/2014/main" id="{DC839235-0445-4EFE-B655-A337B5811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39973" y="1824580"/>
            <a:ext cx="4043718" cy="22868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78CB59-2795-4457-86AC-3C0B85E175F1}"/>
              </a:ext>
            </a:extLst>
          </p:cNvPr>
          <p:cNvSpPr txBox="1"/>
          <p:nvPr/>
        </p:nvSpPr>
        <p:spPr>
          <a:xfrm>
            <a:off x="3817259" y="3998947"/>
            <a:ext cx="928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Set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80C1FB-FEA8-4415-B3E5-0A204E10D295}"/>
              </a:ext>
            </a:extLst>
          </p:cNvPr>
          <p:cNvSpPr txBox="1"/>
          <p:nvPr/>
        </p:nvSpPr>
        <p:spPr>
          <a:xfrm>
            <a:off x="6592591" y="3965791"/>
            <a:ext cx="928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Set 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E9E783-2216-4B81-A94B-F719578FAF40}"/>
              </a:ext>
            </a:extLst>
          </p:cNvPr>
          <p:cNvSpPr/>
          <p:nvPr/>
        </p:nvSpPr>
        <p:spPr>
          <a:xfrm>
            <a:off x="3602878" y="5327035"/>
            <a:ext cx="1295400" cy="4572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8A3D08-CAC3-43DD-A606-6B862A4A39A0}"/>
              </a:ext>
            </a:extLst>
          </p:cNvPr>
          <p:cNvSpPr/>
          <p:nvPr/>
        </p:nvSpPr>
        <p:spPr>
          <a:xfrm>
            <a:off x="7641478" y="5327035"/>
            <a:ext cx="685800" cy="4572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loan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010122E3-5C9D-408E-B801-8B9B508B812D}"/>
              </a:ext>
            </a:extLst>
          </p:cNvPr>
          <p:cNvSpPr/>
          <p:nvPr/>
        </p:nvSpPr>
        <p:spPr>
          <a:xfrm>
            <a:off x="5283289" y="5250835"/>
            <a:ext cx="1977189" cy="609600"/>
          </a:xfrm>
          <a:prstGeom prst="diamond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borrow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62A9D6-E352-4B54-BC46-9C827E716134}"/>
              </a:ext>
            </a:extLst>
          </p:cNvPr>
          <p:cNvCxnSpPr/>
          <p:nvPr/>
        </p:nvCxnSpPr>
        <p:spPr>
          <a:xfrm flipH="1">
            <a:off x="4898278" y="5555635"/>
            <a:ext cx="384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2769D9-C99E-4C65-8439-42A05C83C151}"/>
              </a:ext>
            </a:extLst>
          </p:cNvPr>
          <p:cNvCxnSpPr/>
          <p:nvPr/>
        </p:nvCxnSpPr>
        <p:spPr>
          <a:xfrm>
            <a:off x="7260478" y="5555635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F5B230A-3F55-4A89-9B8B-373624DF3ACC}"/>
              </a:ext>
            </a:extLst>
          </p:cNvPr>
          <p:cNvSpPr txBox="1"/>
          <p:nvPr/>
        </p:nvSpPr>
        <p:spPr>
          <a:xfrm>
            <a:off x="3572040" y="4565149"/>
            <a:ext cx="1173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e.g.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1EDFFB-3435-418B-8228-9B2625D71A5C}"/>
              </a:ext>
            </a:extLst>
          </p:cNvPr>
          <p:cNvSpPr/>
          <p:nvPr/>
        </p:nvSpPr>
        <p:spPr>
          <a:xfrm>
            <a:off x="8584442" y="4493806"/>
            <a:ext cx="319357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One Customer is connected with only one Loan  and One Loan is connected to only One Customer using Borrow Relationship Set.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747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Mapping Cardinality (One to Many)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02D722-55E2-49FF-8D7B-E61C31EDD5B1}"/>
              </a:ext>
            </a:extLst>
          </p:cNvPr>
          <p:cNvSpPr/>
          <p:nvPr/>
        </p:nvSpPr>
        <p:spPr>
          <a:xfrm>
            <a:off x="3539319" y="675820"/>
            <a:ext cx="8129516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An entity in entity set A is associated with any number (more than 1) of entities in entity set  B. An entity in entity set B is associated with at only one entity in entity set A.</a:t>
            </a:r>
          </a:p>
        </p:txBody>
      </p:sp>
      <p:pic>
        <p:nvPicPr>
          <p:cNvPr id="5" name="Content Placeholder 4" descr="onem.gif">
            <a:extLst>
              <a:ext uri="{FF2B5EF4-FFF2-40B4-BE49-F238E27FC236}">
                <a16:creationId xmlns:a16="http://schemas.microsoft.com/office/drawing/2014/main" id="{1647CC99-0AA8-44E0-9040-162DDAD5B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39319" y="2368591"/>
            <a:ext cx="4062484" cy="19986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181E38-E64A-4F96-A881-38B9AF724964}"/>
              </a:ext>
            </a:extLst>
          </p:cNvPr>
          <p:cNvSpPr txBox="1"/>
          <p:nvPr/>
        </p:nvSpPr>
        <p:spPr>
          <a:xfrm>
            <a:off x="3784538" y="4400440"/>
            <a:ext cx="928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Set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479ED-1F91-493B-8378-E999A177611C}"/>
              </a:ext>
            </a:extLst>
          </p:cNvPr>
          <p:cNvSpPr txBox="1"/>
          <p:nvPr/>
        </p:nvSpPr>
        <p:spPr>
          <a:xfrm>
            <a:off x="6559870" y="4367284"/>
            <a:ext cx="928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Set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4E961F-1FFE-44A9-B5E9-B9A6CD13996A}"/>
              </a:ext>
            </a:extLst>
          </p:cNvPr>
          <p:cNvSpPr txBox="1"/>
          <p:nvPr/>
        </p:nvSpPr>
        <p:spPr>
          <a:xfrm>
            <a:off x="3539319" y="4966642"/>
            <a:ext cx="1173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e.g.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5E8CF5-0718-4367-9A42-D78F077363EC}"/>
              </a:ext>
            </a:extLst>
          </p:cNvPr>
          <p:cNvSpPr/>
          <p:nvPr/>
        </p:nvSpPr>
        <p:spPr>
          <a:xfrm>
            <a:off x="3650777" y="5724980"/>
            <a:ext cx="1295400" cy="4572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16343F-C426-4A3C-AFDC-06598CC2D498}"/>
              </a:ext>
            </a:extLst>
          </p:cNvPr>
          <p:cNvSpPr/>
          <p:nvPr/>
        </p:nvSpPr>
        <p:spPr>
          <a:xfrm>
            <a:off x="7689377" y="5724980"/>
            <a:ext cx="685800" cy="4572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loan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9EF86BAE-95CF-45FB-BE4A-7F11B6747F1D}"/>
              </a:ext>
            </a:extLst>
          </p:cNvPr>
          <p:cNvSpPr/>
          <p:nvPr/>
        </p:nvSpPr>
        <p:spPr>
          <a:xfrm>
            <a:off x="5331188" y="5648780"/>
            <a:ext cx="1977189" cy="609600"/>
          </a:xfrm>
          <a:prstGeom prst="diamond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borrow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ECAD41-6B73-467A-BCCC-BAA5D8898AEA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308377" y="5953580"/>
            <a:ext cx="381000" cy="0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FD6F0B-DDEC-450D-A1F7-E683F2C772EE}"/>
              </a:ext>
            </a:extLst>
          </p:cNvPr>
          <p:cNvCxnSpPr/>
          <p:nvPr/>
        </p:nvCxnSpPr>
        <p:spPr>
          <a:xfrm flipH="1">
            <a:off x="4946177" y="5953580"/>
            <a:ext cx="384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EFD045E-7E1C-4747-AD7E-071325B9E08B}"/>
              </a:ext>
            </a:extLst>
          </p:cNvPr>
          <p:cNvSpPr/>
          <p:nvPr/>
        </p:nvSpPr>
        <p:spPr>
          <a:xfrm>
            <a:off x="8475259" y="4598116"/>
            <a:ext cx="319357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One Customer is connected with more than one Loan; but, One Loan is connected to only One Customer using Borrow Relationship Set.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8716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Mapping Cardinality (Many to One)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12BB98-7BE2-46D5-9F7A-4D0A40E0A2E8}"/>
              </a:ext>
            </a:extLst>
          </p:cNvPr>
          <p:cNvSpPr/>
          <p:nvPr/>
        </p:nvSpPr>
        <p:spPr>
          <a:xfrm>
            <a:off x="3539319" y="675820"/>
            <a:ext cx="812951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An entity in entity set A is associated with only one entity in entity set B. An entity in entity set B is associated with more than one entities in entity set A.</a:t>
            </a:r>
          </a:p>
        </p:txBody>
      </p:sp>
      <p:pic>
        <p:nvPicPr>
          <p:cNvPr id="7" name="Content Placeholder 4" descr="mone.gif">
            <a:extLst>
              <a:ext uri="{FF2B5EF4-FFF2-40B4-BE49-F238E27FC236}">
                <a16:creationId xmlns:a16="http://schemas.microsoft.com/office/drawing/2014/main" id="{A1BACDE2-5267-4FCC-A461-2D516217F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39320" y="1968483"/>
            <a:ext cx="4048836" cy="2303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D1EF11-D2F9-485F-B192-8CC98A17CD88}"/>
              </a:ext>
            </a:extLst>
          </p:cNvPr>
          <p:cNvSpPr txBox="1"/>
          <p:nvPr/>
        </p:nvSpPr>
        <p:spPr>
          <a:xfrm>
            <a:off x="3784538" y="4400440"/>
            <a:ext cx="928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Set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E896B7-F99F-411F-9529-103D90F5FB21}"/>
              </a:ext>
            </a:extLst>
          </p:cNvPr>
          <p:cNvSpPr txBox="1"/>
          <p:nvPr/>
        </p:nvSpPr>
        <p:spPr>
          <a:xfrm>
            <a:off x="6559870" y="4367284"/>
            <a:ext cx="928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Set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C5531B-EC6F-4A9F-840A-2C1B5CAB9DBD}"/>
              </a:ext>
            </a:extLst>
          </p:cNvPr>
          <p:cNvSpPr txBox="1"/>
          <p:nvPr/>
        </p:nvSpPr>
        <p:spPr>
          <a:xfrm>
            <a:off x="3539319" y="4966642"/>
            <a:ext cx="1173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e.g.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2C02F3-04BB-4F14-BB4F-FEC40CE6885C}"/>
              </a:ext>
            </a:extLst>
          </p:cNvPr>
          <p:cNvSpPr/>
          <p:nvPr/>
        </p:nvSpPr>
        <p:spPr>
          <a:xfrm>
            <a:off x="3539319" y="5556998"/>
            <a:ext cx="1295400" cy="4572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BFE914-B909-4EBD-962E-48CBE6A87D7D}"/>
              </a:ext>
            </a:extLst>
          </p:cNvPr>
          <p:cNvSpPr/>
          <p:nvPr/>
        </p:nvSpPr>
        <p:spPr>
          <a:xfrm>
            <a:off x="7577919" y="5556998"/>
            <a:ext cx="685800" cy="4572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loan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CC21BF76-A836-4DBB-941E-80D19378E326}"/>
              </a:ext>
            </a:extLst>
          </p:cNvPr>
          <p:cNvSpPr/>
          <p:nvPr/>
        </p:nvSpPr>
        <p:spPr>
          <a:xfrm>
            <a:off x="5219730" y="5480798"/>
            <a:ext cx="1977189" cy="609600"/>
          </a:xfrm>
          <a:prstGeom prst="diamond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borrow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FA8F83-4180-49C3-8B7B-758BF839726A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>
            <a:off x="4834719" y="5785598"/>
            <a:ext cx="385011" cy="0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A2619C-6C99-4284-804A-11403F4C30C4}"/>
              </a:ext>
            </a:extLst>
          </p:cNvPr>
          <p:cNvCxnSpPr/>
          <p:nvPr/>
        </p:nvCxnSpPr>
        <p:spPr>
          <a:xfrm>
            <a:off x="7196919" y="5785598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165A686-DBD0-4EF7-B305-CF413D5ECFB9}"/>
              </a:ext>
            </a:extLst>
          </p:cNvPr>
          <p:cNvSpPr/>
          <p:nvPr/>
        </p:nvSpPr>
        <p:spPr>
          <a:xfrm>
            <a:off x="8475259" y="4598116"/>
            <a:ext cx="319357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One Loan is connected to more than one Customers; but, One Customer is connected with only one Loan using Borrow Relationship Set.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126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3773" y="1123837"/>
            <a:ext cx="3179928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Mapping Cardinality (Many to Many)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5CC089-5423-42DD-BA9C-8845CF9FF567}"/>
              </a:ext>
            </a:extLst>
          </p:cNvPr>
          <p:cNvSpPr/>
          <p:nvPr/>
        </p:nvSpPr>
        <p:spPr>
          <a:xfrm>
            <a:off x="3539319" y="675820"/>
            <a:ext cx="8129516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More than one entities in entity set A is associated with more than one entities in entity set B. More than one entities in entity set B is associated with more than one entities in entity set A.</a:t>
            </a:r>
          </a:p>
        </p:txBody>
      </p:sp>
      <p:pic>
        <p:nvPicPr>
          <p:cNvPr id="5" name="Content Placeholder 4" descr="mm.gif">
            <a:extLst>
              <a:ext uri="{FF2B5EF4-FFF2-40B4-BE49-F238E27FC236}">
                <a16:creationId xmlns:a16="http://schemas.microsoft.com/office/drawing/2014/main" id="{F6460D43-8DBD-4189-A4C9-279D362931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39319" y="2368591"/>
            <a:ext cx="3898710" cy="23987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E03415-6215-4225-BF9C-DFE5DFD029F1}"/>
              </a:ext>
            </a:extLst>
          </p:cNvPr>
          <p:cNvSpPr txBox="1"/>
          <p:nvPr/>
        </p:nvSpPr>
        <p:spPr>
          <a:xfrm>
            <a:off x="3784538" y="4596745"/>
            <a:ext cx="928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Set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B3CA44-6C8F-4F0F-9802-E23516DEF5F5}"/>
              </a:ext>
            </a:extLst>
          </p:cNvPr>
          <p:cNvSpPr txBox="1"/>
          <p:nvPr/>
        </p:nvSpPr>
        <p:spPr>
          <a:xfrm>
            <a:off x="6550226" y="4536479"/>
            <a:ext cx="928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Set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B8DE7E-40F4-4D7A-9CDE-2895BCB41148}"/>
              </a:ext>
            </a:extLst>
          </p:cNvPr>
          <p:cNvSpPr txBox="1"/>
          <p:nvPr/>
        </p:nvSpPr>
        <p:spPr>
          <a:xfrm>
            <a:off x="3539319" y="5088768"/>
            <a:ext cx="1173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e.g.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6AAB5D-DE28-404C-9071-B95EEA89A0C8}"/>
              </a:ext>
            </a:extLst>
          </p:cNvPr>
          <p:cNvSpPr/>
          <p:nvPr/>
        </p:nvSpPr>
        <p:spPr>
          <a:xfrm>
            <a:off x="3664424" y="5740316"/>
            <a:ext cx="1295400" cy="4572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A780AB-9FC2-466C-ACC1-281F5C823585}"/>
              </a:ext>
            </a:extLst>
          </p:cNvPr>
          <p:cNvSpPr/>
          <p:nvPr/>
        </p:nvSpPr>
        <p:spPr>
          <a:xfrm>
            <a:off x="7703024" y="5740316"/>
            <a:ext cx="685800" cy="4572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loan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01A5F75C-2BB2-4979-B5DE-74DAE0256556}"/>
              </a:ext>
            </a:extLst>
          </p:cNvPr>
          <p:cNvSpPr/>
          <p:nvPr/>
        </p:nvSpPr>
        <p:spPr>
          <a:xfrm>
            <a:off x="5344835" y="5664116"/>
            <a:ext cx="1977189" cy="609600"/>
          </a:xfrm>
          <a:prstGeom prst="diamond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borrow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01BE0F-C4B9-4C7A-A40E-A1C403C9F444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322024" y="5968916"/>
            <a:ext cx="381000" cy="0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849285-D589-4DEE-9AC7-8CCEDB741C5D}"/>
              </a:ext>
            </a:extLst>
          </p:cNvPr>
          <p:cNvCxnSpPr>
            <a:endCxn id="12" idx="1"/>
          </p:cNvCxnSpPr>
          <p:nvPr/>
        </p:nvCxnSpPr>
        <p:spPr>
          <a:xfrm>
            <a:off x="4968598" y="5968914"/>
            <a:ext cx="376237" cy="2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EA87F7C-4F61-4FEB-AF84-478113922047}"/>
              </a:ext>
            </a:extLst>
          </p:cNvPr>
          <p:cNvSpPr/>
          <p:nvPr/>
        </p:nvSpPr>
        <p:spPr>
          <a:xfrm>
            <a:off x="8475258" y="4666356"/>
            <a:ext cx="3289111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One Loan is connected to more than one Customers and One Customer is connected with more than one Loan using Borrow Relationship Set.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289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Participation Constraints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051796-425C-4664-AC01-7D600430548C}"/>
              </a:ext>
            </a:extLst>
          </p:cNvPr>
          <p:cNvSpPr/>
          <p:nvPr/>
        </p:nvSpPr>
        <p:spPr>
          <a:xfrm>
            <a:off x="3607557" y="725059"/>
            <a:ext cx="8129517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It specifies the participation of an entity set in a relationship set.</a:t>
            </a:r>
          </a:p>
          <a:p>
            <a:pPr algn="just"/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There are two types participation constraints:</a:t>
            </a:r>
          </a:p>
          <a:p>
            <a:pPr algn="just"/>
            <a:endParaRPr lang="en-IN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Total participation: </a:t>
            </a:r>
            <a:endParaRPr lang="en-IN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just"/>
            <a:r>
              <a:rPr lang="en-IN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every entity in the entity set participates in at least                     	one relationship in the relationship set. It is denoted 	by </a:t>
            </a:r>
            <a:r>
              <a:rPr lang="en-US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Double Line</a:t>
            </a:r>
          </a:p>
          <a:p>
            <a:pPr algn="just"/>
            <a:endParaRPr lang="en-IN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Partial participation</a:t>
            </a:r>
          </a:p>
          <a:p>
            <a:pPr lvl="1" algn="just"/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some entities in the entity set may not participate in any relationship in the relationship set. It is denoted by </a:t>
            </a:r>
            <a:r>
              <a:rPr lang="en-US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Single Line</a:t>
            </a:r>
          </a:p>
        </p:txBody>
      </p:sp>
    </p:spTree>
    <p:extLst>
      <p:ext uri="{BB962C8B-B14F-4D97-AF65-F5344CB8AC3E}">
        <p14:creationId xmlns:p14="http://schemas.microsoft.com/office/powerpoint/2010/main" val="30659407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Participation Constraints (Example)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4F5D6B-E2E7-4529-A8A3-5EBEE75CE50A}"/>
              </a:ext>
            </a:extLst>
          </p:cNvPr>
          <p:cNvSpPr/>
          <p:nvPr/>
        </p:nvSpPr>
        <p:spPr>
          <a:xfrm>
            <a:off x="3894161" y="1509387"/>
            <a:ext cx="1295400" cy="4572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customer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A7B57F-0FB7-4253-B504-DC23A675205B}"/>
              </a:ext>
            </a:extLst>
          </p:cNvPr>
          <p:cNvSpPr/>
          <p:nvPr/>
        </p:nvSpPr>
        <p:spPr>
          <a:xfrm>
            <a:off x="7932761" y="1509387"/>
            <a:ext cx="685800" cy="4572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loan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65C7E63-F14D-48BC-AF93-F7094FC3E8BF}"/>
              </a:ext>
            </a:extLst>
          </p:cNvPr>
          <p:cNvSpPr/>
          <p:nvPr/>
        </p:nvSpPr>
        <p:spPr>
          <a:xfrm>
            <a:off x="5574572" y="1433187"/>
            <a:ext cx="1977189" cy="609600"/>
          </a:xfrm>
          <a:prstGeom prst="diamond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borrow</a:t>
            </a:r>
            <a:endParaRPr lang="en-IN" b="1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04BA98-A102-4987-A4D4-9BB5501EDD87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5189561" y="1737987"/>
            <a:ext cx="385011" cy="0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86C58B-4E83-414B-A200-898A89AB56E0}"/>
              </a:ext>
            </a:extLst>
          </p:cNvPr>
          <p:cNvCxnSpPr/>
          <p:nvPr/>
        </p:nvCxnSpPr>
        <p:spPr>
          <a:xfrm>
            <a:off x="7424413" y="1686839"/>
            <a:ext cx="504000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D052B88-93FF-40D3-B9DE-530B6E18F2DB}"/>
              </a:ext>
            </a:extLst>
          </p:cNvPr>
          <p:cNvSpPr/>
          <p:nvPr/>
        </p:nvSpPr>
        <p:spPr>
          <a:xfrm>
            <a:off x="4391166" y="2854624"/>
            <a:ext cx="617562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7BCA49-A814-4443-BEE1-AEFED4A7A407}"/>
              </a:ext>
            </a:extLst>
          </p:cNvPr>
          <p:cNvSpPr/>
          <p:nvPr/>
        </p:nvSpPr>
        <p:spPr>
          <a:xfrm>
            <a:off x="4391165" y="3388024"/>
            <a:ext cx="617563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C2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78FBE1-034B-44FD-9929-7F94938B7808}"/>
              </a:ext>
            </a:extLst>
          </p:cNvPr>
          <p:cNvSpPr/>
          <p:nvPr/>
        </p:nvSpPr>
        <p:spPr>
          <a:xfrm>
            <a:off x="7591566" y="2854624"/>
            <a:ext cx="432000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8C148C-EEF5-4124-8959-4A8A91893EDB}"/>
              </a:ext>
            </a:extLst>
          </p:cNvPr>
          <p:cNvSpPr/>
          <p:nvPr/>
        </p:nvSpPr>
        <p:spPr>
          <a:xfrm>
            <a:off x="7591566" y="3388024"/>
            <a:ext cx="432000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5C75E1-DCCF-4FBF-992D-936FFBCFF734}"/>
              </a:ext>
            </a:extLst>
          </p:cNvPr>
          <p:cNvSpPr/>
          <p:nvPr/>
        </p:nvSpPr>
        <p:spPr>
          <a:xfrm>
            <a:off x="4391166" y="3921424"/>
            <a:ext cx="617562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C3</a:t>
            </a:r>
            <a:endParaRPr lang="en-I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420F8B-0877-4112-8EAD-55418B1514CD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5008728" y="3052624"/>
            <a:ext cx="2582838" cy="0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253B6A-2F27-4A93-867D-17A261EC844F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5008728" y="3586024"/>
            <a:ext cx="2582838" cy="0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B1C1A65-EED3-4236-9BF2-559195930103}"/>
              </a:ext>
            </a:extLst>
          </p:cNvPr>
          <p:cNvCxnSpPr/>
          <p:nvPr/>
        </p:nvCxnSpPr>
        <p:spPr>
          <a:xfrm>
            <a:off x="7424413" y="1789135"/>
            <a:ext cx="504000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F715A2B-3B2B-40EF-B7EF-A603F94EE878}"/>
              </a:ext>
            </a:extLst>
          </p:cNvPr>
          <p:cNvSpPr/>
          <p:nvPr/>
        </p:nvSpPr>
        <p:spPr>
          <a:xfrm>
            <a:off x="3924298" y="4693414"/>
            <a:ext cx="1534805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Customers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78EEB3-D6F7-447B-A022-C2834BF062D2}"/>
              </a:ext>
            </a:extLst>
          </p:cNvPr>
          <p:cNvSpPr/>
          <p:nvPr/>
        </p:nvSpPr>
        <p:spPr>
          <a:xfrm>
            <a:off x="7010216" y="4693414"/>
            <a:ext cx="1342213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Loan</a:t>
            </a:r>
            <a:endParaRPr lang="en-IN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BE3880-0466-4EBC-9E0B-AA84E6523544}"/>
              </a:ext>
            </a:extLst>
          </p:cNvPr>
          <p:cNvSpPr/>
          <p:nvPr/>
        </p:nvSpPr>
        <p:spPr>
          <a:xfrm>
            <a:off x="7981855" y="460188"/>
            <a:ext cx="2049418" cy="396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Total Participation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976A14-0316-42B8-AD42-17435B409DF4}"/>
              </a:ext>
            </a:extLst>
          </p:cNvPr>
          <p:cNvSpPr/>
          <p:nvPr/>
        </p:nvSpPr>
        <p:spPr>
          <a:xfrm>
            <a:off x="3984019" y="471369"/>
            <a:ext cx="2239360" cy="396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Partial Participation</a:t>
            </a:r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99A0510E-130A-49F7-A926-F37C55D18455}"/>
              </a:ext>
            </a:extLst>
          </p:cNvPr>
          <p:cNvSpPr/>
          <p:nvPr/>
        </p:nvSpPr>
        <p:spPr>
          <a:xfrm rot="16200000">
            <a:off x="5195807" y="982730"/>
            <a:ext cx="526590" cy="335096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CF7B1583-709C-48F9-9C58-98EE6CEFCC61}"/>
              </a:ext>
            </a:extLst>
          </p:cNvPr>
          <p:cNvSpPr/>
          <p:nvPr/>
        </p:nvSpPr>
        <p:spPr>
          <a:xfrm rot="19433305">
            <a:off x="7483859" y="1072447"/>
            <a:ext cx="1078662" cy="386081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60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0124" y="1123837"/>
            <a:ext cx="3138985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Weak Entity Set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03C57F-3DA0-4C74-8DAD-4DB351AC060E}"/>
              </a:ext>
            </a:extLst>
          </p:cNvPr>
          <p:cNvSpPr/>
          <p:nvPr/>
        </p:nvSpPr>
        <p:spPr>
          <a:xfrm>
            <a:off x="3580261" y="308190"/>
            <a:ext cx="8102221" cy="6232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An entity set that does not have a primary key is called weak entity set.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It is denoted by double rectangle symbol.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When a weak entity set is connected with strong entity set by some relation, then the relation is known as Weak Relationship Set.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It is denoted by Double Diamond.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A </a:t>
            </a:r>
            <a:r>
              <a:rPr lang="en-IN" sz="2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Discriminator</a:t>
            </a: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 in Weak Entity Set distinguishes all other entities.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It is denoted by Dashed Line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IN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To make Relationship stronger, the Primary Key is created by combining Discriminator of Weak Entity Set and Primary Key of Strong Entity Set.</a:t>
            </a:r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699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0124" y="1123837"/>
            <a:ext cx="3138985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Weak Entity Set (Example)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944F30-4421-4216-95F2-CDD1A51E2BB6}"/>
              </a:ext>
            </a:extLst>
          </p:cNvPr>
          <p:cNvSpPr/>
          <p:nvPr/>
        </p:nvSpPr>
        <p:spPr>
          <a:xfrm>
            <a:off x="8618401" y="2381535"/>
            <a:ext cx="1398477" cy="648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6A33DE-EF93-46D6-B086-E700320A8ABF}"/>
              </a:ext>
            </a:extLst>
          </p:cNvPr>
          <p:cNvSpPr/>
          <p:nvPr/>
        </p:nvSpPr>
        <p:spPr>
          <a:xfrm>
            <a:off x="4672897" y="2475342"/>
            <a:ext cx="1295400" cy="4572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loan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FBEB6A-A0C8-4FD9-8D51-6CA070C20A80}"/>
              </a:ext>
            </a:extLst>
          </p:cNvPr>
          <p:cNvSpPr/>
          <p:nvPr/>
        </p:nvSpPr>
        <p:spPr>
          <a:xfrm>
            <a:off x="8711497" y="2475342"/>
            <a:ext cx="1219200" cy="4572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payment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84C4F456-2BB7-4E72-8AF8-E4C558889B17}"/>
              </a:ext>
            </a:extLst>
          </p:cNvPr>
          <p:cNvSpPr/>
          <p:nvPr/>
        </p:nvSpPr>
        <p:spPr>
          <a:xfrm>
            <a:off x="6353308" y="2399142"/>
            <a:ext cx="1977189" cy="609600"/>
          </a:xfrm>
          <a:prstGeom prst="diamond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18EEDC-D60E-426D-BC7E-8EE2D3AB1E66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5968297" y="2703942"/>
            <a:ext cx="385011" cy="0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C3D57B-362F-46DE-8A35-30ACB7CF5C96}"/>
              </a:ext>
            </a:extLst>
          </p:cNvPr>
          <p:cNvCxnSpPr/>
          <p:nvPr/>
        </p:nvCxnSpPr>
        <p:spPr>
          <a:xfrm>
            <a:off x="8184101" y="2652794"/>
            <a:ext cx="432000" cy="0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B8C080-9FD3-4240-BF3F-3DD4D0F2B210}"/>
              </a:ext>
            </a:extLst>
          </p:cNvPr>
          <p:cNvCxnSpPr/>
          <p:nvPr/>
        </p:nvCxnSpPr>
        <p:spPr>
          <a:xfrm>
            <a:off x="8184101" y="2755090"/>
            <a:ext cx="432000" cy="0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87AF209-814D-4330-B3F5-39E3B46EA0C0}"/>
              </a:ext>
            </a:extLst>
          </p:cNvPr>
          <p:cNvCxnSpPr>
            <a:cxnSpLocks/>
            <a:stCxn id="13" idx="4"/>
            <a:endCxn id="6" idx="0"/>
          </p:cNvCxnSpPr>
          <p:nvPr/>
        </p:nvCxnSpPr>
        <p:spPr>
          <a:xfrm>
            <a:off x="4205318" y="2052296"/>
            <a:ext cx="1115279" cy="423046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5AC373FA-37E8-44C3-BD59-1509990BBD2A}"/>
              </a:ext>
            </a:extLst>
          </p:cNvPr>
          <p:cNvSpPr/>
          <p:nvPr/>
        </p:nvSpPr>
        <p:spPr>
          <a:xfrm>
            <a:off x="3489079" y="1466831"/>
            <a:ext cx="1432477" cy="585465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loan-no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2BA136-6341-4CE8-8ADE-23C827BD3F06}"/>
              </a:ext>
            </a:extLst>
          </p:cNvPr>
          <p:cNvCxnSpPr>
            <a:stCxn id="15" idx="4"/>
            <a:endCxn id="6" idx="0"/>
          </p:cNvCxnSpPr>
          <p:nvPr/>
        </p:nvCxnSpPr>
        <p:spPr>
          <a:xfrm flipH="1">
            <a:off x="5320597" y="2038788"/>
            <a:ext cx="656059" cy="436554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717A363F-BEDD-422B-A797-DC64583E55F4}"/>
              </a:ext>
            </a:extLst>
          </p:cNvPr>
          <p:cNvSpPr/>
          <p:nvPr/>
        </p:nvSpPr>
        <p:spPr>
          <a:xfrm>
            <a:off x="5260417" y="1453323"/>
            <a:ext cx="1432477" cy="585465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amount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1C4EA2-DD00-43DB-9A2A-0FB592AAD5E4}"/>
              </a:ext>
            </a:extLst>
          </p:cNvPr>
          <p:cNvCxnSpPr>
            <a:cxnSpLocks/>
            <a:stCxn id="17" idx="4"/>
            <a:endCxn id="5" idx="0"/>
          </p:cNvCxnSpPr>
          <p:nvPr/>
        </p:nvCxnSpPr>
        <p:spPr>
          <a:xfrm>
            <a:off x="8070658" y="2065804"/>
            <a:ext cx="1246982" cy="315731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337604B-0AA7-4B96-B38B-14DB9DE094C2}"/>
              </a:ext>
            </a:extLst>
          </p:cNvPr>
          <p:cNvSpPr/>
          <p:nvPr/>
        </p:nvSpPr>
        <p:spPr>
          <a:xfrm>
            <a:off x="6993166" y="1480339"/>
            <a:ext cx="2154983" cy="585465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dashLong" dirty="0">
                <a:solidFill>
                  <a:schemeClr val="tx1"/>
                </a:solidFill>
              </a:rPr>
              <a:t>payment-no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6F78DC-6666-4222-AE01-4B2004A12E1F}"/>
              </a:ext>
            </a:extLst>
          </p:cNvPr>
          <p:cNvCxnSpPr>
            <a:cxnSpLocks/>
            <a:stCxn id="19" idx="4"/>
            <a:endCxn id="5" idx="0"/>
          </p:cNvCxnSpPr>
          <p:nvPr/>
        </p:nvCxnSpPr>
        <p:spPr>
          <a:xfrm flipH="1">
            <a:off x="9317640" y="1466831"/>
            <a:ext cx="174440" cy="914704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DE4CBCA-B912-41FF-A912-4E02A57DBCAD}"/>
              </a:ext>
            </a:extLst>
          </p:cNvPr>
          <p:cNvSpPr/>
          <p:nvPr/>
        </p:nvSpPr>
        <p:spPr>
          <a:xfrm>
            <a:off x="8243605" y="881366"/>
            <a:ext cx="2496949" cy="585465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Payment-date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47931B7-A821-41A0-9959-1C0FD8EBFC3A}"/>
              </a:ext>
            </a:extLst>
          </p:cNvPr>
          <p:cNvCxnSpPr>
            <a:cxnSpLocks/>
            <a:stCxn id="22" idx="4"/>
            <a:endCxn id="5" idx="0"/>
          </p:cNvCxnSpPr>
          <p:nvPr/>
        </p:nvCxnSpPr>
        <p:spPr>
          <a:xfrm flipH="1">
            <a:off x="9317640" y="2065803"/>
            <a:ext cx="1422914" cy="315732"/>
          </a:xfrm>
          <a:prstGeom prst="lin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Diamond 20">
            <a:extLst>
              <a:ext uri="{FF2B5EF4-FFF2-40B4-BE49-F238E27FC236}">
                <a16:creationId xmlns:a16="http://schemas.microsoft.com/office/drawing/2014/main" id="{328993A5-9803-4469-9F7D-7B0974206149}"/>
              </a:ext>
            </a:extLst>
          </p:cNvPr>
          <p:cNvSpPr/>
          <p:nvPr/>
        </p:nvSpPr>
        <p:spPr>
          <a:xfrm>
            <a:off x="6605100" y="2487942"/>
            <a:ext cx="1473605" cy="432000"/>
          </a:xfrm>
          <a:prstGeom prst="diamond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L_P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42774E5-8935-44BD-ACD9-47721F5D2251}"/>
              </a:ext>
            </a:extLst>
          </p:cNvPr>
          <p:cNvSpPr/>
          <p:nvPr/>
        </p:nvSpPr>
        <p:spPr>
          <a:xfrm>
            <a:off x="9737479" y="1480338"/>
            <a:ext cx="2006149" cy="585465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Payment-amount</a:t>
            </a:r>
          </a:p>
        </p:txBody>
      </p:sp>
      <p:sp>
        <p:nvSpPr>
          <p:cNvPr id="23" name="Rounded Rectangular Callout 45">
            <a:extLst>
              <a:ext uri="{FF2B5EF4-FFF2-40B4-BE49-F238E27FC236}">
                <a16:creationId xmlns:a16="http://schemas.microsoft.com/office/drawing/2014/main" id="{D8E54658-88F9-4B59-AFB8-970A75F4D31D}"/>
              </a:ext>
            </a:extLst>
          </p:cNvPr>
          <p:cNvSpPr/>
          <p:nvPr/>
        </p:nvSpPr>
        <p:spPr>
          <a:xfrm>
            <a:off x="4672897" y="3341940"/>
            <a:ext cx="1487905" cy="609600"/>
          </a:xfrm>
          <a:prstGeom prst="wedgeRoundRectCallout">
            <a:avLst>
              <a:gd name="adj1" fmla="val -12298"/>
              <a:gd name="adj2" fmla="val -87500"/>
              <a:gd name="adj3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Strong Entity Set</a:t>
            </a:r>
            <a:endParaRPr lang="en-IN" dirty="0"/>
          </a:p>
        </p:txBody>
      </p:sp>
      <p:sp>
        <p:nvSpPr>
          <p:cNvPr id="24" name="Rounded Rectangular Callout 46">
            <a:extLst>
              <a:ext uri="{FF2B5EF4-FFF2-40B4-BE49-F238E27FC236}">
                <a16:creationId xmlns:a16="http://schemas.microsoft.com/office/drawing/2014/main" id="{6837F504-5EB6-4C8F-994B-1C79D9BEE635}"/>
              </a:ext>
            </a:extLst>
          </p:cNvPr>
          <p:cNvSpPr/>
          <p:nvPr/>
        </p:nvSpPr>
        <p:spPr>
          <a:xfrm>
            <a:off x="8660907" y="3305236"/>
            <a:ext cx="1487905" cy="609600"/>
          </a:xfrm>
          <a:prstGeom prst="wedgeRoundRectCallout">
            <a:avLst>
              <a:gd name="adj1" fmla="val 2339"/>
              <a:gd name="adj2" fmla="val -89739"/>
              <a:gd name="adj3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Weak Entity Set</a:t>
            </a:r>
            <a:endParaRPr lang="en-IN" dirty="0"/>
          </a:p>
        </p:txBody>
      </p:sp>
      <p:sp>
        <p:nvSpPr>
          <p:cNvPr id="25" name="Rounded Rectangular Callout 47">
            <a:extLst>
              <a:ext uri="{FF2B5EF4-FFF2-40B4-BE49-F238E27FC236}">
                <a16:creationId xmlns:a16="http://schemas.microsoft.com/office/drawing/2014/main" id="{BE875330-9BB6-482D-A65C-0C8CC6963F68}"/>
              </a:ext>
            </a:extLst>
          </p:cNvPr>
          <p:cNvSpPr/>
          <p:nvPr/>
        </p:nvSpPr>
        <p:spPr>
          <a:xfrm>
            <a:off x="6597949" y="3341940"/>
            <a:ext cx="1487905" cy="609600"/>
          </a:xfrm>
          <a:prstGeom prst="wedgeRoundRectCallout">
            <a:avLst>
              <a:gd name="adj1" fmla="val 505"/>
              <a:gd name="adj2" fmla="val -87500"/>
              <a:gd name="adj3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Weak Entity Relationship</a:t>
            </a:r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3C5AF6-AE6E-4656-A37F-93982F8D0894}"/>
              </a:ext>
            </a:extLst>
          </p:cNvPr>
          <p:cNvSpPr/>
          <p:nvPr/>
        </p:nvSpPr>
        <p:spPr>
          <a:xfrm>
            <a:off x="3549948" y="4507382"/>
            <a:ext cx="819367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In the above example, the relationship can be made stronger by creating Primary Key by combining Discriminator of Weak Entity Set and Primary Key of Strong Entity Set.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In above e.g. </a:t>
            </a: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payment-no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(Discriminator) &amp; </a:t>
            </a: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loan-no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(Primary Key) combines to generate </a:t>
            </a:r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Composite Primary Key </a:t>
            </a:r>
            <a:r>
              <a:rPr lang="en-IN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as </a:t>
            </a:r>
          </a:p>
          <a:p>
            <a:pPr algn="just"/>
            <a:r>
              <a:rPr lang="en-IN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 (loan-no, payment-no)</a:t>
            </a:r>
          </a:p>
          <a:p>
            <a:endParaRPr lang="en-US" sz="2000" dirty="0"/>
          </a:p>
        </p:txBody>
      </p:sp>
      <p:sp>
        <p:nvSpPr>
          <p:cNvPr id="34" name="Rounded Rectangular Callout 46">
            <a:extLst>
              <a:ext uri="{FF2B5EF4-FFF2-40B4-BE49-F238E27FC236}">
                <a16:creationId xmlns:a16="http://schemas.microsoft.com/office/drawing/2014/main" id="{3F701859-B2AD-40DD-8066-BF64F9695225}"/>
              </a:ext>
            </a:extLst>
          </p:cNvPr>
          <p:cNvSpPr/>
          <p:nvPr/>
        </p:nvSpPr>
        <p:spPr>
          <a:xfrm>
            <a:off x="6249213" y="426219"/>
            <a:ext cx="1994392" cy="609600"/>
          </a:xfrm>
          <a:prstGeom prst="wedgeRoundRectCallout">
            <a:avLst>
              <a:gd name="adj1" fmla="val 17394"/>
              <a:gd name="adj2" fmla="val 116231"/>
              <a:gd name="adj3" fmla="val 1666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Discriminator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92140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Extended E-R Diagram :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Specialization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05ECA-990B-40CD-A885-16560911F8CB}"/>
              </a:ext>
            </a:extLst>
          </p:cNvPr>
          <p:cNvSpPr/>
          <p:nvPr/>
        </p:nvSpPr>
        <p:spPr>
          <a:xfrm>
            <a:off x="3621206" y="1123837"/>
            <a:ext cx="804763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The process of creating sub-groups within an entity is called specialization.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Top-Down design process; designate subgroupings within an entity set that are distinctive from other entities in the set.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The process of taking a subset of higher level entity set to form a lower level entity set.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Uses a triangle component labeled as “ISA”</a:t>
            </a:r>
          </a:p>
        </p:txBody>
      </p:sp>
    </p:spTree>
    <p:extLst>
      <p:ext uri="{BB962C8B-B14F-4D97-AF65-F5344CB8AC3E}">
        <p14:creationId xmlns:p14="http://schemas.microsoft.com/office/powerpoint/2010/main" val="41490490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Specialization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(Example)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5406C-5ACE-4528-8311-D5D8678B7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1" t="1050" r="12599" b="787"/>
          <a:stretch>
            <a:fillRect/>
          </a:stretch>
        </p:blipFill>
        <p:spPr bwMode="auto">
          <a:xfrm>
            <a:off x="3907809" y="295701"/>
            <a:ext cx="7556310" cy="6317609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5592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Extended E-R Diagram : Generalization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7AE721-1376-4F57-A74E-331731F5493A}"/>
              </a:ext>
            </a:extLst>
          </p:cNvPr>
          <p:cNvSpPr/>
          <p:nvPr/>
        </p:nvSpPr>
        <p:spPr>
          <a:xfrm>
            <a:off x="3607559" y="868909"/>
            <a:ext cx="804763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The process of creating a main group from different entities is called generalization.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Bottom-Up design process; combine a number of entity sets that share the same features into a higher-level entity set.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The process of combining two or more low level entity sets to generate high level entity set.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Uses a triangle component labeled as “ISA”</a:t>
            </a:r>
          </a:p>
        </p:txBody>
      </p:sp>
    </p:spTree>
    <p:extLst>
      <p:ext uri="{BB962C8B-B14F-4D97-AF65-F5344CB8AC3E}">
        <p14:creationId xmlns:p14="http://schemas.microsoft.com/office/powerpoint/2010/main" val="29177657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Generalization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(Example)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5406C-5ACE-4528-8311-D5D8678B7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1" t="1050" r="12599" b="787"/>
          <a:stretch>
            <a:fillRect/>
          </a:stretch>
        </p:blipFill>
        <p:spPr bwMode="auto">
          <a:xfrm>
            <a:off x="3907809" y="295701"/>
            <a:ext cx="7556310" cy="6317609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9796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Aggregation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DD27F4-54D2-4270-8504-010F25659E86}"/>
              </a:ext>
            </a:extLst>
          </p:cNvPr>
          <p:cNvSpPr/>
          <p:nvPr/>
        </p:nvSpPr>
        <p:spPr>
          <a:xfrm>
            <a:off x="3596185" y="2524808"/>
            <a:ext cx="1698171" cy="66870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Employee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A51000-32A4-45E0-B6CD-F95F9626FEC5}"/>
              </a:ext>
            </a:extLst>
          </p:cNvPr>
          <p:cNvSpPr/>
          <p:nvPr/>
        </p:nvSpPr>
        <p:spPr>
          <a:xfrm>
            <a:off x="7963513" y="2520452"/>
            <a:ext cx="1698171" cy="66870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Department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E169DE4D-B573-420E-ACE5-960D2E2740F2}"/>
              </a:ext>
            </a:extLst>
          </p:cNvPr>
          <p:cNvSpPr/>
          <p:nvPr/>
        </p:nvSpPr>
        <p:spPr>
          <a:xfrm>
            <a:off x="5760645" y="2518733"/>
            <a:ext cx="1724298" cy="668706"/>
          </a:xfrm>
          <a:prstGeom prst="diamond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Works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CE03F0-01FB-4DA3-BA89-C0A3A9FDEF40}"/>
              </a:ext>
            </a:extLst>
          </p:cNvPr>
          <p:cNvCxnSpPr>
            <a:stCxn id="5" idx="3"/>
          </p:cNvCxnSpPr>
          <p:nvPr/>
        </p:nvCxnSpPr>
        <p:spPr>
          <a:xfrm flipV="1">
            <a:off x="7484943" y="2749052"/>
            <a:ext cx="475487" cy="104034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CD82FC-0E6E-4B06-BA46-ED9C112F5247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5294356" y="2853086"/>
            <a:ext cx="466289" cy="6075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B0F77B-1BD6-4BD6-8AFD-26AA65778560}"/>
              </a:ext>
            </a:extLst>
          </p:cNvPr>
          <p:cNvCxnSpPr>
            <a:endCxn id="5" idx="0"/>
          </p:cNvCxnSpPr>
          <p:nvPr/>
        </p:nvCxnSpPr>
        <p:spPr>
          <a:xfrm flipH="1">
            <a:off x="6622794" y="2030572"/>
            <a:ext cx="526" cy="488161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E30773E1-28B4-48A7-A47C-974E2E67EFD3}"/>
              </a:ext>
            </a:extLst>
          </p:cNvPr>
          <p:cNvSpPr/>
          <p:nvPr/>
        </p:nvSpPr>
        <p:spPr>
          <a:xfrm>
            <a:off x="5705309" y="3668540"/>
            <a:ext cx="1828800" cy="668706"/>
          </a:xfrm>
          <a:prstGeom prst="diamond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Borrow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E772C9-C27F-4AEA-A020-BBC56DA63B92}"/>
              </a:ext>
            </a:extLst>
          </p:cNvPr>
          <p:cNvSpPr/>
          <p:nvPr/>
        </p:nvSpPr>
        <p:spPr>
          <a:xfrm>
            <a:off x="5770623" y="4558386"/>
            <a:ext cx="1698171" cy="66870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Loan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0D0E3C-779B-46E0-A3E0-4F033965E7CF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6619709" y="4337246"/>
            <a:ext cx="0" cy="221140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B58AD6-B9FB-43D9-A0CE-DAB6891DC6CF}"/>
              </a:ext>
            </a:extLst>
          </p:cNvPr>
          <p:cNvCxnSpPr>
            <a:stCxn id="5" idx="2"/>
            <a:endCxn id="9" idx="0"/>
          </p:cNvCxnSpPr>
          <p:nvPr/>
        </p:nvCxnSpPr>
        <p:spPr>
          <a:xfrm flipH="1">
            <a:off x="6619709" y="3187439"/>
            <a:ext cx="3085" cy="481101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ounded Rectangle 53">
            <a:extLst>
              <a:ext uri="{FF2B5EF4-FFF2-40B4-BE49-F238E27FC236}">
                <a16:creationId xmlns:a16="http://schemas.microsoft.com/office/drawing/2014/main" id="{577217D8-3B0C-4317-96A0-F11168B79E50}"/>
              </a:ext>
            </a:extLst>
          </p:cNvPr>
          <p:cNvSpPr/>
          <p:nvPr/>
        </p:nvSpPr>
        <p:spPr>
          <a:xfrm>
            <a:off x="5565453" y="2365184"/>
            <a:ext cx="2194560" cy="2115347"/>
          </a:xfrm>
          <a:prstGeom prst="roundRect">
            <a:avLst>
              <a:gd name="adj" fmla="val 10388"/>
            </a:avLst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98E518-4A15-4C7C-BCCB-55335FEDCD36}"/>
              </a:ext>
            </a:extLst>
          </p:cNvPr>
          <p:cNvSpPr txBox="1"/>
          <p:nvPr/>
        </p:nvSpPr>
        <p:spPr>
          <a:xfrm>
            <a:off x="6629127" y="3189470"/>
            <a:ext cx="31860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Can not connect two relationship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CA0750-81CB-4F59-BD18-DEEA9298EEAD}"/>
              </a:ext>
            </a:extLst>
          </p:cNvPr>
          <p:cNvCxnSpPr>
            <a:cxnSpLocks/>
          </p:cNvCxnSpPr>
          <p:nvPr/>
        </p:nvCxnSpPr>
        <p:spPr>
          <a:xfrm flipH="1" flipV="1">
            <a:off x="7309185" y="2979069"/>
            <a:ext cx="282421" cy="259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48438DA-3B0C-4B17-BEB1-058836AF7F0E}"/>
              </a:ext>
            </a:extLst>
          </p:cNvPr>
          <p:cNvCxnSpPr>
            <a:cxnSpLocks/>
          </p:cNvCxnSpPr>
          <p:nvPr/>
        </p:nvCxnSpPr>
        <p:spPr>
          <a:xfrm flipH="1">
            <a:off x="7173995" y="3481814"/>
            <a:ext cx="270380" cy="342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12E52393-7FF1-40D7-ABF9-876C6E2D0F09}"/>
              </a:ext>
            </a:extLst>
          </p:cNvPr>
          <p:cNvSpPr/>
          <p:nvPr/>
        </p:nvSpPr>
        <p:spPr>
          <a:xfrm>
            <a:off x="10004244" y="3668540"/>
            <a:ext cx="1830630" cy="668706"/>
          </a:xfrm>
          <a:prstGeom prst="diamond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Borrow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68FA5B-5047-46AB-BD91-6AB1FB15B4F8}"/>
              </a:ext>
            </a:extLst>
          </p:cNvPr>
          <p:cNvSpPr/>
          <p:nvPr/>
        </p:nvSpPr>
        <p:spPr>
          <a:xfrm>
            <a:off x="10159085" y="4557455"/>
            <a:ext cx="1534305" cy="66870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Loan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6A4C28-C07C-43DE-B297-6BC90B2C9368}"/>
              </a:ext>
            </a:extLst>
          </p:cNvPr>
          <p:cNvSpPr/>
          <p:nvPr/>
        </p:nvSpPr>
        <p:spPr>
          <a:xfrm>
            <a:off x="10161821" y="2779626"/>
            <a:ext cx="1534310" cy="66870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8240F0-66C8-4EC6-83A4-002F98DE849E}"/>
              </a:ext>
            </a:extLst>
          </p:cNvPr>
          <p:cNvCxnSpPr>
            <a:cxnSpLocks/>
            <a:stCxn id="17" idx="0"/>
            <a:endCxn id="19" idx="2"/>
          </p:cNvCxnSpPr>
          <p:nvPr/>
        </p:nvCxnSpPr>
        <p:spPr>
          <a:xfrm flipV="1">
            <a:off x="10919559" y="3448332"/>
            <a:ext cx="9417" cy="220208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C6883D6-196A-4508-809A-10EDE031759D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10919559" y="4337246"/>
            <a:ext cx="6679" cy="220209"/>
          </a:xfrm>
          <a:prstGeom prst="lin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0C65225-B188-47BF-9C0A-471E68F21EC5}"/>
              </a:ext>
            </a:extLst>
          </p:cNvPr>
          <p:cNvSpPr/>
          <p:nvPr/>
        </p:nvSpPr>
        <p:spPr>
          <a:xfrm>
            <a:off x="3574881" y="1403035"/>
            <a:ext cx="6240331" cy="2124989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AE33BD-41A0-469A-9D86-3445C4590F1B}"/>
              </a:ext>
            </a:extLst>
          </p:cNvPr>
          <p:cNvSpPr txBox="1"/>
          <p:nvPr/>
        </p:nvSpPr>
        <p:spPr>
          <a:xfrm>
            <a:off x="8562993" y="1481168"/>
            <a:ext cx="118872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Customer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2F7D21-307A-460B-8EEC-5983FBB0EF62}"/>
              </a:ext>
            </a:extLst>
          </p:cNvPr>
          <p:cNvSpPr/>
          <p:nvPr/>
        </p:nvSpPr>
        <p:spPr>
          <a:xfrm>
            <a:off x="5775914" y="1563405"/>
            <a:ext cx="1698171" cy="66870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Company</a:t>
            </a:r>
          </a:p>
        </p:txBody>
      </p:sp>
      <p:sp>
        <p:nvSpPr>
          <p:cNvPr id="26" name="Bent Arrow 2">
            <a:extLst>
              <a:ext uri="{FF2B5EF4-FFF2-40B4-BE49-F238E27FC236}">
                <a16:creationId xmlns:a16="http://schemas.microsoft.com/office/drawing/2014/main" id="{44E1B762-ED1C-414B-9323-DC051B1DEC15}"/>
              </a:ext>
            </a:extLst>
          </p:cNvPr>
          <p:cNvSpPr/>
          <p:nvPr/>
        </p:nvSpPr>
        <p:spPr>
          <a:xfrm rot="5400000">
            <a:off x="9962158" y="1605964"/>
            <a:ext cx="1243689" cy="1036781"/>
          </a:xfrm>
          <a:prstGeom prst="ben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en-IN" b="1">
              <a:ln/>
              <a:solidFill>
                <a:schemeClr val="accent4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62D606-1CE6-42C1-AA0E-AC522880D4A0}"/>
              </a:ext>
            </a:extLst>
          </p:cNvPr>
          <p:cNvSpPr/>
          <p:nvPr/>
        </p:nvSpPr>
        <p:spPr>
          <a:xfrm>
            <a:off x="3574881" y="5803740"/>
            <a:ext cx="8259993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This process of merging various entities into one single entity is called </a:t>
            </a:r>
            <a:r>
              <a:rPr lang="en-US" sz="2600" b="1" u="sng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Aggregation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4B1C2FF-9581-4B53-863A-74205A871A20}"/>
              </a:ext>
            </a:extLst>
          </p:cNvPr>
          <p:cNvSpPr/>
          <p:nvPr/>
        </p:nvSpPr>
        <p:spPr>
          <a:xfrm>
            <a:off x="8197050" y="138234"/>
            <a:ext cx="2716073" cy="6297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Created Single Entity “</a:t>
            </a:r>
            <a:r>
              <a:rPr lang="en-US" b="1" dirty="0">
                <a:solidFill>
                  <a:srgbClr val="FF0000"/>
                </a:solidFill>
              </a:rPr>
              <a:t>Customer</a:t>
            </a:r>
            <a:r>
              <a:rPr lang="en-US" b="1" dirty="0"/>
              <a:t>”</a:t>
            </a:r>
          </a:p>
        </p:txBody>
      </p:sp>
      <p:sp>
        <p:nvSpPr>
          <p:cNvPr id="42" name="Arrow: Left 41">
            <a:extLst>
              <a:ext uri="{FF2B5EF4-FFF2-40B4-BE49-F238E27FC236}">
                <a16:creationId xmlns:a16="http://schemas.microsoft.com/office/drawing/2014/main" id="{2A59F063-F2E8-4E09-A784-D8ABF1C4CEE9}"/>
              </a:ext>
            </a:extLst>
          </p:cNvPr>
          <p:cNvSpPr/>
          <p:nvPr/>
        </p:nvSpPr>
        <p:spPr>
          <a:xfrm rot="16998705">
            <a:off x="8961529" y="906991"/>
            <a:ext cx="607969" cy="386081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9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9" grpId="0" animBg="1"/>
      <p:bldP spid="10" grpId="0" animBg="1"/>
      <p:bldP spid="13" grpId="0" animBg="1"/>
      <p:bldP spid="13" grpId="1" animBg="1"/>
      <p:bldP spid="14" grpId="0"/>
      <p:bldP spid="14" grpId="1"/>
      <p:bldP spid="17" grpId="0" animBg="1"/>
      <p:bldP spid="18" grpId="0" animBg="1"/>
      <p:bldP spid="19" grpId="0" animBg="1"/>
      <p:bldP spid="22" grpId="0" animBg="1"/>
      <p:bldP spid="23" grpId="0"/>
      <p:bldP spid="24" grpId="0" animBg="1"/>
      <p:bldP spid="26" grpId="0" animBg="1"/>
      <p:bldP spid="38" grpId="0"/>
      <p:bldP spid="41" grpId="0" animBg="1"/>
      <p:bldP spid="4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E-R Diagram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(Summary)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A40184-4011-41A4-9966-14A7BBF11FD7}"/>
              </a:ext>
            </a:extLst>
          </p:cNvPr>
          <p:cNvSpPr/>
          <p:nvPr/>
        </p:nvSpPr>
        <p:spPr>
          <a:xfrm>
            <a:off x="3800453" y="666637"/>
            <a:ext cx="1698171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D0D53-B01A-40BF-8BAE-76C934F5ABAE}"/>
              </a:ext>
            </a:extLst>
          </p:cNvPr>
          <p:cNvSpPr txBox="1"/>
          <p:nvPr/>
        </p:nvSpPr>
        <p:spPr>
          <a:xfrm>
            <a:off x="4154238" y="1123837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Entity</a:t>
            </a: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77CE89-F307-4426-85CB-82A3C83BBA27}"/>
              </a:ext>
            </a:extLst>
          </p:cNvPr>
          <p:cNvSpPr/>
          <p:nvPr/>
        </p:nvSpPr>
        <p:spPr>
          <a:xfrm>
            <a:off x="9782899" y="559103"/>
            <a:ext cx="1698171" cy="4572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>
                <a:solidFill>
                  <a:schemeClr val="tx1"/>
                </a:solidFill>
              </a:rPr>
              <a:t>EmpID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AFAAA1-7920-43D3-997E-9F97CAAAE5D1}"/>
              </a:ext>
            </a:extLst>
          </p:cNvPr>
          <p:cNvSpPr txBox="1"/>
          <p:nvPr/>
        </p:nvSpPr>
        <p:spPr>
          <a:xfrm>
            <a:off x="9780153" y="1016303"/>
            <a:ext cx="187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Primary Key</a:t>
            </a:r>
          </a:p>
          <a:p>
            <a:pPr algn="ctr"/>
            <a:r>
              <a:rPr lang="en-US" dirty="0"/>
              <a:t>Attribute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88692B-4C79-4F6A-8779-665A4F0E0FE3}"/>
              </a:ext>
            </a:extLst>
          </p:cNvPr>
          <p:cNvSpPr/>
          <p:nvPr/>
        </p:nvSpPr>
        <p:spPr>
          <a:xfrm>
            <a:off x="3822287" y="1774424"/>
            <a:ext cx="1698171" cy="457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Payment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48B415-9751-45CA-AB62-BDC12836CAF3}"/>
              </a:ext>
            </a:extLst>
          </p:cNvPr>
          <p:cNvSpPr txBox="1"/>
          <p:nvPr/>
        </p:nvSpPr>
        <p:spPr>
          <a:xfrm>
            <a:off x="3995609" y="2296984"/>
            <a:ext cx="12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Weak Entity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C5C4C0-413D-4EC5-8C31-ED5B124A14E1}"/>
              </a:ext>
            </a:extLst>
          </p:cNvPr>
          <p:cNvSpPr txBox="1"/>
          <p:nvPr/>
        </p:nvSpPr>
        <p:spPr>
          <a:xfrm>
            <a:off x="8401067" y="3681652"/>
            <a:ext cx="1583999" cy="64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Total</a:t>
            </a:r>
          </a:p>
          <a:p>
            <a:pPr algn="ctr"/>
            <a:r>
              <a:rPr lang="en-US" dirty="0"/>
              <a:t>Participation</a:t>
            </a:r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ADEEB-3C2D-41D6-8538-6A3E9276B666}"/>
              </a:ext>
            </a:extLst>
          </p:cNvPr>
          <p:cNvSpPr/>
          <p:nvPr/>
        </p:nvSpPr>
        <p:spPr>
          <a:xfrm>
            <a:off x="5844293" y="559103"/>
            <a:ext cx="1698171" cy="4572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6CEA03-42DC-4C53-9C55-1D49E93E5B4F}"/>
              </a:ext>
            </a:extLst>
          </p:cNvPr>
          <p:cNvSpPr txBox="1"/>
          <p:nvPr/>
        </p:nvSpPr>
        <p:spPr>
          <a:xfrm>
            <a:off x="6027378" y="1016303"/>
            <a:ext cx="1332000" cy="37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Attribute</a:t>
            </a:r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0D3C73A-79B3-4F66-9C34-BE2436059BDC}"/>
              </a:ext>
            </a:extLst>
          </p:cNvPr>
          <p:cNvSpPr/>
          <p:nvPr/>
        </p:nvSpPr>
        <p:spPr>
          <a:xfrm>
            <a:off x="5835392" y="1660453"/>
            <a:ext cx="1698171" cy="457200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FDFDBB-AF6F-47E3-B1CD-0E5D0CF8B681}"/>
              </a:ext>
            </a:extLst>
          </p:cNvPr>
          <p:cNvSpPr txBox="1"/>
          <p:nvPr/>
        </p:nvSpPr>
        <p:spPr>
          <a:xfrm>
            <a:off x="6162477" y="2117653"/>
            <a:ext cx="12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Derived</a:t>
            </a:r>
          </a:p>
          <a:p>
            <a:pPr algn="ctr"/>
            <a:r>
              <a:rPr lang="en-US" dirty="0"/>
              <a:t>Attribute</a:t>
            </a:r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0C3CD0C-D45B-4058-ACDC-3E8CB36A12E7}"/>
              </a:ext>
            </a:extLst>
          </p:cNvPr>
          <p:cNvSpPr/>
          <p:nvPr/>
        </p:nvSpPr>
        <p:spPr>
          <a:xfrm>
            <a:off x="9881462" y="1704984"/>
            <a:ext cx="1698171" cy="4572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dash" dirty="0">
                <a:solidFill>
                  <a:schemeClr val="tx1"/>
                </a:solidFill>
              </a:rPr>
              <a:t>PymtID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68E571-B601-401D-A3DF-F0D0A2E068BD}"/>
              </a:ext>
            </a:extLst>
          </p:cNvPr>
          <p:cNvSpPr txBox="1"/>
          <p:nvPr/>
        </p:nvSpPr>
        <p:spPr>
          <a:xfrm>
            <a:off x="9938547" y="2160716"/>
            <a:ext cx="1584000" cy="61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Discriminating</a:t>
            </a:r>
          </a:p>
          <a:p>
            <a:pPr algn="ctr"/>
            <a:r>
              <a:rPr lang="en-US" dirty="0"/>
              <a:t>Attribute</a:t>
            </a:r>
            <a:endParaRPr lang="en-IN" dirty="0"/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AB3A99A4-9C39-47C6-9C31-87B713FBEA3D}"/>
              </a:ext>
            </a:extLst>
          </p:cNvPr>
          <p:cNvSpPr/>
          <p:nvPr/>
        </p:nvSpPr>
        <p:spPr>
          <a:xfrm>
            <a:off x="7804477" y="546725"/>
            <a:ext cx="1698171" cy="457200"/>
          </a:xfrm>
          <a:prstGeom prst="diamond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Hold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51FC3F-008E-4145-843F-3ACB47CBD8AF}"/>
              </a:ext>
            </a:extLst>
          </p:cNvPr>
          <p:cNvSpPr txBox="1"/>
          <p:nvPr/>
        </p:nvSpPr>
        <p:spPr>
          <a:xfrm>
            <a:off x="8021080" y="1003925"/>
            <a:ext cx="1481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Relationship</a:t>
            </a:r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7729871-F5A3-41E1-930F-655ED62C52A8}"/>
              </a:ext>
            </a:extLst>
          </p:cNvPr>
          <p:cNvSpPr/>
          <p:nvPr/>
        </p:nvSpPr>
        <p:spPr>
          <a:xfrm>
            <a:off x="7922630" y="1666392"/>
            <a:ext cx="1698171" cy="4572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PhoneNo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44383C-366D-44C3-9255-7F1C3AD96916}"/>
              </a:ext>
            </a:extLst>
          </p:cNvPr>
          <p:cNvSpPr txBox="1"/>
          <p:nvPr/>
        </p:nvSpPr>
        <p:spPr>
          <a:xfrm>
            <a:off x="8076624" y="2249065"/>
            <a:ext cx="1368000" cy="57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Multi Valued Attribute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A48F5E-07C7-44D5-A367-C914BBA71601}"/>
              </a:ext>
            </a:extLst>
          </p:cNvPr>
          <p:cNvSpPr txBox="1"/>
          <p:nvPr/>
        </p:nvSpPr>
        <p:spPr>
          <a:xfrm>
            <a:off x="3894938" y="3578858"/>
            <a:ext cx="1505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Weak Entity</a:t>
            </a:r>
            <a:endParaRPr lang="en-IN" dirty="0"/>
          </a:p>
          <a:p>
            <a:pPr algn="ctr"/>
            <a:r>
              <a:rPr lang="en-US" dirty="0"/>
              <a:t>Relationship</a:t>
            </a:r>
            <a:endParaRPr lang="en-IN" dirty="0"/>
          </a:p>
        </p:txBody>
      </p:sp>
      <p:sp>
        <p:nvSpPr>
          <p:cNvPr id="24" name="Flowchart: Merge 23">
            <a:extLst>
              <a:ext uri="{FF2B5EF4-FFF2-40B4-BE49-F238E27FC236}">
                <a16:creationId xmlns:a16="http://schemas.microsoft.com/office/drawing/2014/main" id="{08203E02-047D-4536-8132-17CC01C3057A}"/>
              </a:ext>
            </a:extLst>
          </p:cNvPr>
          <p:cNvSpPr/>
          <p:nvPr/>
        </p:nvSpPr>
        <p:spPr>
          <a:xfrm>
            <a:off x="6014836" y="3163892"/>
            <a:ext cx="1260000" cy="457200"/>
          </a:xfrm>
          <a:prstGeom prst="flowChartMerg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4DBEB2-1655-4D5F-B87A-94055269D2C8}"/>
              </a:ext>
            </a:extLst>
          </p:cNvPr>
          <p:cNvSpPr txBox="1"/>
          <p:nvPr/>
        </p:nvSpPr>
        <p:spPr>
          <a:xfrm>
            <a:off x="5905019" y="3717784"/>
            <a:ext cx="15840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Specialization/</a:t>
            </a:r>
          </a:p>
          <a:p>
            <a:pPr algn="ctr"/>
            <a:r>
              <a:rPr lang="en-US" dirty="0"/>
              <a:t>Generalization</a:t>
            </a:r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4E640EF-6C91-4B59-8204-B13C2BDC1765}"/>
              </a:ext>
            </a:extLst>
          </p:cNvPr>
          <p:cNvSpPr/>
          <p:nvPr/>
        </p:nvSpPr>
        <p:spPr>
          <a:xfrm>
            <a:off x="7835716" y="1574328"/>
            <a:ext cx="1872000" cy="6480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BB2226-5F61-4FCE-9721-4C7219766B6F}"/>
              </a:ext>
            </a:extLst>
          </p:cNvPr>
          <p:cNvSpPr/>
          <p:nvPr/>
        </p:nvSpPr>
        <p:spPr>
          <a:xfrm>
            <a:off x="3743609" y="1704984"/>
            <a:ext cx="1872000" cy="5931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CBCAC0D6-A377-4E2A-999A-FF10C9142D4B}"/>
              </a:ext>
            </a:extLst>
          </p:cNvPr>
          <p:cNvSpPr/>
          <p:nvPr/>
        </p:nvSpPr>
        <p:spPr>
          <a:xfrm>
            <a:off x="9351913" y="3189413"/>
            <a:ext cx="1016909" cy="457200"/>
          </a:xfrm>
          <a:prstGeom prst="diamond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6C900D-6694-4853-AA0F-8E640745E3B4}"/>
              </a:ext>
            </a:extLst>
          </p:cNvPr>
          <p:cNvSpPr/>
          <p:nvPr/>
        </p:nvSpPr>
        <p:spPr>
          <a:xfrm>
            <a:off x="7957212" y="3182378"/>
            <a:ext cx="876703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808075A-84E1-4465-A6D3-D79DDF08E217}"/>
              </a:ext>
            </a:extLst>
          </p:cNvPr>
          <p:cNvCxnSpPr/>
          <p:nvPr/>
        </p:nvCxnSpPr>
        <p:spPr>
          <a:xfrm flipH="1">
            <a:off x="8833914" y="3340338"/>
            <a:ext cx="684000" cy="1125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FA880A-A655-4A7B-85FB-C27AEFE907AF}"/>
              </a:ext>
            </a:extLst>
          </p:cNvPr>
          <p:cNvCxnSpPr/>
          <p:nvPr/>
        </p:nvCxnSpPr>
        <p:spPr>
          <a:xfrm flipH="1">
            <a:off x="8833914" y="3491613"/>
            <a:ext cx="684000" cy="1125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F366110-3D32-4EDA-B6C7-038B569F6F2C}"/>
              </a:ext>
            </a:extLst>
          </p:cNvPr>
          <p:cNvCxnSpPr>
            <a:cxnSpLocks/>
          </p:cNvCxnSpPr>
          <p:nvPr/>
        </p:nvCxnSpPr>
        <p:spPr>
          <a:xfrm flipV="1">
            <a:off x="6644836" y="2859092"/>
            <a:ext cx="0" cy="304800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219590C-5914-4C9B-BCC3-7690C583C845}"/>
              </a:ext>
            </a:extLst>
          </p:cNvPr>
          <p:cNvCxnSpPr>
            <a:cxnSpLocks/>
          </p:cNvCxnSpPr>
          <p:nvPr/>
        </p:nvCxnSpPr>
        <p:spPr>
          <a:xfrm flipV="1">
            <a:off x="6014836" y="3392492"/>
            <a:ext cx="315000" cy="255878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68D3AA-FE58-42F2-B819-8BA26A771F38}"/>
              </a:ext>
            </a:extLst>
          </p:cNvPr>
          <p:cNvCxnSpPr>
            <a:cxnSpLocks/>
          </p:cNvCxnSpPr>
          <p:nvPr/>
        </p:nvCxnSpPr>
        <p:spPr>
          <a:xfrm flipH="1" flipV="1">
            <a:off x="6959836" y="3392492"/>
            <a:ext cx="315000" cy="247086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BA45FDC-3838-429C-9278-2202A987D9B5}"/>
              </a:ext>
            </a:extLst>
          </p:cNvPr>
          <p:cNvSpPr txBox="1"/>
          <p:nvPr/>
        </p:nvSpPr>
        <p:spPr>
          <a:xfrm>
            <a:off x="4846504" y="5090144"/>
            <a:ext cx="1368000" cy="369332"/>
          </a:xfrm>
          <a:prstGeom prst="rect">
            <a:avLst/>
          </a:prstGeom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One to One</a:t>
            </a:r>
            <a:endParaRPr lang="en-IN" dirty="0"/>
          </a:p>
        </p:txBody>
      </p:sp>
      <p:sp>
        <p:nvSpPr>
          <p:cNvPr id="38" name="Diamond 37">
            <a:extLst>
              <a:ext uri="{FF2B5EF4-FFF2-40B4-BE49-F238E27FC236}">
                <a16:creationId xmlns:a16="http://schemas.microsoft.com/office/drawing/2014/main" id="{E280B784-9454-43E0-A5A2-2476BA1756AB}"/>
              </a:ext>
            </a:extLst>
          </p:cNvPr>
          <p:cNvSpPr/>
          <p:nvPr/>
        </p:nvSpPr>
        <p:spPr>
          <a:xfrm>
            <a:off x="5094501" y="4524386"/>
            <a:ext cx="1016909" cy="457200"/>
          </a:xfrm>
          <a:prstGeom prst="diamond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894E31B-73D6-4F40-BC58-EAD7A71843D0}"/>
              </a:ext>
            </a:extLst>
          </p:cNvPr>
          <p:cNvSpPr/>
          <p:nvPr/>
        </p:nvSpPr>
        <p:spPr>
          <a:xfrm>
            <a:off x="3708731" y="4525511"/>
            <a:ext cx="876703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26B7E7-663D-4098-A390-ADA6B4D3E5F3}"/>
              </a:ext>
            </a:extLst>
          </p:cNvPr>
          <p:cNvSpPr/>
          <p:nvPr/>
        </p:nvSpPr>
        <p:spPr>
          <a:xfrm>
            <a:off x="6641713" y="4522974"/>
            <a:ext cx="876703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E898A6F-F752-4F92-B2ED-0BDF70FD0353}"/>
              </a:ext>
            </a:extLst>
          </p:cNvPr>
          <p:cNvCxnSpPr/>
          <p:nvPr/>
        </p:nvCxnSpPr>
        <p:spPr>
          <a:xfrm flipH="1">
            <a:off x="4576504" y="4749999"/>
            <a:ext cx="54000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756FE5-16D8-41A4-A280-E8DF66B1A922}"/>
              </a:ext>
            </a:extLst>
          </p:cNvPr>
          <p:cNvCxnSpPr/>
          <p:nvPr/>
        </p:nvCxnSpPr>
        <p:spPr>
          <a:xfrm>
            <a:off x="6101713" y="4749999"/>
            <a:ext cx="54000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E1434862-2FE9-4DB4-884D-5770F2E3DB74}"/>
              </a:ext>
            </a:extLst>
          </p:cNvPr>
          <p:cNvSpPr/>
          <p:nvPr/>
        </p:nvSpPr>
        <p:spPr>
          <a:xfrm>
            <a:off x="3685435" y="3072742"/>
            <a:ext cx="1698171" cy="457200"/>
          </a:xfrm>
          <a:prstGeom prst="flowChartDecision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Issue</a:t>
            </a:r>
          </a:p>
        </p:txBody>
      </p:sp>
      <p:sp>
        <p:nvSpPr>
          <p:cNvPr id="45" name="Flowchart: Decision 44">
            <a:extLst>
              <a:ext uri="{FF2B5EF4-FFF2-40B4-BE49-F238E27FC236}">
                <a16:creationId xmlns:a16="http://schemas.microsoft.com/office/drawing/2014/main" id="{767F4635-2176-4618-9FFE-6AA0F113ACAC}"/>
              </a:ext>
            </a:extLst>
          </p:cNvPr>
          <p:cNvSpPr/>
          <p:nvPr/>
        </p:nvSpPr>
        <p:spPr>
          <a:xfrm>
            <a:off x="3504921" y="3004216"/>
            <a:ext cx="2059200" cy="594252"/>
          </a:xfrm>
          <a:prstGeom prst="flowChartDecision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>
              <a:solidFill>
                <a:schemeClr val="tx1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49A00CE-6233-4C00-BE46-38A6AAF74E3D}"/>
              </a:ext>
            </a:extLst>
          </p:cNvPr>
          <p:cNvCxnSpPr/>
          <p:nvPr/>
        </p:nvCxnSpPr>
        <p:spPr>
          <a:xfrm flipH="1">
            <a:off x="10301718" y="4750030"/>
            <a:ext cx="540000" cy="1125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4D75E19-4BA4-4C38-9289-C275F64B6246}"/>
              </a:ext>
            </a:extLst>
          </p:cNvPr>
          <p:cNvSpPr txBox="1"/>
          <p:nvPr/>
        </p:nvSpPr>
        <p:spPr>
          <a:xfrm>
            <a:off x="9111684" y="5021798"/>
            <a:ext cx="1727126" cy="370800"/>
          </a:xfrm>
          <a:prstGeom prst="rect">
            <a:avLst/>
          </a:prstGeom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One to Many</a:t>
            </a:r>
            <a:endParaRPr lang="en-IN" dirty="0"/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AF544D11-8F12-41FC-B410-3D16D04725AC}"/>
              </a:ext>
            </a:extLst>
          </p:cNvPr>
          <p:cNvSpPr/>
          <p:nvPr/>
        </p:nvSpPr>
        <p:spPr>
          <a:xfrm>
            <a:off x="9291598" y="4521399"/>
            <a:ext cx="1016909" cy="457200"/>
          </a:xfrm>
          <a:prstGeom prst="diamond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2B032AD-5471-47BE-BCE6-AC7ACF8FB21A}"/>
              </a:ext>
            </a:extLst>
          </p:cNvPr>
          <p:cNvSpPr/>
          <p:nvPr/>
        </p:nvSpPr>
        <p:spPr>
          <a:xfrm>
            <a:off x="7905828" y="4522524"/>
            <a:ext cx="876703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46FCF41-55FC-4D64-9880-4B9F37003DCA}"/>
              </a:ext>
            </a:extLst>
          </p:cNvPr>
          <p:cNvSpPr/>
          <p:nvPr/>
        </p:nvSpPr>
        <p:spPr>
          <a:xfrm>
            <a:off x="10838810" y="4519987"/>
            <a:ext cx="876703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3007F06-E61E-4C86-81CA-A7F3E62C2B19}"/>
              </a:ext>
            </a:extLst>
          </p:cNvPr>
          <p:cNvCxnSpPr/>
          <p:nvPr/>
        </p:nvCxnSpPr>
        <p:spPr>
          <a:xfrm flipH="1">
            <a:off x="8773601" y="4747012"/>
            <a:ext cx="54000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915EFE2-D2E3-4D5E-AA8C-77B05EBD2275}"/>
              </a:ext>
            </a:extLst>
          </p:cNvPr>
          <p:cNvSpPr txBox="1"/>
          <p:nvPr/>
        </p:nvSpPr>
        <p:spPr>
          <a:xfrm>
            <a:off x="4934849" y="6030727"/>
            <a:ext cx="1404000" cy="370800"/>
          </a:xfrm>
          <a:prstGeom prst="rect">
            <a:avLst/>
          </a:prstGeom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Many to One</a:t>
            </a:r>
            <a:endParaRPr lang="en-IN" dirty="0"/>
          </a:p>
        </p:txBody>
      </p:sp>
      <p:sp>
        <p:nvSpPr>
          <p:cNvPr id="53" name="Diamond 52">
            <a:extLst>
              <a:ext uri="{FF2B5EF4-FFF2-40B4-BE49-F238E27FC236}">
                <a16:creationId xmlns:a16="http://schemas.microsoft.com/office/drawing/2014/main" id="{79E11085-E183-4EC6-9B98-184F8E4EEAF9}"/>
              </a:ext>
            </a:extLst>
          </p:cNvPr>
          <p:cNvSpPr/>
          <p:nvPr/>
        </p:nvSpPr>
        <p:spPr>
          <a:xfrm>
            <a:off x="5114763" y="5530328"/>
            <a:ext cx="1016909" cy="457200"/>
          </a:xfrm>
          <a:prstGeom prst="diamond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5246411-E14C-4294-9430-7E8E31F605DE}"/>
              </a:ext>
            </a:extLst>
          </p:cNvPr>
          <p:cNvSpPr/>
          <p:nvPr/>
        </p:nvSpPr>
        <p:spPr>
          <a:xfrm>
            <a:off x="3728993" y="5531453"/>
            <a:ext cx="876703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DAD2F6C-181B-48B1-AD4C-7361FEB7AD73}"/>
              </a:ext>
            </a:extLst>
          </p:cNvPr>
          <p:cNvSpPr/>
          <p:nvPr/>
        </p:nvSpPr>
        <p:spPr>
          <a:xfrm>
            <a:off x="6661975" y="5528916"/>
            <a:ext cx="876703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1DF11EB-304C-49CB-9845-636190086CA9}"/>
              </a:ext>
            </a:extLst>
          </p:cNvPr>
          <p:cNvCxnSpPr/>
          <p:nvPr/>
        </p:nvCxnSpPr>
        <p:spPr>
          <a:xfrm>
            <a:off x="6124993" y="5758546"/>
            <a:ext cx="54000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A87AC85-8948-4CEB-B512-AD976547E814}"/>
              </a:ext>
            </a:extLst>
          </p:cNvPr>
          <p:cNvCxnSpPr/>
          <p:nvPr/>
        </p:nvCxnSpPr>
        <p:spPr>
          <a:xfrm flipH="1">
            <a:off x="4602553" y="5759233"/>
            <a:ext cx="540000" cy="1125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7920944-FBDF-4FDD-AFC7-6C97D069E46D}"/>
              </a:ext>
            </a:extLst>
          </p:cNvPr>
          <p:cNvSpPr txBox="1"/>
          <p:nvPr/>
        </p:nvSpPr>
        <p:spPr>
          <a:xfrm>
            <a:off x="9017741" y="6040580"/>
            <a:ext cx="1548000" cy="370800"/>
          </a:xfrm>
          <a:prstGeom prst="rect">
            <a:avLst/>
          </a:prstGeom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Many to Many</a:t>
            </a:r>
            <a:endParaRPr lang="en-IN" dirty="0"/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94786D36-7C6A-4377-AF1A-EC301F37E822}"/>
              </a:ext>
            </a:extLst>
          </p:cNvPr>
          <p:cNvSpPr/>
          <p:nvPr/>
        </p:nvSpPr>
        <p:spPr>
          <a:xfrm>
            <a:off x="9287595" y="5540181"/>
            <a:ext cx="1016909" cy="457200"/>
          </a:xfrm>
          <a:prstGeom prst="diamond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EED99C2-DEB3-400F-97B4-B22B3E80B41A}"/>
              </a:ext>
            </a:extLst>
          </p:cNvPr>
          <p:cNvSpPr/>
          <p:nvPr/>
        </p:nvSpPr>
        <p:spPr>
          <a:xfrm>
            <a:off x="7901825" y="5541306"/>
            <a:ext cx="876703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42230F5-C08F-4149-ACC3-5A0A4C980E3A}"/>
              </a:ext>
            </a:extLst>
          </p:cNvPr>
          <p:cNvSpPr/>
          <p:nvPr/>
        </p:nvSpPr>
        <p:spPr>
          <a:xfrm>
            <a:off x="10834807" y="5538769"/>
            <a:ext cx="876703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46109F8-879C-48D6-BA0A-E894EEB10628}"/>
              </a:ext>
            </a:extLst>
          </p:cNvPr>
          <p:cNvCxnSpPr/>
          <p:nvPr/>
        </p:nvCxnSpPr>
        <p:spPr>
          <a:xfrm flipH="1">
            <a:off x="8765703" y="5769086"/>
            <a:ext cx="540000" cy="1125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6E8A60C-4841-4C7A-BA3D-E8F952943255}"/>
              </a:ext>
            </a:extLst>
          </p:cNvPr>
          <p:cNvCxnSpPr/>
          <p:nvPr/>
        </p:nvCxnSpPr>
        <p:spPr>
          <a:xfrm flipH="1">
            <a:off x="10285643" y="5766068"/>
            <a:ext cx="540000" cy="1125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107011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  <p:bldP spid="10" grpId="0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3" grpId="0"/>
      <p:bldP spid="24" grpId="0" animBg="1"/>
      <p:bldP spid="25" grpId="0"/>
      <p:bldP spid="26" grpId="0" animBg="1"/>
      <p:bldP spid="27" grpId="0" animBg="1"/>
      <p:bldP spid="28" grpId="0" animBg="1"/>
      <p:bldP spid="29" grpId="0" animBg="1"/>
      <p:bldP spid="37" grpId="0" animBg="1"/>
      <p:bldP spid="38" grpId="0" animBg="1"/>
      <p:bldP spid="39" grpId="0" animBg="1"/>
      <p:bldP spid="40" grpId="0" animBg="1"/>
      <p:bldP spid="44" grpId="0" animBg="1"/>
      <p:bldP spid="45" grpId="0" animBg="1"/>
      <p:bldP spid="47" grpId="0" animBg="1"/>
      <p:bldP spid="48" grpId="0" animBg="1"/>
      <p:bldP spid="49" grpId="0" animBg="1"/>
      <p:bldP spid="50" grpId="0" animBg="1"/>
      <p:bldP spid="52" grpId="0" animBg="1"/>
      <p:bldP spid="53" grpId="0" animBg="1"/>
      <p:bldP spid="54" grpId="0" animBg="1"/>
      <p:bldP spid="55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E-R Diagram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(Example)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3812E7-58DF-4A65-B6AB-CF7337721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22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919" y="1123837"/>
            <a:ext cx="2947482" cy="460118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E-R Diagram</a:t>
            </a:r>
            <a:b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(Home Work)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7AE3B63-3774-40FA-B034-9E982AF49F42}"/>
              </a:ext>
            </a:extLst>
          </p:cNvPr>
          <p:cNvSpPr/>
          <p:nvPr/>
        </p:nvSpPr>
        <p:spPr>
          <a:xfrm>
            <a:off x="3474199" y="1407410"/>
            <a:ext cx="827652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1" algn="just"/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Draw E-R Diagram for the following:</a:t>
            </a:r>
          </a:p>
          <a:p>
            <a:pPr marL="685800" lvl="1" indent="-457200" algn="just">
              <a:buFont typeface="+mj-lt"/>
              <a:buAutoNum type="arabicParenR"/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Hospital Management</a:t>
            </a:r>
          </a:p>
          <a:p>
            <a:pPr marL="685800" lvl="1" indent="-457200" algn="just">
              <a:buFont typeface="+mj-lt"/>
              <a:buAutoNum type="arabicParenR"/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School Management</a:t>
            </a:r>
          </a:p>
          <a:p>
            <a:pPr marL="685800" lvl="1" indent="-457200" algn="just">
              <a:buFont typeface="+mj-lt"/>
              <a:buAutoNum type="arabicParenR"/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Library Management</a:t>
            </a:r>
          </a:p>
          <a:p>
            <a:pPr marL="685800" lvl="1" indent="-457200" algn="just">
              <a:buFont typeface="+mj-lt"/>
              <a:buAutoNum type="arabicParenR"/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Hotel Management</a:t>
            </a:r>
          </a:p>
          <a:p>
            <a:pPr marL="685800" lvl="1" indent="-457200" algn="just">
              <a:buFont typeface="+mj-lt"/>
              <a:buAutoNum type="arabicParenR"/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Bus/Airline/Train Reservation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5E86EDD-C28C-4E98-A52A-418252751881}"/>
              </a:ext>
            </a:extLst>
          </p:cNvPr>
          <p:cNvSpPr/>
          <p:nvPr/>
        </p:nvSpPr>
        <p:spPr>
          <a:xfrm>
            <a:off x="3365017" y="4619593"/>
            <a:ext cx="810222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1" algn="just"/>
            <a:r>
              <a:rPr lang="en-US" sz="24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Tips for Examination:</a:t>
            </a:r>
          </a:p>
          <a:p>
            <a:pPr marL="571500" lvl="1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Define minimum 4 entities with at least 4 attributes.</a:t>
            </a:r>
          </a:p>
          <a:p>
            <a:pPr marL="571500" lvl="1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Provide all types of attributes somewhere in any of the entities</a:t>
            </a:r>
          </a:p>
          <a:p>
            <a:pPr marL="571500" lvl="1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Show weak entity set, few mapping cardinalities.</a:t>
            </a:r>
          </a:p>
        </p:txBody>
      </p:sp>
    </p:spTree>
    <p:extLst>
      <p:ext uri="{BB962C8B-B14F-4D97-AF65-F5344CB8AC3E}">
        <p14:creationId xmlns:p14="http://schemas.microsoft.com/office/powerpoint/2010/main" val="388758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2151" y="2140370"/>
            <a:ext cx="5486400" cy="2441448"/>
          </a:xfrm>
        </p:spPr>
        <p:txBody>
          <a:bodyPr>
            <a:normAutofit/>
          </a:bodyPr>
          <a:lstStyle/>
          <a:p>
            <a:pPr algn="ctr"/>
            <a:r>
              <a:rPr lang="en-US" sz="12450" b="1" dirty="0">
                <a:solidFill>
                  <a:schemeClr val="tx1"/>
                </a:solidFill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12496521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1349</TotalTime>
  <Words>2385</Words>
  <Application>Microsoft Office PowerPoint</Application>
  <PresentationFormat>Widescreen</PresentationFormat>
  <Paragraphs>483</Paragraphs>
  <Slides>41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Cambria</vt:lpstr>
      <vt:lpstr>Cambria Math</vt:lpstr>
      <vt:lpstr>Corbel</vt:lpstr>
      <vt:lpstr>Wingdings</vt:lpstr>
      <vt:lpstr>Wingdings 2</vt:lpstr>
      <vt:lpstr>Frame</vt:lpstr>
      <vt:lpstr>PowerPoint Presentation</vt:lpstr>
      <vt:lpstr>PowerPoint Presentation</vt:lpstr>
      <vt:lpstr>Basic Concepts</vt:lpstr>
      <vt:lpstr>Integrity Constraint</vt:lpstr>
      <vt:lpstr>Integrity Constraint</vt:lpstr>
      <vt:lpstr>Integrity Constraint</vt:lpstr>
      <vt:lpstr>Integrity Constraint</vt:lpstr>
      <vt:lpstr>Database Models</vt:lpstr>
      <vt:lpstr>Database Models (Hierarchical Model)</vt:lpstr>
      <vt:lpstr>Database Models (Network Model)</vt:lpstr>
      <vt:lpstr>Database Models (Relational Model)</vt:lpstr>
      <vt:lpstr>Database Models (Object Oriented Model)</vt:lpstr>
      <vt:lpstr>Database Models (Object Oriented Model)</vt:lpstr>
      <vt:lpstr>E-R Diagram</vt:lpstr>
      <vt:lpstr>E-R Diagram (Entity)</vt:lpstr>
      <vt:lpstr>E-R Diagram (Entity)</vt:lpstr>
      <vt:lpstr>E-R Diagram (Entity Set)</vt:lpstr>
      <vt:lpstr>E-R Diagram (Attributes)</vt:lpstr>
      <vt:lpstr>E-R Diagram (Types of Attributes)</vt:lpstr>
      <vt:lpstr>E-R Diagram (Types of Attributes)</vt:lpstr>
      <vt:lpstr>E-R Diagram (Types of Attributes)</vt:lpstr>
      <vt:lpstr>E-R Diagram (Attributes Example)</vt:lpstr>
      <vt:lpstr>E-R Diagram (Relationship Set)</vt:lpstr>
      <vt:lpstr>Mapping Cardinality</vt:lpstr>
      <vt:lpstr>Mapping Cardinality (One to One)</vt:lpstr>
      <vt:lpstr>Mapping Cardinality (One to Many)</vt:lpstr>
      <vt:lpstr>Mapping Cardinality (Many to One)</vt:lpstr>
      <vt:lpstr>Mapping Cardinality (Many to Many)</vt:lpstr>
      <vt:lpstr>Participation Constraints</vt:lpstr>
      <vt:lpstr>Participation Constraints (Example)</vt:lpstr>
      <vt:lpstr>Weak Entity Set</vt:lpstr>
      <vt:lpstr>Weak Entity Set (Example)</vt:lpstr>
      <vt:lpstr>Extended E-R Diagram : Specialization</vt:lpstr>
      <vt:lpstr>Specialization (Example)</vt:lpstr>
      <vt:lpstr>Extended E-R Diagram : Generalization</vt:lpstr>
      <vt:lpstr>Generalization (Example)</vt:lpstr>
      <vt:lpstr>Aggregation</vt:lpstr>
      <vt:lpstr>E-R Diagram (Summary)</vt:lpstr>
      <vt:lpstr>E-R Diagram (Example)</vt:lpstr>
      <vt:lpstr>E-R Diagram (Home Work)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 to the online  certificate  course</dc:title>
  <dc:creator>Deepak Mashru</dc:creator>
  <cp:lastModifiedBy>Dr. Rachit Adhvaryu</cp:lastModifiedBy>
  <cp:revision>212</cp:revision>
  <dcterms:created xsi:type="dcterms:W3CDTF">2019-05-12T04:30:40Z</dcterms:created>
  <dcterms:modified xsi:type="dcterms:W3CDTF">2023-06-19T08:27:40Z</dcterms:modified>
</cp:coreProperties>
</file>