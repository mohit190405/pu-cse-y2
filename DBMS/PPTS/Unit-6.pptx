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258" r:id="rId3"/>
    <p:sldId id="260" r:id="rId4"/>
    <p:sldId id="297" r:id="rId5"/>
    <p:sldId id="29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329" r:id="rId37"/>
    <p:sldId id="330" r:id="rId38"/>
    <p:sldId id="446" r:id="rId39"/>
    <p:sldId id="423" r:id="rId40"/>
    <p:sldId id="424" r:id="rId41"/>
    <p:sldId id="425" r:id="rId42"/>
    <p:sldId id="426" r:id="rId43"/>
    <p:sldId id="429" r:id="rId44"/>
    <p:sldId id="430" r:id="rId45"/>
    <p:sldId id="433" r:id="rId46"/>
    <p:sldId id="431" r:id="rId47"/>
    <p:sldId id="427" r:id="rId48"/>
    <p:sldId id="428" r:id="rId49"/>
    <p:sldId id="445" r:id="rId50"/>
    <p:sldId id="436" r:id="rId51"/>
    <p:sldId id="432" r:id="rId52"/>
    <p:sldId id="435" r:id="rId53"/>
    <p:sldId id="434" r:id="rId54"/>
    <p:sldId id="437" r:id="rId55"/>
    <p:sldId id="440" r:id="rId56"/>
    <p:sldId id="438" r:id="rId57"/>
    <p:sldId id="439" r:id="rId58"/>
    <p:sldId id="442" r:id="rId59"/>
    <p:sldId id="443" r:id="rId60"/>
    <p:sldId id="444" r:id="rId61"/>
    <p:sldId id="44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93A8"/>
    <a:srgbClr val="40BAD2"/>
    <a:srgbClr val="004274"/>
    <a:srgbClr val="FFFFFF"/>
    <a:srgbClr val="006600"/>
    <a:srgbClr val="11BBAF"/>
    <a:srgbClr val="FFCA4F"/>
    <a:srgbClr val="854F89"/>
    <a:srgbClr val="FFE152"/>
    <a:srgbClr val="DD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33963-C124-47E7-A869-F17D8195CF1D}" type="datetimeFigureOut">
              <a:rPr lang="en-US" smtClean="0"/>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BEF28-68B5-4989-948B-CCBB20049CEF}" type="slidenum">
              <a:rPr lang="en-US" smtClean="0"/>
              <a:t>‹#›</a:t>
            </a:fld>
            <a:endParaRPr lang="en-US"/>
          </a:p>
        </p:txBody>
      </p:sp>
    </p:spTree>
    <p:extLst>
      <p:ext uri="{BB962C8B-B14F-4D97-AF65-F5344CB8AC3E}">
        <p14:creationId xmlns:p14="http://schemas.microsoft.com/office/powerpoint/2010/main" val="2351610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20</a:t>
            </a:fld>
            <a:endParaRPr lang="en-US"/>
          </a:p>
        </p:txBody>
      </p:sp>
    </p:spTree>
    <p:extLst>
      <p:ext uri="{BB962C8B-B14F-4D97-AF65-F5344CB8AC3E}">
        <p14:creationId xmlns:p14="http://schemas.microsoft.com/office/powerpoint/2010/main" val="2385269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21</a:t>
            </a:fld>
            <a:endParaRPr lang="en-US"/>
          </a:p>
        </p:txBody>
      </p:sp>
    </p:spTree>
    <p:extLst>
      <p:ext uri="{BB962C8B-B14F-4D97-AF65-F5344CB8AC3E}">
        <p14:creationId xmlns:p14="http://schemas.microsoft.com/office/powerpoint/2010/main" val="1941645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22</a:t>
            </a:fld>
            <a:endParaRPr lang="en-US"/>
          </a:p>
        </p:txBody>
      </p:sp>
    </p:spTree>
    <p:extLst>
      <p:ext uri="{BB962C8B-B14F-4D97-AF65-F5344CB8AC3E}">
        <p14:creationId xmlns:p14="http://schemas.microsoft.com/office/powerpoint/2010/main" val="4125428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23</a:t>
            </a:fld>
            <a:endParaRPr lang="en-US"/>
          </a:p>
        </p:txBody>
      </p:sp>
    </p:spTree>
    <p:extLst>
      <p:ext uri="{BB962C8B-B14F-4D97-AF65-F5344CB8AC3E}">
        <p14:creationId xmlns:p14="http://schemas.microsoft.com/office/powerpoint/2010/main" val="2073557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24</a:t>
            </a:fld>
            <a:endParaRPr lang="en-US"/>
          </a:p>
        </p:txBody>
      </p:sp>
    </p:spTree>
    <p:extLst>
      <p:ext uri="{BB962C8B-B14F-4D97-AF65-F5344CB8AC3E}">
        <p14:creationId xmlns:p14="http://schemas.microsoft.com/office/powerpoint/2010/main" val="148245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25</a:t>
            </a:fld>
            <a:endParaRPr lang="en-US"/>
          </a:p>
        </p:txBody>
      </p:sp>
    </p:spTree>
    <p:extLst>
      <p:ext uri="{BB962C8B-B14F-4D97-AF65-F5344CB8AC3E}">
        <p14:creationId xmlns:p14="http://schemas.microsoft.com/office/powerpoint/2010/main" val="3939713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26</a:t>
            </a:fld>
            <a:endParaRPr lang="en-US"/>
          </a:p>
        </p:txBody>
      </p:sp>
    </p:spTree>
    <p:extLst>
      <p:ext uri="{BB962C8B-B14F-4D97-AF65-F5344CB8AC3E}">
        <p14:creationId xmlns:p14="http://schemas.microsoft.com/office/powerpoint/2010/main" val="1682475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28</a:t>
            </a:fld>
            <a:endParaRPr lang="en-US"/>
          </a:p>
        </p:txBody>
      </p:sp>
    </p:spTree>
    <p:extLst>
      <p:ext uri="{BB962C8B-B14F-4D97-AF65-F5344CB8AC3E}">
        <p14:creationId xmlns:p14="http://schemas.microsoft.com/office/powerpoint/2010/main" val="2325028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29</a:t>
            </a:fld>
            <a:endParaRPr lang="en-US"/>
          </a:p>
        </p:txBody>
      </p:sp>
    </p:spTree>
    <p:extLst>
      <p:ext uri="{BB962C8B-B14F-4D97-AF65-F5344CB8AC3E}">
        <p14:creationId xmlns:p14="http://schemas.microsoft.com/office/powerpoint/2010/main" val="2936378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30</a:t>
            </a:fld>
            <a:endParaRPr lang="en-US"/>
          </a:p>
        </p:txBody>
      </p:sp>
    </p:spTree>
    <p:extLst>
      <p:ext uri="{BB962C8B-B14F-4D97-AF65-F5344CB8AC3E}">
        <p14:creationId xmlns:p14="http://schemas.microsoft.com/office/powerpoint/2010/main" val="1153552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31</a:t>
            </a:fld>
            <a:endParaRPr lang="en-US"/>
          </a:p>
        </p:txBody>
      </p:sp>
    </p:spTree>
    <p:extLst>
      <p:ext uri="{BB962C8B-B14F-4D97-AF65-F5344CB8AC3E}">
        <p14:creationId xmlns:p14="http://schemas.microsoft.com/office/powerpoint/2010/main" val="1184554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32</a:t>
            </a:fld>
            <a:endParaRPr lang="en-US"/>
          </a:p>
        </p:txBody>
      </p:sp>
    </p:spTree>
    <p:extLst>
      <p:ext uri="{BB962C8B-B14F-4D97-AF65-F5344CB8AC3E}">
        <p14:creationId xmlns:p14="http://schemas.microsoft.com/office/powerpoint/2010/main" val="1252223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33</a:t>
            </a:fld>
            <a:endParaRPr lang="en-US"/>
          </a:p>
        </p:txBody>
      </p:sp>
    </p:spTree>
    <p:extLst>
      <p:ext uri="{BB962C8B-B14F-4D97-AF65-F5344CB8AC3E}">
        <p14:creationId xmlns:p14="http://schemas.microsoft.com/office/powerpoint/2010/main" val="2624394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34</a:t>
            </a:fld>
            <a:endParaRPr lang="en-US"/>
          </a:p>
        </p:txBody>
      </p:sp>
    </p:spTree>
    <p:extLst>
      <p:ext uri="{BB962C8B-B14F-4D97-AF65-F5344CB8AC3E}">
        <p14:creationId xmlns:p14="http://schemas.microsoft.com/office/powerpoint/2010/main" val="1345693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35</a:t>
            </a:fld>
            <a:endParaRPr lang="en-US"/>
          </a:p>
        </p:txBody>
      </p:sp>
    </p:spTree>
    <p:extLst>
      <p:ext uri="{BB962C8B-B14F-4D97-AF65-F5344CB8AC3E}">
        <p14:creationId xmlns:p14="http://schemas.microsoft.com/office/powerpoint/2010/main" val="3729090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36</a:t>
            </a:fld>
            <a:endParaRPr lang="en-US"/>
          </a:p>
        </p:txBody>
      </p:sp>
    </p:spTree>
    <p:extLst>
      <p:ext uri="{BB962C8B-B14F-4D97-AF65-F5344CB8AC3E}">
        <p14:creationId xmlns:p14="http://schemas.microsoft.com/office/powerpoint/2010/main" val="397397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37</a:t>
            </a:fld>
            <a:endParaRPr lang="en-US"/>
          </a:p>
        </p:txBody>
      </p:sp>
    </p:spTree>
    <p:extLst>
      <p:ext uri="{BB962C8B-B14F-4D97-AF65-F5344CB8AC3E}">
        <p14:creationId xmlns:p14="http://schemas.microsoft.com/office/powerpoint/2010/main" val="44339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ABEF28-68B5-4989-948B-CCBB20049CEF}" type="slidenum">
              <a:rPr lang="en-US" smtClean="0"/>
              <a:t>49</a:t>
            </a:fld>
            <a:endParaRPr lang="en-US"/>
          </a:p>
        </p:txBody>
      </p:sp>
    </p:spTree>
    <p:extLst>
      <p:ext uri="{BB962C8B-B14F-4D97-AF65-F5344CB8AC3E}">
        <p14:creationId xmlns:p14="http://schemas.microsoft.com/office/powerpoint/2010/main" val="2234693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486396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19-06-23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681021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B6E4831-481F-4AF1-9D8E-170CD6E1C3F5}" type="datetimeFigureOut">
              <a:rPr lang="en-IN" smtClean="0"/>
              <a:pPr/>
              <a:t>19-06-23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497517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FB6E4831-481F-4AF1-9D8E-170CD6E1C3F5}" type="datetimeFigureOut">
              <a:rPr lang="en-IN" smtClean="0"/>
              <a:pPr/>
              <a:t>19-06-23</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C11CE39-2868-44A2-A0C6-827D458F7A8B}" type="slidenum">
              <a:rPr lang="en-IN" smtClean="0"/>
              <a:pPr/>
              <a:t>‹#›</a:t>
            </a:fld>
            <a:endParaRPr lang="en-IN"/>
          </a:p>
        </p:txBody>
      </p:sp>
    </p:spTree>
    <p:extLst>
      <p:ext uri="{BB962C8B-B14F-4D97-AF65-F5344CB8AC3E}">
        <p14:creationId xmlns:p14="http://schemas.microsoft.com/office/powerpoint/2010/main" val="10899746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7" r:id="rId3"/>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C:\Users\parul\Desktop\temp.png"/>
          <p:cNvPicPr preferRelativeResize="0"/>
          <p:nvPr/>
        </p:nvPicPr>
        <p:blipFill rotWithShape="1">
          <a:blip r:embed="rId3">
            <a:alphaModFix/>
          </a:blip>
          <a:srcRect/>
          <a:stretch/>
        </p:blipFill>
        <p:spPr>
          <a:xfrm>
            <a:off x="-1" y="0"/>
            <a:ext cx="12192001" cy="6858000"/>
          </a:xfrm>
          <a:prstGeom prst="rect">
            <a:avLst/>
          </a:prstGeom>
          <a:noFill/>
          <a:ln>
            <a:noFill/>
          </a:ln>
        </p:spPr>
      </p:pic>
      <p:sp>
        <p:nvSpPr>
          <p:cNvPr id="89" name="Google Shape;89;p1"/>
          <p:cNvSpPr/>
          <p:nvPr/>
        </p:nvSpPr>
        <p:spPr>
          <a:xfrm>
            <a:off x="1892185" y="1698182"/>
            <a:ext cx="8390965" cy="1091454"/>
          </a:xfrm>
          <a:prstGeom prst="rect">
            <a:avLst/>
          </a:prstGeom>
          <a:noFill/>
          <a:ln>
            <a:noFill/>
          </a:ln>
        </p:spPr>
        <p:txBody>
          <a:bodyPr spcFirstLastPara="1" wrap="square" lIns="68569" tIns="34275" rIns="68569" bIns="34275" anchor="t" anchorCtr="0">
            <a:noAutofit/>
          </a:bodyPr>
          <a:lstStyle/>
          <a:p>
            <a:pPr algn="ctr">
              <a:buClr>
                <a:srgbClr val="000000"/>
              </a:buClr>
              <a:buSzPts val="3500"/>
            </a:pPr>
            <a:r>
              <a:rPr lang="en-IN" sz="3200" b="1" dirty="0">
                <a:solidFill>
                  <a:srgbClr val="000000"/>
                </a:solidFill>
                <a:latin typeface="Calibri"/>
                <a:ea typeface="Calibri"/>
                <a:cs typeface="Calibri"/>
                <a:sym typeface="Calibri"/>
              </a:rPr>
              <a:t>Database Management System (303105203)</a:t>
            </a:r>
          </a:p>
          <a:p>
            <a:pPr algn="ctr">
              <a:buClr>
                <a:srgbClr val="000000"/>
              </a:buClr>
              <a:buSzPts val="3500"/>
            </a:pPr>
            <a:endParaRPr lang="en-IN" sz="1400" b="1" dirty="0">
              <a:solidFill>
                <a:srgbClr val="000000"/>
              </a:solidFill>
              <a:latin typeface="Calibri"/>
              <a:ea typeface="Calibri"/>
              <a:cs typeface="Calibri"/>
              <a:sym typeface="Calibri"/>
            </a:endParaRPr>
          </a:p>
          <a:p>
            <a:pPr algn="ctr">
              <a:buClr>
                <a:srgbClr val="000000"/>
              </a:buClr>
              <a:buSzPts val="3500"/>
            </a:pPr>
            <a:r>
              <a:rPr lang="en-IN" sz="2800" b="1" dirty="0">
                <a:solidFill>
                  <a:srgbClr val="000000"/>
                </a:solidFill>
                <a:latin typeface="Calibri"/>
                <a:ea typeface="Calibri"/>
                <a:cs typeface="Calibri"/>
                <a:sym typeface="Calibri"/>
              </a:rPr>
              <a:t>Unit – 6: </a:t>
            </a:r>
            <a:r>
              <a:rPr lang="en-US" sz="2800" b="1" dirty="0">
                <a:solidFill>
                  <a:srgbClr val="000000"/>
                </a:solidFill>
                <a:latin typeface="Calibri"/>
                <a:ea typeface="Calibri"/>
                <a:cs typeface="Calibri"/>
                <a:sym typeface="Calibri"/>
              </a:rPr>
              <a:t>Transaction</a:t>
            </a:r>
            <a:endParaRPr lang="en-IN" sz="2800" b="1" dirty="0">
              <a:solidFill>
                <a:srgbClr val="000000"/>
              </a:solidFill>
              <a:latin typeface="Calibri"/>
              <a:ea typeface="Calibri"/>
              <a:cs typeface="Calibri"/>
              <a:sym typeface="Calibri"/>
            </a:endParaRPr>
          </a:p>
          <a:p>
            <a:pPr algn="ctr">
              <a:buClr>
                <a:srgbClr val="000000"/>
              </a:buClr>
              <a:buSzPts val="3500"/>
            </a:pPr>
            <a:endParaRPr sz="1350" dirty="0"/>
          </a:p>
        </p:txBody>
      </p:sp>
      <p:sp>
        <p:nvSpPr>
          <p:cNvPr id="90" name="Google Shape;90;p1"/>
          <p:cNvSpPr/>
          <p:nvPr/>
        </p:nvSpPr>
        <p:spPr>
          <a:xfrm>
            <a:off x="2203077" y="2997994"/>
            <a:ext cx="7678271" cy="577454"/>
          </a:xfrm>
          <a:prstGeom prst="rect">
            <a:avLst/>
          </a:prstGeom>
          <a:noFill/>
          <a:ln>
            <a:noFill/>
          </a:ln>
        </p:spPr>
        <p:txBody>
          <a:bodyPr spcFirstLastPara="1" wrap="square" lIns="68569" tIns="34275" rIns="68569" bIns="34275" anchor="t" anchorCtr="0">
            <a:noAutofit/>
          </a:bodyPr>
          <a:lstStyle/>
          <a:p>
            <a:pPr algn="ctr">
              <a:buClr>
                <a:srgbClr val="000000"/>
              </a:buClr>
              <a:buSzPts val="2200"/>
            </a:pPr>
            <a:r>
              <a:rPr lang="en-IN" sz="1650" b="1" dirty="0">
                <a:solidFill>
                  <a:srgbClr val="000000"/>
                </a:solidFill>
                <a:latin typeface="Calibri"/>
                <a:ea typeface="Calibri"/>
                <a:cs typeface="Calibri"/>
                <a:sym typeface="Calibri"/>
              </a:rPr>
              <a:t>Dr. Rachit Adhvaryu, </a:t>
            </a:r>
          </a:p>
          <a:p>
            <a:pPr algn="ctr">
              <a:buClr>
                <a:srgbClr val="000000"/>
              </a:buClr>
              <a:buSzPts val="2200"/>
            </a:pPr>
            <a:r>
              <a:rPr lang="en-IN" sz="1650" dirty="0">
                <a:solidFill>
                  <a:srgbClr val="000000"/>
                </a:solidFill>
                <a:latin typeface="Calibri"/>
                <a:ea typeface="Calibri"/>
                <a:cs typeface="Calibri"/>
                <a:sym typeface="Calibri"/>
              </a:rPr>
              <a:t>Assistant Professor, Computer Science &amp; Engineering</a:t>
            </a:r>
            <a:endParaRPr sz="1650" dirty="0">
              <a:solidFill>
                <a:srgbClr val="000000"/>
              </a:solidFill>
              <a:latin typeface="Calibri"/>
              <a:ea typeface="Calibri"/>
              <a:cs typeface="Calibri"/>
              <a:sym typeface="Calibri"/>
            </a:endParaRPr>
          </a:p>
        </p:txBody>
      </p:sp>
      <p:pic>
        <p:nvPicPr>
          <p:cNvPr id="91" name="Google Shape;91;p1" descr="C:\Users\parul\Desktop\Registered Logosd.png"/>
          <p:cNvPicPr preferRelativeResize="0"/>
          <p:nvPr/>
        </p:nvPicPr>
        <p:blipFill rotWithShape="1">
          <a:blip r:embed="rId4">
            <a:alphaModFix/>
          </a:blip>
          <a:srcRect/>
          <a:stretch/>
        </p:blipFill>
        <p:spPr>
          <a:xfrm>
            <a:off x="5105400" y="685800"/>
            <a:ext cx="1981200" cy="685800"/>
          </a:xfrm>
          <a:prstGeom prst="rect">
            <a:avLst/>
          </a:prstGeom>
          <a:noFill/>
          <a:ln>
            <a:noFill/>
          </a:ln>
        </p:spPr>
      </p:pic>
      <p:grpSp>
        <p:nvGrpSpPr>
          <p:cNvPr id="92" name="Google Shape;92;p1"/>
          <p:cNvGrpSpPr/>
          <p:nvPr/>
        </p:nvGrpSpPr>
        <p:grpSpPr>
          <a:xfrm>
            <a:off x="3730230" y="2895601"/>
            <a:ext cx="4731544" cy="70247"/>
            <a:chOff x="1428728" y="2571744"/>
            <a:chExt cx="6309404" cy="94298"/>
          </a:xfrm>
        </p:grpSpPr>
        <p:cxnSp>
          <p:nvCxnSpPr>
            <p:cNvPr id="93"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94" name="Google Shape;94;p1"/>
            <p:cNvSpPr/>
            <p:nvPr/>
          </p:nvSpPr>
          <p:spPr>
            <a:xfrm rot="10800000">
              <a:off x="1428728" y="2571744"/>
              <a:ext cx="93672"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sp>
          <p:nvSpPr>
            <p:cNvPr id="95" name="Google Shape;95;p1"/>
            <p:cNvSpPr/>
            <p:nvPr/>
          </p:nvSpPr>
          <p:spPr>
            <a:xfrm rot="10800000">
              <a:off x="7644459" y="2571744"/>
              <a:ext cx="93673"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2"/>
          <p:cNvSpPr txBox="1">
            <a:spLocks/>
          </p:cNvSpPr>
          <p:nvPr/>
        </p:nvSpPr>
        <p:spPr>
          <a:xfrm>
            <a:off x="1069848" y="850505"/>
            <a:ext cx="7315200" cy="44794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7200" b="1" dirty="0"/>
          </a:p>
        </p:txBody>
      </p:sp>
      <p:sp>
        <p:nvSpPr>
          <p:cNvPr id="8" name="Subtitle 2"/>
          <p:cNvSpPr txBox="1">
            <a:spLocks/>
          </p:cNvSpPr>
          <p:nvPr/>
        </p:nvSpPr>
        <p:spPr>
          <a:xfrm>
            <a:off x="2295535" y="2643827"/>
            <a:ext cx="6120306" cy="46486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200"/>
              </a:spcBef>
              <a:buClr>
                <a:schemeClr val="accent1"/>
              </a:buClr>
              <a:buFont typeface="Wingdings 2" pitchFamily="18" charset="2"/>
              <a:buNone/>
              <a:defRPr sz="2200" kern="1200" cap="none" spc="0" baseline="0">
                <a:solidFill>
                  <a:schemeClr val="accent1">
                    <a:lumMod val="20000"/>
                    <a:lumOff val="80000"/>
                  </a:schemeClr>
                </a:solidFill>
                <a:latin typeface="+mn-lt"/>
                <a:ea typeface="+mn-ea"/>
                <a:cs typeface="+mn-cs"/>
              </a:defRPr>
            </a:lvl1pPr>
            <a:lvl2pPr marL="4572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2pPr>
            <a:lvl3pPr marL="914400" indent="0" algn="ctr" defTabSz="914400" rtl="0" eaLnBrk="1" latinLnBrk="0" hangingPunct="1">
              <a:lnSpc>
                <a:spcPct val="90000"/>
              </a:lnSpc>
              <a:spcBef>
                <a:spcPts val="250"/>
              </a:spcBef>
              <a:spcAft>
                <a:spcPts val="250"/>
              </a:spcAft>
              <a:buClr>
                <a:schemeClr val="accent1"/>
              </a:buClr>
              <a:buFont typeface="Wingdings 2" pitchFamily="18" charset="2"/>
              <a:buNone/>
              <a:defRPr sz="2200" kern="1200">
                <a:solidFill>
                  <a:schemeClr val="tx1">
                    <a:lumMod val="65000"/>
                    <a:lumOff val="35000"/>
                  </a:schemeClr>
                </a:solidFill>
                <a:latin typeface="+mn-lt"/>
                <a:ea typeface="+mn-ea"/>
                <a:cs typeface="+mn-cs"/>
              </a:defRPr>
            </a:lvl3pPr>
            <a:lvl4pPr marL="1371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4pPr>
            <a:lvl5pPr marL="18288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5pPr>
            <a:lvl6pPr marL="22860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6pPr>
            <a:lvl7pPr marL="27432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7pPr>
            <a:lvl8pPr marL="32004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8pPr>
            <a:lvl9pPr marL="3657600" indent="0" algn="ctr" defTabSz="914400" rtl="0" eaLnBrk="1" latinLnBrk="0" hangingPunct="1">
              <a:lnSpc>
                <a:spcPct val="90000"/>
              </a:lnSpc>
              <a:spcBef>
                <a:spcPts val="250"/>
              </a:spcBef>
              <a:spcAft>
                <a:spcPts val="250"/>
              </a:spcAft>
              <a:buClr>
                <a:schemeClr val="accent1"/>
              </a:buClr>
              <a:buFont typeface="Wingdings 2" pitchFamily="18" charset="2"/>
              <a:buNone/>
              <a:defRPr sz="2000" kern="1200">
                <a:solidFill>
                  <a:schemeClr val="tx1">
                    <a:lumMod val="65000"/>
                    <a:lumOff val="35000"/>
                  </a:schemeClr>
                </a:solidFill>
                <a:latin typeface="+mn-lt"/>
                <a:ea typeface="+mn-ea"/>
                <a:cs typeface="+mn-cs"/>
              </a:defRPr>
            </a:lvl9pPr>
          </a:lstStyle>
          <a:p>
            <a:endParaRPr lang="en-IN" sz="2800" b="1" spc="-100" dirty="0">
              <a:solidFill>
                <a:schemeClr val="tx1">
                  <a:lumMod val="50000"/>
                  <a:lumOff val="50000"/>
                </a:schemeClr>
              </a:solidFill>
              <a:latin typeface="+mj-lt"/>
              <a:ea typeface="+mj-ea"/>
              <a:cs typeface="+mj-cs"/>
            </a:endParaRPr>
          </a:p>
        </p:txBody>
      </p:sp>
      <p:sp>
        <p:nvSpPr>
          <p:cNvPr id="6" name="Rectangle 5">
            <a:extLst>
              <a:ext uri="{FF2B5EF4-FFF2-40B4-BE49-F238E27FC236}">
                <a16:creationId xmlns:a16="http://schemas.microsoft.com/office/drawing/2014/main" id="{90A67A17-9897-4D8D-B2BF-29A7661B6F5E}"/>
              </a:ext>
            </a:extLst>
          </p:cNvPr>
          <p:cNvSpPr/>
          <p:nvPr/>
        </p:nvSpPr>
        <p:spPr>
          <a:xfrm>
            <a:off x="518612" y="487246"/>
            <a:ext cx="7315200" cy="4031873"/>
          </a:xfrm>
          <a:prstGeom prst="rect">
            <a:avLst/>
          </a:prstGeom>
        </p:spPr>
        <p:txBody>
          <a:bodyPr wrap="square">
            <a:spAutoFit/>
          </a:bodyPr>
          <a:lstStyle/>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Transaction concepts</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ACID</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Transaction Life Cycle</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Serializability</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Recovery</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Concurrency Control</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Locking mechanism</a:t>
            </a:r>
          </a:p>
          <a:p>
            <a:pPr>
              <a:buFont typeface="Arial" panose="020B0604020202020204" pitchFamily="34" charset="0"/>
              <a:buChar char="•"/>
            </a:pPr>
            <a:r>
              <a:rPr lang="en-IN" sz="3200" dirty="0">
                <a:latin typeface="Cambria Math" panose="02040503050406030204" pitchFamily="18" charset="0"/>
                <a:ea typeface="Cambria Math" panose="02040503050406030204" pitchFamily="18" charset="0"/>
              </a:rPr>
              <a:t>Deadlock</a:t>
            </a:r>
          </a:p>
        </p:txBody>
      </p:sp>
    </p:spTree>
    <p:extLst>
      <p:ext uri="{BB962C8B-B14F-4D97-AF65-F5344CB8AC3E}">
        <p14:creationId xmlns:p14="http://schemas.microsoft.com/office/powerpoint/2010/main" val="3471075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endParaRPr lang="en-US" dirty="0"/>
          </a:p>
        </p:txBody>
      </p:sp>
      <p:sp>
        <p:nvSpPr>
          <p:cNvPr id="4" name="Rectangle 3">
            <a:extLst>
              <a:ext uri="{FF2B5EF4-FFF2-40B4-BE49-F238E27FC236}">
                <a16:creationId xmlns:a16="http://schemas.microsoft.com/office/drawing/2014/main" id="{982171D2-D4CD-4E8F-AFE5-9855FDB1D6FA}"/>
              </a:ext>
            </a:extLst>
          </p:cNvPr>
          <p:cNvSpPr/>
          <p:nvPr/>
        </p:nvSpPr>
        <p:spPr>
          <a:xfrm>
            <a:off x="3509913" y="132770"/>
            <a:ext cx="8169897" cy="1677382"/>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Anything under execution can be known as Transaction.</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transaction is a sequence of operations performed as a single logical unit of work that contains one or more than one SQL statements. </a:t>
            </a:r>
          </a:p>
        </p:txBody>
      </p:sp>
      <p:sp>
        <p:nvSpPr>
          <p:cNvPr id="13" name="Content Placeholder 2">
            <a:extLst>
              <a:ext uri="{FF2B5EF4-FFF2-40B4-BE49-F238E27FC236}">
                <a16:creationId xmlns:a16="http://schemas.microsoft.com/office/drawing/2014/main" id="{02FE0E27-7551-4FE6-9AB0-616C026A46B2}"/>
              </a:ext>
            </a:extLst>
          </p:cNvPr>
          <p:cNvSpPr>
            <a:spLocks noGrp="1"/>
          </p:cNvSpPr>
          <p:nvPr>
            <p:ph idx="1"/>
          </p:nvPr>
        </p:nvSpPr>
        <p:spPr>
          <a:xfrm>
            <a:off x="3756440" y="1702431"/>
            <a:ext cx="6245399" cy="4868052"/>
          </a:xfrm>
        </p:spPr>
        <p:txBody>
          <a:bodyPr>
            <a:normAutofit/>
          </a:bodyPr>
          <a:lstStyle/>
          <a:p>
            <a:pPr marL="457200" indent="-457200">
              <a:buAutoNum type="arabicPeriod"/>
            </a:pPr>
            <a:r>
              <a:rPr lang="en-US" sz="2600" dirty="0">
                <a:solidFill>
                  <a:schemeClr val="tx1"/>
                </a:solidFill>
                <a:latin typeface="Cambria Math" panose="02040503050406030204" pitchFamily="18" charset="0"/>
                <a:ea typeface="Cambria Math" panose="02040503050406030204" pitchFamily="18" charset="0"/>
              </a:rPr>
              <a:t>Read(A);</a:t>
            </a:r>
          </a:p>
          <a:p>
            <a:pPr marL="457200" indent="-457200">
              <a:buAutoNum type="arabicPeriod"/>
            </a:pPr>
            <a:r>
              <a:rPr lang="en-US" sz="2600" dirty="0">
                <a:solidFill>
                  <a:schemeClr val="tx1"/>
                </a:solidFill>
                <a:latin typeface="Cambria Math" panose="02040503050406030204" pitchFamily="18" charset="0"/>
                <a:ea typeface="Cambria Math" panose="02040503050406030204" pitchFamily="18" charset="0"/>
              </a:rPr>
              <a:t>A := A – 50;</a:t>
            </a:r>
          </a:p>
          <a:p>
            <a:pPr marL="457200" indent="-457200">
              <a:buAutoNum type="arabicPeriod"/>
            </a:pPr>
            <a:r>
              <a:rPr lang="en-US" sz="2600" dirty="0">
                <a:solidFill>
                  <a:schemeClr val="tx1"/>
                </a:solidFill>
                <a:latin typeface="Cambria Math" panose="02040503050406030204" pitchFamily="18" charset="0"/>
                <a:ea typeface="Cambria Math" panose="02040503050406030204" pitchFamily="18" charset="0"/>
              </a:rPr>
              <a:t>Write(A);</a:t>
            </a:r>
          </a:p>
          <a:p>
            <a:pPr marL="457200" indent="-457200">
              <a:buAutoNum type="arabicPeriod"/>
            </a:pPr>
            <a:r>
              <a:rPr lang="en-US" sz="2600" dirty="0">
                <a:solidFill>
                  <a:schemeClr val="tx1"/>
                </a:solidFill>
                <a:latin typeface="Cambria Math" panose="02040503050406030204" pitchFamily="18" charset="0"/>
                <a:ea typeface="Cambria Math" panose="02040503050406030204" pitchFamily="18" charset="0"/>
              </a:rPr>
              <a:t>Read(B);</a:t>
            </a:r>
          </a:p>
          <a:p>
            <a:pPr marL="457200" indent="-457200">
              <a:buAutoNum type="arabicPeriod"/>
            </a:pPr>
            <a:r>
              <a:rPr lang="en-US" sz="2600" dirty="0">
                <a:solidFill>
                  <a:schemeClr val="tx1"/>
                </a:solidFill>
                <a:latin typeface="Cambria Math" panose="02040503050406030204" pitchFamily="18" charset="0"/>
                <a:ea typeface="Cambria Math" panose="02040503050406030204" pitchFamily="18" charset="0"/>
              </a:rPr>
              <a:t>B := B + 50;</a:t>
            </a:r>
          </a:p>
          <a:p>
            <a:pPr marL="457200" indent="-457200">
              <a:buAutoNum type="arabicPeriod"/>
            </a:pPr>
            <a:r>
              <a:rPr lang="en-US" sz="2600" dirty="0">
                <a:solidFill>
                  <a:schemeClr val="tx1"/>
                </a:solidFill>
                <a:latin typeface="Cambria Math" panose="02040503050406030204" pitchFamily="18" charset="0"/>
                <a:ea typeface="Cambria Math" panose="02040503050406030204" pitchFamily="18" charset="0"/>
              </a:rPr>
              <a:t>Write(B);</a:t>
            </a:r>
          </a:p>
          <a:p>
            <a:pPr marL="0" indent="0">
              <a:buNone/>
            </a:pPr>
            <a:endParaRPr lang="en-US" b="1" dirty="0">
              <a:solidFill>
                <a:schemeClr val="tx1"/>
              </a:solidFill>
            </a:endParaRPr>
          </a:p>
          <a:p>
            <a:endParaRPr lang="en-US" b="1" dirty="0">
              <a:solidFill>
                <a:schemeClr val="tx1"/>
              </a:solidFill>
            </a:endParaRPr>
          </a:p>
          <a:p>
            <a:endParaRPr lang="en-US" b="1" dirty="0">
              <a:solidFill>
                <a:schemeClr val="tx1"/>
              </a:solidFill>
            </a:endParaRPr>
          </a:p>
        </p:txBody>
      </p:sp>
      <p:sp>
        <p:nvSpPr>
          <p:cNvPr id="14" name="Double Brace 13">
            <a:extLst>
              <a:ext uri="{FF2B5EF4-FFF2-40B4-BE49-F238E27FC236}">
                <a16:creationId xmlns:a16="http://schemas.microsoft.com/office/drawing/2014/main" id="{4F6DA7F5-08E2-47D4-9ACC-F9930263ABD4}"/>
              </a:ext>
            </a:extLst>
          </p:cNvPr>
          <p:cNvSpPr/>
          <p:nvPr/>
        </p:nvSpPr>
        <p:spPr>
          <a:xfrm>
            <a:off x="3326142" y="1989058"/>
            <a:ext cx="2993922" cy="3223074"/>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Callout 20">
            <a:extLst>
              <a:ext uri="{FF2B5EF4-FFF2-40B4-BE49-F238E27FC236}">
                <a16:creationId xmlns:a16="http://schemas.microsoft.com/office/drawing/2014/main" id="{F2BF7198-A006-4529-BEC9-9226768EF87D}"/>
              </a:ext>
            </a:extLst>
          </p:cNvPr>
          <p:cNvSpPr/>
          <p:nvPr/>
        </p:nvSpPr>
        <p:spPr>
          <a:xfrm>
            <a:off x="6320063" y="1758992"/>
            <a:ext cx="2330243" cy="687728"/>
          </a:xfrm>
          <a:prstGeom prst="wedgeEllipseCallout">
            <a:avLst>
              <a:gd name="adj1" fmla="val -46081"/>
              <a:gd name="adj2" fmla="val 892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ambria Math" panose="02040503050406030204" pitchFamily="18" charset="0"/>
                <a:ea typeface="Cambria Math" panose="02040503050406030204" pitchFamily="18" charset="0"/>
              </a:rPr>
              <a:t>Operations</a:t>
            </a:r>
          </a:p>
        </p:txBody>
      </p:sp>
      <p:sp>
        <p:nvSpPr>
          <p:cNvPr id="16" name="Oval Callout 21">
            <a:extLst>
              <a:ext uri="{FF2B5EF4-FFF2-40B4-BE49-F238E27FC236}">
                <a16:creationId xmlns:a16="http://schemas.microsoft.com/office/drawing/2014/main" id="{71C8BC7F-FA8E-4E8F-B31E-1CAB4FC40C6D}"/>
              </a:ext>
            </a:extLst>
          </p:cNvPr>
          <p:cNvSpPr/>
          <p:nvPr/>
        </p:nvSpPr>
        <p:spPr>
          <a:xfrm>
            <a:off x="6411061" y="3089362"/>
            <a:ext cx="3406877" cy="740064"/>
          </a:xfrm>
          <a:prstGeom prst="wedgeEllipseCallout">
            <a:avLst>
              <a:gd name="adj1" fmla="val -46081"/>
              <a:gd name="adj2" fmla="val 892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Work </a:t>
            </a:r>
            <a:r>
              <a:rPr lang="en-US" sz="2000" b="1" dirty="0">
                <a:latin typeface="Cambria Math" panose="02040503050406030204" pitchFamily="18" charset="0"/>
                <a:ea typeface="Cambria Math" panose="02040503050406030204" pitchFamily="18" charset="0"/>
              </a:rPr>
              <a:t>as</a:t>
            </a:r>
            <a:r>
              <a:rPr lang="en-US" sz="2000" b="1" dirty="0"/>
              <a:t> a single Unit</a:t>
            </a:r>
          </a:p>
        </p:txBody>
      </p:sp>
      <p:sp>
        <p:nvSpPr>
          <p:cNvPr id="17" name="Rectangle 16">
            <a:extLst>
              <a:ext uri="{FF2B5EF4-FFF2-40B4-BE49-F238E27FC236}">
                <a16:creationId xmlns:a16="http://schemas.microsoft.com/office/drawing/2014/main" id="{EFB7FC2F-66A3-4B05-BA0C-BCCD8886F733}"/>
              </a:ext>
            </a:extLst>
          </p:cNvPr>
          <p:cNvSpPr/>
          <p:nvPr/>
        </p:nvSpPr>
        <p:spPr>
          <a:xfrm>
            <a:off x="3630699" y="5442197"/>
            <a:ext cx="2681610" cy="6046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ambria Math" panose="02040503050406030204" pitchFamily="18" charset="0"/>
                <a:ea typeface="Cambria Math" panose="02040503050406030204" pitchFamily="18" charset="0"/>
              </a:rPr>
              <a:t>Transactions</a:t>
            </a:r>
          </a:p>
        </p:txBody>
      </p:sp>
    </p:spTree>
    <p:extLst>
      <p:ext uri="{BB962C8B-B14F-4D97-AF65-F5344CB8AC3E}">
        <p14:creationId xmlns:p14="http://schemas.microsoft.com/office/powerpoint/2010/main" val="89657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fade">
                                      <p:cBhvr>
                                        <p:cTn id="15" dur="500"/>
                                        <p:tgtEl>
                                          <p:spTgt spid="1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xEl>
                                              <p:pRg st="1" end="1"/>
                                            </p:txEl>
                                          </p:spTgt>
                                        </p:tgtEl>
                                        <p:attrNameLst>
                                          <p:attrName>style.visibility</p:attrName>
                                        </p:attrNameLst>
                                      </p:cBhvr>
                                      <p:to>
                                        <p:strVal val="visible"/>
                                      </p:to>
                                    </p:set>
                                    <p:animEffect transition="in" filter="fade">
                                      <p:cBhvr>
                                        <p:cTn id="20" dur="500"/>
                                        <p:tgtEl>
                                          <p:spTgt spid="1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Effect transition="in" filter="fade">
                                      <p:cBhvr>
                                        <p:cTn id="25" dur="500"/>
                                        <p:tgtEl>
                                          <p:spTgt spid="1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xEl>
                                              <p:pRg st="3" end="3"/>
                                            </p:txEl>
                                          </p:spTgt>
                                        </p:tgtEl>
                                        <p:attrNameLst>
                                          <p:attrName>style.visibility</p:attrName>
                                        </p:attrNameLst>
                                      </p:cBhvr>
                                      <p:to>
                                        <p:strVal val="visible"/>
                                      </p:to>
                                    </p:set>
                                    <p:animEffect transition="in" filter="fade">
                                      <p:cBhvr>
                                        <p:cTn id="30" dur="500"/>
                                        <p:tgtEl>
                                          <p:spTgt spid="1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
                                            <p:txEl>
                                              <p:pRg st="4" end="4"/>
                                            </p:txEl>
                                          </p:spTgt>
                                        </p:tgtEl>
                                        <p:attrNameLst>
                                          <p:attrName>style.visibility</p:attrName>
                                        </p:attrNameLst>
                                      </p:cBhvr>
                                      <p:to>
                                        <p:strVal val="visible"/>
                                      </p:to>
                                    </p:set>
                                    <p:animEffect transition="in" filter="fade">
                                      <p:cBhvr>
                                        <p:cTn id="35" dur="500"/>
                                        <p:tgtEl>
                                          <p:spTgt spid="1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xEl>
                                              <p:pRg st="5" end="5"/>
                                            </p:txEl>
                                          </p:spTgt>
                                        </p:tgtEl>
                                        <p:attrNameLst>
                                          <p:attrName>style.visibility</p:attrName>
                                        </p:attrNameLst>
                                      </p:cBhvr>
                                      <p:to>
                                        <p:strVal val="visible"/>
                                      </p:to>
                                    </p:set>
                                    <p:animEffect transition="in" filter="fade">
                                      <p:cBhvr>
                                        <p:cTn id="40" dur="500"/>
                                        <p:tgtEl>
                                          <p:spTgt spid="1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(ACID Properties)</a:t>
            </a:r>
            <a:endParaRPr lang="en-US" dirty="0"/>
          </a:p>
        </p:txBody>
      </p:sp>
      <p:sp>
        <p:nvSpPr>
          <p:cNvPr id="19" name="Content Placeholder 2">
            <a:extLst>
              <a:ext uri="{FF2B5EF4-FFF2-40B4-BE49-F238E27FC236}">
                <a16:creationId xmlns:a16="http://schemas.microsoft.com/office/drawing/2014/main" id="{474A98D5-2707-4E8F-AB49-2C6470E221AE}"/>
              </a:ext>
            </a:extLst>
          </p:cNvPr>
          <p:cNvSpPr txBox="1">
            <a:spLocks/>
          </p:cNvSpPr>
          <p:nvPr/>
        </p:nvSpPr>
        <p:spPr>
          <a:xfrm>
            <a:off x="3410146" y="1123837"/>
            <a:ext cx="8345078" cy="3910076"/>
          </a:xfrm>
          <a:prstGeom prst="rect">
            <a:avLst/>
          </a:prstGeom>
        </p:spPr>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
                <a:sysClr val="windowText" lastClr="000000"/>
              </a:buClr>
              <a:buSzTx/>
              <a:buFont typeface="Wingdings" panose="05000000000000000000" pitchFamily="2" charset="2"/>
              <a:buChar char="Ø"/>
              <a:tabLst/>
              <a:defRPr/>
            </a:pP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a:t>
            </a: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tomicity  </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(Either transaction is Complete or No</a:t>
            </a:r>
            <a:r>
              <a:rPr kumimoji="0" lang="en-US" sz="2400" b="1" i="0" u="none" strike="noStrike" kern="1200" cap="none" spc="0" normalizeH="0" noProof="0" dirty="0">
                <a:ln>
                  <a:noFill/>
                </a:ln>
                <a:effectLst/>
                <a:uLnTx/>
                <a:uFillTx/>
                <a:latin typeface="Cambria Math" panose="02040503050406030204" pitchFamily="18" charset="0"/>
                <a:ea typeface="Cambria Math" panose="02040503050406030204" pitchFamily="18" charset="0"/>
              </a:rPr>
              <a:t> Transaction</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p>
          <a:p>
            <a:pPr marR="0" lvl="0" algn="just" defTabSz="914400" rtl="0" eaLnBrk="1" fontAlgn="auto" latinLnBrk="0" hangingPunct="1">
              <a:lnSpc>
                <a:spcPct val="100000"/>
              </a:lnSpc>
              <a:spcBef>
                <a:spcPts val="900"/>
              </a:spcBef>
              <a:spcAft>
                <a:spcPts val="0"/>
              </a:spcAft>
              <a:buClr>
                <a:sysClr val="windowText" lastClr="000000"/>
              </a:buClr>
              <a:buSzTx/>
              <a:buFont typeface="Wingdings" panose="05000000000000000000" pitchFamily="2" charset="2"/>
              <a:buChar char="Ø"/>
              <a:tabLst/>
              <a:defRPr/>
            </a:pP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a:t>
            </a: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onsistency </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(consistent data must</a:t>
            </a:r>
            <a:r>
              <a:rPr kumimoji="0" lang="en-US" sz="2400" b="1" i="0" u="none" strike="noStrike" kern="1200" cap="none" spc="0" normalizeH="0" noProof="0" dirty="0">
                <a:ln>
                  <a:noFill/>
                </a:ln>
                <a:effectLst/>
                <a:uLnTx/>
                <a:uFillTx/>
                <a:latin typeface="Cambria Math" panose="02040503050406030204" pitchFamily="18" charset="0"/>
                <a:ea typeface="Cambria Math" panose="02040503050406030204" pitchFamily="18" charset="0"/>
              </a:rPr>
              <a:t> be available whenever the database is accessed after </a:t>
            </a:r>
            <a:r>
              <a:rPr kumimoji="0" lang="en-IN"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any transaction</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p>
          <a:p>
            <a:pPr marR="0" lvl="0" algn="just" defTabSz="914400" rtl="0" eaLnBrk="1" fontAlgn="auto" latinLnBrk="0" hangingPunct="1">
              <a:lnSpc>
                <a:spcPct val="100000"/>
              </a:lnSpc>
              <a:spcBef>
                <a:spcPts val="900"/>
              </a:spcBef>
              <a:spcAft>
                <a:spcPts val="0"/>
              </a:spcAft>
              <a:buClr>
                <a:sysClr val="windowText" lastClr="000000"/>
              </a:buClr>
              <a:buSzTx/>
              <a:buFont typeface="Wingdings" panose="05000000000000000000" pitchFamily="2" charset="2"/>
              <a:buChar char="Ø"/>
              <a:tabLst/>
              <a:defRPr/>
            </a:pP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I</a:t>
            </a: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solation </a:t>
            </a:r>
            <a:r>
              <a:rPr lang="en-US" b="1" dirty="0">
                <a:latin typeface="Cambria Math" panose="02040503050406030204" pitchFamily="18" charset="0"/>
                <a:ea typeface="Cambria Math" panose="02040503050406030204" pitchFamily="18" charset="0"/>
              </a:rPr>
              <a:t>(Transactions details of one transaction must be hidden from other transactions</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p>
          <a:p>
            <a:pPr marR="0" lvl="0" algn="just" defTabSz="914400" rtl="0" eaLnBrk="1" fontAlgn="auto" latinLnBrk="0" hangingPunct="1">
              <a:lnSpc>
                <a:spcPct val="100000"/>
              </a:lnSpc>
              <a:spcBef>
                <a:spcPts val="900"/>
              </a:spcBef>
              <a:spcAft>
                <a:spcPts val="0"/>
              </a:spcAft>
              <a:buClr>
                <a:sysClr val="windowText" lastClr="000000"/>
              </a:buClr>
              <a:buSzTx/>
              <a:buFont typeface="Wingdings" panose="05000000000000000000" pitchFamily="2" charset="2"/>
              <a:buChar char="Ø"/>
              <a:tabLst/>
              <a:defRPr/>
            </a:pP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D</a:t>
            </a: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urability </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r>
              <a:rPr kumimoji="0" lang="en-IN"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All changes made by the transaction must remain</a:t>
            </a:r>
            <a:r>
              <a:rPr kumimoji="0" lang="en-IN" sz="2400" b="1" i="0" u="none" strike="noStrike" kern="1200" cap="none" spc="0" normalizeH="0" noProof="0" dirty="0">
                <a:ln>
                  <a:noFill/>
                </a:ln>
                <a:effectLst/>
                <a:uLnTx/>
                <a:uFillTx/>
                <a:latin typeface="Cambria Math" panose="02040503050406030204" pitchFamily="18" charset="0"/>
                <a:ea typeface="Cambria Math" panose="02040503050406030204" pitchFamily="18" charset="0"/>
              </a:rPr>
              <a:t> permanent through out the database</a:t>
            </a:r>
            <a:r>
              <a:rPr kumimoji="0" lang="en-US" sz="24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r>
              <a:rPr kumimoji="0" lang="en-US" sz="2400" b="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a:t>
            </a:r>
          </a:p>
          <a:p>
            <a:pPr marL="0" marR="0" lvl="0" indent="0" algn="just" defTabSz="914400" rtl="0" eaLnBrk="1" fontAlgn="auto" latinLnBrk="0" hangingPunct="1">
              <a:lnSpc>
                <a:spcPct val="100000"/>
              </a:lnSpc>
              <a:spcBef>
                <a:spcPts val="900"/>
              </a:spcBef>
              <a:spcAft>
                <a:spcPts val="0"/>
              </a:spcAft>
              <a:buClrTx/>
              <a:buSzTx/>
              <a:buNone/>
              <a:tabLst/>
              <a:defRPr/>
            </a:pPr>
            <a:endParaRPr kumimoji="0" lang="en-US" sz="2400" b="0" i="0" u="none" strike="noStrike" kern="1200" cap="none" spc="0" normalizeH="0" baseline="0" noProof="0" dirty="0">
              <a:ln>
                <a:noFill/>
              </a:ln>
              <a:effectLst/>
              <a:uLnTx/>
              <a:uFillTx/>
              <a:latin typeface="Calibri"/>
              <a:cs typeface="Times New Roman" panose="02020603050405020304" pitchFamily="18" charset="0"/>
            </a:endParaRPr>
          </a:p>
        </p:txBody>
      </p:sp>
    </p:spTree>
    <p:extLst>
      <p:ext uri="{BB962C8B-B14F-4D97-AF65-F5344CB8AC3E}">
        <p14:creationId xmlns:p14="http://schemas.microsoft.com/office/powerpoint/2010/main" val="92299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fade">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fade">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3" end="3"/>
                                            </p:txEl>
                                          </p:spTgt>
                                        </p:tgtEl>
                                        <p:attrNameLst>
                                          <p:attrName>style.visibility</p:attrName>
                                        </p:attrNameLst>
                                      </p:cBhvr>
                                      <p:to>
                                        <p:strVal val="visible"/>
                                      </p:to>
                                    </p:set>
                                    <p:animEffect transition="in" filter="fade">
                                      <p:cBhvr>
                                        <p:cTn id="22"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(ACID Properties)</a:t>
            </a:r>
            <a:endParaRPr lang="en-US" dirty="0"/>
          </a:p>
        </p:txBody>
      </p:sp>
      <p:sp>
        <p:nvSpPr>
          <p:cNvPr id="19" name="Content Placeholder 2">
            <a:extLst>
              <a:ext uri="{FF2B5EF4-FFF2-40B4-BE49-F238E27FC236}">
                <a16:creationId xmlns:a16="http://schemas.microsoft.com/office/drawing/2014/main" id="{474A98D5-2707-4E8F-AB49-2C6470E221AE}"/>
              </a:ext>
            </a:extLst>
          </p:cNvPr>
          <p:cNvSpPr txBox="1">
            <a:spLocks/>
          </p:cNvSpPr>
          <p:nvPr/>
        </p:nvSpPr>
        <p:spPr>
          <a:xfrm>
            <a:off x="3466707" y="944726"/>
            <a:ext cx="8203676" cy="4155175"/>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900"/>
              </a:spcBef>
              <a:spcAft>
                <a:spcPts val="0"/>
              </a:spcAft>
              <a:buClr>
                <a:sysClr val="windowText" lastClr="000000"/>
              </a:buClr>
              <a:buSzTx/>
              <a:buNone/>
              <a:tabLst/>
              <a:defRPr/>
            </a:pPr>
            <a:r>
              <a:rPr kumimoji="0" lang="en-US" sz="32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Atomicity</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This property states that, in a transaction either all of its operations are executed or none. </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Either transaction execute 0% or 100%.</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example, consider a transaction to transfer Rs. 1000 from account A to account B.</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So, if Rs. 1000 is deducted from account A, then it must be added to account B else in case of error, it must be added back to Account A.</a:t>
            </a:r>
            <a:endParaRPr kumimoji="0" lang="en-US"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00813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animEffect transition="in" filter="fade">
                                      <p:cBhvr>
                                        <p:cTn id="11" dur="500"/>
                                        <p:tgtEl>
                                          <p:spTgt spid="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xEl>
                                              <p:pRg st="2" end="2"/>
                                            </p:txEl>
                                          </p:spTgt>
                                        </p:tgtEl>
                                        <p:attrNameLst>
                                          <p:attrName>style.visibility</p:attrName>
                                        </p:attrNameLst>
                                      </p:cBhvr>
                                      <p:to>
                                        <p:strVal val="visible"/>
                                      </p:to>
                                    </p:set>
                                    <p:animEffect transition="in" filter="fade">
                                      <p:cBhvr>
                                        <p:cTn id="16" dur="500"/>
                                        <p:tgtEl>
                                          <p:spTgt spid="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xEl>
                                              <p:pRg st="3" end="3"/>
                                            </p:txEl>
                                          </p:spTgt>
                                        </p:tgtEl>
                                        <p:attrNameLst>
                                          <p:attrName>style.visibility</p:attrName>
                                        </p:attrNameLst>
                                      </p:cBhvr>
                                      <p:to>
                                        <p:strVal val="visible"/>
                                      </p:to>
                                    </p:set>
                                    <p:animEffect transition="in" filter="fade">
                                      <p:cBhvr>
                                        <p:cTn id="21" dur="500"/>
                                        <p:tgtEl>
                                          <p:spTgt spid="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
                                            <p:txEl>
                                              <p:pRg st="4" end="4"/>
                                            </p:txEl>
                                          </p:spTgt>
                                        </p:tgtEl>
                                        <p:attrNameLst>
                                          <p:attrName>style.visibility</p:attrName>
                                        </p:attrNameLst>
                                      </p:cBhvr>
                                      <p:to>
                                        <p:strVal val="visible"/>
                                      </p:to>
                                    </p:set>
                                    <p:animEffect transition="in" filter="fade">
                                      <p:cBhvr>
                                        <p:cTn id="26" dur="500"/>
                                        <p:tgtEl>
                                          <p:spTgt spid="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(ACID Properties)</a:t>
            </a:r>
            <a:endParaRPr lang="en-US" dirty="0"/>
          </a:p>
        </p:txBody>
      </p:sp>
      <p:sp>
        <p:nvSpPr>
          <p:cNvPr id="19" name="Content Placeholder 2">
            <a:extLst>
              <a:ext uri="{FF2B5EF4-FFF2-40B4-BE49-F238E27FC236}">
                <a16:creationId xmlns:a16="http://schemas.microsoft.com/office/drawing/2014/main" id="{474A98D5-2707-4E8F-AB49-2C6470E221AE}"/>
              </a:ext>
            </a:extLst>
          </p:cNvPr>
          <p:cNvSpPr txBox="1">
            <a:spLocks/>
          </p:cNvSpPr>
          <p:nvPr/>
        </p:nvSpPr>
        <p:spPr>
          <a:xfrm>
            <a:off x="3476134" y="397971"/>
            <a:ext cx="8203676" cy="6389328"/>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900"/>
              </a:spcBef>
              <a:spcAft>
                <a:spcPts val="0"/>
              </a:spcAft>
              <a:buClr>
                <a:sysClr val="windowText" lastClr="000000"/>
              </a:buClr>
              <a:buSzTx/>
              <a:buNone/>
              <a:tabLst/>
              <a:defRPr/>
            </a:pPr>
            <a:r>
              <a:rPr kumimoji="0" lang="en-US" sz="32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Consistency</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Consistent data/values must be available after any transaction.</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If the database was in a consistent state before the execution of a transaction; then it must remain consistent after the execution of the transaction is completed.</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If the amount has been debited from account A and has been added to account B, then both the accounts must show the amount after the transaction has been performed.</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Initial amount in account A = 5000 and account B = 3000. Amount to be transferred from A to B = 1000.</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Thus, after the transaction is completed, amount in Account A should be 4000 and in account B should be 4000.</a:t>
            </a:r>
          </a:p>
        </p:txBody>
      </p:sp>
    </p:spTree>
    <p:extLst>
      <p:ext uri="{BB962C8B-B14F-4D97-AF65-F5344CB8AC3E}">
        <p14:creationId xmlns:p14="http://schemas.microsoft.com/office/powerpoint/2010/main" val="180858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animEffect transition="in" filter="fade">
                                      <p:cBhvr>
                                        <p:cTn id="11" dur="500"/>
                                        <p:tgtEl>
                                          <p:spTgt spid="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xEl>
                                              <p:pRg st="2" end="2"/>
                                            </p:txEl>
                                          </p:spTgt>
                                        </p:tgtEl>
                                        <p:attrNameLst>
                                          <p:attrName>style.visibility</p:attrName>
                                        </p:attrNameLst>
                                      </p:cBhvr>
                                      <p:to>
                                        <p:strVal val="visible"/>
                                      </p:to>
                                    </p:set>
                                    <p:animEffect transition="in" filter="fade">
                                      <p:cBhvr>
                                        <p:cTn id="16" dur="500"/>
                                        <p:tgtEl>
                                          <p:spTgt spid="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xEl>
                                              <p:pRg st="3" end="3"/>
                                            </p:txEl>
                                          </p:spTgt>
                                        </p:tgtEl>
                                        <p:attrNameLst>
                                          <p:attrName>style.visibility</p:attrName>
                                        </p:attrNameLst>
                                      </p:cBhvr>
                                      <p:to>
                                        <p:strVal val="visible"/>
                                      </p:to>
                                    </p:set>
                                    <p:animEffect transition="in" filter="fade">
                                      <p:cBhvr>
                                        <p:cTn id="21" dur="500"/>
                                        <p:tgtEl>
                                          <p:spTgt spid="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
                                            <p:txEl>
                                              <p:pRg st="4" end="4"/>
                                            </p:txEl>
                                          </p:spTgt>
                                        </p:tgtEl>
                                        <p:attrNameLst>
                                          <p:attrName>style.visibility</p:attrName>
                                        </p:attrNameLst>
                                      </p:cBhvr>
                                      <p:to>
                                        <p:strVal val="visible"/>
                                      </p:to>
                                    </p:set>
                                    <p:animEffect transition="in" filter="fade">
                                      <p:cBhvr>
                                        <p:cTn id="26" dur="500"/>
                                        <p:tgtEl>
                                          <p:spTgt spid="19">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xEl>
                                              <p:pRg st="5" end="5"/>
                                            </p:txEl>
                                          </p:spTgt>
                                        </p:tgtEl>
                                        <p:attrNameLst>
                                          <p:attrName>style.visibility</p:attrName>
                                        </p:attrNameLst>
                                      </p:cBhvr>
                                      <p:to>
                                        <p:strVal val="visible"/>
                                      </p:to>
                                    </p:set>
                                    <p:animEffect transition="in" filter="fade">
                                      <p:cBhvr>
                                        <p:cTn id="31"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(ACID Properties)</a:t>
            </a:r>
            <a:endParaRPr lang="en-US" dirty="0"/>
          </a:p>
        </p:txBody>
      </p:sp>
      <p:sp>
        <p:nvSpPr>
          <p:cNvPr id="19" name="Content Placeholder 2">
            <a:extLst>
              <a:ext uri="{FF2B5EF4-FFF2-40B4-BE49-F238E27FC236}">
                <a16:creationId xmlns:a16="http://schemas.microsoft.com/office/drawing/2014/main" id="{474A98D5-2707-4E8F-AB49-2C6470E221AE}"/>
              </a:ext>
            </a:extLst>
          </p:cNvPr>
          <p:cNvSpPr txBox="1">
            <a:spLocks/>
          </p:cNvSpPr>
          <p:nvPr/>
        </p:nvSpPr>
        <p:spPr>
          <a:xfrm>
            <a:off x="3494988" y="1302944"/>
            <a:ext cx="8203676" cy="3476446"/>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900"/>
              </a:spcBef>
              <a:spcAft>
                <a:spcPts val="0"/>
              </a:spcAft>
              <a:buClr>
                <a:sysClr val="windowText" lastClr="000000"/>
              </a:buClr>
              <a:buSzTx/>
              <a:buNone/>
              <a:tabLst/>
              <a:defRPr/>
            </a:pPr>
            <a:r>
              <a:rPr kumimoji="0" lang="en-US" sz="32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Isolation</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Transactions details of one transaction must be hidden from other transactions until the transaction is committed.</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Intermediate transaction results must be hidden from other concurrently executed transactions.  </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if account A start transferring amount to account B, then no other transaction should be allowed to access account A until the current transaction is fully completed. </a:t>
            </a:r>
          </a:p>
        </p:txBody>
      </p:sp>
    </p:spTree>
    <p:extLst>
      <p:ext uri="{BB962C8B-B14F-4D97-AF65-F5344CB8AC3E}">
        <p14:creationId xmlns:p14="http://schemas.microsoft.com/office/powerpoint/2010/main" val="3896205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animEffect transition="in" filter="fade">
                                      <p:cBhvr>
                                        <p:cTn id="11" dur="500"/>
                                        <p:tgtEl>
                                          <p:spTgt spid="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xEl>
                                              <p:pRg st="2" end="2"/>
                                            </p:txEl>
                                          </p:spTgt>
                                        </p:tgtEl>
                                        <p:attrNameLst>
                                          <p:attrName>style.visibility</p:attrName>
                                        </p:attrNameLst>
                                      </p:cBhvr>
                                      <p:to>
                                        <p:strVal val="visible"/>
                                      </p:to>
                                    </p:set>
                                    <p:animEffect transition="in" filter="fade">
                                      <p:cBhvr>
                                        <p:cTn id="16" dur="500"/>
                                        <p:tgtEl>
                                          <p:spTgt spid="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xEl>
                                              <p:pRg st="3" end="3"/>
                                            </p:txEl>
                                          </p:spTgt>
                                        </p:tgtEl>
                                        <p:attrNameLst>
                                          <p:attrName>style.visibility</p:attrName>
                                        </p:attrNameLst>
                                      </p:cBhvr>
                                      <p:to>
                                        <p:strVal val="visible"/>
                                      </p:to>
                                    </p:set>
                                    <p:animEffect transition="in" filter="fade">
                                      <p:cBhvr>
                                        <p:cTn id="21"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(ACID Properties)</a:t>
            </a:r>
            <a:endParaRPr lang="en-US" dirty="0"/>
          </a:p>
        </p:txBody>
      </p:sp>
      <p:sp>
        <p:nvSpPr>
          <p:cNvPr id="19" name="Content Placeholder 2">
            <a:extLst>
              <a:ext uri="{FF2B5EF4-FFF2-40B4-BE49-F238E27FC236}">
                <a16:creationId xmlns:a16="http://schemas.microsoft.com/office/drawing/2014/main" id="{474A98D5-2707-4E8F-AB49-2C6470E221AE}"/>
              </a:ext>
            </a:extLst>
          </p:cNvPr>
          <p:cNvSpPr txBox="1">
            <a:spLocks/>
          </p:cNvSpPr>
          <p:nvPr/>
        </p:nvSpPr>
        <p:spPr>
          <a:xfrm>
            <a:off x="3504415" y="718481"/>
            <a:ext cx="8203676" cy="525811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900"/>
              </a:spcBef>
              <a:spcAft>
                <a:spcPts val="0"/>
              </a:spcAft>
              <a:buClr>
                <a:sysClr val="windowText" lastClr="000000"/>
              </a:buClr>
              <a:buSzTx/>
              <a:buNone/>
              <a:tabLst/>
              <a:defRPr/>
            </a:pPr>
            <a:r>
              <a:rPr kumimoji="0" lang="en-US" sz="3200" b="1"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Durability</a:t>
            </a:r>
          </a:p>
          <a:p>
            <a:pPr lvl="0" algn="just">
              <a:buClr>
                <a:sysClr val="windowText" lastClr="000000"/>
              </a:buClr>
              <a:buFont typeface="Wingdings" panose="05000000000000000000" pitchFamily="2" charset="2"/>
              <a:buChar char="Ø"/>
            </a:pPr>
            <a:r>
              <a:rPr lang="en-IN" dirty="0">
                <a:latin typeface="Cambria Math" panose="02040503050406030204" pitchFamily="18" charset="0"/>
                <a:ea typeface="Cambria Math" panose="02040503050406030204" pitchFamily="18" charset="0"/>
              </a:rPr>
              <a:t>All changes made by the transaction must remain permanent through out the database.</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After a transaction completes successfully, the changes to the database must be permanent, even if system fails.</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For e.g. Initial amount in account A = 5000 and account B = 3000. Amount to be transferred from A to B = 1000.</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Thus, after the transaction is completed, amount in Account A should be 4000 and in account B should be 4000.</a:t>
            </a:r>
          </a:p>
          <a:p>
            <a:pPr lvl="0" algn="just">
              <a:buClr>
                <a:sysClr val="windowText" lastClr="000000"/>
              </a:buClr>
              <a:buFont typeface="Wingdings" panose="05000000000000000000" pitchFamily="2" charset="2"/>
              <a:buChar char="Ø"/>
            </a:pPr>
            <a:r>
              <a:rPr lang="en-US" dirty="0">
                <a:latin typeface="Cambria Math" panose="02040503050406030204" pitchFamily="18" charset="0"/>
                <a:ea typeface="Cambria Math" panose="02040503050406030204" pitchFamily="18" charset="0"/>
              </a:rPr>
              <a:t>This change should remain permanent until some other transaction changes any account’s amount.</a:t>
            </a:r>
          </a:p>
          <a:p>
            <a:pPr lvl="0" algn="just">
              <a:buClr>
                <a:sysClr val="windowText" lastClr="000000"/>
              </a:buClr>
              <a:buFont typeface="Wingdings" panose="05000000000000000000" pitchFamily="2" charset="2"/>
              <a:buChar char="Ø"/>
            </a:pPr>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14307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animEffect transition="in" filter="fade">
                                      <p:cBhvr>
                                        <p:cTn id="11" dur="500"/>
                                        <p:tgtEl>
                                          <p:spTgt spid="1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9">
                                            <p:txEl>
                                              <p:pRg st="2" end="2"/>
                                            </p:txEl>
                                          </p:spTgt>
                                        </p:tgtEl>
                                        <p:attrNameLst>
                                          <p:attrName>style.visibility</p:attrName>
                                        </p:attrNameLst>
                                      </p:cBhvr>
                                      <p:to>
                                        <p:strVal val="visible"/>
                                      </p:to>
                                    </p:set>
                                    <p:animEffect transition="in" filter="fade">
                                      <p:cBhvr>
                                        <p:cTn id="16" dur="500"/>
                                        <p:tgtEl>
                                          <p:spTgt spid="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xEl>
                                              <p:pRg st="3" end="3"/>
                                            </p:txEl>
                                          </p:spTgt>
                                        </p:tgtEl>
                                        <p:attrNameLst>
                                          <p:attrName>style.visibility</p:attrName>
                                        </p:attrNameLst>
                                      </p:cBhvr>
                                      <p:to>
                                        <p:strVal val="visible"/>
                                      </p:to>
                                    </p:set>
                                    <p:animEffect transition="in" filter="fade">
                                      <p:cBhvr>
                                        <p:cTn id="21" dur="500"/>
                                        <p:tgtEl>
                                          <p:spTgt spid="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
                                            <p:txEl>
                                              <p:pRg st="4" end="4"/>
                                            </p:txEl>
                                          </p:spTgt>
                                        </p:tgtEl>
                                        <p:attrNameLst>
                                          <p:attrName>style.visibility</p:attrName>
                                        </p:attrNameLst>
                                      </p:cBhvr>
                                      <p:to>
                                        <p:strVal val="visible"/>
                                      </p:to>
                                    </p:set>
                                    <p:animEffect transition="in" filter="fade">
                                      <p:cBhvr>
                                        <p:cTn id="26" dur="500"/>
                                        <p:tgtEl>
                                          <p:spTgt spid="19">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xEl>
                                              <p:pRg st="5" end="5"/>
                                            </p:txEl>
                                          </p:spTgt>
                                        </p:tgtEl>
                                        <p:attrNameLst>
                                          <p:attrName>style.visibility</p:attrName>
                                        </p:attrNameLst>
                                      </p:cBhvr>
                                      <p:to>
                                        <p:strVal val="visible"/>
                                      </p:to>
                                    </p:set>
                                    <p:animEffect transition="in" filter="fade">
                                      <p:cBhvr>
                                        <p:cTn id="31" dur="500"/>
                                        <p:tgtEl>
                                          <p:spTgt spid="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(State Diagram</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or</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Life Cycle)</a:t>
            </a:r>
            <a:endParaRPr lang="en-US" dirty="0"/>
          </a:p>
        </p:txBody>
      </p:sp>
      <p:sp>
        <p:nvSpPr>
          <p:cNvPr id="39" name="Rectangle 38">
            <a:extLst>
              <a:ext uri="{FF2B5EF4-FFF2-40B4-BE49-F238E27FC236}">
                <a16:creationId xmlns:a16="http://schemas.microsoft.com/office/drawing/2014/main" id="{267B9247-F57B-4623-B1A4-46279F826405}"/>
              </a:ext>
            </a:extLst>
          </p:cNvPr>
          <p:cNvSpPr/>
          <p:nvPr/>
        </p:nvSpPr>
        <p:spPr>
          <a:xfrm>
            <a:off x="3566474" y="140758"/>
            <a:ext cx="8160470" cy="6247864"/>
          </a:xfrm>
          <a:prstGeom prst="rect">
            <a:avLst/>
          </a:prstGeom>
        </p:spPr>
        <p:txBody>
          <a:bodyPr wrap="square">
            <a:spAutoFit/>
          </a:bodyPr>
          <a:lstStyle/>
          <a:p>
            <a:r>
              <a:rPr lang="en-US" sz="2000" b="1" dirty="0">
                <a:solidFill>
                  <a:srgbClr val="FF0000"/>
                </a:solidFill>
                <a:latin typeface="Cambria Math" panose="02040503050406030204" pitchFamily="18" charset="0"/>
                <a:ea typeface="Cambria Math" panose="02040503050406030204" pitchFamily="18" charset="0"/>
              </a:rPr>
              <a:t>Active</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This is the initial state. </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The transaction remains in this state while execution.</a:t>
            </a:r>
          </a:p>
          <a:p>
            <a:endParaRPr lang="en-US" sz="2000" b="1" dirty="0">
              <a:latin typeface="Cambria Math" panose="02040503050406030204" pitchFamily="18" charset="0"/>
              <a:ea typeface="Cambria Math" panose="02040503050406030204" pitchFamily="18" charset="0"/>
            </a:endParaRPr>
          </a:p>
          <a:p>
            <a:r>
              <a:rPr lang="en-US" sz="2000" b="1" dirty="0">
                <a:solidFill>
                  <a:srgbClr val="FF0000"/>
                </a:solidFill>
                <a:latin typeface="Cambria Math" panose="02040503050406030204" pitchFamily="18" charset="0"/>
                <a:ea typeface="Cambria Math" panose="02040503050406030204" pitchFamily="18" charset="0"/>
              </a:rPr>
              <a:t>Partial Committed</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It is a state where a transaction actually enter in its last operation.</a:t>
            </a:r>
          </a:p>
          <a:p>
            <a:endParaRPr lang="en-US" sz="2000" b="1" dirty="0">
              <a:latin typeface="Cambria Math" panose="02040503050406030204" pitchFamily="18" charset="0"/>
              <a:ea typeface="Cambria Math" panose="02040503050406030204" pitchFamily="18" charset="0"/>
            </a:endParaRPr>
          </a:p>
          <a:p>
            <a:r>
              <a:rPr lang="en-US" sz="2000" b="1" dirty="0">
                <a:solidFill>
                  <a:srgbClr val="FF0000"/>
                </a:solidFill>
                <a:latin typeface="Cambria Math" panose="02040503050406030204" pitchFamily="18" charset="0"/>
                <a:ea typeface="Cambria Math" panose="02040503050406030204" pitchFamily="18" charset="0"/>
              </a:rPr>
              <a:t>Failed</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An execution cannot be performed due to errors.</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Once a transaction cannot be completed, any changes that it made must be undone rolling it back.</a:t>
            </a:r>
          </a:p>
          <a:p>
            <a:endParaRPr lang="en-US" sz="2000" b="1" dirty="0">
              <a:latin typeface="Cambria Math" panose="02040503050406030204" pitchFamily="18" charset="0"/>
              <a:ea typeface="Cambria Math" panose="02040503050406030204" pitchFamily="18" charset="0"/>
            </a:endParaRPr>
          </a:p>
          <a:p>
            <a:r>
              <a:rPr lang="en-US" sz="2000" b="1" dirty="0">
                <a:solidFill>
                  <a:srgbClr val="FF0000"/>
                </a:solidFill>
                <a:latin typeface="Cambria Math" panose="02040503050406030204" pitchFamily="18" charset="0"/>
                <a:ea typeface="Cambria Math" panose="02040503050406030204" pitchFamily="18" charset="0"/>
              </a:rPr>
              <a:t>Committed</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It is a state where a transaction has completed all its operations and changes to the database are reflected</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We cannot abort or rollback a committed transaction.</a:t>
            </a:r>
          </a:p>
          <a:p>
            <a:endParaRPr lang="en-US" sz="2000" b="1" dirty="0">
              <a:latin typeface="Cambria Math" panose="02040503050406030204" pitchFamily="18" charset="0"/>
              <a:ea typeface="Cambria Math" panose="02040503050406030204" pitchFamily="18" charset="0"/>
            </a:endParaRPr>
          </a:p>
          <a:p>
            <a:r>
              <a:rPr lang="en-US" sz="2000" b="1" dirty="0">
                <a:solidFill>
                  <a:srgbClr val="FF0000"/>
                </a:solidFill>
                <a:latin typeface="Cambria Math" panose="02040503050406030204" pitchFamily="18" charset="0"/>
                <a:ea typeface="Cambria Math" panose="02040503050406030204" pitchFamily="18" charset="0"/>
              </a:rPr>
              <a:t>Aborted</a:t>
            </a:r>
          </a:p>
          <a:p>
            <a:pPr marL="342900" indent="-342900">
              <a:buFont typeface="Wingdings" panose="05000000000000000000" pitchFamily="2" charset="2"/>
              <a:buChar char="ü"/>
            </a:pPr>
            <a:r>
              <a:rPr lang="en-US" sz="2000" dirty="0">
                <a:latin typeface="Cambria Math" panose="02040503050406030204" pitchFamily="18" charset="0"/>
                <a:ea typeface="Cambria Math" panose="02040503050406030204" pitchFamily="18" charset="0"/>
              </a:rPr>
              <a:t>The state after the transaction has been rolled back and the database has been restored to start of the transaction state.</a:t>
            </a:r>
          </a:p>
        </p:txBody>
      </p:sp>
    </p:spTree>
    <p:extLst>
      <p:ext uri="{BB962C8B-B14F-4D97-AF65-F5344CB8AC3E}">
        <p14:creationId xmlns:p14="http://schemas.microsoft.com/office/powerpoint/2010/main" val="286488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9">
                                            <p:txEl>
                                              <p:pRg st="1" end="1"/>
                                            </p:txEl>
                                          </p:spTgt>
                                        </p:tgtEl>
                                        <p:attrNameLst>
                                          <p:attrName>style.visibility</p:attrName>
                                        </p:attrNameLst>
                                      </p:cBhvr>
                                      <p:to>
                                        <p:strVal val="visible"/>
                                      </p:to>
                                    </p:set>
                                    <p:animEffect transition="in" filter="fade">
                                      <p:cBhvr>
                                        <p:cTn id="11" dur="500"/>
                                        <p:tgtEl>
                                          <p:spTgt spid="3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9">
                                            <p:txEl>
                                              <p:pRg st="2" end="2"/>
                                            </p:txEl>
                                          </p:spTgt>
                                        </p:tgtEl>
                                        <p:attrNameLst>
                                          <p:attrName>style.visibility</p:attrName>
                                        </p:attrNameLst>
                                      </p:cBhvr>
                                      <p:to>
                                        <p:strVal val="visible"/>
                                      </p:to>
                                    </p:set>
                                    <p:animEffect transition="in" filter="fade">
                                      <p:cBhvr>
                                        <p:cTn id="16" dur="500"/>
                                        <p:tgtEl>
                                          <p:spTgt spid="3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9">
                                            <p:txEl>
                                              <p:pRg st="5" end="5"/>
                                            </p:txEl>
                                          </p:spTgt>
                                        </p:tgtEl>
                                        <p:attrNameLst>
                                          <p:attrName>style.visibility</p:attrName>
                                        </p:attrNameLst>
                                      </p:cBhvr>
                                      <p:to>
                                        <p:strVal val="visible"/>
                                      </p:to>
                                    </p:set>
                                    <p:animEffect transition="in" filter="fade">
                                      <p:cBhvr>
                                        <p:cTn id="25" dur="500"/>
                                        <p:tgtEl>
                                          <p:spTgt spid="3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9">
                                            <p:txEl>
                                              <p:pRg st="7" end="7"/>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9">
                                            <p:txEl>
                                              <p:pRg st="8" end="8"/>
                                            </p:txEl>
                                          </p:spTgt>
                                        </p:tgtEl>
                                        <p:attrNameLst>
                                          <p:attrName>style.visibility</p:attrName>
                                        </p:attrNameLst>
                                      </p:cBhvr>
                                      <p:to>
                                        <p:strVal val="visible"/>
                                      </p:to>
                                    </p:set>
                                    <p:animEffect transition="in" filter="fade">
                                      <p:cBhvr>
                                        <p:cTn id="34" dur="500"/>
                                        <p:tgtEl>
                                          <p:spTgt spid="39">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9">
                                            <p:txEl>
                                              <p:pRg st="9" end="9"/>
                                            </p:txEl>
                                          </p:spTgt>
                                        </p:tgtEl>
                                        <p:attrNameLst>
                                          <p:attrName>style.visibility</p:attrName>
                                        </p:attrNameLst>
                                      </p:cBhvr>
                                      <p:to>
                                        <p:strVal val="visible"/>
                                      </p:to>
                                    </p:set>
                                    <p:animEffect transition="in" filter="fade">
                                      <p:cBhvr>
                                        <p:cTn id="39" dur="500"/>
                                        <p:tgtEl>
                                          <p:spTgt spid="39">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9">
                                            <p:txEl>
                                              <p:pRg st="11" end="11"/>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9">
                                            <p:txEl>
                                              <p:pRg st="12" end="12"/>
                                            </p:txEl>
                                          </p:spTgt>
                                        </p:tgtEl>
                                        <p:attrNameLst>
                                          <p:attrName>style.visibility</p:attrName>
                                        </p:attrNameLst>
                                      </p:cBhvr>
                                      <p:to>
                                        <p:strVal val="visible"/>
                                      </p:to>
                                    </p:set>
                                    <p:animEffect transition="in" filter="fade">
                                      <p:cBhvr>
                                        <p:cTn id="48" dur="500"/>
                                        <p:tgtEl>
                                          <p:spTgt spid="39">
                                            <p:txEl>
                                              <p:pRg st="12" end="1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9">
                                            <p:txEl>
                                              <p:pRg st="13" end="13"/>
                                            </p:txEl>
                                          </p:spTgt>
                                        </p:tgtEl>
                                        <p:attrNameLst>
                                          <p:attrName>style.visibility</p:attrName>
                                        </p:attrNameLst>
                                      </p:cBhvr>
                                      <p:to>
                                        <p:strVal val="visible"/>
                                      </p:to>
                                    </p:set>
                                    <p:animEffect transition="in" filter="fade">
                                      <p:cBhvr>
                                        <p:cTn id="53" dur="500"/>
                                        <p:tgtEl>
                                          <p:spTgt spid="39">
                                            <p:txEl>
                                              <p:pRg st="13" end="1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39">
                                            <p:txEl>
                                              <p:pRg st="15" end="15"/>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9">
                                            <p:txEl>
                                              <p:pRg st="16" end="16"/>
                                            </p:txEl>
                                          </p:spTgt>
                                        </p:tgtEl>
                                        <p:attrNameLst>
                                          <p:attrName>style.visibility</p:attrName>
                                        </p:attrNameLst>
                                      </p:cBhvr>
                                      <p:to>
                                        <p:strVal val="visible"/>
                                      </p:to>
                                    </p:set>
                                    <p:animEffect transition="in" filter="fade">
                                      <p:cBhvr>
                                        <p:cTn id="62" dur="500"/>
                                        <p:tgtEl>
                                          <p:spTgt spid="39">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(State Diagram</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or</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Life Cycle)</a:t>
            </a:r>
            <a:endParaRPr lang="en-US" dirty="0"/>
          </a:p>
        </p:txBody>
      </p:sp>
      <p:sp>
        <p:nvSpPr>
          <p:cNvPr id="4" name="Oval 3">
            <a:extLst>
              <a:ext uri="{FF2B5EF4-FFF2-40B4-BE49-F238E27FC236}">
                <a16:creationId xmlns:a16="http://schemas.microsoft.com/office/drawing/2014/main" id="{FA1570E7-4622-4B16-868F-55776BD2F64F}"/>
              </a:ext>
            </a:extLst>
          </p:cNvPr>
          <p:cNvSpPr/>
          <p:nvPr/>
        </p:nvSpPr>
        <p:spPr>
          <a:xfrm>
            <a:off x="3802667" y="2757733"/>
            <a:ext cx="1735091"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mbria Math" panose="02040503050406030204" pitchFamily="18" charset="0"/>
                <a:ea typeface="Cambria Math" panose="02040503050406030204" pitchFamily="18" charset="0"/>
              </a:rPr>
              <a:t>Active</a:t>
            </a:r>
            <a:endParaRPr lang="en-IN" dirty="0">
              <a:latin typeface="Cambria Math" panose="02040503050406030204" pitchFamily="18" charset="0"/>
              <a:ea typeface="Cambria Math" panose="02040503050406030204" pitchFamily="18" charset="0"/>
            </a:endParaRPr>
          </a:p>
        </p:txBody>
      </p:sp>
      <p:sp>
        <p:nvSpPr>
          <p:cNvPr id="5" name="Oval 4">
            <a:extLst>
              <a:ext uri="{FF2B5EF4-FFF2-40B4-BE49-F238E27FC236}">
                <a16:creationId xmlns:a16="http://schemas.microsoft.com/office/drawing/2014/main" id="{30886FAC-4FF7-4E11-BF02-AB6C2F1D5600}"/>
              </a:ext>
            </a:extLst>
          </p:cNvPr>
          <p:cNvSpPr/>
          <p:nvPr/>
        </p:nvSpPr>
        <p:spPr>
          <a:xfrm>
            <a:off x="5382705" y="1559533"/>
            <a:ext cx="1809947"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mbria Math" panose="02040503050406030204" pitchFamily="18" charset="0"/>
                <a:ea typeface="Cambria Math" panose="02040503050406030204" pitchFamily="18" charset="0"/>
              </a:rPr>
              <a:t>Partial </a:t>
            </a:r>
          </a:p>
          <a:p>
            <a:pPr algn="ctr"/>
            <a:r>
              <a:rPr lang="en-US" dirty="0">
                <a:latin typeface="Cambria Math" panose="02040503050406030204" pitchFamily="18" charset="0"/>
                <a:ea typeface="Cambria Math" panose="02040503050406030204" pitchFamily="18" charset="0"/>
              </a:rPr>
              <a:t>Committed</a:t>
            </a:r>
            <a:endParaRPr lang="en-IN" dirty="0">
              <a:latin typeface="Cambria Math" panose="02040503050406030204" pitchFamily="18" charset="0"/>
              <a:ea typeface="Cambria Math" panose="02040503050406030204" pitchFamily="18" charset="0"/>
            </a:endParaRPr>
          </a:p>
        </p:txBody>
      </p:sp>
      <p:sp>
        <p:nvSpPr>
          <p:cNvPr id="6" name="Oval 5">
            <a:extLst>
              <a:ext uri="{FF2B5EF4-FFF2-40B4-BE49-F238E27FC236}">
                <a16:creationId xmlns:a16="http://schemas.microsoft.com/office/drawing/2014/main" id="{3A316404-E532-4611-8741-55B5A6A30D24}"/>
              </a:ext>
            </a:extLst>
          </p:cNvPr>
          <p:cNvSpPr/>
          <p:nvPr/>
        </p:nvSpPr>
        <p:spPr>
          <a:xfrm>
            <a:off x="5349080" y="3917833"/>
            <a:ext cx="1735091"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mbria Math" panose="02040503050406030204" pitchFamily="18" charset="0"/>
                <a:ea typeface="Cambria Math" panose="02040503050406030204" pitchFamily="18" charset="0"/>
              </a:rPr>
              <a:t>Failed</a:t>
            </a:r>
            <a:endParaRPr lang="en-IN" dirty="0">
              <a:latin typeface="Cambria Math" panose="02040503050406030204" pitchFamily="18" charset="0"/>
              <a:ea typeface="Cambria Math" panose="02040503050406030204" pitchFamily="18" charset="0"/>
            </a:endParaRPr>
          </a:p>
        </p:txBody>
      </p:sp>
      <p:sp>
        <p:nvSpPr>
          <p:cNvPr id="7" name="Oval 6">
            <a:extLst>
              <a:ext uri="{FF2B5EF4-FFF2-40B4-BE49-F238E27FC236}">
                <a16:creationId xmlns:a16="http://schemas.microsoft.com/office/drawing/2014/main" id="{9FB05757-5136-4902-84CE-1E20BE4FFAFF}"/>
              </a:ext>
            </a:extLst>
          </p:cNvPr>
          <p:cNvSpPr/>
          <p:nvPr/>
        </p:nvSpPr>
        <p:spPr>
          <a:xfrm>
            <a:off x="7905144" y="1612315"/>
            <a:ext cx="1890727"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mbria Math" panose="02040503050406030204" pitchFamily="18" charset="0"/>
                <a:ea typeface="Cambria Math" panose="02040503050406030204" pitchFamily="18" charset="0"/>
              </a:rPr>
              <a:t>Committed</a:t>
            </a:r>
            <a:endParaRPr lang="en-IN" dirty="0">
              <a:latin typeface="Cambria Math" panose="02040503050406030204" pitchFamily="18" charset="0"/>
              <a:ea typeface="Cambria Math" panose="02040503050406030204" pitchFamily="18" charset="0"/>
            </a:endParaRPr>
          </a:p>
        </p:txBody>
      </p:sp>
      <p:sp>
        <p:nvSpPr>
          <p:cNvPr id="8" name="Oval 7">
            <a:extLst>
              <a:ext uri="{FF2B5EF4-FFF2-40B4-BE49-F238E27FC236}">
                <a16:creationId xmlns:a16="http://schemas.microsoft.com/office/drawing/2014/main" id="{B2BF7DB6-71D6-4A88-AD3E-12990BE9BED7}"/>
              </a:ext>
            </a:extLst>
          </p:cNvPr>
          <p:cNvSpPr/>
          <p:nvPr/>
        </p:nvSpPr>
        <p:spPr>
          <a:xfrm>
            <a:off x="7877131" y="3917833"/>
            <a:ext cx="1735091"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mbria Math" panose="02040503050406030204" pitchFamily="18" charset="0"/>
                <a:ea typeface="Cambria Math" panose="02040503050406030204" pitchFamily="18" charset="0"/>
              </a:rPr>
              <a:t>Aborted</a:t>
            </a:r>
            <a:endParaRPr lang="en-IN" dirty="0">
              <a:latin typeface="Cambria Math" panose="02040503050406030204" pitchFamily="18" charset="0"/>
              <a:ea typeface="Cambria Math" panose="02040503050406030204" pitchFamily="18" charset="0"/>
            </a:endParaRPr>
          </a:p>
        </p:txBody>
      </p:sp>
      <p:cxnSp>
        <p:nvCxnSpPr>
          <p:cNvPr id="9" name="Straight Arrow Connector 8">
            <a:extLst>
              <a:ext uri="{FF2B5EF4-FFF2-40B4-BE49-F238E27FC236}">
                <a16:creationId xmlns:a16="http://schemas.microsoft.com/office/drawing/2014/main" id="{6E72929C-89BA-4EAD-A528-B60CEAC0AA36}"/>
              </a:ext>
            </a:extLst>
          </p:cNvPr>
          <p:cNvCxnSpPr>
            <a:cxnSpLocks/>
            <a:stCxn id="4" idx="0"/>
            <a:endCxn id="5" idx="3"/>
          </p:cNvCxnSpPr>
          <p:nvPr/>
        </p:nvCxnSpPr>
        <p:spPr>
          <a:xfrm flipV="1">
            <a:off x="4670213" y="2174091"/>
            <a:ext cx="977553" cy="583642"/>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E3B97007-B1E3-4DA8-B575-E07AC043C08E}"/>
              </a:ext>
            </a:extLst>
          </p:cNvPr>
          <p:cNvCxnSpPr>
            <a:cxnSpLocks/>
            <a:stCxn id="4" idx="4"/>
            <a:endCxn id="6" idx="1"/>
          </p:cNvCxnSpPr>
          <p:nvPr/>
        </p:nvCxnSpPr>
        <p:spPr>
          <a:xfrm>
            <a:off x="4670213" y="3477733"/>
            <a:ext cx="932965" cy="545542"/>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8ACD4CD6-9596-4EDD-B8D2-B500D02774DA}"/>
              </a:ext>
            </a:extLst>
          </p:cNvPr>
          <p:cNvCxnSpPr>
            <a:cxnSpLocks/>
            <a:stCxn id="5" idx="6"/>
            <a:endCxn id="7" idx="2"/>
          </p:cNvCxnSpPr>
          <p:nvPr/>
        </p:nvCxnSpPr>
        <p:spPr>
          <a:xfrm>
            <a:off x="7192652" y="1919533"/>
            <a:ext cx="712492" cy="52782"/>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B5370027-7775-4FE8-81D9-14F53DD30B63}"/>
              </a:ext>
            </a:extLst>
          </p:cNvPr>
          <p:cNvCxnSpPr>
            <a:cxnSpLocks/>
            <a:stCxn id="6" idx="6"/>
            <a:endCxn id="8" idx="2"/>
          </p:cNvCxnSpPr>
          <p:nvPr/>
        </p:nvCxnSpPr>
        <p:spPr>
          <a:xfrm>
            <a:off x="7084171" y="4277833"/>
            <a:ext cx="792960"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Rounded Rectangular Callout 36">
            <a:extLst>
              <a:ext uri="{FF2B5EF4-FFF2-40B4-BE49-F238E27FC236}">
                <a16:creationId xmlns:a16="http://schemas.microsoft.com/office/drawing/2014/main" id="{9F787034-48DC-4D3B-98CE-302B31ECADD3}"/>
              </a:ext>
            </a:extLst>
          </p:cNvPr>
          <p:cNvSpPr/>
          <p:nvPr/>
        </p:nvSpPr>
        <p:spPr>
          <a:xfrm>
            <a:off x="3606553" y="4716853"/>
            <a:ext cx="3787235" cy="1144312"/>
          </a:xfrm>
          <a:prstGeom prst="wedgeRoundRectCallout">
            <a:avLst>
              <a:gd name="adj1" fmla="val -24314"/>
              <a:gd name="adj2" fmla="val -154659"/>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This is the initial state. </a:t>
            </a:r>
          </a:p>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The transaction remains in this state while execution.</a:t>
            </a:r>
          </a:p>
        </p:txBody>
      </p:sp>
      <p:cxnSp>
        <p:nvCxnSpPr>
          <p:cNvPr id="14" name="Straight Arrow Connector 13">
            <a:extLst>
              <a:ext uri="{FF2B5EF4-FFF2-40B4-BE49-F238E27FC236}">
                <a16:creationId xmlns:a16="http://schemas.microsoft.com/office/drawing/2014/main" id="{610BE9D3-E191-4920-B04D-B3FFFA6D507F}"/>
              </a:ext>
            </a:extLst>
          </p:cNvPr>
          <p:cNvCxnSpPr>
            <a:cxnSpLocks/>
            <a:stCxn id="5" idx="4"/>
            <a:endCxn id="6" idx="0"/>
          </p:cNvCxnSpPr>
          <p:nvPr/>
        </p:nvCxnSpPr>
        <p:spPr>
          <a:xfrm flipH="1">
            <a:off x="6216626" y="2279533"/>
            <a:ext cx="71053" cy="163830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9E21384C-FF7E-40F6-9422-2310DBE88D4B}"/>
              </a:ext>
            </a:extLst>
          </p:cNvPr>
          <p:cNvSpPr/>
          <p:nvPr/>
        </p:nvSpPr>
        <p:spPr>
          <a:xfrm>
            <a:off x="8462806" y="2757733"/>
            <a:ext cx="1735091"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mbria Math" panose="02040503050406030204" pitchFamily="18" charset="0"/>
                <a:ea typeface="Cambria Math" panose="02040503050406030204" pitchFamily="18" charset="0"/>
              </a:rPr>
              <a:t>End</a:t>
            </a:r>
            <a:endParaRPr lang="en-IN" dirty="0">
              <a:latin typeface="Cambria Math" panose="02040503050406030204" pitchFamily="18" charset="0"/>
              <a:ea typeface="Cambria Math" panose="02040503050406030204" pitchFamily="18" charset="0"/>
            </a:endParaRPr>
          </a:p>
        </p:txBody>
      </p:sp>
      <p:cxnSp>
        <p:nvCxnSpPr>
          <p:cNvPr id="16" name="Straight Arrow Connector 15">
            <a:extLst>
              <a:ext uri="{FF2B5EF4-FFF2-40B4-BE49-F238E27FC236}">
                <a16:creationId xmlns:a16="http://schemas.microsoft.com/office/drawing/2014/main" id="{3700B995-29B2-4C56-A622-34E0BBB83E4E}"/>
              </a:ext>
            </a:extLst>
          </p:cNvPr>
          <p:cNvCxnSpPr>
            <a:cxnSpLocks/>
            <a:stCxn id="8" idx="0"/>
            <a:endCxn id="15" idx="4"/>
          </p:cNvCxnSpPr>
          <p:nvPr/>
        </p:nvCxnSpPr>
        <p:spPr>
          <a:xfrm flipV="1">
            <a:off x="8744677" y="3477733"/>
            <a:ext cx="585675" cy="44010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D6EA1935-6158-4A3A-AD22-C81B54506CC0}"/>
              </a:ext>
            </a:extLst>
          </p:cNvPr>
          <p:cNvCxnSpPr>
            <a:cxnSpLocks/>
            <a:stCxn id="7" idx="4"/>
            <a:endCxn id="15" idx="0"/>
          </p:cNvCxnSpPr>
          <p:nvPr/>
        </p:nvCxnSpPr>
        <p:spPr>
          <a:xfrm>
            <a:off x="8850508" y="2332315"/>
            <a:ext cx="479844" cy="425418"/>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Rounded Rectangular Callout 32">
            <a:extLst>
              <a:ext uri="{FF2B5EF4-FFF2-40B4-BE49-F238E27FC236}">
                <a16:creationId xmlns:a16="http://schemas.microsoft.com/office/drawing/2014/main" id="{9C9EA6F9-FF76-455A-B87C-FDCA3CF1A0AF}"/>
              </a:ext>
            </a:extLst>
          </p:cNvPr>
          <p:cNvSpPr/>
          <p:nvPr/>
        </p:nvSpPr>
        <p:spPr>
          <a:xfrm>
            <a:off x="4145126" y="526958"/>
            <a:ext cx="5878090" cy="710375"/>
          </a:xfrm>
          <a:prstGeom prst="wedgeRoundRectCallout">
            <a:avLst>
              <a:gd name="adj1" fmla="val -16497"/>
              <a:gd name="adj2" fmla="val 98268"/>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It is a state where a transaction actually enter in its last operation.</a:t>
            </a:r>
          </a:p>
        </p:txBody>
      </p:sp>
      <p:sp>
        <p:nvSpPr>
          <p:cNvPr id="20" name="Rounded Rectangular Callout 33">
            <a:extLst>
              <a:ext uri="{FF2B5EF4-FFF2-40B4-BE49-F238E27FC236}">
                <a16:creationId xmlns:a16="http://schemas.microsoft.com/office/drawing/2014/main" id="{E7B42080-E4A8-41C1-89BD-B4E536866457}"/>
              </a:ext>
            </a:extLst>
          </p:cNvPr>
          <p:cNvSpPr/>
          <p:nvPr/>
        </p:nvSpPr>
        <p:spPr>
          <a:xfrm>
            <a:off x="4145126" y="5156953"/>
            <a:ext cx="5878090" cy="1144312"/>
          </a:xfrm>
          <a:prstGeom prst="wedgeRoundRectCallout">
            <a:avLst>
              <a:gd name="adj1" fmla="val -14453"/>
              <a:gd name="adj2" fmla="val -94668"/>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An execution cannot be performed due to errors.</a:t>
            </a:r>
          </a:p>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Once a transaction cannot be completed, any changes that it made must be undone rolling it back.</a:t>
            </a:r>
          </a:p>
        </p:txBody>
      </p:sp>
      <p:sp>
        <p:nvSpPr>
          <p:cNvPr id="21" name="Rounded Rectangular Callout 34">
            <a:extLst>
              <a:ext uri="{FF2B5EF4-FFF2-40B4-BE49-F238E27FC236}">
                <a16:creationId xmlns:a16="http://schemas.microsoft.com/office/drawing/2014/main" id="{D6D47374-3DD3-4724-AB73-F004102855AF}"/>
              </a:ext>
            </a:extLst>
          </p:cNvPr>
          <p:cNvSpPr/>
          <p:nvPr/>
        </p:nvSpPr>
        <p:spPr>
          <a:xfrm>
            <a:off x="5910040" y="4920758"/>
            <a:ext cx="5878090" cy="1144312"/>
          </a:xfrm>
          <a:prstGeom prst="wedgeRoundRectCallout">
            <a:avLst>
              <a:gd name="adj1" fmla="val 5417"/>
              <a:gd name="adj2" fmla="val -76544"/>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The state after the transaction has been rolled back and the database has been restored to start of the transaction state.</a:t>
            </a:r>
          </a:p>
        </p:txBody>
      </p:sp>
      <p:sp>
        <p:nvSpPr>
          <p:cNvPr id="22" name="Rounded Rectangular Callout 35">
            <a:extLst>
              <a:ext uri="{FF2B5EF4-FFF2-40B4-BE49-F238E27FC236}">
                <a16:creationId xmlns:a16="http://schemas.microsoft.com/office/drawing/2014/main" id="{6D7A92EB-6786-4A87-A9E5-86DB0A4285DB}"/>
              </a:ext>
            </a:extLst>
          </p:cNvPr>
          <p:cNvSpPr/>
          <p:nvPr/>
        </p:nvSpPr>
        <p:spPr>
          <a:xfrm>
            <a:off x="5805631" y="151976"/>
            <a:ext cx="5878090" cy="958398"/>
          </a:xfrm>
          <a:prstGeom prst="wedgeRoundRectCallout">
            <a:avLst>
              <a:gd name="adj1" fmla="val 8335"/>
              <a:gd name="adj2" fmla="val 102448"/>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It is a state where a transaction has completed all its operations and changes to the database are reflected</a:t>
            </a:r>
          </a:p>
          <a:p>
            <a:pPr marL="342900" indent="-34290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We cannot abort or rollback a committed transaction.</a:t>
            </a:r>
          </a:p>
        </p:txBody>
      </p:sp>
    </p:spTree>
    <p:extLst>
      <p:ext uri="{BB962C8B-B14F-4D97-AF65-F5344CB8AC3E}">
        <p14:creationId xmlns:p14="http://schemas.microsoft.com/office/powerpoint/2010/main" val="274353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3"/>
                                        </p:tgtEl>
                                      </p:cBhvr>
                                    </p:animEffect>
                                    <p:set>
                                      <p:cBhvr>
                                        <p:cTn id="15" dur="1" fill="hold">
                                          <p:stCondLst>
                                            <p:cond delay="499"/>
                                          </p:stCondLst>
                                        </p:cTn>
                                        <p:tgtEl>
                                          <p:spTgt spid="1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20"/>
                                        </p:tgtEl>
                                      </p:cBhvr>
                                    </p:animEffect>
                                    <p:set>
                                      <p:cBhvr>
                                        <p:cTn id="49" dur="1" fill="hold">
                                          <p:stCondLst>
                                            <p:cond delay="499"/>
                                          </p:stCondLst>
                                        </p:cTn>
                                        <p:tgtEl>
                                          <p:spTgt spid="20"/>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21"/>
                                        </p:tgtEl>
                                      </p:cBhvr>
                                    </p:animEffect>
                                    <p:set>
                                      <p:cBhvr>
                                        <p:cTn id="70" dur="1" fill="hold">
                                          <p:stCondLst>
                                            <p:cond delay="499"/>
                                          </p:stCondLst>
                                        </p:cTn>
                                        <p:tgtEl>
                                          <p:spTgt spid="2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grpId="1" nodeType="clickEffect">
                                  <p:stCondLst>
                                    <p:cond delay="0"/>
                                  </p:stCondLst>
                                  <p:childTnLst>
                                    <p:animEffect transition="out" filter="fade">
                                      <p:cBhvr>
                                        <p:cTn id="86" dur="500"/>
                                        <p:tgtEl>
                                          <p:spTgt spid="22"/>
                                        </p:tgtEl>
                                      </p:cBhvr>
                                    </p:animEffect>
                                    <p:set>
                                      <p:cBhvr>
                                        <p:cTn id="87" dur="1" fill="hold">
                                          <p:stCondLst>
                                            <p:cond delay="499"/>
                                          </p:stCondLst>
                                        </p:cTn>
                                        <p:tgtEl>
                                          <p:spTgt spid="22"/>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16"/>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3" grpId="0" animBg="1"/>
      <p:bldP spid="13" grpId="1" animBg="1"/>
      <p:bldP spid="15" grpId="0" animBg="1"/>
      <p:bldP spid="18" grpId="0" animBg="1"/>
      <p:bldP spid="18" grpId="1" animBg="1"/>
      <p:bldP spid="20" grpId="0" animBg="1"/>
      <p:bldP spid="20" grpId="1" animBg="1"/>
      <p:bldP spid="21" grpId="0" animBg="1"/>
      <p:bldP spid="21" grpId="1" animBg="1"/>
      <p:bldP spid="22" grpId="0" animBg="1"/>
      <p:bldP spid="2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(Operations)</a:t>
            </a:r>
            <a:endParaRPr lang="en-US" dirty="0"/>
          </a:p>
        </p:txBody>
      </p:sp>
      <p:sp>
        <p:nvSpPr>
          <p:cNvPr id="7" name="Rectangle 6">
            <a:extLst>
              <a:ext uri="{FF2B5EF4-FFF2-40B4-BE49-F238E27FC236}">
                <a16:creationId xmlns:a16="http://schemas.microsoft.com/office/drawing/2014/main" id="{182C5609-1521-44E5-89FA-D598AA482F70}"/>
              </a:ext>
            </a:extLst>
          </p:cNvPr>
          <p:cNvSpPr/>
          <p:nvPr/>
        </p:nvSpPr>
        <p:spPr>
          <a:xfrm>
            <a:off x="3575902" y="411234"/>
            <a:ext cx="8141616" cy="5632311"/>
          </a:xfrm>
          <a:prstGeom prst="rect">
            <a:avLst/>
          </a:prstGeom>
        </p:spPr>
        <p:txBody>
          <a:bodyPr wrap="square">
            <a:spAutoFit/>
          </a:bodyPr>
          <a:lstStyle/>
          <a:p>
            <a:r>
              <a:rPr lang="en-US" sz="2400" b="1" dirty="0">
                <a:latin typeface="Cambria Math" panose="02040503050406030204" pitchFamily="18" charset="0"/>
                <a:ea typeface="Cambria Math" panose="02040503050406030204" pitchFamily="18" charset="0"/>
              </a:rPr>
              <a:t>1. Read (X) </a:t>
            </a:r>
          </a:p>
          <a:p>
            <a:endParaRPr lang="en-US" sz="24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This operation is mainly used for accessing the data from the database. </a:t>
            </a:r>
          </a:p>
          <a:p>
            <a:pPr marL="342900" indent="-342900">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transfers the data item accessed from the database to the local buffer/memory. </a:t>
            </a:r>
          </a:p>
          <a:p>
            <a:endParaRPr lang="en-US" sz="2400" b="1" dirty="0">
              <a:latin typeface="Cambria Math" panose="02040503050406030204" pitchFamily="18" charset="0"/>
              <a:ea typeface="Cambria Math" panose="02040503050406030204" pitchFamily="18" charset="0"/>
            </a:endParaRPr>
          </a:p>
          <a:p>
            <a:r>
              <a:rPr lang="en-US" sz="2400" b="1" dirty="0">
                <a:latin typeface="Cambria Math" panose="02040503050406030204" pitchFamily="18" charset="0"/>
                <a:ea typeface="Cambria Math" panose="02040503050406030204" pitchFamily="18" charset="0"/>
              </a:rPr>
              <a:t>2. Write (X)</a:t>
            </a:r>
          </a:p>
          <a:p>
            <a:endParaRPr lang="en-US" sz="24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This operation is mainly used for updating/modifying the data in the database. </a:t>
            </a:r>
          </a:p>
          <a:p>
            <a:pPr marL="342900" indent="-342900">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updates the data of the database as a result of any transaction been executed.</a:t>
            </a:r>
          </a:p>
        </p:txBody>
      </p:sp>
    </p:spTree>
    <p:extLst>
      <p:ext uri="{BB962C8B-B14F-4D97-AF65-F5344CB8AC3E}">
        <p14:creationId xmlns:p14="http://schemas.microsoft.com/office/powerpoint/2010/main" val="151583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Effect transition="in" filter="fade">
                                      <p:cBhvr>
                                        <p:cTn id="11" dur="500"/>
                                        <p:tgtEl>
                                          <p:spTgt spid="7">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Effect transition="in" filter="fade">
                                      <p:cBhvr>
                                        <p:cTn id="25" dur="500"/>
                                        <p:tgtEl>
                                          <p:spTgt spid="7">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xEl>
                                              <p:pRg st="10" end="10"/>
                                            </p:txEl>
                                          </p:spTgt>
                                        </p:tgtEl>
                                        <p:attrNameLst>
                                          <p:attrName>style.visibility</p:attrName>
                                        </p:attrNameLst>
                                      </p:cBhvr>
                                      <p:to>
                                        <p:strVal val="visible"/>
                                      </p:to>
                                    </p:set>
                                    <p:animEffect transition="in" filter="fade">
                                      <p:cBhvr>
                                        <p:cTn id="30"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(Schedule)</a:t>
            </a:r>
            <a:endParaRPr lang="en-US" dirty="0"/>
          </a:p>
        </p:txBody>
      </p:sp>
      <p:sp>
        <p:nvSpPr>
          <p:cNvPr id="7" name="Rectangle 6">
            <a:extLst>
              <a:ext uri="{FF2B5EF4-FFF2-40B4-BE49-F238E27FC236}">
                <a16:creationId xmlns:a16="http://schemas.microsoft.com/office/drawing/2014/main" id="{182C5609-1521-44E5-89FA-D598AA482F70}"/>
              </a:ext>
            </a:extLst>
          </p:cNvPr>
          <p:cNvSpPr/>
          <p:nvPr/>
        </p:nvSpPr>
        <p:spPr>
          <a:xfrm>
            <a:off x="3519341" y="892001"/>
            <a:ext cx="8141616" cy="5262979"/>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schedule is a process of grouping  and ordering the operation of transactions.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schedule is a sequence in which all the operations are executed.</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schedule is required in a database because when some transactions execute in parallel, they may affect the result of the transaction.</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 transaction is updating the data in the database and other transaction at the same time is accessing the same data, then the result of the database is fully dependent on the sequence of these transactions.</a:t>
            </a:r>
          </a:p>
        </p:txBody>
      </p:sp>
    </p:spTree>
    <p:extLst>
      <p:ext uri="{BB962C8B-B14F-4D97-AF65-F5344CB8AC3E}">
        <p14:creationId xmlns:p14="http://schemas.microsoft.com/office/powerpoint/2010/main" val="337119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(Schedule - Example)</a:t>
            </a:r>
            <a:endParaRPr lang="en-US" dirty="0"/>
          </a:p>
        </p:txBody>
      </p:sp>
      <p:graphicFrame>
        <p:nvGraphicFramePr>
          <p:cNvPr id="4" name="Content Placeholder 1">
            <a:extLst>
              <a:ext uri="{FF2B5EF4-FFF2-40B4-BE49-F238E27FC236}">
                <a16:creationId xmlns:a16="http://schemas.microsoft.com/office/drawing/2014/main" id="{72BA869D-0077-4C4E-BF2D-C35ADEB2A4CE}"/>
              </a:ext>
            </a:extLst>
          </p:cNvPr>
          <p:cNvGraphicFramePr>
            <a:graphicFrameLocks noGrp="1"/>
          </p:cNvGraphicFramePr>
          <p:nvPr>
            <p:ph idx="1"/>
            <p:extLst>
              <p:ext uri="{D42A27DB-BD31-4B8C-83A1-F6EECF244321}">
                <p14:modId xmlns:p14="http://schemas.microsoft.com/office/powerpoint/2010/main" val="2643059720"/>
              </p:ext>
            </p:extLst>
          </p:nvPr>
        </p:nvGraphicFramePr>
        <p:xfrm>
          <a:off x="3718088" y="65892"/>
          <a:ext cx="7217004" cy="6717071"/>
        </p:xfrm>
        <a:graphic>
          <a:graphicData uri="http://schemas.openxmlformats.org/drawingml/2006/table">
            <a:tbl>
              <a:tblPr firstRow="1" firstCol="1" bandRow="1">
                <a:tableStyleId>{D113A9D2-9D6B-4929-AA2D-F23B5EE8CBE7}</a:tableStyleId>
              </a:tblPr>
              <a:tblGrid>
                <a:gridCol w="3621343">
                  <a:extLst>
                    <a:ext uri="{9D8B030D-6E8A-4147-A177-3AD203B41FA5}">
                      <a16:colId xmlns:a16="http://schemas.microsoft.com/office/drawing/2014/main" val="20000"/>
                    </a:ext>
                  </a:extLst>
                </a:gridCol>
                <a:gridCol w="3595661">
                  <a:extLst>
                    <a:ext uri="{9D8B030D-6E8A-4147-A177-3AD203B41FA5}">
                      <a16:colId xmlns:a16="http://schemas.microsoft.com/office/drawing/2014/main" val="20001"/>
                    </a:ext>
                  </a:extLst>
                </a:gridCol>
              </a:tblGrid>
              <a:tr h="479465">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rgbClr val="FFFFFF"/>
                          </a:solidFill>
                          <a:effectLst/>
                          <a:latin typeface="Cambria Math" panose="02040503050406030204" pitchFamily="18" charset="0"/>
                          <a:ea typeface="Cambria Math" panose="02040503050406030204" pitchFamily="18" charset="0"/>
                        </a:rPr>
                        <a:t>T1</a:t>
                      </a:r>
                      <a:endParaRPr lang="en-IN" sz="2400" b="1"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rgbClr val="FFFFFF"/>
                          </a:solidFill>
                          <a:effectLst/>
                          <a:latin typeface="Cambria Math" panose="02040503050406030204" pitchFamily="18" charset="0"/>
                          <a:ea typeface="Cambria Math" panose="02040503050406030204" pitchFamily="18" charset="0"/>
                        </a:rPr>
                        <a:t>T2</a:t>
                      </a:r>
                      <a:endParaRPr lang="en-IN" sz="2400" b="1"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2380051">
                <a:tc>
                  <a:txBody>
                    <a:bodyPr/>
                    <a:lstStyle/>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Read (A)</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A = A - 1000</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(A)</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Read (B)</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B</a:t>
                      </a:r>
                      <a:r>
                        <a:rPr lang="en-US" sz="2400" b="0" baseline="0" dirty="0">
                          <a:solidFill>
                            <a:srgbClr val="FFFFFF"/>
                          </a:solidFill>
                          <a:effectLst/>
                          <a:latin typeface="Cambria Math" panose="02040503050406030204" pitchFamily="18" charset="0"/>
                          <a:ea typeface="Cambria Math" panose="02040503050406030204" pitchFamily="18" charset="0"/>
                        </a:rPr>
                        <a:t> </a:t>
                      </a:r>
                      <a:r>
                        <a:rPr lang="en-US" sz="2400" b="0" dirty="0">
                          <a:solidFill>
                            <a:srgbClr val="FFFFFF"/>
                          </a:solidFill>
                          <a:effectLst/>
                          <a:latin typeface="Cambria Math" panose="02040503050406030204" pitchFamily="18" charset="0"/>
                          <a:ea typeface="Cambria Math" panose="02040503050406030204" pitchFamily="18" charset="0"/>
                        </a:rPr>
                        <a:t>= B + 1000</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(B)</a:t>
                      </a: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Commit</a:t>
                      </a:r>
                      <a:endParaRPr lang="en-IN" sz="2400" b="0" dirty="0">
                        <a:solidFill>
                          <a:srgbClr val="FFFFFF"/>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indent="-457200" algn="ctr" defTabSz="914400" rtl="0" eaLnBrk="1" latinLnBrk="0" hangingPunct="1">
                        <a:lnSpc>
                          <a:spcPct val="115000"/>
                        </a:lnSpc>
                        <a:spcAft>
                          <a:spcPts val="0"/>
                        </a:spcAft>
                      </a:pPr>
                      <a:endParaRPr lang="en-IN" sz="2400" b="0"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r h="2708334">
                <a:tc>
                  <a:txBody>
                    <a:bodyPr/>
                    <a:lstStyle/>
                    <a:p>
                      <a:pPr marL="457200" algn="just">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 </a:t>
                      </a:r>
                      <a:endParaRPr lang="en-IN" sz="2400" b="0" dirty="0">
                        <a:solidFill>
                          <a:srgbClr val="FFFFFF"/>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algn="just">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          Read (A)</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T = A * 0.7</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A</a:t>
                      </a:r>
                      <a:r>
                        <a:rPr lang="en-US" sz="2400" b="0" baseline="0" dirty="0">
                          <a:solidFill>
                            <a:srgbClr val="FFFFFF"/>
                          </a:solidFill>
                          <a:effectLst/>
                          <a:latin typeface="Cambria Math" panose="02040503050406030204" pitchFamily="18" charset="0"/>
                          <a:ea typeface="Cambria Math" panose="02040503050406030204" pitchFamily="18" charset="0"/>
                        </a:rPr>
                        <a:t> =</a:t>
                      </a:r>
                      <a:r>
                        <a:rPr lang="en-US" sz="2400" b="0" dirty="0">
                          <a:solidFill>
                            <a:srgbClr val="FFFFFF"/>
                          </a:solidFill>
                          <a:effectLst/>
                          <a:latin typeface="Cambria Math" panose="02040503050406030204" pitchFamily="18" charset="0"/>
                          <a:ea typeface="Cambria Math" panose="02040503050406030204" pitchFamily="18" charset="0"/>
                        </a:rPr>
                        <a:t> A - T</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(A)</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Read (B)</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B</a:t>
                      </a:r>
                      <a:r>
                        <a:rPr lang="en-US" sz="2400" b="0" baseline="0" dirty="0">
                          <a:solidFill>
                            <a:srgbClr val="FFFFFF"/>
                          </a:solidFill>
                          <a:effectLst/>
                          <a:latin typeface="Cambria Math" panose="02040503050406030204" pitchFamily="18" charset="0"/>
                          <a:ea typeface="Cambria Math" panose="02040503050406030204" pitchFamily="18" charset="0"/>
                        </a:rPr>
                        <a:t> </a:t>
                      </a:r>
                      <a:r>
                        <a:rPr lang="en-US" sz="2400" b="0" dirty="0">
                          <a:solidFill>
                            <a:srgbClr val="FFFFFF"/>
                          </a:solidFill>
                          <a:effectLst/>
                          <a:latin typeface="Cambria Math" panose="02040503050406030204" pitchFamily="18" charset="0"/>
                          <a:ea typeface="Cambria Math" panose="02040503050406030204" pitchFamily="18" charset="0"/>
                        </a:rPr>
                        <a:t>= B + T</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(B)</a:t>
                      </a: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Commit</a:t>
                      </a:r>
                      <a:endParaRPr lang="en-IN" sz="2400" b="0" dirty="0">
                        <a:solidFill>
                          <a:srgbClr val="FFFFFF"/>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78848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Schedule)</a:t>
            </a:r>
            <a:endParaRPr lang="en-US" dirty="0"/>
          </a:p>
        </p:txBody>
      </p:sp>
      <p:sp>
        <p:nvSpPr>
          <p:cNvPr id="7" name="Rectangle 6">
            <a:extLst>
              <a:ext uri="{FF2B5EF4-FFF2-40B4-BE49-F238E27FC236}">
                <a16:creationId xmlns:a16="http://schemas.microsoft.com/office/drawing/2014/main" id="{182C5609-1521-44E5-89FA-D598AA482F70}"/>
              </a:ext>
            </a:extLst>
          </p:cNvPr>
          <p:cNvSpPr/>
          <p:nvPr/>
        </p:nvSpPr>
        <p:spPr>
          <a:xfrm>
            <a:off x="3566475" y="1712133"/>
            <a:ext cx="8141616" cy="2677656"/>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serial schedule is one in which no transaction starts until an active transaction is complete or commit.</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Transactions are executed one by one in a sequence. </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This type of schedule is called a serial schedule, as transactions are executed in a serial manner.</a:t>
            </a:r>
          </a:p>
        </p:txBody>
      </p:sp>
    </p:spTree>
    <p:extLst>
      <p:ext uri="{BB962C8B-B14F-4D97-AF65-F5344CB8AC3E}">
        <p14:creationId xmlns:p14="http://schemas.microsoft.com/office/powerpoint/2010/main" val="375427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Schedule Example)</a:t>
            </a:r>
            <a:endParaRPr lang="en-US" dirty="0"/>
          </a:p>
        </p:txBody>
      </p:sp>
      <p:graphicFrame>
        <p:nvGraphicFramePr>
          <p:cNvPr id="4" name="Content Placeholder 1">
            <a:extLst>
              <a:ext uri="{FF2B5EF4-FFF2-40B4-BE49-F238E27FC236}">
                <a16:creationId xmlns:a16="http://schemas.microsoft.com/office/drawing/2014/main" id="{12AEA774-62F5-461F-B0B7-66EBEE292C4A}"/>
              </a:ext>
            </a:extLst>
          </p:cNvPr>
          <p:cNvGraphicFramePr>
            <a:graphicFrameLocks noGrp="1"/>
          </p:cNvGraphicFramePr>
          <p:nvPr>
            <p:ph idx="1"/>
            <p:extLst>
              <p:ext uri="{D42A27DB-BD31-4B8C-83A1-F6EECF244321}">
                <p14:modId xmlns:p14="http://schemas.microsoft.com/office/powerpoint/2010/main" val="1447182974"/>
              </p:ext>
            </p:extLst>
          </p:nvPr>
        </p:nvGraphicFramePr>
        <p:xfrm>
          <a:off x="3718087" y="65892"/>
          <a:ext cx="7433821" cy="6717071"/>
        </p:xfrm>
        <a:graphic>
          <a:graphicData uri="http://schemas.openxmlformats.org/drawingml/2006/table">
            <a:tbl>
              <a:tblPr firstRow="1" firstCol="1" bandRow="1">
                <a:tableStyleId>{D113A9D2-9D6B-4929-AA2D-F23B5EE8CBE7}</a:tableStyleId>
              </a:tblPr>
              <a:tblGrid>
                <a:gridCol w="3730137">
                  <a:extLst>
                    <a:ext uri="{9D8B030D-6E8A-4147-A177-3AD203B41FA5}">
                      <a16:colId xmlns:a16="http://schemas.microsoft.com/office/drawing/2014/main" val="20000"/>
                    </a:ext>
                  </a:extLst>
                </a:gridCol>
                <a:gridCol w="3703684">
                  <a:extLst>
                    <a:ext uri="{9D8B030D-6E8A-4147-A177-3AD203B41FA5}">
                      <a16:colId xmlns:a16="http://schemas.microsoft.com/office/drawing/2014/main" val="20001"/>
                    </a:ext>
                  </a:extLst>
                </a:gridCol>
              </a:tblGrid>
              <a:tr h="479465">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rgbClr val="FFFFFF"/>
                          </a:solidFill>
                          <a:effectLst/>
                          <a:latin typeface="Cambria Math" panose="02040503050406030204" pitchFamily="18" charset="0"/>
                          <a:ea typeface="Cambria Math" panose="02040503050406030204" pitchFamily="18" charset="0"/>
                        </a:rPr>
                        <a:t>T1</a:t>
                      </a:r>
                      <a:endParaRPr lang="en-IN" sz="2400" b="1"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rgbClr val="FFFFFF"/>
                          </a:solidFill>
                          <a:effectLst/>
                          <a:latin typeface="Cambria Math" panose="02040503050406030204" pitchFamily="18" charset="0"/>
                          <a:ea typeface="Cambria Math" panose="02040503050406030204" pitchFamily="18" charset="0"/>
                        </a:rPr>
                        <a:t>T2</a:t>
                      </a:r>
                      <a:endParaRPr lang="en-IN" sz="2400" b="1"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2380051">
                <a:tc>
                  <a:txBody>
                    <a:bodyPr/>
                    <a:lstStyle/>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Read (A)</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A = A - 1000</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(A)</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Read (B)</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B</a:t>
                      </a:r>
                      <a:r>
                        <a:rPr lang="en-US" sz="2400" b="0" baseline="0" dirty="0">
                          <a:solidFill>
                            <a:srgbClr val="FFFFFF"/>
                          </a:solidFill>
                          <a:effectLst/>
                          <a:latin typeface="Cambria Math" panose="02040503050406030204" pitchFamily="18" charset="0"/>
                          <a:ea typeface="Cambria Math" panose="02040503050406030204" pitchFamily="18" charset="0"/>
                        </a:rPr>
                        <a:t> </a:t>
                      </a:r>
                      <a:r>
                        <a:rPr lang="en-US" sz="2400" b="0" dirty="0">
                          <a:solidFill>
                            <a:srgbClr val="FFFFFF"/>
                          </a:solidFill>
                          <a:effectLst/>
                          <a:latin typeface="Cambria Math" panose="02040503050406030204" pitchFamily="18" charset="0"/>
                          <a:ea typeface="Cambria Math" panose="02040503050406030204" pitchFamily="18" charset="0"/>
                        </a:rPr>
                        <a:t>= B + 1000</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(B)</a:t>
                      </a: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Commit</a:t>
                      </a:r>
                      <a:endParaRPr lang="en-IN" sz="2400" b="0" dirty="0">
                        <a:solidFill>
                          <a:srgbClr val="FFFFFF"/>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indent="-457200" algn="ctr" defTabSz="914400" rtl="0" eaLnBrk="1" latinLnBrk="0" hangingPunct="1">
                        <a:lnSpc>
                          <a:spcPct val="115000"/>
                        </a:lnSpc>
                        <a:spcAft>
                          <a:spcPts val="0"/>
                        </a:spcAft>
                      </a:pPr>
                      <a:endParaRPr lang="en-IN" sz="2400" b="0"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r h="2708334">
                <a:tc>
                  <a:txBody>
                    <a:bodyPr/>
                    <a:lstStyle/>
                    <a:p>
                      <a:pPr marL="457200" algn="just">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 </a:t>
                      </a:r>
                      <a:endParaRPr lang="en-IN" sz="2400" b="0" dirty="0">
                        <a:solidFill>
                          <a:srgbClr val="FFFFFF"/>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algn="just">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          Read (A)</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T = A * 0.7</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A</a:t>
                      </a:r>
                      <a:r>
                        <a:rPr lang="en-US" sz="2400" b="0" baseline="0" dirty="0">
                          <a:solidFill>
                            <a:srgbClr val="FFFFFF"/>
                          </a:solidFill>
                          <a:effectLst/>
                          <a:latin typeface="Cambria Math" panose="02040503050406030204" pitchFamily="18" charset="0"/>
                          <a:ea typeface="Cambria Math" panose="02040503050406030204" pitchFamily="18" charset="0"/>
                        </a:rPr>
                        <a:t> =</a:t>
                      </a:r>
                      <a:r>
                        <a:rPr lang="en-US" sz="2400" b="0" dirty="0">
                          <a:solidFill>
                            <a:srgbClr val="FFFFFF"/>
                          </a:solidFill>
                          <a:effectLst/>
                          <a:latin typeface="Cambria Math" panose="02040503050406030204" pitchFamily="18" charset="0"/>
                          <a:ea typeface="Cambria Math" panose="02040503050406030204" pitchFamily="18" charset="0"/>
                        </a:rPr>
                        <a:t> A - T</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(A)</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Read (B)</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B</a:t>
                      </a:r>
                      <a:r>
                        <a:rPr lang="en-US" sz="2400" b="0" baseline="0" dirty="0">
                          <a:solidFill>
                            <a:srgbClr val="FFFFFF"/>
                          </a:solidFill>
                          <a:effectLst/>
                          <a:latin typeface="Cambria Math" panose="02040503050406030204" pitchFamily="18" charset="0"/>
                          <a:ea typeface="Cambria Math" panose="02040503050406030204" pitchFamily="18" charset="0"/>
                        </a:rPr>
                        <a:t> </a:t>
                      </a:r>
                      <a:r>
                        <a:rPr lang="en-US" sz="2400" b="0" dirty="0">
                          <a:solidFill>
                            <a:srgbClr val="FFFFFF"/>
                          </a:solidFill>
                          <a:effectLst/>
                          <a:latin typeface="Cambria Math" panose="02040503050406030204" pitchFamily="18" charset="0"/>
                          <a:ea typeface="Cambria Math" panose="02040503050406030204" pitchFamily="18" charset="0"/>
                        </a:rPr>
                        <a:t>= B + T</a:t>
                      </a:r>
                      <a:endParaRPr lang="en-IN" sz="2400" b="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Write (B)</a:t>
                      </a:r>
                    </a:p>
                    <a:p>
                      <a:pPr marL="457200" indent="-457200" algn="ctr">
                        <a:lnSpc>
                          <a:spcPct val="115000"/>
                        </a:lnSpc>
                        <a:spcAft>
                          <a:spcPts val="0"/>
                        </a:spcAft>
                      </a:pPr>
                      <a:r>
                        <a:rPr lang="en-US" sz="2400" b="0" dirty="0">
                          <a:solidFill>
                            <a:srgbClr val="FFFFFF"/>
                          </a:solidFill>
                          <a:effectLst/>
                          <a:latin typeface="Cambria Math" panose="02040503050406030204" pitchFamily="18" charset="0"/>
                          <a:ea typeface="Cambria Math" panose="02040503050406030204" pitchFamily="18" charset="0"/>
                        </a:rPr>
                        <a:t>Commit</a:t>
                      </a:r>
                      <a:endParaRPr lang="en-IN" sz="2400" b="0" dirty="0">
                        <a:solidFill>
                          <a:srgbClr val="FFFFFF"/>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31234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(Interleaved</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Schedule)</a:t>
            </a:r>
            <a:endParaRPr lang="en-US" dirty="0"/>
          </a:p>
        </p:txBody>
      </p:sp>
      <p:sp>
        <p:nvSpPr>
          <p:cNvPr id="4" name="Rectangle 3">
            <a:extLst>
              <a:ext uri="{FF2B5EF4-FFF2-40B4-BE49-F238E27FC236}">
                <a16:creationId xmlns:a16="http://schemas.microsoft.com/office/drawing/2014/main" id="{AEB23EBC-1F7D-4307-B690-F7249D01567A}"/>
              </a:ext>
            </a:extLst>
          </p:cNvPr>
          <p:cNvSpPr/>
          <p:nvPr/>
        </p:nvSpPr>
        <p:spPr>
          <a:xfrm>
            <a:off x="3509913" y="1629509"/>
            <a:ext cx="8198178" cy="3046988"/>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Schedule that interferes during the execution of different transactions.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means that any other transaction starts before the active transaction commits.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Execution can switch between the transactions in any of the schedules. </a:t>
            </a:r>
          </a:p>
        </p:txBody>
      </p:sp>
    </p:spTree>
    <p:extLst>
      <p:ext uri="{BB962C8B-B14F-4D97-AF65-F5344CB8AC3E}">
        <p14:creationId xmlns:p14="http://schemas.microsoft.com/office/powerpoint/2010/main" val="172775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(Interleaved</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Schedule Example)</a:t>
            </a:r>
            <a:endParaRPr lang="en-US" dirty="0"/>
          </a:p>
        </p:txBody>
      </p:sp>
      <p:graphicFrame>
        <p:nvGraphicFramePr>
          <p:cNvPr id="7" name="Content Placeholder 1">
            <a:extLst>
              <a:ext uri="{FF2B5EF4-FFF2-40B4-BE49-F238E27FC236}">
                <a16:creationId xmlns:a16="http://schemas.microsoft.com/office/drawing/2014/main" id="{A9193B14-BA66-4687-80AC-188F2373A890}"/>
              </a:ext>
            </a:extLst>
          </p:cNvPr>
          <p:cNvGraphicFramePr>
            <a:graphicFrameLocks noGrp="1"/>
          </p:cNvGraphicFramePr>
          <p:nvPr>
            <p:ph idx="1"/>
            <p:extLst>
              <p:ext uri="{D42A27DB-BD31-4B8C-83A1-F6EECF244321}">
                <p14:modId xmlns:p14="http://schemas.microsoft.com/office/powerpoint/2010/main" val="3592906093"/>
              </p:ext>
            </p:extLst>
          </p:nvPr>
        </p:nvGraphicFramePr>
        <p:xfrm>
          <a:off x="3652101" y="36813"/>
          <a:ext cx="8027709" cy="6784373"/>
        </p:xfrm>
        <a:graphic>
          <a:graphicData uri="http://schemas.openxmlformats.org/drawingml/2006/table">
            <a:tbl>
              <a:tblPr firstRow="1" firstCol="1" bandRow="1">
                <a:tableStyleId>{D113A9D2-9D6B-4929-AA2D-F23B5EE8CBE7}</a:tableStyleId>
              </a:tblPr>
              <a:tblGrid>
                <a:gridCol w="4028137">
                  <a:extLst>
                    <a:ext uri="{9D8B030D-6E8A-4147-A177-3AD203B41FA5}">
                      <a16:colId xmlns:a16="http://schemas.microsoft.com/office/drawing/2014/main" val="20000"/>
                    </a:ext>
                  </a:extLst>
                </a:gridCol>
                <a:gridCol w="3999572">
                  <a:extLst>
                    <a:ext uri="{9D8B030D-6E8A-4147-A177-3AD203B41FA5}">
                      <a16:colId xmlns:a16="http://schemas.microsoft.com/office/drawing/2014/main" val="20001"/>
                    </a:ext>
                  </a:extLst>
                </a:gridCol>
              </a:tblGrid>
              <a:tr h="546767">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rgbClr val="FFFFFF"/>
                          </a:solidFill>
                          <a:effectLst/>
                          <a:latin typeface="Cambria Math" panose="02040503050406030204" pitchFamily="18" charset="0"/>
                          <a:ea typeface="Cambria Math" panose="02040503050406030204" pitchFamily="18" charset="0"/>
                        </a:rPr>
                        <a:t>T1</a:t>
                      </a:r>
                      <a:endParaRPr lang="en-IN" sz="2400" b="1"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rgbClr val="FFFFFF"/>
                          </a:solidFill>
                          <a:effectLst/>
                          <a:latin typeface="Cambria Math" panose="02040503050406030204" pitchFamily="18" charset="0"/>
                          <a:ea typeface="Cambria Math" panose="02040503050406030204" pitchFamily="18" charset="0"/>
                        </a:rPr>
                        <a:t>T2</a:t>
                      </a:r>
                      <a:endParaRPr lang="en-IN" sz="2400" b="1"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2433360">
                <a:tc>
                  <a:txBody>
                    <a:bodyPr/>
                    <a:lstStyle/>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Read (A)</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A = A - 1000</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Write (A) </a:t>
                      </a:r>
                      <a:endParaRPr lang="en-IN" sz="2400" b="0"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Read (B)</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B = B + 1000</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Write (B)</a:t>
                      </a:r>
                      <a:endParaRPr lang="en-US" sz="2400" b="0"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r h="3464418">
                <a:tc>
                  <a:txBody>
                    <a:bodyPr/>
                    <a:lstStyle/>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Read (A)</a:t>
                      </a: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T = A * 0.07</a:t>
                      </a: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A = A - T</a:t>
                      </a: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Write (A) </a:t>
                      </a:r>
                    </a:p>
                    <a:p>
                      <a:pPr marL="457200" indent="-457200" algn="ctr">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Commit</a:t>
                      </a:r>
                      <a:endParaRPr lang="en-IN" sz="2400" b="0"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Read (B)</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B = B + T</a:t>
                      </a:r>
                      <a:endParaRPr lang="en-IN" sz="2400" b="0" kern="1200" dirty="0">
                        <a:solidFill>
                          <a:srgbClr val="FFFFFF"/>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Write (B)</a:t>
                      </a:r>
                    </a:p>
                    <a:p>
                      <a:pPr marL="457200" indent="-457200" algn="ctr" defTabSz="914400" rtl="0" eaLnBrk="1" latinLnBrk="0" hangingPunct="1">
                        <a:lnSpc>
                          <a:spcPct val="115000"/>
                        </a:lnSpc>
                        <a:spcAft>
                          <a:spcPts val="0"/>
                        </a:spcAft>
                      </a:pPr>
                      <a:r>
                        <a:rPr lang="en-US" sz="2400" b="0" kern="1200" dirty="0">
                          <a:solidFill>
                            <a:srgbClr val="FFFFFF"/>
                          </a:solidFill>
                          <a:effectLst/>
                          <a:latin typeface="Cambria Math" panose="02040503050406030204" pitchFamily="18" charset="0"/>
                          <a:ea typeface="Cambria Math" panose="02040503050406030204" pitchFamily="18" charset="0"/>
                        </a:rPr>
                        <a:t>Commit</a:t>
                      </a:r>
                      <a:endParaRPr lang="en-IN" sz="2400" b="0" kern="1200" dirty="0">
                        <a:solidFill>
                          <a:srgbClr val="FFFFFF"/>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4851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4" name="Rectangle 3">
            <a:extLst>
              <a:ext uri="{FF2B5EF4-FFF2-40B4-BE49-F238E27FC236}">
                <a16:creationId xmlns:a16="http://schemas.microsoft.com/office/drawing/2014/main" id="{AEB23EBC-1F7D-4307-B690-F7249D01567A}"/>
              </a:ext>
            </a:extLst>
          </p:cNvPr>
          <p:cNvSpPr/>
          <p:nvPr/>
        </p:nvSpPr>
        <p:spPr>
          <a:xfrm>
            <a:off x="3481632" y="797510"/>
            <a:ext cx="8198178" cy="5632311"/>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Each transaction preserves database consistency</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schedule is serializable if it is equivalent to a serial schedule.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In serial schedules, execution of one transaction is allowed at a time i.e. no concurrency is allowed. </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In serializable schedules, execution of more than one transactions are allowed at a same time i.e. concurrency is allowed.</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Types (forms) of serializability</a:t>
            </a: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Conflict serializability</a:t>
            </a: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View serializability</a:t>
            </a:r>
          </a:p>
        </p:txBody>
      </p:sp>
    </p:spTree>
    <p:extLst>
      <p:ext uri="{BB962C8B-B14F-4D97-AF65-F5344CB8AC3E}">
        <p14:creationId xmlns:p14="http://schemas.microsoft.com/office/powerpoint/2010/main" val="117778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(Conflicting Operations)</a:t>
            </a:r>
            <a:endParaRPr lang="en-US" dirty="0"/>
          </a:p>
        </p:txBody>
      </p:sp>
      <p:sp>
        <p:nvSpPr>
          <p:cNvPr id="4" name="Rectangle 3">
            <a:extLst>
              <a:ext uri="{FF2B5EF4-FFF2-40B4-BE49-F238E27FC236}">
                <a16:creationId xmlns:a16="http://schemas.microsoft.com/office/drawing/2014/main" id="{AEB23EBC-1F7D-4307-B690-F7249D01567A}"/>
              </a:ext>
            </a:extLst>
          </p:cNvPr>
          <p:cNvSpPr/>
          <p:nvPr/>
        </p:nvSpPr>
        <p:spPr>
          <a:xfrm>
            <a:off x="3491057" y="401586"/>
            <a:ext cx="8198178" cy="6370975"/>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Let o1 and o2  be the two operations of transactions T1 and T2 respectively. </a:t>
            </a:r>
          </a:p>
          <a:p>
            <a:pPr algn="just"/>
            <a:r>
              <a:rPr lang="en-US" sz="2400" dirty="0">
                <a:latin typeface="Cambria Math" panose="02040503050406030204" pitchFamily="18" charset="0"/>
                <a:ea typeface="Cambria Math" panose="02040503050406030204" pitchFamily="18" charset="0"/>
              </a:rPr>
              <a:t> </a:t>
            </a: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o1 = read(T), o2 = read(T)   =&gt;   o1 and o2 don’t conflict</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o1 = read(T),  o2 = write(T)  =&gt;  o1 and o2 conflict</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o1 = write(T), o2 = read(T)   =&gt;  o1 and o2 conflict</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o1 = write(T), o2 = write(T)  =&gt;  o1 and o2 conflict</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Operations o1 and o2 conflict if there exists at least one of these operations o1 or o2 wrote </a:t>
            </a:r>
            <a:r>
              <a:rPr lang="en-US" sz="2400" b="1" dirty="0">
                <a:latin typeface="Cambria Math" panose="02040503050406030204" pitchFamily="18" charset="0"/>
                <a:ea typeface="Cambria Math" panose="02040503050406030204" pitchFamily="18" charset="0"/>
              </a:rPr>
              <a:t>T</a:t>
            </a:r>
            <a:r>
              <a:rPr lang="en-US" sz="2400" dirty="0">
                <a:latin typeface="Cambria Math" panose="02040503050406030204" pitchFamily="18" charset="0"/>
                <a:ea typeface="Cambria Math" panose="02040503050406030204" pitchFamily="18" charset="0"/>
              </a:rPr>
              <a:t>.</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both the transactions access different data item or both the transactions read the same data item then they are not conflict.</a:t>
            </a:r>
          </a:p>
        </p:txBody>
      </p:sp>
    </p:spTree>
    <p:extLst>
      <p:ext uri="{BB962C8B-B14F-4D97-AF65-F5344CB8AC3E}">
        <p14:creationId xmlns:p14="http://schemas.microsoft.com/office/powerpoint/2010/main" val="223928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500"/>
                                        <p:tgtEl>
                                          <p:spTgt spid="4">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animEffect transition="in" filter="fade">
                                      <p:cBhvr>
                                        <p:cTn id="3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(Conflict</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5" name="Rectangle 4">
            <a:extLst>
              <a:ext uri="{FF2B5EF4-FFF2-40B4-BE49-F238E27FC236}">
                <a16:creationId xmlns:a16="http://schemas.microsoft.com/office/drawing/2014/main" id="{CC7D2A90-9A73-46A4-B62B-DA716912E1FE}"/>
              </a:ext>
            </a:extLst>
          </p:cNvPr>
          <p:cNvSpPr/>
          <p:nvPr/>
        </p:nvSpPr>
        <p:spPr>
          <a:xfrm>
            <a:off x="3403076" y="101587"/>
            <a:ext cx="8342721" cy="1200329"/>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 given schedule can be converted into a serial schedule by swapping its non-conflicting operations, then it is called as a </a:t>
            </a:r>
            <a:r>
              <a:rPr lang="en-US" sz="2400" b="1" dirty="0">
                <a:latin typeface="Cambria Math" panose="02040503050406030204" pitchFamily="18" charset="0"/>
                <a:ea typeface="Cambria Math" panose="02040503050406030204" pitchFamily="18" charset="0"/>
              </a:rPr>
              <a:t>conflict serializability</a:t>
            </a:r>
          </a:p>
        </p:txBody>
      </p:sp>
      <p:graphicFrame>
        <p:nvGraphicFramePr>
          <p:cNvPr id="6" name="Content Placeholder 1">
            <a:extLst>
              <a:ext uri="{FF2B5EF4-FFF2-40B4-BE49-F238E27FC236}">
                <a16:creationId xmlns:a16="http://schemas.microsoft.com/office/drawing/2014/main" id="{C6604CDE-2FD2-4FDB-B689-B1EE6D9BB028}"/>
              </a:ext>
            </a:extLst>
          </p:cNvPr>
          <p:cNvGraphicFramePr>
            <a:graphicFrameLocks/>
          </p:cNvGraphicFramePr>
          <p:nvPr>
            <p:extLst>
              <p:ext uri="{D42A27DB-BD31-4B8C-83A1-F6EECF244321}">
                <p14:modId xmlns:p14="http://schemas.microsoft.com/office/powerpoint/2010/main" val="312454254"/>
              </p:ext>
            </p:extLst>
          </p:nvPr>
        </p:nvGraphicFramePr>
        <p:xfrm>
          <a:off x="3707876" y="1377099"/>
          <a:ext cx="3505200" cy="5243941"/>
        </p:xfrm>
        <a:graphic>
          <a:graphicData uri="http://schemas.openxmlformats.org/drawingml/2006/table">
            <a:tbl>
              <a:tblPr firstRow="1" firstCol="1" bandRow="1">
                <a:tableStyleId>{D113A9D2-9D6B-4929-AA2D-F23B5EE8CBE7}</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445168">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chemeClr val="bg1"/>
                          </a:solidFill>
                          <a:effectLst/>
                          <a:latin typeface="Cambria Math" panose="02040503050406030204" pitchFamily="18" charset="0"/>
                          <a:ea typeface="Cambria Math" panose="02040503050406030204" pitchFamily="18" charset="0"/>
                        </a:rPr>
                        <a:t>T1</a:t>
                      </a:r>
                      <a:endParaRPr lang="en-IN" sz="24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chemeClr val="bg1"/>
                          </a:solidFill>
                          <a:effectLst/>
                          <a:latin typeface="Cambria Math" panose="02040503050406030204" pitchFamily="18" charset="0"/>
                          <a:ea typeface="Cambria Math" panose="02040503050406030204" pitchFamily="18" charset="0"/>
                        </a:rPr>
                        <a:t>T2</a:t>
                      </a:r>
                      <a:endParaRPr lang="en-IN" sz="24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2438400">
                <a:tc>
                  <a:txBody>
                    <a:bodyPr/>
                    <a:lstStyle/>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Read (A)</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A = A - 1000</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(A) </a:t>
                      </a:r>
                      <a:endParaRPr lang="en-IN"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Read (A)</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T = A * 0.25</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A = A - T</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(A)</a:t>
                      </a:r>
                    </a:p>
                    <a:p>
                      <a:pPr marL="457200" marR="0" lvl="0" indent="-457200" algn="ctr" defTabSz="914400" rtl="0" eaLnBrk="1" fontAlgn="auto" latinLnBrk="0" hangingPunct="1">
                        <a:lnSpc>
                          <a:spcPct val="115000"/>
                        </a:lnSpc>
                        <a:spcBef>
                          <a:spcPts val="0"/>
                        </a:spcBef>
                        <a:spcAft>
                          <a:spcPts val="0"/>
                        </a:spcAft>
                        <a:buClrTx/>
                        <a:buSzTx/>
                        <a:buFontTx/>
                        <a:buNone/>
                        <a:tabLst/>
                        <a:defRPr/>
                      </a:pPr>
                      <a:r>
                        <a:rPr lang="en-US" sz="1800" b="1" kern="1200" dirty="0">
                          <a:solidFill>
                            <a:schemeClr val="bg1"/>
                          </a:solidFill>
                          <a:effectLst/>
                          <a:latin typeface="Cambria Math" panose="02040503050406030204" pitchFamily="18" charset="0"/>
                          <a:ea typeface="Cambria Math" panose="02040503050406030204" pitchFamily="18" charset="0"/>
                        </a:rPr>
                        <a:t>Commit</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IN"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r h="2301889">
                <a:tc>
                  <a:txBody>
                    <a:bodyPr/>
                    <a:lstStyle/>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 Read (B)</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B = B + 50</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(B)</a:t>
                      </a:r>
                      <a:endParaRPr lang="en-US"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Read (B)</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B = B + T</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(B)</a:t>
                      </a: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Commit</a:t>
                      </a:r>
                      <a:endParaRPr lang="en-IN"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2"/>
                  </a:ext>
                </a:extLst>
              </a:tr>
            </a:tbl>
          </a:graphicData>
        </a:graphic>
      </p:graphicFrame>
      <p:sp>
        <p:nvSpPr>
          <p:cNvPr id="7" name="Rounded Rectangle 5">
            <a:extLst>
              <a:ext uri="{FF2B5EF4-FFF2-40B4-BE49-F238E27FC236}">
                <a16:creationId xmlns:a16="http://schemas.microsoft.com/office/drawing/2014/main" id="{E24C8A51-2772-46B4-BAE2-C4E7946BA7C3}"/>
              </a:ext>
            </a:extLst>
          </p:cNvPr>
          <p:cNvSpPr/>
          <p:nvPr/>
        </p:nvSpPr>
        <p:spPr>
          <a:xfrm>
            <a:off x="5542961" y="2451640"/>
            <a:ext cx="1602557" cy="1704120"/>
          </a:xfrm>
          <a:prstGeom prst="roundRect">
            <a:avLst>
              <a:gd name="adj" fmla="val 9960"/>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
        <p:nvSpPr>
          <p:cNvPr id="8" name="Rounded Rectangle 5">
            <a:extLst>
              <a:ext uri="{FF2B5EF4-FFF2-40B4-BE49-F238E27FC236}">
                <a16:creationId xmlns:a16="http://schemas.microsoft.com/office/drawing/2014/main" id="{9E8E1B06-18F0-4913-8A81-E077B7C4DD2B}"/>
              </a:ext>
            </a:extLst>
          </p:cNvPr>
          <p:cNvSpPr/>
          <p:nvPr/>
        </p:nvSpPr>
        <p:spPr>
          <a:xfrm>
            <a:off x="3788004" y="4155760"/>
            <a:ext cx="1602557" cy="1704120"/>
          </a:xfrm>
          <a:prstGeom prst="roundRect">
            <a:avLst>
              <a:gd name="adj" fmla="val 9960"/>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
        <p:nvSpPr>
          <p:cNvPr id="9" name="Curved Down Arrow 12">
            <a:extLst>
              <a:ext uri="{FF2B5EF4-FFF2-40B4-BE49-F238E27FC236}">
                <a16:creationId xmlns:a16="http://schemas.microsoft.com/office/drawing/2014/main" id="{3C69F893-7E5A-4512-A8A3-19F38116BC2F}"/>
              </a:ext>
            </a:extLst>
          </p:cNvPr>
          <p:cNvSpPr/>
          <p:nvPr/>
        </p:nvSpPr>
        <p:spPr>
          <a:xfrm rot="8602906">
            <a:off x="5369866" y="4401409"/>
            <a:ext cx="964615" cy="425975"/>
          </a:xfrm>
          <a:prstGeom prst="curvedDownArrow">
            <a:avLst>
              <a:gd name="adj1" fmla="val 25000"/>
              <a:gd name="adj2" fmla="val 58461"/>
              <a:gd name="adj3" fmla="val 2500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solidFill>
                <a:schemeClr val="tx1"/>
              </a:solidFill>
            </a:endParaRPr>
          </a:p>
        </p:txBody>
      </p:sp>
      <p:sp>
        <p:nvSpPr>
          <p:cNvPr id="10" name="Curved Down Arrow 13">
            <a:extLst>
              <a:ext uri="{FF2B5EF4-FFF2-40B4-BE49-F238E27FC236}">
                <a16:creationId xmlns:a16="http://schemas.microsoft.com/office/drawing/2014/main" id="{B48F85BC-DCA8-4986-AAB7-920626A798B3}"/>
              </a:ext>
            </a:extLst>
          </p:cNvPr>
          <p:cNvSpPr/>
          <p:nvPr/>
        </p:nvSpPr>
        <p:spPr>
          <a:xfrm rot="18015043">
            <a:off x="4485864" y="3276518"/>
            <a:ext cx="1161219" cy="425975"/>
          </a:xfrm>
          <a:prstGeom prst="curvedDownArrow">
            <a:avLst>
              <a:gd name="adj1" fmla="val 25000"/>
              <a:gd name="adj2" fmla="val 58461"/>
              <a:gd name="adj3" fmla="val 2500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solidFill>
                <a:schemeClr val="tx1"/>
              </a:solidFill>
            </a:endParaRPr>
          </a:p>
        </p:txBody>
      </p:sp>
      <p:graphicFrame>
        <p:nvGraphicFramePr>
          <p:cNvPr id="11" name="Content Placeholder 1">
            <a:extLst>
              <a:ext uri="{FF2B5EF4-FFF2-40B4-BE49-F238E27FC236}">
                <a16:creationId xmlns:a16="http://schemas.microsoft.com/office/drawing/2014/main" id="{7F183CB2-BB2C-433E-8954-D5FCE371CBE4}"/>
              </a:ext>
            </a:extLst>
          </p:cNvPr>
          <p:cNvGraphicFramePr>
            <a:graphicFrameLocks/>
          </p:cNvGraphicFramePr>
          <p:nvPr>
            <p:extLst>
              <p:ext uri="{D42A27DB-BD31-4B8C-83A1-F6EECF244321}">
                <p14:modId xmlns:p14="http://schemas.microsoft.com/office/powerpoint/2010/main" val="896915547"/>
              </p:ext>
            </p:extLst>
          </p:nvPr>
        </p:nvGraphicFramePr>
        <p:xfrm>
          <a:off x="8177924" y="1301916"/>
          <a:ext cx="3505200" cy="5185457"/>
        </p:xfrm>
        <a:graphic>
          <a:graphicData uri="http://schemas.openxmlformats.org/drawingml/2006/table">
            <a:tbl>
              <a:tblPr firstRow="1" firstCol="1" bandRow="1">
                <a:tableStyleId>{D113A9D2-9D6B-4929-AA2D-F23B5EE8CBE7}</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445168">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chemeClr val="bg1"/>
                          </a:solidFill>
                          <a:effectLst/>
                          <a:latin typeface="Cambria Math" panose="02040503050406030204" pitchFamily="18" charset="0"/>
                          <a:ea typeface="Cambria Math" panose="02040503050406030204" pitchFamily="18" charset="0"/>
                        </a:rPr>
                        <a:t>T1</a:t>
                      </a:r>
                      <a:endParaRPr lang="en-IN" sz="24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400" b="1" kern="1200" dirty="0">
                          <a:solidFill>
                            <a:schemeClr val="bg1"/>
                          </a:solidFill>
                          <a:effectLst/>
                          <a:latin typeface="Cambria Math" panose="02040503050406030204" pitchFamily="18" charset="0"/>
                          <a:ea typeface="Cambria Math" panose="02040503050406030204" pitchFamily="18" charset="0"/>
                        </a:rPr>
                        <a:t>T2</a:t>
                      </a:r>
                      <a:endParaRPr lang="en-IN" sz="24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2438400">
                <a:tc>
                  <a:txBody>
                    <a:bodyPr/>
                    <a:lstStyle/>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Read (A)</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A = A - 1000</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(A) </a:t>
                      </a:r>
                      <a:endParaRPr lang="en-IN"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cs typeface="+mn-cs"/>
                        </a:rPr>
                        <a:t> Read (B)</a:t>
                      </a: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cs typeface="+mn-cs"/>
                        </a:rPr>
                        <a:t>B = B + 50</a:t>
                      </a: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cs typeface="+mn-cs"/>
                        </a:rPr>
                        <a:t>Write (B) </a:t>
                      </a:r>
                      <a:endParaRPr lang="en-IN"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r h="2301889">
                <a:tc>
                  <a:txBody>
                    <a:bodyPr/>
                    <a:lstStyle/>
                    <a:p>
                      <a:pPr marL="457200" indent="-457200" algn="ctr">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Read (A)</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T = A * 0.25</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A = A - T</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(A)</a:t>
                      </a:r>
                    </a:p>
                    <a:p>
                      <a:pPr marL="457200" marR="0" lvl="0" indent="-457200" algn="ctr" defTabSz="914400" rtl="0" eaLnBrk="1" fontAlgn="auto" latinLnBrk="0" hangingPunct="1">
                        <a:lnSpc>
                          <a:spcPct val="115000"/>
                        </a:lnSpc>
                        <a:spcBef>
                          <a:spcPts val="0"/>
                        </a:spcBef>
                        <a:spcAft>
                          <a:spcPts val="0"/>
                        </a:spcAft>
                        <a:buClrTx/>
                        <a:buSzTx/>
                        <a:buFontTx/>
                        <a:buNone/>
                        <a:tabLst/>
                        <a:defRPr/>
                      </a:pPr>
                      <a:r>
                        <a:rPr lang="en-US" sz="1800" b="1" kern="1200" dirty="0">
                          <a:solidFill>
                            <a:schemeClr val="bg1"/>
                          </a:solidFill>
                          <a:effectLst/>
                          <a:latin typeface="Cambria Math" panose="02040503050406030204" pitchFamily="18" charset="0"/>
                          <a:ea typeface="Cambria Math" panose="02040503050406030204" pitchFamily="18" charset="0"/>
                        </a:rPr>
                        <a:t>Commit</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Read (B)</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B = B + T</a:t>
                      </a:r>
                      <a:endParaRPr lang="en-IN" sz="1800" b="1" kern="1200" dirty="0">
                        <a:solidFill>
                          <a:schemeClr val="bg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Write (B)</a:t>
                      </a:r>
                    </a:p>
                    <a:p>
                      <a:pPr marL="457200" indent="-457200" algn="ctr" defTabSz="914400" rtl="0" eaLnBrk="1" latinLnBrk="0" hangingPunct="1">
                        <a:lnSpc>
                          <a:spcPct val="115000"/>
                        </a:lnSpc>
                        <a:spcAft>
                          <a:spcPts val="0"/>
                        </a:spcAft>
                      </a:pPr>
                      <a:r>
                        <a:rPr lang="en-US" sz="1800" b="1" kern="1200" dirty="0">
                          <a:solidFill>
                            <a:schemeClr val="bg1"/>
                          </a:solidFill>
                          <a:effectLst/>
                          <a:latin typeface="Cambria Math" panose="02040503050406030204" pitchFamily="18" charset="0"/>
                          <a:ea typeface="Cambria Math" panose="02040503050406030204" pitchFamily="18" charset="0"/>
                        </a:rPr>
                        <a:t>Commit</a:t>
                      </a:r>
                      <a:endParaRPr lang="en-IN" sz="1800" b="1" kern="1200" dirty="0">
                        <a:solidFill>
                          <a:schemeClr val="bg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2"/>
                  </a:ext>
                </a:extLst>
              </a:tr>
            </a:tbl>
          </a:graphicData>
        </a:graphic>
      </p:graphicFrame>
      <p:sp>
        <p:nvSpPr>
          <p:cNvPr id="12" name="Arrow: Right 11">
            <a:extLst>
              <a:ext uri="{FF2B5EF4-FFF2-40B4-BE49-F238E27FC236}">
                <a16:creationId xmlns:a16="http://schemas.microsoft.com/office/drawing/2014/main" id="{8750C025-57C8-4B5E-8197-DD7686F9C7D1}"/>
              </a:ext>
            </a:extLst>
          </p:cNvPr>
          <p:cNvSpPr/>
          <p:nvPr/>
        </p:nvSpPr>
        <p:spPr>
          <a:xfrm>
            <a:off x="7352907" y="3808429"/>
            <a:ext cx="742279" cy="289924"/>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307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heel(1)">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2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heel(1)">
                                      <p:cBhvr>
                                        <p:cTn id="26" dur="20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(View</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4" name="Rectangle 3">
            <a:extLst>
              <a:ext uri="{FF2B5EF4-FFF2-40B4-BE49-F238E27FC236}">
                <a16:creationId xmlns:a16="http://schemas.microsoft.com/office/drawing/2014/main" id="{9A4B6E74-3694-4144-90C0-662E671E8B6F}"/>
              </a:ext>
            </a:extLst>
          </p:cNvPr>
          <p:cNvSpPr/>
          <p:nvPr/>
        </p:nvSpPr>
        <p:spPr>
          <a:xfrm>
            <a:off x="3403077" y="1948522"/>
            <a:ext cx="8179324" cy="3631763"/>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Let there be two schedules with the same set of transactions. Both the schedules are said to be view serialized, if the following three conditions are satisfied, for each data item </a:t>
            </a:r>
            <a:r>
              <a:rPr lang="en-US" sz="2400" b="1" dirty="0">
                <a:latin typeface="Cambria Math" panose="02040503050406030204" pitchFamily="18" charset="0"/>
                <a:ea typeface="Cambria Math" panose="02040503050406030204" pitchFamily="18" charset="0"/>
              </a:rPr>
              <a:t>T:</a:t>
            </a:r>
          </a:p>
          <a:p>
            <a:pPr marL="342900" indent="-342900" algn="just">
              <a:buFont typeface="Wingdings" panose="05000000000000000000" pitchFamily="2" charset="2"/>
              <a:buChar char="Ø"/>
            </a:pPr>
            <a:endParaRPr lang="en-US" sz="1100" dirty="0">
              <a:latin typeface="Cambria Math" panose="02040503050406030204" pitchFamily="18" charset="0"/>
              <a:ea typeface="Cambria Math" panose="02040503050406030204" pitchFamily="18" charset="0"/>
            </a:endParaRP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Initial Read</a:t>
            </a:r>
          </a:p>
          <a:p>
            <a:pPr marL="800100" lvl="1" indent="-342900" algn="just">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Updated Read</a:t>
            </a:r>
          </a:p>
          <a:p>
            <a:pPr marL="800100" lvl="1" indent="-342900" algn="just">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Final Write</a:t>
            </a:r>
          </a:p>
        </p:txBody>
      </p:sp>
    </p:spTree>
    <p:extLst>
      <p:ext uri="{BB962C8B-B14F-4D97-AF65-F5344CB8AC3E}">
        <p14:creationId xmlns:p14="http://schemas.microsoft.com/office/powerpoint/2010/main" val="257837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(View</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6" name="Title 1">
            <a:extLst>
              <a:ext uri="{FF2B5EF4-FFF2-40B4-BE49-F238E27FC236}">
                <a16:creationId xmlns:a16="http://schemas.microsoft.com/office/drawing/2014/main" id="{643D787B-02AA-40B4-9A01-D80F07A153A1}"/>
              </a:ext>
            </a:extLst>
          </p:cNvPr>
          <p:cNvSpPr txBox="1">
            <a:spLocks/>
          </p:cNvSpPr>
          <p:nvPr/>
        </p:nvSpPr>
        <p:spPr>
          <a:xfrm>
            <a:off x="3657309" y="257021"/>
            <a:ext cx="8265343" cy="6334813"/>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tx1"/>
                </a:solidFill>
                <a:latin typeface="+mj-lt"/>
                <a:ea typeface="Open Sans Semibold" panose="020B0706030804020204" pitchFamily="34" charset="0"/>
                <a:cs typeface="Open Sans Semibold" panose="020B07060308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2400" b="1"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Initial Read</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IN" sz="140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r>
              <a:rPr lang="en-US" sz="2400" b="0" dirty="0">
                <a:solidFill>
                  <a:sysClr val="windowText" lastClr="000000"/>
                </a:solidFill>
                <a:latin typeface="Cambria Math" panose="02040503050406030204" pitchFamily="18" charset="0"/>
                <a:ea typeface="Cambria Math" panose="02040503050406030204" pitchFamily="18" charset="0"/>
              </a:rPr>
              <a:t>If in schedule R1, transaction T1 reads the initial value of </a:t>
            </a:r>
            <a:r>
              <a:rPr lang="en-US" sz="2400" dirty="0">
                <a:solidFill>
                  <a:sysClr val="windowText" lastClr="000000"/>
                </a:solidFill>
                <a:latin typeface="Cambria Math" panose="02040503050406030204" pitchFamily="18" charset="0"/>
                <a:ea typeface="Cambria Math" panose="02040503050406030204" pitchFamily="18" charset="0"/>
              </a:rPr>
              <a:t>T</a:t>
            </a:r>
            <a:r>
              <a:rPr lang="en-US" sz="2400" b="0" dirty="0">
                <a:solidFill>
                  <a:sysClr val="windowText" lastClr="000000"/>
                </a:solidFill>
                <a:latin typeface="Cambria Math" panose="02040503050406030204" pitchFamily="18" charset="0"/>
                <a:ea typeface="Cambria Math" panose="02040503050406030204" pitchFamily="18" charset="0"/>
              </a:rPr>
              <a:t>, then in schedule R2 also transaction T1  must read the initial value of </a:t>
            </a:r>
            <a:r>
              <a:rPr lang="en-US" sz="2400" dirty="0">
                <a:solidFill>
                  <a:sysClr val="windowText" lastClr="000000"/>
                </a:solidFill>
                <a:latin typeface="Cambria Math" panose="02040503050406030204" pitchFamily="18" charset="0"/>
                <a:ea typeface="Cambria Math" panose="02040503050406030204" pitchFamily="18" charset="0"/>
              </a:rPr>
              <a:t>T</a:t>
            </a:r>
            <a:r>
              <a:rPr lang="en-US" sz="2400" b="0" dirty="0">
                <a:solidFill>
                  <a:sysClr val="windowText" lastClr="000000"/>
                </a:solidFill>
                <a:latin typeface="Cambria Math" panose="02040503050406030204" pitchFamily="18" charset="0"/>
                <a:ea typeface="Cambria Math" panose="02040503050406030204" pitchFamily="18" charset="0"/>
              </a:rPr>
              <a:t>.</a:t>
            </a: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r>
              <a:rPr lang="en-US" sz="2400" dirty="0">
                <a:solidFill>
                  <a:sysClr val="windowText" lastClr="000000"/>
                </a:solidFill>
                <a:latin typeface="Cambria Math" panose="02040503050406030204" pitchFamily="18" charset="0"/>
                <a:ea typeface="Cambria Math" panose="02040503050406030204" pitchFamily="18" charset="0"/>
              </a:rPr>
              <a:t>R1</a:t>
            </a:r>
          </a:p>
          <a:p>
            <a:pPr lvl="0" algn="just"/>
            <a:r>
              <a:rPr lang="en-US" sz="2400" b="0" dirty="0">
                <a:solidFill>
                  <a:sysClr val="windowText" lastClr="000000"/>
                </a:solidFill>
                <a:latin typeface="Cambria Math" panose="02040503050406030204" pitchFamily="18" charset="0"/>
                <a:ea typeface="Cambria Math" panose="02040503050406030204" pitchFamily="18" charset="0"/>
              </a:rPr>
              <a:t>T1 : Read (T)</a:t>
            </a:r>
          </a:p>
          <a:p>
            <a:pPr lvl="0" algn="just"/>
            <a:r>
              <a:rPr lang="en-US" sz="2400" b="0" dirty="0">
                <a:solidFill>
                  <a:sysClr val="windowText" lastClr="000000"/>
                </a:solidFill>
                <a:latin typeface="Cambria Math" panose="02040503050406030204" pitchFamily="18" charset="0"/>
                <a:ea typeface="Cambria Math" panose="02040503050406030204" pitchFamily="18" charset="0"/>
              </a:rPr>
              <a:t>T2 : Write (T)</a:t>
            </a: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2400" b="1"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R2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T1 : Write (T)</a:t>
            </a:r>
          </a:p>
          <a:p>
            <a:pPr marL="0" marR="0" lvl="0" indent="0" algn="l" defTabSz="914400" rtl="0" eaLnBrk="1" fontAlgn="auto" latinLnBrk="0" hangingPunct="1">
              <a:lnSpc>
                <a:spcPct val="100000"/>
              </a:lnSpc>
              <a:spcBef>
                <a:spcPct val="0"/>
              </a:spcBef>
              <a:spcAft>
                <a:spcPts val="0"/>
              </a:spcAft>
              <a:buClrTx/>
              <a:buSzTx/>
              <a:buFontTx/>
              <a:buNone/>
              <a:tabLst/>
              <a:defRPr/>
            </a:pPr>
            <a:r>
              <a:rPr lang="en-IN" sz="2400" b="0" dirty="0">
                <a:solidFill>
                  <a:sysClr val="windowText" lastClr="000000"/>
                </a:solidFill>
                <a:latin typeface="Cambria Math" panose="02040503050406030204" pitchFamily="18" charset="0"/>
                <a:ea typeface="Cambria Math" panose="02040503050406030204" pitchFamily="18" charset="0"/>
              </a:rPr>
              <a:t>T2 : Read (T)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lang="en-IN" sz="2400" dirty="0">
                <a:solidFill>
                  <a:sysClr val="windowText" lastClr="000000"/>
                </a:solidFill>
                <a:latin typeface="Cambria Math" panose="02040503050406030204" pitchFamily="18" charset="0"/>
                <a:ea typeface="Cambria Math" panose="02040503050406030204" pitchFamily="18" charset="0"/>
              </a:rPr>
              <a:t>R3</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T1 : Read (T)</a:t>
            </a:r>
          </a:p>
          <a:p>
            <a:pPr marL="0" marR="0" lvl="0" indent="0" algn="l" defTabSz="914400" rtl="0" eaLnBrk="1" fontAlgn="auto" latinLnBrk="0" hangingPunct="1">
              <a:lnSpc>
                <a:spcPct val="100000"/>
              </a:lnSpc>
              <a:spcBef>
                <a:spcPct val="0"/>
              </a:spcBef>
              <a:spcAft>
                <a:spcPts val="0"/>
              </a:spcAft>
              <a:buClrTx/>
              <a:buSzTx/>
              <a:buFontTx/>
              <a:buNone/>
              <a:tabLst/>
              <a:defRPr/>
            </a:pPr>
            <a:r>
              <a:rPr lang="en-IN" sz="2400" b="0" dirty="0">
                <a:solidFill>
                  <a:sysClr val="windowText" lastClr="000000"/>
                </a:solidFill>
                <a:latin typeface="Cambria Math" panose="02040503050406030204" pitchFamily="18" charset="0"/>
                <a:ea typeface="Cambria Math" panose="02040503050406030204" pitchFamily="18" charset="0"/>
              </a:rPr>
              <a:t>T2 : Read (T)</a:t>
            </a:r>
            <a:endParaRPr kumimoji="0" lang="en-IN" sz="24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p:txBody>
      </p:sp>
      <p:sp>
        <p:nvSpPr>
          <p:cNvPr id="3" name="Rectangle 2">
            <a:extLst>
              <a:ext uri="{FF2B5EF4-FFF2-40B4-BE49-F238E27FC236}">
                <a16:creationId xmlns:a16="http://schemas.microsoft.com/office/drawing/2014/main" id="{C39A8F85-4BED-4509-9719-7209CBD1AEEC}"/>
              </a:ext>
            </a:extLst>
          </p:cNvPr>
          <p:cNvSpPr/>
          <p:nvPr/>
        </p:nvSpPr>
        <p:spPr>
          <a:xfrm>
            <a:off x="8327010" y="2295129"/>
            <a:ext cx="3117130" cy="1938992"/>
          </a:xfrm>
          <a:prstGeom prst="rect">
            <a:avLst/>
          </a:prstGeom>
        </p:spPr>
        <p:txBody>
          <a:bodyPr wrap="square">
            <a:spAutoFit/>
          </a:bodyPr>
          <a:lstStyle/>
          <a:p>
            <a:pPr algn="just"/>
            <a:r>
              <a:rPr lang="en-IN" sz="2000" b="1" dirty="0">
                <a:solidFill>
                  <a:srgbClr val="FF0000"/>
                </a:solidFill>
                <a:latin typeface="Cambria Math" panose="02040503050406030204" pitchFamily="18" charset="0"/>
                <a:ea typeface="Cambria Math" panose="02040503050406030204" pitchFamily="18" charset="0"/>
              </a:rPr>
              <a:t>Schedules R1 and R2 are not view equivalent because initial read operation in R1 is done by T1 and in R2 it is done by T2</a:t>
            </a:r>
            <a:endParaRPr lang="en-US" sz="2000" b="1" dirty="0">
              <a:solidFill>
                <a:srgbClr val="FF0000"/>
              </a:solidFill>
              <a:latin typeface="Cambria Math" panose="02040503050406030204" pitchFamily="18" charset="0"/>
              <a:ea typeface="Cambria Math" panose="02040503050406030204" pitchFamily="18" charset="0"/>
            </a:endParaRPr>
          </a:p>
        </p:txBody>
      </p:sp>
      <p:sp>
        <p:nvSpPr>
          <p:cNvPr id="8" name="Rectangle 7">
            <a:extLst>
              <a:ext uri="{FF2B5EF4-FFF2-40B4-BE49-F238E27FC236}">
                <a16:creationId xmlns:a16="http://schemas.microsoft.com/office/drawing/2014/main" id="{F28AA07E-3A03-4721-AA0B-0FCCE7FE2485}"/>
              </a:ext>
            </a:extLst>
          </p:cNvPr>
          <p:cNvSpPr/>
          <p:nvPr/>
        </p:nvSpPr>
        <p:spPr>
          <a:xfrm>
            <a:off x="8327010" y="4404525"/>
            <a:ext cx="3117130" cy="1631216"/>
          </a:xfrm>
          <a:prstGeom prst="rect">
            <a:avLst/>
          </a:prstGeom>
        </p:spPr>
        <p:txBody>
          <a:bodyPr wrap="square">
            <a:spAutoFit/>
          </a:bodyPr>
          <a:lstStyle/>
          <a:p>
            <a:pPr algn="just"/>
            <a:r>
              <a:rPr lang="en-IN" sz="2000" b="1" dirty="0">
                <a:solidFill>
                  <a:srgbClr val="FF0000"/>
                </a:solidFill>
                <a:latin typeface="Cambria Math" panose="02040503050406030204" pitchFamily="18" charset="0"/>
                <a:ea typeface="Cambria Math" panose="02040503050406030204" pitchFamily="18" charset="0"/>
              </a:rPr>
              <a:t>Schedules R1 and R3 are view equivalent because initial read operation in R1 is done by T1 and in R3 it is also done by T1</a:t>
            </a:r>
            <a:endParaRPr lang="en-US" sz="2000" b="1" dirty="0">
              <a:solidFill>
                <a:srgbClr val="FF00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14305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500"/>
                                        <p:tgtEl>
                                          <p:spTgt spid="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5" end="5"/>
                                            </p:txEl>
                                          </p:spTgt>
                                        </p:tgtEl>
                                        <p:attrNameLst>
                                          <p:attrName>style.visibility</p:attrName>
                                        </p:attrNameLst>
                                      </p:cBhvr>
                                      <p:to>
                                        <p:strVal val="visible"/>
                                      </p:to>
                                    </p:set>
                                    <p:animEffect transition="in" filter="fade">
                                      <p:cBhvr>
                                        <p:cTn id="20" dur="500"/>
                                        <p:tgtEl>
                                          <p:spTgt spid="6">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fade">
                                      <p:cBhvr>
                                        <p:cTn id="23" dur="500"/>
                                        <p:tgtEl>
                                          <p:spTgt spid="6">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9" end="9"/>
                                            </p:txEl>
                                          </p:spTgt>
                                        </p:tgtEl>
                                        <p:attrNameLst>
                                          <p:attrName>style.visibility</p:attrName>
                                        </p:attrNameLst>
                                      </p:cBhvr>
                                      <p:to>
                                        <p:strVal val="visible"/>
                                      </p:to>
                                    </p:set>
                                    <p:animEffect transition="in" filter="fade">
                                      <p:cBhvr>
                                        <p:cTn id="32" dur="500"/>
                                        <p:tgtEl>
                                          <p:spTgt spid="6">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animEffect transition="in" filter="fade">
                                      <p:cBhvr>
                                        <p:cTn id="35" dur="500"/>
                                        <p:tgtEl>
                                          <p:spTgt spid="6">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6">
                                            <p:txEl>
                                              <p:pRg st="13" end="13"/>
                                            </p:txEl>
                                          </p:spTgt>
                                        </p:tgtEl>
                                        <p:attrNameLst>
                                          <p:attrName>style.visibility</p:attrName>
                                        </p:attrNameLst>
                                      </p:cBhvr>
                                      <p:to>
                                        <p:strVal val="visible"/>
                                      </p:to>
                                    </p:set>
                                    <p:animEffect transition="in" filter="fade">
                                      <p:cBhvr>
                                        <p:cTn id="44" dur="500"/>
                                        <p:tgtEl>
                                          <p:spTgt spid="6">
                                            <p:txEl>
                                              <p:pRg st="13" end="13"/>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animEffect transition="in" filter="fade">
                                      <p:cBhvr>
                                        <p:cTn id="47" dur="500"/>
                                        <p:tgtEl>
                                          <p:spTgt spid="6">
                                            <p:txEl>
                                              <p:pRg st="14" end="1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 calcmode="lin" valueType="num">
                                      <p:cBhvr>
                                        <p:cTn id="52" dur="1000" fill="hold"/>
                                        <p:tgtEl>
                                          <p:spTgt spid="3"/>
                                        </p:tgtEl>
                                        <p:attrNameLst>
                                          <p:attrName>ppt_w</p:attrName>
                                        </p:attrNameLst>
                                      </p:cBhvr>
                                      <p:tavLst>
                                        <p:tav tm="0">
                                          <p:val>
                                            <p:fltVal val="0"/>
                                          </p:val>
                                        </p:tav>
                                        <p:tav tm="100000">
                                          <p:val>
                                            <p:strVal val="#ppt_w"/>
                                          </p:val>
                                        </p:tav>
                                      </p:tavLst>
                                    </p:anim>
                                    <p:anim calcmode="lin" valueType="num">
                                      <p:cBhvr>
                                        <p:cTn id="53" dur="1000" fill="hold"/>
                                        <p:tgtEl>
                                          <p:spTgt spid="3"/>
                                        </p:tgtEl>
                                        <p:attrNameLst>
                                          <p:attrName>ppt_h</p:attrName>
                                        </p:attrNameLst>
                                      </p:cBhvr>
                                      <p:tavLst>
                                        <p:tav tm="0">
                                          <p:val>
                                            <p:fltVal val="0"/>
                                          </p:val>
                                        </p:tav>
                                        <p:tav tm="100000">
                                          <p:val>
                                            <p:strVal val="#ppt_h"/>
                                          </p:val>
                                        </p:tav>
                                      </p:tavLst>
                                    </p:anim>
                                    <p:anim calcmode="lin" valueType="num">
                                      <p:cBhvr>
                                        <p:cTn id="54" dur="1000" fill="hold"/>
                                        <p:tgtEl>
                                          <p:spTgt spid="3"/>
                                        </p:tgtEl>
                                        <p:attrNameLst>
                                          <p:attrName>style.rotation</p:attrName>
                                        </p:attrNameLst>
                                      </p:cBhvr>
                                      <p:tavLst>
                                        <p:tav tm="0">
                                          <p:val>
                                            <p:fltVal val="90"/>
                                          </p:val>
                                        </p:tav>
                                        <p:tav tm="100000">
                                          <p:val>
                                            <p:fltVal val="0"/>
                                          </p:val>
                                        </p:tav>
                                      </p:tavLst>
                                    </p:anim>
                                    <p:animEffect transition="in" filter="fade">
                                      <p:cBhvr>
                                        <p:cTn id="55" dur="10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grpId="0" nodeType="click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circle(in)">
                                      <p:cBhvr>
                                        <p:cTn id="6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(View</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6" name="Title 1">
            <a:extLst>
              <a:ext uri="{FF2B5EF4-FFF2-40B4-BE49-F238E27FC236}">
                <a16:creationId xmlns:a16="http://schemas.microsoft.com/office/drawing/2014/main" id="{643D787B-02AA-40B4-9A01-D80F07A153A1}"/>
              </a:ext>
            </a:extLst>
          </p:cNvPr>
          <p:cNvSpPr txBox="1">
            <a:spLocks/>
          </p:cNvSpPr>
          <p:nvPr/>
        </p:nvSpPr>
        <p:spPr>
          <a:xfrm>
            <a:off x="3518162" y="179108"/>
            <a:ext cx="8265343" cy="6334813"/>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tx1"/>
                </a:solidFill>
                <a:latin typeface="+mj-lt"/>
                <a:ea typeface="Open Sans Semibold" panose="020B0706030804020204" pitchFamily="34" charset="0"/>
                <a:cs typeface="Open Sans Semibold" panose="020B07060308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IN" sz="2400" dirty="0">
                <a:solidFill>
                  <a:sysClr val="windowText" lastClr="000000"/>
                </a:solidFill>
                <a:latin typeface="Cambria Math" panose="02040503050406030204" pitchFamily="18" charset="0"/>
                <a:ea typeface="Cambria Math" panose="02040503050406030204" pitchFamily="18" charset="0"/>
              </a:rPr>
              <a:t>Update</a:t>
            </a:r>
            <a:r>
              <a:rPr kumimoji="0" lang="en-IN" sz="2400" b="1"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 Read</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IN" sz="140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r>
              <a:rPr lang="en-US" sz="2400" b="0" dirty="0">
                <a:solidFill>
                  <a:sysClr val="windowText" lastClr="000000"/>
                </a:solidFill>
                <a:latin typeface="Cambria Math" panose="02040503050406030204" pitchFamily="18" charset="0"/>
                <a:ea typeface="Cambria Math" panose="02040503050406030204" pitchFamily="18" charset="0"/>
              </a:rPr>
              <a:t>If in schedule R1 transaction T1 executes read(T), and that value was produced by transaction T2  (if any), then in schedule R2 also transaction T1 must read the value of </a:t>
            </a:r>
            <a:r>
              <a:rPr lang="en-US" sz="2400" dirty="0">
                <a:solidFill>
                  <a:sysClr val="windowText" lastClr="000000"/>
                </a:solidFill>
                <a:latin typeface="Cambria Math" panose="02040503050406030204" pitchFamily="18" charset="0"/>
                <a:ea typeface="Cambria Math" panose="02040503050406030204" pitchFamily="18" charset="0"/>
              </a:rPr>
              <a:t>T</a:t>
            </a:r>
            <a:r>
              <a:rPr lang="en-US" sz="2400" b="0" dirty="0">
                <a:solidFill>
                  <a:sysClr val="windowText" lastClr="000000"/>
                </a:solidFill>
                <a:latin typeface="Cambria Math" panose="02040503050406030204" pitchFamily="18" charset="0"/>
                <a:ea typeface="Cambria Math" panose="02040503050406030204" pitchFamily="18" charset="0"/>
              </a:rPr>
              <a:t> that was produced by transaction T2.</a:t>
            </a: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p:txBody>
      </p:sp>
      <p:sp>
        <p:nvSpPr>
          <p:cNvPr id="8" name="Rectangle 7">
            <a:extLst>
              <a:ext uri="{FF2B5EF4-FFF2-40B4-BE49-F238E27FC236}">
                <a16:creationId xmlns:a16="http://schemas.microsoft.com/office/drawing/2014/main" id="{F28AA07E-3A03-4721-AA0B-0FCCE7FE2485}"/>
              </a:ext>
            </a:extLst>
          </p:cNvPr>
          <p:cNvSpPr/>
          <p:nvPr/>
        </p:nvSpPr>
        <p:spPr>
          <a:xfrm>
            <a:off x="3607932" y="4675505"/>
            <a:ext cx="8071877" cy="1200329"/>
          </a:xfrm>
          <a:prstGeom prst="rect">
            <a:avLst/>
          </a:prstGeom>
        </p:spPr>
        <p:txBody>
          <a:bodyPr wrap="square">
            <a:spAutoFit/>
          </a:bodyPr>
          <a:lstStyle/>
          <a:p>
            <a:pPr algn="just"/>
            <a:r>
              <a:rPr lang="en-IN" sz="2400" b="1" dirty="0">
                <a:solidFill>
                  <a:srgbClr val="FF0000"/>
                </a:solidFill>
                <a:latin typeface="Cambria Math" panose="02040503050406030204" pitchFamily="18" charset="0"/>
                <a:ea typeface="Cambria Math" panose="02040503050406030204" pitchFamily="18" charset="0"/>
              </a:rPr>
              <a:t>Schedules R1 and R2 are not view equivalent because; in R1, T3 reads the data item updated by T2 and in R2, T3 reads the data item updated by T1.</a:t>
            </a:r>
            <a:endParaRPr lang="en-US" sz="2400" b="1" dirty="0">
              <a:solidFill>
                <a:srgbClr val="FF0000"/>
              </a:solidFill>
              <a:latin typeface="Cambria Math" panose="02040503050406030204" pitchFamily="18" charset="0"/>
              <a:ea typeface="Cambria Math" panose="02040503050406030204" pitchFamily="18" charset="0"/>
            </a:endParaRPr>
          </a:p>
        </p:txBody>
      </p:sp>
      <p:graphicFrame>
        <p:nvGraphicFramePr>
          <p:cNvPr id="7" name="Content Placeholder 1">
            <a:extLst>
              <a:ext uri="{FF2B5EF4-FFF2-40B4-BE49-F238E27FC236}">
                <a16:creationId xmlns:a16="http://schemas.microsoft.com/office/drawing/2014/main" id="{3B3BCD5A-E2DB-4C77-80B0-C655503BE678}"/>
              </a:ext>
            </a:extLst>
          </p:cNvPr>
          <p:cNvGraphicFramePr>
            <a:graphicFrameLocks/>
          </p:cNvGraphicFramePr>
          <p:nvPr>
            <p:extLst>
              <p:ext uri="{D42A27DB-BD31-4B8C-83A1-F6EECF244321}">
                <p14:modId xmlns:p14="http://schemas.microsoft.com/office/powerpoint/2010/main" val="3386498187"/>
              </p:ext>
            </p:extLst>
          </p:nvPr>
        </p:nvGraphicFramePr>
        <p:xfrm>
          <a:off x="3588026" y="2929841"/>
          <a:ext cx="3487007" cy="1538464"/>
        </p:xfrm>
        <a:graphic>
          <a:graphicData uri="http://schemas.openxmlformats.org/drawingml/2006/table">
            <a:tbl>
              <a:tblPr firstRow="1" firstCol="1" bandRow="1">
                <a:tableStyleId>{BC89EF96-8CEA-46FF-86C4-4CE0E7609802}</a:tableStyleId>
              </a:tblPr>
              <a:tblGrid>
                <a:gridCol w="1162878">
                  <a:extLst>
                    <a:ext uri="{9D8B030D-6E8A-4147-A177-3AD203B41FA5}">
                      <a16:colId xmlns:a16="http://schemas.microsoft.com/office/drawing/2014/main" val="20000"/>
                    </a:ext>
                  </a:extLst>
                </a:gridCol>
                <a:gridCol w="1192869">
                  <a:extLst>
                    <a:ext uri="{9D8B030D-6E8A-4147-A177-3AD203B41FA5}">
                      <a16:colId xmlns:a16="http://schemas.microsoft.com/office/drawing/2014/main" val="20001"/>
                    </a:ext>
                  </a:extLst>
                </a:gridCol>
                <a:gridCol w="1131260">
                  <a:extLst>
                    <a:ext uri="{9D8B030D-6E8A-4147-A177-3AD203B41FA5}">
                      <a16:colId xmlns:a16="http://schemas.microsoft.com/office/drawing/2014/main" val="20002"/>
                    </a:ext>
                  </a:extLst>
                </a:gridCol>
              </a:tblGrid>
              <a:tr h="463053">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T2</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T3</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075411">
                <a:tc>
                  <a:txBody>
                    <a:bodyPr/>
                    <a:lstStyle/>
                    <a:p>
                      <a:pPr marL="457200" indent="-457200" algn="ctr">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IN"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txBody>
                  <a:tcPr marL="68580" marR="68580" marT="0" marB="0"/>
                </a:tc>
                <a:extLst>
                  <a:ext uri="{0D108BD9-81ED-4DB2-BD59-A6C34878D82A}">
                    <a16:rowId xmlns:a16="http://schemas.microsoft.com/office/drawing/2014/main" val="10001"/>
                  </a:ext>
                </a:extLst>
              </a:tr>
            </a:tbl>
          </a:graphicData>
        </a:graphic>
      </p:graphicFrame>
      <p:sp>
        <p:nvSpPr>
          <p:cNvPr id="9" name="TextBox 8">
            <a:extLst>
              <a:ext uri="{FF2B5EF4-FFF2-40B4-BE49-F238E27FC236}">
                <a16:creationId xmlns:a16="http://schemas.microsoft.com/office/drawing/2014/main" id="{2E5167AA-8126-41EE-979B-0147EC992FD4}"/>
              </a:ext>
            </a:extLst>
          </p:cNvPr>
          <p:cNvSpPr txBox="1"/>
          <p:nvPr/>
        </p:nvSpPr>
        <p:spPr>
          <a:xfrm>
            <a:off x="4998603" y="2482205"/>
            <a:ext cx="685760"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400" b="1" dirty="0">
                <a:latin typeface="Cambria Math" panose="02040503050406030204" pitchFamily="18" charset="0"/>
                <a:ea typeface="Cambria Math" panose="02040503050406030204" pitchFamily="18" charset="0"/>
              </a:rPr>
              <a:t>R1</a:t>
            </a:r>
            <a:endParaRPr lang="en-IN" b="1" dirty="0">
              <a:latin typeface="Cambria Math" panose="02040503050406030204" pitchFamily="18" charset="0"/>
              <a:ea typeface="Cambria Math" panose="02040503050406030204" pitchFamily="18" charset="0"/>
            </a:endParaRPr>
          </a:p>
        </p:txBody>
      </p:sp>
      <p:graphicFrame>
        <p:nvGraphicFramePr>
          <p:cNvPr id="10" name="Content Placeholder 1">
            <a:extLst>
              <a:ext uri="{FF2B5EF4-FFF2-40B4-BE49-F238E27FC236}">
                <a16:creationId xmlns:a16="http://schemas.microsoft.com/office/drawing/2014/main" id="{5595A06C-F9BF-4D49-935F-F511614499D8}"/>
              </a:ext>
            </a:extLst>
          </p:cNvPr>
          <p:cNvGraphicFramePr>
            <a:graphicFrameLocks/>
          </p:cNvGraphicFramePr>
          <p:nvPr>
            <p:extLst>
              <p:ext uri="{D42A27DB-BD31-4B8C-83A1-F6EECF244321}">
                <p14:modId xmlns:p14="http://schemas.microsoft.com/office/powerpoint/2010/main" val="1692347689"/>
              </p:ext>
            </p:extLst>
          </p:nvPr>
        </p:nvGraphicFramePr>
        <p:xfrm>
          <a:off x="7374835" y="2929841"/>
          <a:ext cx="3474016" cy="1538464"/>
        </p:xfrm>
        <a:graphic>
          <a:graphicData uri="http://schemas.openxmlformats.org/drawingml/2006/table">
            <a:tbl>
              <a:tblPr firstRow="1" firstCol="1" bandRow="1">
                <a:tableStyleId>{BC89EF96-8CEA-46FF-86C4-4CE0E7609802}</a:tableStyleId>
              </a:tblPr>
              <a:tblGrid>
                <a:gridCol w="1174836">
                  <a:extLst>
                    <a:ext uri="{9D8B030D-6E8A-4147-A177-3AD203B41FA5}">
                      <a16:colId xmlns:a16="http://schemas.microsoft.com/office/drawing/2014/main" val="20000"/>
                    </a:ext>
                  </a:extLst>
                </a:gridCol>
                <a:gridCol w="1167920">
                  <a:extLst>
                    <a:ext uri="{9D8B030D-6E8A-4147-A177-3AD203B41FA5}">
                      <a16:colId xmlns:a16="http://schemas.microsoft.com/office/drawing/2014/main" val="20001"/>
                    </a:ext>
                  </a:extLst>
                </a:gridCol>
                <a:gridCol w="1131260">
                  <a:extLst>
                    <a:ext uri="{9D8B030D-6E8A-4147-A177-3AD203B41FA5}">
                      <a16:colId xmlns:a16="http://schemas.microsoft.com/office/drawing/2014/main" val="20002"/>
                    </a:ext>
                  </a:extLst>
                </a:gridCol>
              </a:tblGrid>
              <a:tr h="473374">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T2</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T3</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065090">
                <a:tc>
                  <a:txBody>
                    <a:bodyPr/>
                    <a:lstStyle/>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IN"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US" sz="2000" b="1" kern="1200" dirty="0">
                        <a:effectLst/>
                        <a:latin typeface="Cambria Math" panose="02040503050406030204" pitchFamily="18" charset="0"/>
                        <a:ea typeface="Cambria Math" panose="02040503050406030204" pitchFamily="18" charset="0"/>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effectLst/>
                          <a:latin typeface="Cambria Math" panose="02040503050406030204" pitchFamily="18" charset="0"/>
                          <a:ea typeface="Cambria Math" panose="02040503050406030204" pitchFamily="18" charset="0"/>
                        </a:rPr>
                        <a:t>Read (A)</a:t>
                      </a:r>
                    </a:p>
                  </a:txBody>
                  <a:tcPr marL="68580" marR="68580" marT="0" marB="0"/>
                </a:tc>
                <a:extLst>
                  <a:ext uri="{0D108BD9-81ED-4DB2-BD59-A6C34878D82A}">
                    <a16:rowId xmlns:a16="http://schemas.microsoft.com/office/drawing/2014/main" val="10001"/>
                  </a:ext>
                </a:extLst>
              </a:tr>
            </a:tbl>
          </a:graphicData>
        </a:graphic>
      </p:graphicFrame>
      <p:sp>
        <p:nvSpPr>
          <p:cNvPr id="11" name="TextBox 10">
            <a:extLst>
              <a:ext uri="{FF2B5EF4-FFF2-40B4-BE49-F238E27FC236}">
                <a16:creationId xmlns:a16="http://schemas.microsoft.com/office/drawing/2014/main" id="{E914E967-7DAF-48F8-BE6D-63DEBCFBDE71}"/>
              </a:ext>
            </a:extLst>
          </p:cNvPr>
          <p:cNvSpPr txBox="1"/>
          <p:nvPr/>
        </p:nvSpPr>
        <p:spPr>
          <a:xfrm>
            <a:off x="8656202" y="2453177"/>
            <a:ext cx="685759"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400" b="1" dirty="0">
                <a:solidFill>
                  <a:schemeClr val="tx1"/>
                </a:solidFill>
                <a:latin typeface="Cambria Math" panose="02040503050406030204" pitchFamily="18" charset="0"/>
                <a:ea typeface="Cambria Math" panose="02040503050406030204" pitchFamily="18" charset="0"/>
              </a:rPr>
              <a:t>R2</a:t>
            </a:r>
            <a:endParaRPr lang="en-IN" sz="24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0515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500"/>
                                        <p:tgtEl>
                                          <p:spTgt spid="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fade">
                                      <p:cBhvr>
                                        <p:cTn id="3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(View</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6" name="Title 1">
            <a:extLst>
              <a:ext uri="{FF2B5EF4-FFF2-40B4-BE49-F238E27FC236}">
                <a16:creationId xmlns:a16="http://schemas.microsoft.com/office/drawing/2014/main" id="{643D787B-02AA-40B4-9A01-D80F07A153A1}"/>
              </a:ext>
            </a:extLst>
          </p:cNvPr>
          <p:cNvSpPr txBox="1">
            <a:spLocks/>
          </p:cNvSpPr>
          <p:nvPr/>
        </p:nvSpPr>
        <p:spPr>
          <a:xfrm>
            <a:off x="3518162" y="179108"/>
            <a:ext cx="8265343" cy="6334813"/>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tx1"/>
                </a:solidFill>
                <a:latin typeface="+mj-lt"/>
                <a:ea typeface="Open Sans Semibold" panose="020B0706030804020204" pitchFamily="34" charset="0"/>
                <a:cs typeface="Open Sans Semibold" panose="020B07060308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IN" sz="2400" dirty="0">
                <a:solidFill>
                  <a:sysClr val="windowText" lastClr="000000"/>
                </a:solidFill>
                <a:latin typeface="Cambria Math" panose="02040503050406030204" pitchFamily="18" charset="0"/>
                <a:ea typeface="Cambria Math" panose="02040503050406030204" pitchFamily="18" charset="0"/>
              </a:rPr>
              <a:t>Update</a:t>
            </a:r>
            <a:r>
              <a:rPr kumimoji="0" lang="en-IN" sz="2400" b="1"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 Read</a:t>
            </a:r>
          </a:p>
          <a:p>
            <a:pPr marL="0" marR="0" lvl="0" indent="0" algn="l" defTabSz="914400" rtl="0" eaLnBrk="1" fontAlgn="auto" latinLnBrk="0" hangingPunct="1">
              <a:lnSpc>
                <a:spcPct val="100000"/>
              </a:lnSpc>
              <a:spcBef>
                <a:spcPct val="0"/>
              </a:spcBef>
              <a:spcAft>
                <a:spcPts val="0"/>
              </a:spcAft>
              <a:buClrTx/>
              <a:buSzTx/>
              <a:buFontTx/>
              <a:buNone/>
              <a:tabLst/>
              <a:defRPr/>
            </a:pPr>
            <a:endParaRPr lang="en-IN" sz="140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r>
              <a:rPr lang="en-US" sz="2400" b="0" dirty="0">
                <a:solidFill>
                  <a:sysClr val="windowText" lastClr="000000"/>
                </a:solidFill>
                <a:latin typeface="Cambria Math" panose="02040503050406030204" pitchFamily="18" charset="0"/>
                <a:ea typeface="Cambria Math" panose="02040503050406030204" pitchFamily="18" charset="0"/>
              </a:rPr>
              <a:t>If in schedule R1 transaction T1 executes read(T), and that value was produced by transaction T2  (if any), then in schedule R2 also transaction T1 must read the value of </a:t>
            </a:r>
            <a:r>
              <a:rPr lang="en-US" sz="2400" dirty="0">
                <a:solidFill>
                  <a:sysClr val="windowText" lastClr="000000"/>
                </a:solidFill>
                <a:latin typeface="Cambria Math" panose="02040503050406030204" pitchFamily="18" charset="0"/>
                <a:ea typeface="Cambria Math" panose="02040503050406030204" pitchFamily="18" charset="0"/>
              </a:rPr>
              <a:t>T</a:t>
            </a:r>
            <a:r>
              <a:rPr lang="en-US" sz="2400" b="0" dirty="0">
                <a:solidFill>
                  <a:sysClr val="windowText" lastClr="000000"/>
                </a:solidFill>
                <a:latin typeface="Cambria Math" panose="02040503050406030204" pitchFamily="18" charset="0"/>
                <a:ea typeface="Cambria Math" panose="02040503050406030204" pitchFamily="18" charset="0"/>
              </a:rPr>
              <a:t> that was produced by transaction T2.</a:t>
            </a: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p:txBody>
      </p:sp>
      <p:sp>
        <p:nvSpPr>
          <p:cNvPr id="8" name="Rectangle 7">
            <a:extLst>
              <a:ext uri="{FF2B5EF4-FFF2-40B4-BE49-F238E27FC236}">
                <a16:creationId xmlns:a16="http://schemas.microsoft.com/office/drawing/2014/main" id="{F28AA07E-3A03-4721-AA0B-0FCCE7FE2485}"/>
              </a:ext>
            </a:extLst>
          </p:cNvPr>
          <p:cNvSpPr/>
          <p:nvPr/>
        </p:nvSpPr>
        <p:spPr>
          <a:xfrm>
            <a:off x="3614894" y="4917122"/>
            <a:ext cx="8071877" cy="1200329"/>
          </a:xfrm>
          <a:prstGeom prst="rect">
            <a:avLst/>
          </a:prstGeom>
        </p:spPr>
        <p:txBody>
          <a:bodyPr wrap="square">
            <a:spAutoFit/>
          </a:bodyPr>
          <a:lstStyle/>
          <a:p>
            <a:pPr algn="just"/>
            <a:r>
              <a:rPr lang="en-IN" sz="2400" b="1" dirty="0">
                <a:solidFill>
                  <a:srgbClr val="FF0000"/>
                </a:solidFill>
                <a:latin typeface="Cambria Math" panose="02040503050406030204" pitchFamily="18" charset="0"/>
                <a:ea typeface="Cambria Math" panose="02040503050406030204" pitchFamily="18" charset="0"/>
              </a:rPr>
              <a:t>Schedules R1 and R2 are view equivalent because; in R1, T3 reads the data item updated by T2 and in R2, T3 reads the data item updated by T2.</a:t>
            </a:r>
            <a:endParaRPr lang="en-US" sz="2400" b="1" dirty="0">
              <a:solidFill>
                <a:srgbClr val="FF0000"/>
              </a:solidFill>
              <a:latin typeface="Cambria Math" panose="02040503050406030204" pitchFamily="18" charset="0"/>
              <a:ea typeface="Cambria Math" panose="02040503050406030204" pitchFamily="18" charset="0"/>
            </a:endParaRPr>
          </a:p>
        </p:txBody>
      </p:sp>
      <p:graphicFrame>
        <p:nvGraphicFramePr>
          <p:cNvPr id="7" name="Content Placeholder 1">
            <a:extLst>
              <a:ext uri="{FF2B5EF4-FFF2-40B4-BE49-F238E27FC236}">
                <a16:creationId xmlns:a16="http://schemas.microsoft.com/office/drawing/2014/main" id="{3B3BCD5A-E2DB-4C77-80B0-C655503BE678}"/>
              </a:ext>
            </a:extLst>
          </p:cNvPr>
          <p:cNvGraphicFramePr>
            <a:graphicFrameLocks/>
          </p:cNvGraphicFramePr>
          <p:nvPr>
            <p:extLst>
              <p:ext uri="{D42A27DB-BD31-4B8C-83A1-F6EECF244321}">
                <p14:modId xmlns:p14="http://schemas.microsoft.com/office/powerpoint/2010/main" val="1529092840"/>
              </p:ext>
            </p:extLst>
          </p:nvPr>
        </p:nvGraphicFramePr>
        <p:xfrm>
          <a:off x="3607933" y="2929841"/>
          <a:ext cx="3467100" cy="1835288"/>
        </p:xfrm>
        <a:graphic>
          <a:graphicData uri="http://schemas.openxmlformats.org/drawingml/2006/table">
            <a:tbl>
              <a:tblPr firstRow="1" firstCol="1" bandRow="1">
                <a:tableStyleId>{BC89EF96-8CEA-46FF-86C4-4CE0E7609802}</a:tableStyleId>
              </a:tblPr>
              <a:tblGrid>
                <a:gridCol w="1167920">
                  <a:extLst>
                    <a:ext uri="{9D8B030D-6E8A-4147-A177-3AD203B41FA5}">
                      <a16:colId xmlns:a16="http://schemas.microsoft.com/office/drawing/2014/main" val="20000"/>
                    </a:ext>
                  </a:extLst>
                </a:gridCol>
                <a:gridCol w="1167920">
                  <a:extLst>
                    <a:ext uri="{9D8B030D-6E8A-4147-A177-3AD203B41FA5}">
                      <a16:colId xmlns:a16="http://schemas.microsoft.com/office/drawing/2014/main" val="20001"/>
                    </a:ext>
                  </a:extLst>
                </a:gridCol>
                <a:gridCol w="1131260">
                  <a:extLst>
                    <a:ext uri="{9D8B030D-6E8A-4147-A177-3AD203B41FA5}">
                      <a16:colId xmlns:a16="http://schemas.microsoft.com/office/drawing/2014/main" val="20002"/>
                    </a:ext>
                  </a:extLst>
                </a:gridCol>
              </a:tblGrid>
              <a:tr h="463053">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T2</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T3</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075411">
                <a:tc>
                  <a:txBody>
                    <a:bodyPr/>
                    <a:lstStyle/>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IN"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txBody>
                  <a:tcPr marL="68580" marR="68580" marT="0" marB="0"/>
                </a:tc>
                <a:extLst>
                  <a:ext uri="{0D108BD9-81ED-4DB2-BD59-A6C34878D82A}">
                    <a16:rowId xmlns:a16="http://schemas.microsoft.com/office/drawing/2014/main" val="10001"/>
                  </a:ext>
                </a:extLst>
              </a:tr>
            </a:tbl>
          </a:graphicData>
        </a:graphic>
      </p:graphicFrame>
      <p:sp>
        <p:nvSpPr>
          <p:cNvPr id="9" name="TextBox 8">
            <a:extLst>
              <a:ext uri="{FF2B5EF4-FFF2-40B4-BE49-F238E27FC236}">
                <a16:creationId xmlns:a16="http://schemas.microsoft.com/office/drawing/2014/main" id="{2E5167AA-8126-41EE-979B-0147EC992FD4}"/>
              </a:ext>
            </a:extLst>
          </p:cNvPr>
          <p:cNvSpPr txBox="1"/>
          <p:nvPr/>
        </p:nvSpPr>
        <p:spPr>
          <a:xfrm>
            <a:off x="4998603" y="2482205"/>
            <a:ext cx="685760"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400" dirty="0">
                <a:latin typeface="Cambria Math" panose="02040503050406030204" pitchFamily="18" charset="0"/>
                <a:ea typeface="Cambria Math" panose="02040503050406030204" pitchFamily="18" charset="0"/>
              </a:rPr>
              <a:t>R1</a:t>
            </a:r>
            <a:endParaRPr lang="en-IN" dirty="0">
              <a:latin typeface="Cambria Math" panose="02040503050406030204" pitchFamily="18" charset="0"/>
              <a:ea typeface="Cambria Math" panose="02040503050406030204" pitchFamily="18" charset="0"/>
            </a:endParaRPr>
          </a:p>
        </p:txBody>
      </p:sp>
      <p:graphicFrame>
        <p:nvGraphicFramePr>
          <p:cNvPr id="10" name="Content Placeholder 1">
            <a:extLst>
              <a:ext uri="{FF2B5EF4-FFF2-40B4-BE49-F238E27FC236}">
                <a16:creationId xmlns:a16="http://schemas.microsoft.com/office/drawing/2014/main" id="{5595A06C-F9BF-4D49-935F-F511614499D8}"/>
              </a:ext>
            </a:extLst>
          </p:cNvPr>
          <p:cNvGraphicFramePr>
            <a:graphicFrameLocks/>
          </p:cNvGraphicFramePr>
          <p:nvPr>
            <p:extLst>
              <p:ext uri="{D42A27DB-BD31-4B8C-83A1-F6EECF244321}">
                <p14:modId xmlns:p14="http://schemas.microsoft.com/office/powerpoint/2010/main" val="4235780551"/>
              </p:ext>
            </p:extLst>
          </p:nvPr>
        </p:nvGraphicFramePr>
        <p:xfrm>
          <a:off x="7381751" y="2929841"/>
          <a:ext cx="3467100" cy="1845609"/>
        </p:xfrm>
        <a:graphic>
          <a:graphicData uri="http://schemas.openxmlformats.org/drawingml/2006/table">
            <a:tbl>
              <a:tblPr firstRow="1" firstCol="1" bandRow="1">
                <a:tableStyleId>{BC89EF96-8CEA-46FF-86C4-4CE0E7609802}</a:tableStyleId>
              </a:tblPr>
              <a:tblGrid>
                <a:gridCol w="1167920">
                  <a:extLst>
                    <a:ext uri="{9D8B030D-6E8A-4147-A177-3AD203B41FA5}">
                      <a16:colId xmlns:a16="http://schemas.microsoft.com/office/drawing/2014/main" val="20000"/>
                    </a:ext>
                  </a:extLst>
                </a:gridCol>
                <a:gridCol w="1167920">
                  <a:extLst>
                    <a:ext uri="{9D8B030D-6E8A-4147-A177-3AD203B41FA5}">
                      <a16:colId xmlns:a16="http://schemas.microsoft.com/office/drawing/2014/main" val="20001"/>
                    </a:ext>
                  </a:extLst>
                </a:gridCol>
                <a:gridCol w="1131260">
                  <a:extLst>
                    <a:ext uri="{9D8B030D-6E8A-4147-A177-3AD203B41FA5}">
                      <a16:colId xmlns:a16="http://schemas.microsoft.com/office/drawing/2014/main" val="20002"/>
                    </a:ext>
                  </a:extLst>
                </a:gridCol>
              </a:tblGrid>
              <a:tr h="473374">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T2</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T3</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065090">
                <a:tc>
                  <a:txBody>
                    <a:bodyPr/>
                    <a:lstStyle/>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IN" sz="2000" b="1" kern="1200" dirty="0">
                        <a:solidFill>
                          <a:schemeClr val="tx1"/>
                        </a:solidFill>
                        <a:effectLst/>
                        <a:latin typeface="Cambria Math" panose="02040503050406030204" pitchFamily="18" charset="0"/>
                        <a:ea typeface="Cambria Math" panose="02040503050406030204" pitchFamily="18" charset="0"/>
                      </a:endParaRPr>
                    </a:p>
                  </a:txBody>
                  <a:tcPr marL="68580" marR="68580" marT="0" marB="0"/>
                </a:tc>
                <a:tc>
                  <a:txBody>
                    <a:bodyPr/>
                    <a:lstStyle/>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txBody>
                  <a:tcPr marL="68580" marR="68580" marT="0" marB="0"/>
                </a:tc>
                <a:extLst>
                  <a:ext uri="{0D108BD9-81ED-4DB2-BD59-A6C34878D82A}">
                    <a16:rowId xmlns:a16="http://schemas.microsoft.com/office/drawing/2014/main" val="10001"/>
                  </a:ext>
                </a:extLst>
              </a:tr>
            </a:tbl>
          </a:graphicData>
        </a:graphic>
      </p:graphicFrame>
      <p:sp>
        <p:nvSpPr>
          <p:cNvPr id="11" name="TextBox 10">
            <a:extLst>
              <a:ext uri="{FF2B5EF4-FFF2-40B4-BE49-F238E27FC236}">
                <a16:creationId xmlns:a16="http://schemas.microsoft.com/office/drawing/2014/main" id="{E914E967-7DAF-48F8-BE6D-63DEBCFBDE71}"/>
              </a:ext>
            </a:extLst>
          </p:cNvPr>
          <p:cNvSpPr txBox="1"/>
          <p:nvPr/>
        </p:nvSpPr>
        <p:spPr>
          <a:xfrm>
            <a:off x="8656202" y="2453177"/>
            <a:ext cx="685759"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400" b="1" dirty="0">
                <a:solidFill>
                  <a:schemeClr val="tx1"/>
                </a:solidFill>
                <a:latin typeface="Cambria Math" panose="02040503050406030204" pitchFamily="18" charset="0"/>
                <a:ea typeface="Cambria Math" panose="02040503050406030204" pitchFamily="18" charset="0"/>
              </a:rPr>
              <a:t>R2</a:t>
            </a:r>
            <a:endParaRPr lang="en-IN" sz="24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3107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500"/>
                                        <p:tgtEl>
                                          <p:spTgt spid="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fade">
                                      <p:cBhvr>
                                        <p:cTn id="3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(View</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Serializability)</a:t>
            </a:r>
            <a:endParaRPr lang="en-US" dirty="0"/>
          </a:p>
        </p:txBody>
      </p:sp>
      <p:sp>
        <p:nvSpPr>
          <p:cNvPr id="6" name="Title 1">
            <a:extLst>
              <a:ext uri="{FF2B5EF4-FFF2-40B4-BE49-F238E27FC236}">
                <a16:creationId xmlns:a16="http://schemas.microsoft.com/office/drawing/2014/main" id="{643D787B-02AA-40B4-9A01-D80F07A153A1}"/>
              </a:ext>
            </a:extLst>
          </p:cNvPr>
          <p:cNvSpPr txBox="1">
            <a:spLocks/>
          </p:cNvSpPr>
          <p:nvPr/>
        </p:nvSpPr>
        <p:spPr>
          <a:xfrm>
            <a:off x="3518162" y="179108"/>
            <a:ext cx="8265343" cy="6334813"/>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b="1" kern="1200">
                <a:solidFill>
                  <a:schemeClr val="tx1"/>
                </a:solidFill>
                <a:latin typeface="+mj-lt"/>
                <a:ea typeface="Open Sans Semibold" panose="020B0706030804020204" pitchFamily="34" charset="0"/>
                <a:cs typeface="Open Sans Semibold" panose="020B070603080402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IN" sz="2400" dirty="0">
                <a:solidFill>
                  <a:sysClr val="windowText" lastClr="000000"/>
                </a:solidFill>
                <a:latin typeface="Cambria Math" panose="02040503050406030204" pitchFamily="18" charset="0"/>
                <a:ea typeface="Cambria Math" panose="02040503050406030204" pitchFamily="18" charset="0"/>
              </a:rPr>
              <a:t>Final Write</a:t>
            </a:r>
            <a:endParaRPr kumimoji="0" lang="en-IN" sz="2400" b="1"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lang="en-IN" sz="140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r>
              <a:rPr lang="en-US" sz="2400" b="0" dirty="0">
                <a:solidFill>
                  <a:sysClr val="windowText" lastClr="000000"/>
                </a:solidFill>
                <a:latin typeface="Cambria Math" panose="02040503050406030204" pitchFamily="18" charset="0"/>
                <a:ea typeface="Cambria Math" panose="02040503050406030204" pitchFamily="18" charset="0"/>
              </a:rPr>
              <a:t>If in schedule R1, transaction T1 performs final write operation on some data item </a:t>
            </a:r>
            <a:r>
              <a:rPr lang="en-US" sz="2400" dirty="0">
                <a:solidFill>
                  <a:sysClr val="windowText" lastClr="000000"/>
                </a:solidFill>
                <a:latin typeface="Cambria Math" panose="02040503050406030204" pitchFamily="18" charset="0"/>
                <a:ea typeface="Cambria Math" panose="02040503050406030204" pitchFamily="18" charset="0"/>
              </a:rPr>
              <a:t>T</a:t>
            </a:r>
            <a:r>
              <a:rPr lang="en-US" sz="2400" b="0" dirty="0">
                <a:solidFill>
                  <a:sysClr val="windowText" lastClr="000000"/>
                </a:solidFill>
                <a:latin typeface="Cambria Math" panose="02040503050406030204" pitchFamily="18" charset="0"/>
                <a:ea typeface="Cambria Math" panose="02040503050406030204" pitchFamily="18" charset="0"/>
              </a:rPr>
              <a:t>, then in schedule R2, transaction T1 also performs final write operation on same data item </a:t>
            </a:r>
            <a:r>
              <a:rPr lang="en-US" sz="2400" dirty="0">
                <a:solidFill>
                  <a:sysClr val="windowText" lastClr="000000"/>
                </a:solidFill>
                <a:latin typeface="Cambria Math" panose="02040503050406030204" pitchFamily="18" charset="0"/>
                <a:ea typeface="Cambria Math" panose="02040503050406030204" pitchFamily="18" charset="0"/>
              </a:rPr>
              <a:t>T</a:t>
            </a:r>
            <a:r>
              <a:rPr lang="en-US" sz="2400" b="0" dirty="0">
                <a:solidFill>
                  <a:sysClr val="windowText" lastClr="000000"/>
                </a:solidFill>
                <a:latin typeface="Cambria Math" panose="02040503050406030204" pitchFamily="18" charset="0"/>
                <a:ea typeface="Cambria Math" panose="02040503050406030204" pitchFamily="18" charset="0"/>
              </a:rPr>
              <a:t>.</a:t>
            </a: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marL="342900" lvl="0" indent="-342900" algn="just">
              <a:buFont typeface="Wingdings" panose="05000000000000000000" pitchFamily="2" charset="2"/>
              <a:buChar char="Ø"/>
            </a:pPr>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a:p>
            <a:pPr lvl="0" algn="just"/>
            <a:endParaRPr lang="en-US" sz="2400" b="0" dirty="0">
              <a:solidFill>
                <a:sysClr val="windowText" lastClr="000000"/>
              </a:solidFill>
              <a:latin typeface="Cambria Math" panose="02040503050406030204" pitchFamily="18" charset="0"/>
              <a:ea typeface="Cambria Math" panose="02040503050406030204" pitchFamily="18" charset="0"/>
            </a:endParaRPr>
          </a:p>
        </p:txBody>
      </p:sp>
      <p:sp>
        <p:nvSpPr>
          <p:cNvPr id="8" name="Rectangle 7">
            <a:extLst>
              <a:ext uri="{FF2B5EF4-FFF2-40B4-BE49-F238E27FC236}">
                <a16:creationId xmlns:a16="http://schemas.microsoft.com/office/drawing/2014/main" id="{F28AA07E-3A03-4721-AA0B-0FCCE7FE2485}"/>
              </a:ext>
            </a:extLst>
          </p:cNvPr>
          <p:cNvSpPr/>
          <p:nvPr/>
        </p:nvSpPr>
        <p:spPr>
          <a:xfrm>
            <a:off x="3614894" y="4720927"/>
            <a:ext cx="8071877" cy="830997"/>
          </a:xfrm>
          <a:prstGeom prst="rect">
            <a:avLst/>
          </a:prstGeom>
        </p:spPr>
        <p:txBody>
          <a:bodyPr wrap="square">
            <a:spAutoFit/>
          </a:bodyPr>
          <a:lstStyle/>
          <a:p>
            <a:pPr algn="just"/>
            <a:r>
              <a:rPr lang="en-IN" sz="2400" b="1" dirty="0">
                <a:solidFill>
                  <a:srgbClr val="FF0000"/>
                </a:solidFill>
                <a:latin typeface="Cambria Math" panose="02040503050406030204" pitchFamily="18" charset="0"/>
                <a:ea typeface="Cambria Math" panose="02040503050406030204" pitchFamily="18" charset="0"/>
              </a:rPr>
              <a:t>Schedules R1 and R2 are view equivalent because; in R1 and R2, final write on data item </a:t>
            </a:r>
            <a:r>
              <a:rPr lang="en-IN" sz="2400" b="1" dirty="0">
                <a:solidFill>
                  <a:srgbClr val="0070C0"/>
                </a:solidFill>
                <a:latin typeface="Cambria Math" panose="02040503050406030204" pitchFamily="18" charset="0"/>
                <a:ea typeface="Cambria Math" panose="02040503050406030204" pitchFamily="18" charset="0"/>
              </a:rPr>
              <a:t>A; </a:t>
            </a:r>
            <a:r>
              <a:rPr lang="en-IN" sz="2400" b="1" dirty="0">
                <a:solidFill>
                  <a:srgbClr val="FF0000"/>
                </a:solidFill>
                <a:latin typeface="Cambria Math" panose="02040503050406030204" pitchFamily="18" charset="0"/>
                <a:ea typeface="Cambria Math" panose="02040503050406030204" pitchFamily="18" charset="0"/>
              </a:rPr>
              <a:t>is performed by transaction T3.</a:t>
            </a:r>
            <a:endParaRPr lang="en-US" sz="2400" b="1" dirty="0">
              <a:solidFill>
                <a:srgbClr val="0070C0"/>
              </a:solidFill>
              <a:latin typeface="Cambria Math" panose="02040503050406030204" pitchFamily="18" charset="0"/>
              <a:ea typeface="Cambria Math" panose="02040503050406030204" pitchFamily="18" charset="0"/>
            </a:endParaRPr>
          </a:p>
        </p:txBody>
      </p:sp>
      <p:graphicFrame>
        <p:nvGraphicFramePr>
          <p:cNvPr id="7" name="Content Placeholder 1">
            <a:extLst>
              <a:ext uri="{FF2B5EF4-FFF2-40B4-BE49-F238E27FC236}">
                <a16:creationId xmlns:a16="http://schemas.microsoft.com/office/drawing/2014/main" id="{3B3BCD5A-E2DB-4C77-80B0-C655503BE678}"/>
              </a:ext>
            </a:extLst>
          </p:cNvPr>
          <p:cNvGraphicFramePr>
            <a:graphicFrameLocks/>
          </p:cNvGraphicFramePr>
          <p:nvPr>
            <p:extLst>
              <p:ext uri="{D42A27DB-BD31-4B8C-83A1-F6EECF244321}">
                <p14:modId xmlns:p14="http://schemas.microsoft.com/office/powerpoint/2010/main" val="175710568"/>
              </p:ext>
            </p:extLst>
          </p:nvPr>
        </p:nvGraphicFramePr>
        <p:xfrm>
          <a:off x="3607933" y="2929841"/>
          <a:ext cx="3572195" cy="1538464"/>
        </p:xfrm>
        <a:graphic>
          <a:graphicData uri="http://schemas.openxmlformats.org/drawingml/2006/table">
            <a:tbl>
              <a:tblPr firstRow="1" firstCol="1" bandRow="1">
                <a:tableStyleId>{BC89EF96-8CEA-46FF-86C4-4CE0E7609802}</a:tableStyleId>
              </a:tblPr>
              <a:tblGrid>
                <a:gridCol w="1203322">
                  <a:extLst>
                    <a:ext uri="{9D8B030D-6E8A-4147-A177-3AD203B41FA5}">
                      <a16:colId xmlns:a16="http://schemas.microsoft.com/office/drawing/2014/main" val="20000"/>
                    </a:ext>
                  </a:extLst>
                </a:gridCol>
                <a:gridCol w="1203322">
                  <a:extLst>
                    <a:ext uri="{9D8B030D-6E8A-4147-A177-3AD203B41FA5}">
                      <a16:colId xmlns:a16="http://schemas.microsoft.com/office/drawing/2014/main" val="20001"/>
                    </a:ext>
                  </a:extLst>
                </a:gridCol>
                <a:gridCol w="1165551">
                  <a:extLst>
                    <a:ext uri="{9D8B030D-6E8A-4147-A177-3AD203B41FA5}">
                      <a16:colId xmlns:a16="http://schemas.microsoft.com/office/drawing/2014/main" val="20002"/>
                    </a:ext>
                  </a:extLst>
                </a:gridCol>
              </a:tblGrid>
              <a:tr h="463053">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T2</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T3</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075411">
                <a:tc>
                  <a:txBody>
                    <a:bodyPr/>
                    <a:lstStyle/>
                    <a:p>
                      <a:pPr marL="457200" indent="-457200" algn="ctr">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IN"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p>
                  </a:txBody>
                  <a:tcPr marL="68580" marR="68580" marT="0" marB="0"/>
                </a:tc>
                <a:extLst>
                  <a:ext uri="{0D108BD9-81ED-4DB2-BD59-A6C34878D82A}">
                    <a16:rowId xmlns:a16="http://schemas.microsoft.com/office/drawing/2014/main" val="10001"/>
                  </a:ext>
                </a:extLst>
              </a:tr>
            </a:tbl>
          </a:graphicData>
        </a:graphic>
      </p:graphicFrame>
      <p:sp>
        <p:nvSpPr>
          <p:cNvPr id="9" name="TextBox 8">
            <a:extLst>
              <a:ext uri="{FF2B5EF4-FFF2-40B4-BE49-F238E27FC236}">
                <a16:creationId xmlns:a16="http://schemas.microsoft.com/office/drawing/2014/main" id="{2E5167AA-8126-41EE-979B-0147EC992FD4}"/>
              </a:ext>
            </a:extLst>
          </p:cNvPr>
          <p:cNvSpPr txBox="1"/>
          <p:nvPr/>
        </p:nvSpPr>
        <p:spPr>
          <a:xfrm>
            <a:off x="4998603" y="2482205"/>
            <a:ext cx="685760"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400" dirty="0">
                <a:latin typeface="Cambria Math" panose="02040503050406030204" pitchFamily="18" charset="0"/>
                <a:ea typeface="Cambria Math" panose="02040503050406030204" pitchFamily="18" charset="0"/>
              </a:rPr>
              <a:t>R1</a:t>
            </a:r>
            <a:endParaRPr lang="en-IN" dirty="0">
              <a:latin typeface="Cambria Math" panose="02040503050406030204" pitchFamily="18" charset="0"/>
              <a:ea typeface="Cambria Math" panose="02040503050406030204" pitchFamily="18" charset="0"/>
            </a:endParaRPr>
          </a:p>
        </p:txBody>
      </p:sp>
      <p:graphicFrame>
        <p:nvGraphicFramePr>
          <p:cNvPr id="10" name="Content Placeholder 1">
            <a:extLst>
              <a:ext uri="{FF2B5EF4-FFF2-40B4-BE49-F238E27FC236}">
                <a16:creationId xmlns:a16="http://schemas.microsoft.com/office/drawing/2014/main" id="{5595A06C-F9BF-4D49-935F-F511614499D8}"/>
              </a:ext>
            </a:extLst>
          </p:cNvPr>
          <p:cNvGraphicFramePr>
            <a:graphicFrameLocks/>
          </p:cNvGraphicFramePr>
          <p:nvPr>
            <p:extLst>
              <p:ext uri="{D42A27DB-BD31-4B8C-83A1-F6EECF244321}">
                <p14:modId xmlns:p14="http://schemas.microsoft.com/office/powerpoint/2010/main" val="387421244"/>
              </p:ext>
            </p:extLst>
          </p:nvPr>
        </p:nvGraphicFramePr>
        <p:xfrm>
          <a:off x="7381750" y="2929841"/>
          <a:ext cx="3572195" cy="1538464"/>
        </p:xfrm>
        <a:graphic>
          <a:graphicData uri="http://schemas.openxmlformats.org/drawingml/2006/table">
            <a:tbl>
              <a:tblPr firstRow="1" firstCol="1" bandRow="1">
                <a:tableStyleId>{BC89EF96-8CEA-46FF-86C4-4CE0E7609802}</a:tableStyleId>
              </a:tblPr>
              <a:tblGrid>
                <a:gridCol w="1203322">
                  <a:extLst>
                    <a:ext uri="{9D8B030D-6E8A-4147-A177-3AD203B41FA5}">
                      <a16:colId xmlns:a16="http://schemas.microsoft.com/office/drawing/2014/main" val="20000"/>
                    </a:ext>
                  </a:extLst>
                </a:gridCol>
                <a:gridCol w="1203322">
                  <a:extLst>
                    <a:ext uri="{9D8B030D-6E8A-4147-A177-3AD203B41FA5}">
                      <a16:colId xmlns:a16="http://schemas.microsoft.com/office/drawing/2014/main" val="20001"/>
                    </a:ext>
                  </a:extLst>
                </a:gridCol>
                <a:gridCol w="1165551">
                  <a:extLst>
                    <a:ext uri="{9D8B030D-6E8A-4147-A177-3AD203B41FA5}">
                      <a16:colId xmlns:a16="http://schemas.microsoft.com/office/drawing/2014/main" val="20002"/>
                    </a:ext>
                  </a:extLst>
                </a:gridCol>
              </a:tblGrid>
              <a:tr h="473374">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T2</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T3</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065090">
                <a:tc>
                  <a:txBody>
                    <a:bodyPr/>
                    <a:lstStyle/>
                    <a:p>
                      <a:pPr marL="457200" indent="-457200" algn="ctr">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endParaRPr lang="en-IN" sz="2000" b="1" kern="1200" dirty="0">
                        <a:solidFill>
                          <a:schemeClr val="tx1"/>
                        </a:solidFill>
                        <a:effectLst/>
                        <a:latin typeface="Cambria Math" panose="02040503050406030204" pitchFamily="18" charset="0"/>
                        <a:ea typeface="Cambria Math" panose="02040503050406030204" pitchFamily="18" charset="0"/>
                      </a:endParaRPr>
                    </a:p>
                  </a:txBody>
                  <a:tcPr marL="68580" marR="68580" marT="0" marB="0"/>
                </a:tc>
                <a:tc>
                  <a:txBody>
                    <a:bodyPr/>
                    <a:lstStyle/>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Read (A)</a:t>
                      </a:r>
                    </a:p>
                  </a:txBody>
                  <a:tcPr marL="68580" marR="68580" marT="0" marB="0"/>
                </a:tc>
                <a:tc>
                  <a:txBody>
                    <a:bodyPr/>
                    <a:lstStyle/>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endParaRPr lang="en-US" sz="2000" b="1" kern="1200" dirty="0">
                        <a:solidFill>
                          <a:schemeClr val="tx1"/>
                        </a:solidFill>
                        <a:effectLst/>
                        <a:latin typeface="Cambria Math" panose="02040503050406030204" pitchFamily="18" charset="0"/>
                        <a:ea typeface="Cambria Math" panose="02040503050406030204" pitchFamily="18" charset="0"/>
                      </a:endParaRPr>
                    </a:p>
                    <a:p>
                      <a:pPr marL="457200" indent="-457200" algn="ctr" defTabSz="914400" rtl="0" eaLnBrk="1" latinLnBrk="0" hangingPunct="1">
                        <a:lnSpc>
                          <a:spcPct val="115000"/>
                        </a:lnSpc>
                        <a:spcAft>
                          <a:spcPts val="0"/>
                        </a:spcAft>
                      </a:pPr>
                      <a:r>
                        <a:rPr lang="en-US" sz="2000" b="1" kern="1200" dirty="0">
                          <a:solidFill>
                            <a:schemeClr val="tx1"/>
                          </a:solidFill>
                          <a:effectLst/>
                          <a:latin typeface="Cambria Math" panose="02040503050406030204" pitchFamily="18" charset="0"/>
                          <a:ea typeface="Cambria Math" panose="02040503050406030204" pitchFamily="18" charset="0"/>
                        </a:rPr>
                        <a:t>Write (A)</a:t>
                      </a:r>
                    </a:p>
                  </a:txBody>
                  <a:tcPr marL="68580" marR="68580" marT="0" marB="0"/>
                </a:tc>
                <a:extLst>
                  <a:ext uri="{0D108BD9-81ED-4DB2-BD59-A6C34878D82A}">
                    <a16:rowId xmlns:a16="http://schemas.microsoft.com/office/drawing/2014/main" val="10001"/>
                  </a:ext>
                </a:extLst>
              </a:tr>
            </a:tbl>
          </a:graphicData>
        </a:graphic>
      </p:graphicFrame>
      <p:sp>
        <p:nvSpPr>
          <p:cNvPr id="11" name="TextBox 10">
            <a:extLst>
              <a:ext uri="{FF2B5EF4-FFF2-40B4-BE49-F238E27FC236}">
                <a16:creationId xmlns:a16="http://schemas.microsoft.com/office/drawing/2014/main" id="{E914E967-7DAF-48F8-BE6D-63DEBCFBDE71}"/>
              </a:ext>
            </a:extLst>
          </p:cNvPr>
          <p:cNvSpPr txBox="1"/>
          <p:nvPr/>
        </p:nvSpPr>
        <p:spPr>
          <a:xfrm>
            <a:off x="8656202" y="2453177"/>
            <a:ext cx="685759" cy="46166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400" b="1" dirty="0">
                <a:solidFill>
                  <a:schemeClr val="tx1"/>
                </a:solidFill>
                <a:latin typeface="Cambria Math" panose="02040503050406030204" pitchFamily="18" charset="0"/>
                <a:ea typeface="Cambria Math" panose="02040503050406030204" pitchFamily="18" charset="0"/>
              </a:rPr>
              <a:t>R2</a:t>
            </a:r>
            <a:endParaRPr lang="en-IN" sz="24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1200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500"/>
                                        <p:tgtEl>
                                          <p:spTgt spid="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ppt_x"/>
                                          </p:val>
                                        </p:tav>
                                        <p:tav tm="100000">
                                          <p:val>
                                            <p:strVal val="#ppt_x"/>
                                          </p:val>
                                        </p:tav>
                                      </p:tavLst>
                                    </p:anim>
                                    <p:anim calcmode="lin" valueType="num">
                                      <p:cBhvr additive="base">
                                        <p:cTn id="2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fade">
                                      <p:cBhvr>
                                        <p:cTn id="3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5988" y="1128408"/>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Commit Protocol)</a:t>
            </a:r>
            <a:endParaRPr lang="en-US" dirty="0"/>
          </a:p>
        </p:txBody>
      </p:sp>
      <p:sp>
        <p:nvSpPr>
          <p:cNvPr id="4" name="Rectangle 3">
            <a:extLst>
              <a:ext uri="{FF2B5EF4-FFF2-40B4-BE49-F238E27FC236}">
                <a16:creationId xmlns:a16="http://schemas.microsoft.com/office/drawing/2014/main" id="{0669657A-2E45-4AF2-8360-38070B010507}"/>
              </a:ext>
            </a:extLst>
          </p:cNvPr>
          <p:cNvSpPr/>
          <p:nvPr/>
        </p:nvSpPr>
        <p:spPr>
          <a:xfrm>
            <a:off x="3487917" y="612844"/>
            <a:ext cx="8239028" cy="5632311"/>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Two phase commit protocol ensures that all the participating nodes perform the same task of transaction.</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is required to make sure either all the databases are updated or none of them are updated so as to main database synchronization.</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In two phase commit protocol there is one node which acts as a Coordinator or a Controlling Node and all other participating nodes are known as Cohorts or Participant or Slave.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involves 2 phases:</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Prepare Phase (Preparing to Commit transaction)</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Commit/Abort Phase (Final Response)</a:t>
            </a:r>
          </a:p>
        </p:txBody>
      </p:sp>
    </p:spTree>
    <p:extLst>
      <p:ext uri="{BB962C8B-B14F-4D97-AF65-F5344CB8AC3E}">
        <p14:creationId xmlns:p14="http://schemas.microsoft.com/office/powerpoint/2010/main" val="181180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7" end="7"/>
                                            </p:txEl>
                                          </p:spTgt>
                                        </p:tgtEl>
                                        <p:attrNameLst>
                                          <p:attrName>style.visibility</p:attrName>
                                        </p:attrNameLst>
                                      </p:cBhvr>
                                      <p:to>
                                        <p:strVal val="visible"/>
                                      </p:to>
                                    </p:set>
                                    <p:animEffect transition="in" filter="fade">
                                      <p:cBhvr>
                                        <p:cTn id="26" dur="500"/>
                                        <p:tgtEl>
                                          <p:spTgt spid="4">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fade">
                                      <p:cBhvr>
                                        <p:cTn id="31"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B68F8A25-B652-4F62-AC11-3B03E5B55D32}"/>
              </a:ext>
            </a:extLst>
          </p:cNvPr>
          <p:cNvCxnSpPr/>
          <p:nvPr/>
        </p:nvCxnSpPr>
        <p:spPr>
          <a:xfrm>
            <a:off x="7842577" y="2770331"/>
            <a:ext cx="0" cy="2700000"/>
          </a:xfrm>
          <a:prstGeom prst="line">
            <a:avLst/>
          </a:prstGeom>
          <a:ln w="76200">
            <a:prstDash val="sysDash"/>
          </a:ln>
        </p:spPr>
        <p:style>
          <a:lnRef idx="3">
            <a:schemeClr val="accent1"/>
          </a:lnRef>
          <a:fillRef idx="0">
            <a:schemeClr val="accent1"/>
          </a:fillRef>
          <a:effectRef idx="2">
            <a:schemeClr val="accent1"/>
          </a:effectRef>
          <a:fontRef idx="minor">
            <a:schemeClr val="tx1"/>
          </a:fontRef>
        </p:style>
      </p:cxnSp>
      <p:cxnSp>
        <p:nvCxnSpPr>
          <p:cNvPr id="3" name="Straight Connector 2">
            <a:extLst>
              <a:ext uri="{FF2B5EF4-FFF2-40B4-BE49-F238E27FC236}">
                <a16:creationId xmlns:a16="http://schemas.microsoft.com/office/drawing/2014/main" id="{7813363B-B7CC-4115-9241-DBD794502D3C}"/>
              </a:ext>
            </a:extLst>
          </p:cNvPr>
          <p:cNvCxnSpPr/>
          <p:nvPr/>
        </p:nvCxnSpPr>
        <p:spPr>
          <a:xfrm>
            <a:off x="11197408" y="2770331"/>
            <a:ext cx="0" cy="2700000"/>
          </a:xfrm>
          <a:prstGeom prst="line">
            <a:avLst/>
          </a:prstGeom>
          <a:ln w="76200">
            <a:prstDash val="sysDash"/>
          </a:ln>
        </p:spPr>
        <p:style>
          <a:lnRef idx="3">
            <a:schemeClr val="accent1"/>
          </a:lnRef>
          <a:fillRef idx="0">
            <a:schemeClr val="accent1"/>
          </a:fillRef>
          <a:effectRef idx="2">
            <a:schemeClr val="accent1"/>
          </a:effectRef>
          <a:fontRef idx="minor">
            <a:schemeClr val="tx1"/>
          </a:fontRef>
        </p:style>
      </p:cxnSp>
      <p:pic>
        <p:nvPicPr>
          <p:cNvPr id="4" name="Picture 2" descr="Image result for person icon">
            <a:extLst>
              <a:ext uri="{FF2B5EF4-FFF2-40B4-BE49-F238E27FC236}">
                <a16:creationId xmlns:a16="http://schemas.microsoft.com/office/drawing/2014/main" id="{25227AEF-6FD2-4102-803E-793054C7C040}"/>
              </a:ext>
            </a:extLst>
          </p:cNvPr>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21166" r="19567"/>
          <a:stretch/>
        </p:blipFill>
        <p:spPr bwMode="auto">
          <a:xfrm>
            <a:off x="3103762" y="2282925"/>
            <a:ext cx="10668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elated image">
            <a:extLst>
              <a:ext uri="{FF2B5EF4-FFF2-40B4-BE49-F238E27FC236}">
                <a16:creationId xmlns:a16="http://schemas.microsoft.com/office/drawing/2014/main" id="{18F3E0DF-AC76-4C8E-BDA7-DF1910F5508B}"/>
              </a:ext>
            </a:extLst>
          </p:cNvPr>
          <p:cNvPicPr>
            <a:picLocks noChangeAspect="1" noChangeArrowheads="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14112" r="15332"/>
          <a:stretch/>
        </p:blipFill>
        <p:spPr bwMode="auto">
          <a:xfrm>
            <a:off x="1757303" y="894109"/>
            <a:ext cx="762000" cy="14246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lated image">
            <a:extLst>
              <a:ext uri="{FF2B5EF4-FFF2-40B4-BE49-F238E27FC236}">
                <a16:creationId xmlns:a16="http://schemas.microsoft.com/office/drawing/2014/main" id="{07C4AF6D-A457-4E66-AC3B-F3A83625C5F7}"/>
              </a:ext>
            </a:extLst>
          </p:cNvPr>
          <p:cNvPicPr>
            <a:picLocks noChangeAspect="1" noChangeArrowheads="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14112" r="15332"/>
          <a:stretch/>
        </p:blipFill>
        <p:spPr bwMode="auto">
          <a:xfrm>
            <a:off x="1757303" y="3806771"/>
            <a:ext cx="762000" cy="15271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lated image">
            <a:extLst>
              <a:ext uri="{FF2B5EF4-FFF2-40B4-BE49-F238E27FC236}">
                <a16:creationId xmlns:a16="http://schemas.microsoft.com/office/drawing/2014/main" id="{7966D3DA-D76C-4547-82D3-CEEAACA248D6}"/>
              </a:ext>
            </a:extLst>
          </p:cNvPr>
          <p:cNvPicPr>
            <a:picLocks noChangeAspect="1" noChangeArrowheads="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14112" r="15332"/>
          <a:stretch/>
        </p:blipFill>
        <p:spPr bwMode="auto">
          <a:xfrm>
            <a:off x="4755022" y="894109"/>
            <a:ext cx="762000" cy="15271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elated image">
            <a:extLst>
              <a:ext uri="{FF2B5EF4-FFF2-40B4-BE49-F238E27FC236}">
                <a16:creationId xmlns:a16="http://schemas.microsoft.com/office/drawing/2014/main" id="{615165D2-538E-4DD2-9AC6-8FF1BDF1646F}"/>
              </a:ext>
            </a:extLst>
          </p:cNvPr>
          <p:cNvPicPr>
            <a:picLocks noChangeAspect="1" noChangeArrowheads="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14112" r="15332"/>
          <a:stretch/>
        </p:blipFill>
        <p:spPr bwMode="auto">
          <a:xfrm>
            <a:off x="4755022" y="3806771"/>
            <a:ext cx="762000" cy="152712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person icon">
            <a:extLst>
              <a:ext uri="{FF2B5EF4-FFF2-40B4-BE49-F238E27FC236}">
                <a16:creationId xmlns:a16="http://schemas.microsoft.com/office/drawing/2014/main" id="{1389BA50-0B45-46F8-B6D7-D23F7C41C383}"/>
              </a:ext>
            </a:extLst>
          </p:cNvPr>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21166" r="19567"/>
          <a:stretch/>
        </p:blipFill>
        <p:spPr bwMode="auto">
          <a:xfrm>
            <a:off x="7264207" y="709180"/>
            <a:ext cx="10668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Related image">
            <a:extLst>
              <a:ext uri="{FF2B5EF4-FFF2-40B4-BE49-F238E27FC236}">
                <a16:creationId xmlns:a16="http://schemas.microsoft.com/office/drawing/2014/main" id="{0552D2B2-47A6-4ADE-8952-68B9994AE7FF}"/>
              </a:ext>
            </a:extLst>
          </p:cNvPr>
          <p:cNvPicPr>
            <a:picLocks noChangeAspect="1" noChangeArrowheads="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14112" r="15332"/>
          <a:stretch/>
        </p:blipFill>
        <p:spPr bwMode="auto">
          <a:xfrm>
            <a:off x="10807507" y="845620"/>
            <a:ext cx="762000" cy="152712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77FB4290-74A2-431E-9CD4-EA56C101106B}"/>
              </a:ext>
            </a:extLst>
          </p:cNvPr>
          <p:cNvCxnSpPr/>
          <p:nvPr/>
        </p:nvCxnSpPr>
        <p:spPr>
          <a:xfrm>
            <a:off x="7842577" y="2770331"/>
            <a:ext cx="3354831" cy="60682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BA8783A2-4E7D-421D-AB54-8AFF3BA77728}"/>
              </a:ext>
            </a:extLst>
          </p:cNvPr>
          <p:cNvCxnSpPr/>
          <p:nvPr/>
        </p:nvCxnSpPr>
        <p:spPr>
          <a:xfrm flipH="1">
            <a:off x="7842577" y="3453353"/>
            <a:ext cx="3345930" cy="47993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F73D1C8D-16DE-49CE-90D2-C9B66BF1DC2B}"/>
              </a:ext>
            </a:extLst>
          </p:cNvPr>
          <p:cNvCxnSpPr/>
          <p:nvPr/>
        </p:nvCxnSpPr>
        <p:spPr>
          <a:xfrm>
            <a:off x="7843358" y="4215353"/>
            <a:ext cx="3354831" cy="60682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4DA245A9-6F2E-4C24-B2D0-37F12512ADBC}"/>
              </a:ext>
            </a:extLst>
          </p:cNvPr>
          <p:cNvCxnSpPr/>
          <p:nvPr/>
        </p:nvCxnSpPr>
        <p:spPr>
          <a:xfrm flipH="1">
            <a:off x="7843358" y="4898375"/>
            <a:ext cx="3345930" cy="47993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5" name="TextBox 14">
            <a:extLst>
              <a:ext uri="{FF2B5EF4-FFF2-40B4-BE49-F238E27FC236}">
                <a16:creationId xmlns:a16="http://schemas.microsoft.com/office/drawing/2014/main" id="{C58C00AB-C10A-4B05-89CA-7A7A14DB40B3}"/>
              </a:ext>
            </a:extLst>
          </p:cNvPr>
          <p:cNvSpPr txBox="1"/>
          <p:nvPr/>
        </p:nvSpPr>
        <p:spPr>
          <a:xfrm rot="684265">
            <a:off x="8419768" y="2702122"/>
            <a:ext cx="2353771" cy="400110"/>
          </a:xfrm>
          <a:prstGeom prst="rect">
            <a:avLst/>
          </a:prstGeom>
          <a:noFill/>
        </p:spPr>
        <p:txBody>
          <a:bodyPr wrap="square" rtlCol="0">
            <a:spAutoFit/>
          </a:bodyPr>
          <a:lstStyle/>
          <a:p>
            <a:pPr algn="ctr"/>
            <a:r>
              <a:rPr lang="en-US" sz="2000" dirty="0"/>
              <a:t>Request to prepare</a:t>
            </a:r>
            <a:endParaRPr lang="en-IN" sz="2000" dirty="0"/>
          </a:p>
        </p:txBody>
      </p:sp>
      <p:sp>
        <p:nvSpPr>
          <p:cNvPr id="16" name="TextBox 15">
            <a:extLst>
              <a:ext uri="{FF2B5EF4-FFF2-40B4-BE49-F238E27FC236}">
                <a16:creationId xmlns:a16="http://schemas.microsoft.com/office/drawing/2014/main" id="{3A38D838-C6C3-44E2-83DE-C596F963ADD0}"/>
              </a:ext>
            </a:extLst>
          </p:cNvPr>
          <p:cNvSpPr txBox="1"/>
          <p:nvPr/>
        </p:nvSpPr>
        <p:spPr>
          <a:xfrm rot="684265">
            <a:off x="8635807" y="4171803"/>
            <a:ext cx="1981200" cy="400110"/>
          </a:xfrm>
          <a:prstGeom prst="rect">
            <a:avLst/>
          </a:prstGeom>
          <a:noFill/>
        </p:spPr>
        <p:txBody>
          <a:bodyPr wrap="square" rtlCol="0">
            <a:spAutoFit/>
          </a:bodyPr>
          <a:lstStyle/>
          <a:p>
            <a:pPr algn="ctr"/>
            <a:r>
              <a:rPr lang="en-US" sz="2000" dirty="0"/>
              <a:t>Commit/Abort</a:t>
            </a:r>
            <a:endParaRPr lang="en-IN" sz="2000" dirty="0"/>
          </a:p>
        </p:txBody>
      </p:sp>
      <p:sp>
        <p:nvSpPr>
          <p:cNvPr id="17" name="TextBox 16">
            <a:extLst>
              <a:ext uri="{FF2B5EF4-FFF2-40B4-BE49-F238E27FC236}">
                <a16:creationId xmlns:a16="http://schemas.microsoft.com/office/drawing/2014/main" id="{CE81C5BE-ABDE-4638-B0A0-89B89E5E14B8}"/>
              </a:ext>
            </a:extLst>
          </p:cNvPr>
          <p:cNvSpPr txBox="1"/>
          <p:nvPr/>
        </p:nvSpPr>
        <p:spPr>
          <a:xfrm rot="21060000">
            <a:off x="8331562" y="3273059"/>
            <a:ext cx="2353771" cy="400110"/>
          </a:xfrm>
          <a:prstGeom prst="rect">
            <a:avLst/>
          </a:prstGeom>
          <a:noFill/>
        </p:spPr>
        <p:txBody>
          <a:bodyPr wrap="square" rtlCol="0">
            <a:spAutoFit/>
          </a:bodyPr>
          <a:lstStyle/>
          <a:p>
            <a:pPr algn="ctr"/>
            <a:r>
              <a:rPr lang="en-US" sz="2000" dirty="0"/>
              <a:t>Prepared</a:t>
            </a:r>
            <a:endParaRPr lang="en-IN" sz="2000" dirty="0"/>
          </a:p>
        </p:txBody>
      </p:sp>
      <p:sp>
        <p:nvSpPr>
          <p:cNvPr id="18" name="TextBox 17">
            <a:extLst>
              <a:ext uri="{FF2B5EF4-FFF2-40B4-BE49-F238E27FC236}">
                <a16:creationId xmlns:a16="http://schemas.microsoft.com/office/drawing/2014/main" id="{B5EE77BA-7489-47F1-9778-B5F27DB66A72}"/>
              </a:ext>
            </a:extLst>
          </p:cNvPr>
          <p:cNvSpPr txBox="1"/>
          <p:nvPr/>
        </p:nvSpPr>
        <p:spPr>
          <a:xfrm rot="21060000">
            <a:off x="8483962" y="4700400"/>
            <a:ext cx="2353771" cy="400110"/>
          </a:xfrm>
          <a:prstGeom prst="rect">
            <a:avLst/>
          </a:prstGeom>
          <a:noFill/>
        </p:spPr>
        <p:txBody>
          <a:bodyPr wrap="square" rtlCol="0">
            <a:spAutoFit/>
          </a:bodyPr>
          <a:lstStyle/>
          <a:p>
            <a:pPr algn="ctr"/>
            <a:r>
              <a:rPr lang="en-US" sz="2000" dirty="0"/>
              <a:t>Done</a:t>
            </a:r>
            <a:endParaRPr lang="en-IN" sz="2000" dirty="0"/>
          </a:p>
        </p:txBody>
      </p:sp>
      <p:sp>
        <p:nvSpPr>
          <p:cNvPr id="19" name="Left Brace 18">
            <a:extLst>
              <a:ext uri="{FF2B5EF4-FFF2-40B4-BE49-F238E27FC236}">
                <a16:creationId xmlns:a16="http://schemas.microsoft.com/office/drawing/2014/main" id="{AA8B5B62-2954-4AA7-AE5F-6BDEA9F54F25}"/>
              </a:ext>
            </a:extLst>
          </p:cNvPr>
          <p:cNvSpPr/>
          <p:nvPr/>
        </p:nvSpPr>
        <p:spPr>
          <a:xfrm>
            <a:off x="7554798" y="2770331"/>
            <a:ext cx="242809" cy="1209547"/>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20" name="Left Brace 19">
            <a:extLst>
              <a:ext uri="{FF2B5EF4-FFF2-40B4-BE49-F238E27FC236}">
                <a16:creationId xmlns:a16="http://schemas.microsoft.com/office/drawing/2014/main" id="{B1ADBF68-67E5-409C-8CA1-DBB68B285CF6}"/>
              </a:ext>
            </a:extLst>
          </p:cNvPr>
          <p:cNvSpPr/>
          <p:nvPr/>
        </p:nvSpPr>
        <p:spPr>
          <a:xfrm>
            <a:off x="7554798" y="4225006"/>
            <a:ext cx="242809" cy="1209547"/>
          </a:xfrm>
          <a:prstGeom prst="lef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a:p>
        </p:txBody>
      </p:sp>
      <p:sp>
        <p:nvSpPr>
          <p:cNvPr id="21" name="TextBox 20">
            <a:extLst>
              <a:ext uri="{FF2B5EF4-FFF2-40B4-BE49-F238E27FC236}">
                <a16:creationId xmlns:a16="http://schemas.microsoft.com/office/drawing/2014/main" id="{821A1788-1212-424A-875A-C657E59AD510}"/>
              </a:ext>
            </a:extLst>
          </p:cNvPr>
          <p:cNvSpPr txBox="1"/>
          <p:nvPr/>
        </p:nvSpPr>
        <p:spPr>
          <a:xfrm>
            <a:off x="6592794" y="3034223"/>
            <a:ext cx="951273" cy="646331"/>
          </a:xfrm>
          <a:prstGeom prst="rect">
            <a:avLst/>
          </a:prstGeom>
          <a:noFill/>
        </p:spPr>
        <p:txBody>
          <a:bodyPr wrap="square" rtlCol="0">
            <a:spAutoFit/>
          </a:bodyPr>
          <a:lstStyle/>
          <a:p>
            <a:pPr algn="ctr"/>
            <a:r>
              <a:rPr lang="en-US" dirty="0"/>
              <a:t>Prepare</a:t>
            </a:r>
          </a:p>
          <a:p>
            <a:pPr algn="ctr"/>
            <a:r>
              <a:rPr lang="en-US" dirty="0"/>
              <a:t>Phase</a:t>
            </a:r>
            <a:endParaRPr lang="en-IN" dirty="0"/>
          </a:p>
        </p:txBody>
      </p:sp>
      <p:sp>
        <p:nvSpPr>
          <p:cNvPr id="22" name="TextBox 21">
            <a:extLst>
              <a:ext uri="{FF2B5EF4-FFF2-40B4-BE49-F238E27FC236}">
                <a16:creationId xmlns:a16="http://schemas.microsoft.com/office/drawing/2014/main" id="{AC8A98A9-D6E6-4FEF-AD70-83110EDED54B}"/>
              </a:ext>
            </a:extLst>
          </p:cNvPr>
          <p:cNvSpPr txBox="1"/>
          <p:nvPr/>
        </p:nvSpPr>
        <p:spPr>
          <a:xfrm>
            <a:off x="6592794" y="4515320"/>
            <a:ext cx="1030419" cy="646331"/>
          </a:xfrm>
          <a:prstGeom prst="rect">
            <a:avLst/>
          </a:prstGeom>
          <a:noFill/>
        </p:spPr>
        <p:txBody>
          <a:bodyPr wrap="square" rtlCol="0">
            <a:spAutoFit/>
          </a:bodyPr>
          <a:lstStyle/>
          <a:p>
            <a:pPr algn="ctr"/>
            <a:r>
              <a:rPr lang="en-US" dirty="0"/>
              <a:t>Commit</a:t>
            </a:r>
          </a:p>
          <a:p>
            <a:pPr algn="ctr"/>
            <a:r>
              <a:rPr lang="en-US" dirty="0"/>
              <a:t>Phase</a:t>
            </a:r>
            <a:endParaRPr lang="en-IN" dirty="0"/>
          </a:p>
        </p:txBody>
      </p:sp>
      <p:cxnSp>
        <p:nvCxnSpPr>
          <p:cNvPr id="23" name="Straight Arrow Connector 22">
            <a:extLst>
              <a:ext uri="{FF2B5EF4-FFF2-40B4-BE49-F238E27FC236}">
                <a16:creationId xmlns:a16="http://schemas.microsoft.com/office/drawing/2014/main" id="{8807477B-A703-428B-B7D3-E3AF8687BC19}"/>
              </a:ext>
            </a:extLst>
          </p:cNvPr>
          <p:cNvCxnSpPr>
            <a:endCxn id="5" idx="3"/>
          </p:cNvCxnSpPr>
          <p:nvPr/>
        </p:nvCxnSpPr>
        <p:spPr>
          <a:xfrm flipH="1" flipV="1">
            <a:off x="2519303" y="1606426"/>
            <a:ext cx="605840" cy="124695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5FD3DCBC-9F2E-4694-95B2-2FE48B3FD940}"/>
              </a:ext>
            </a:extLst>
          </p:cNvPr>
          <p:cNvCxnSpPr>
            <a:endCxn id="7" idx="1"/>
          </p:cNvCxnSpPr>
          <p:nvPr/>
        </p:nvCxnSpPr>
        <p:spPr>
          <a:xfrm flipV="1">
            <a:off x="4170562" y="1657669"/>
            <a:ext cx="584460" cy="102260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5" name="Straight Arrow Connector 24">
            <a:extLst>
              <a:ext uri="{FF2B5EF4-FFF2-40B4-BE49-F238E27FC236}">
                <a16:creationId xmlns:a16="http://schemas.microsoft.com/office/drawing/2014/main" id="{B2074C5F-0137-407B-9D2A-B55BBB5ED610}"/>
              </a:ext>
            </a:extLst>
          </p:cNvPr>
          <p:cNvCxnSpPr>
            <a:endCxn id="8" idx="1"/>
          </p:cNvCxnSpPr>
          <p:nvPr/>
        </p:nvCxnSpPr>
        <p:spPr>
          <a:xfrm>
            <a:off x="4151948" y="3473114"/>
            <a:ext cx="603074" cy="109721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6" name="Straight Arrow Connector 25">
            <a:extLst>
              <a:ext uri="{FF2B5EF4-FFF2-40B4-BE49-F238E27FC236}">
                <a16:creationId xmlns:a16="http://schemas.microsoft.com/office/drawing/2014/main" id="{44F45418-7766-4AA1-8163-C21A6A5517B6}"/>
              </a:ext>
            </a:extLst>
          </p:cNvPr>
          <p:cNvCxnSpPr>
            <a:endCxn id="6" idx="3"/>
          </p:cNvCxnSpPr>
          <p:nvPr/>
        </p:nvCxnSpPr>
        <p:spPr>
          <a:xfrm flipH="1">
            <a:off x="2519303" y="3473114"/>
            <a:ext cx="742597" cy="109721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7" name="TextBox 26">
            <a:extLst>
              <a:ext uri="{FF2B5EF4-FFF2-40B4-BE49-F238E27FC236}">
                <a16:creationId xmlns:a16="http://schemas.microsoft.com/office/drawing/2014/main" id="{B223CB96-A593-4DC3-8F2D-A9B5099DD0A3}"/>
              </a:ext>
            </a:extLst>
          </p:cNvPr>
          <p:cNvSpPr txBox="1"/>
          <p:nvPr/>
        </p:nvSpPr>
        <p:spPr>
          <a:xfrm>
            <a:off x="2354313" y="126542"/>
            <a:ext cx="2628000" cy="1021556"/>
          </a:xfrm>
          <a:prstGeom prst="wedgeRoundRectCallout">
            <a:avLst>
              <a:gd name="adj1" fmla="val -4135"/>
              <a:gd name="adj2" fmla="val 159156"/>
              <a:gd name="adj3" fmla="val 16667"/>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Coordinator send request </a:t>
            </a:r>
            <a:r>
              <a:rPr lang="en-IN" dirty="0"/>
              <a:t>asking for ready to commit</a:t>
            </a:r>
          </a:p>
        </p:txBody>
      </p:sp>
      <p:cxnSp>
        <p:nvCxnSpPr>
          <p:cNvPr id="28" name="Straight Arrow Connector 27">
            <a:extLst>
              <a:ext uri="{FF2B5EF4-FFF2-40B4-BE49-F238E27FC236}">
                <a16:creationId xmlns:a16="http://schemas.microsoft.com/office/drawing/2014/main" id="{1485922F-EC78-4D10-A866-C74AD6B459A5}"/>
              </a:ext>
            </a:extLst>
          </p:cNvPr>
          <p:cNvCxnSpPr/>
          <p:nvPr/>
        </p:nvCxnSpPr>
        <p:spPr>
          <a:xfrm flipH="1" flipV="1">
            <a:off x="4145779" y="3302945"/>
            <a:ext cx="654726" cy="115591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9" name="Straight Arrow Connector 28">
            <a:extLst>
              <a:ext uri="{FF2B5EF4-FFF2-40B4-BE49-F238E27FC236}">
                <a16:creationId xmlns:a16="http://schemas.microsoft.com/office/drawing/2014/main" id="{DC9E2955-CC07-43F0-AE13-1F262383F465}"/>
              </a:ext>
            </a:extLst>
          </p:cNvPr>
          <p:cNvCxnSpPr/>
          <p:nvPr/>
        </p:nvCxnSpPr>
        <p:spPr>
          <a:xfrm flipH="1">
            <a:off x="4243002" y="1790895"/>
            <a:ext cx="563672" cy="100580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0" name="Straight Arrow Connector 29">
            <a:extLst>
              <a:ext uri="{FF2B5EF4-FFF2-40B4-BE49-F238E27FC236}">
                <a16:creationId xmlns:a16="http://schemas.microsoft.com/office/drawing/2014/main" id="{32F13A3D-5094-4C62-84DA-8C7533834032}"/>
              </a:ext>
            </a:extLst>
          </p:cNvPr>
          <p:cNvCxnSpPr/>
          <p:nvPr/>
        </p:nvCxnSpPr>
        <p:spPr>
          <a:xfrm>
            <a:off x="2441542" y="1657669"/>
            <a:ext cx="610869" cy="128394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1" name="Straight Arrow Connector 30">
            <a:extLst>
              <a:ext uri="{FF2B5EF4-FFF2-40B4-BE49-F238E27FC236}">
                <a16:creationId xmlns:a16="http://schemas.microsoft.com/office/drawing/2014/main" id="{9DE2ED46-55D6-4F69-98B2-9D10573358BF}"/>
              </a:ext>
            </a:extLst>
          </p:cNvPr>
          <p:cNvCxnSpPr/>
          <p:nvPr/>
        </p:nvCxnSpPr>
        <p:spPr>
          <a:xfrm flipV="1">
            <a:off x="2486389" y="3377055"/>
            <a:ext cx="706410" cy="103620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2" name="TextBox 31">
            <a:extLst>
              <a:ext uri="{FF2B5EF4-FFF2-40B4-BE49-F238E27FC236}">
                <a16:creationId xmlns:a16="http://schemas.microsoft.com/office/drawing/2014/main" id="{0585FFEF-C0E8-4EFB-98E7-79AE9BC93131}"/>
              </a:ext>
            </a:extLst>
          </p:cNvPr>
          <p:cNvSpPr txBox="1"/>
          <p:nvPr/>
        </p:nvSpPr>
        <p:spPr>
          <a:xfrm>
            <a:off x="72750" y="2415121"/>
            <a:ext cx="2628000" cy="1021556"/>
          </a:xfrm>
          <a:prstGeom prst="wedgeRoundRectCallout">
            <a:avLst>
              <a:gd name="adj1" fmla="val 25885"/>
              <a:gd name="adj2" fmla="val 89408"/>
              <a:gd name="adj3" fmla="val 16667"/>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Participant send reply whether </a:t>
            </a:r>
            <a:r>
              <a:rPr lang="en-IN" dirty="0"/>
              <a:t>ready to commit or not</a:t>
            </a:r>
          </a:p>
        </p:txBody>
      </p:sp>
      <p:sp>
        <p:nvSpPr>
          <p:cNvPr id="33" name="TextBox 32">
            <a:extLst>
              <a:ext uri="{FF2B5EF4-FFF2-40B4-BE49-F238E27FC236}">
                <a16:creationId xmlns:a16="http://schemas.microsoft.com/office/drawing/2014/main" id="{1BB77149-A900-49FB-BCA0-D54B1AA990BE}"/>
              </a:ext>
            </a:extLst>
          </p:cNvPr>
          <p:cNvSpPr txBox="1"/>
          <p:nvPr/>
        </p:nvSpPr>
        <p:spPr>
          <a:xfrm>
            <a:off x="2984542" y="6004344"/>
            <a:ext cx="2628000" cy="715089"/>
          </a:xfrm>
          <a:prstGeom prst="wedgeRoundRectCallout">
            <a:avLst>
              <a:gd name="adj1" fmla="val -17751"/>
              <a:gd name="adj2" fmla="val -310006"/>
              <a:gd name="adj3" fmla="val 16667"/>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Coordinator inform to do commit</a:t>
            </a:r>
            <a:endParaRPr lang="en-IN" dirty="0"/>
          </a:p>
        </p:txBody>
      </p:sp>
      <p:sp>
        <p:nvSpPr>
          <p:cNvPr id="34" name="TextBox 33">
            <a:extLst>
              <a:ext uri="{FF2B5EF4-FFF2-40B4-BE49-F238E27FC236}">
                <a16:creationId xmlns:a16="http://schemas.microsoft.com/office/drawing/2014/main" id="{EC45591F-25A8-4140-9C27-A825C593A356}"/>
              </a:ext>
            </a:extLst>
          </p:cNvPr>
          <p:cNvSpPr txBox="1"/>
          <p:nvPr/>
        </p:nvSpPr>
        <p:spPr>
          <a:xfrm>
            <a:off x="30123" y="5638563"/>
            <a:ext cx="2628000" cy="1021556"/>
          </a:xfrm>
          <a:prstGeom prst="wedgeRoundRectCallout">
            <a:avLst>
              <a:gd name="adj1" fmla="val 26834"/>
              <a:gd name="adj2" fmla="val -84963"/>
              <a:gd name="adj3" fmla="val 16667"/>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Send “</a:t>
            </a:r>
            <a:r>
              <a:rPr lang="en-US" dirty="0" err="1"/>
              <a:t>ack</a:t>
            </a:r>
            <a:r>
              <a:rPr lang="en-US" dirty="0"/>
              <a:t>” to inform whether commit done or not</a:t>
            </a:r>
            <a:endParaRPr lang="en-IN" dirty="0"/>
          </a:p>
        </p:txBody>
      </p:sp>
      <p:cxnSp>
        <p:nvCxnSpPr>
          <p:cNvPr id="36" name="Straight Connector 35">
            <a:extLst>
              <a:ext uri="{FF2B5EF4-FFF2-40B4-BE49-F238E27FC236}">
                <a16:creationId xmlns:a16="http://schemas.microsoft.com/office/drawing/2014/main" id="{8C090E3F-183B-4B2A-804F-07B950D3D44D}"/>
              </a:ext>
            </a:extLst>
          </p:cNvPr>
          <p:cNvCxnSpPr/>
          <p:nvPr/>
        </p:nvCxnSpPr>
        <p:spPr>
          <a:xfrm>
            <a:off x="6105427" y="407612"/>
            <a:ext cx="0" cy="5938886"/>
          </a:xfrm>
          <a:prstGeom prst="line">
            <a:avLst/>
          </a:prstGeom>
          <a:ln w="381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5922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27"/>
                                        </p:tgtEl>
                                      </p:cBhvr>
                                    </p:animEffect>
                                    <p:set>
                                      <p:cBhvr>
                                        <p:cTn id="49" dur="1" fill="hold">
                                          <p:stCondLst>
                                            <p:cond delay="499"/>
                                          </p:stCondLst>
                                        </p:cTn>
                                        <p:tgtEl>
                                          <p:spTgt spid="27"/>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500"/>
                                        <p:tgtEl>
                                          <p:spTgt spid="23"/>
                                        </p:tgtEl>
                                      </p:cBhvr>
                                    </p:animEffect>
                                    <p:set>
                                      <p:cBhvr>
                                        <p:cTn id="54" dur="1" fill="hold">
                                          <p:stCondLst>
                                            <p:cond delay="499"/>
                                          </p:stCondLst>
                                        </p:cTn>
                                        <p:tgtEl>
                                          <p:spTgt spid="23"/>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24"/>
                                        </p:tgtEl>
                                      </p:cBhvr>
                                    </p:animEffect>
                                    <p:set>
                                      <p:cBhvr>
                                        <p:cTn id="57" dur="1" fill="hold">
                                          <p:stCondLst>
                                            <p:cond delay="499"/>
                                          </p:stCondLst>
                                        </p:cTn>
                                        <p:tgtEl>
                                          <p:spTgt spid="24"/>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25"/>
                                        </p:tgtEl>
                                      </p:cBhvr>
                                    </p:animEffect>
                                    <p:set>
                                      <p:cBhvr>
                                        <p:cTn id="60" dur="1" fill="hold">
                                          <p:stCondLst>
                                            <p:cond delay="499"/>
                                          </p:stCondLst>
                                        </p:cTn>
                                        <p:tgtEl>
                                          <p:spTgt spid="25"/>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26"/>
                                        </p:tgtEl>
                                      </p:cBhvr>
                                    </p:animEffect>
                                    <p:set>
                                      <p:cBhvr>
                                        <p:cTn id="63" dur="1" fill="hold">
                                          <p:stCondLst>
                                            <p:cond delay="499"/>
                                          </p:stCondLst>
                                        </p:cTn>
                                        <p:tgtEl>
                                          <p:spTgt spid="26"/>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28"/>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3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grpId="1" nodeType="clickEffect">
                                  <p:stCondLst>
                                    <p:cond delay="0"/>
                                  </p:stCondLst>
                                  <p:childTnLst>
                                    <p:animEffect transition="out" filter="fade">
                                      <p:cBhvr>
                                        <p:cTn id="87" dur="500"/>
                                        <p:tgtEl>
                                          <p:spTgt spid="32"/>
                                        </p:tgtEl>
                                      </p:cBhvr>
                                    </p:animEffect>
                                    <p:set>
                                      <p:cBhvr>
                                        <p:cTn id="88" dur="1" fill="hold">
                                          <p:stCondLst>
                                            <p:cond delay="499"/>
                                          </p:stCondLst>
                                        </p:cTn>
                                        <p:tgtEl>
                                          <p:spTgt spid="3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0" presetClass="exit" presetSubtype="0" fill="hold" nodeType="clickEffect">
                                  <p:stCondLst>
                                    <p:cond delay="0"/>
                                  </p:stCondLst>
                                  <p:childTnLst>
                                    <p:animEffect transition="out" filter="fade">
                                      <p:cBhvr>
                                        <p:cTn id="92" dur="500"/>
                                        <p:tgtEl>
                                          <p:spTgt spid="28"/>
                                        </p:tgtEl>
                                      </p:cBhvr>
                                    </p:animEffect>
                                    <p:set>
                                      <p:cBhvr>
                                        <p:cTn id="93" dur="1" fill="hold">
                                          <p:stCondLst>
                                            <p:cond delay="499"/>
                                          </p:stCondLst>
                                        </p:cTn>
                                        <p:tgtEl>
                                          <p:spTgt spid="28"/>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500"/>
                                        <p:tgtEl>
                                          <p:spTgt spid="29"/>
                                        </p:tgtEl>
                                      </p:cBhvr>
                                    </p:animEffect>
                                    <p:set>
                                      <p:cBhvr>
                                        <p:cTn id="96" dur="1" fill="hold">
                                          <p:stCondLst>
                                            <p:cond delay="499"/>
                                          </p:stCondLst>
                                        </p:cTn>
                                        <p:tgtEl>
                                          <p:spTgt spid="29"/>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500"/>
                                        <p:tgtEl>
                                          <p:spTgt spid="30"/>
                                        </p:tgtEl>
                                      </p:cBhvr>
                                    </p:animEffect>
                                    <p:set>
                                      <p:cBhvr>
                                        <p:cTn id="99" dur="1" fill="hold">
                                          <p:stCondLst>
                                            <p:cond delay="499"/>
                                          </p:stCondLst>
                                        </p:cTn>
                                        <p:tgtEl>
                                          <p:spTgt spid="30"/>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500"/>
                                        <p:tgtEl>
                                          <p:spTgt spid="31"/>
                                        </p:tgtEl>
                                      </p:cBhvr>
                                    </p:animEffect>
                                    <p:set>
                                      <p:cBhvr>
                                        <p:cTn id="102" dur="1" fill="hold">
                                          <p:stCondLst>
                                            <p:cond delay="499"/>
                                          </p:stCondLst>
                                        </p:cTn>
                                        <p:tgtEl>
                                          <p:spTgt spid="31"/>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5"/>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2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0" presetClass="exit" presetSubtype="0" fill="hold" nodeType="clickEffect">
                                  <p:stCondLst>
                                    <p:cond delay="0"/>
                                  </p:stCondLst>
                                  <p:childTnLst>
                                    <p:animEffect transition="out" filter="fade">
                                      <p:cBhvr>
                                        <p:cTn id="126" dur="500"/>
                                        <p:tgtEl>
                                          <p:spTgt spid="23"/>
                                        </p:tgtEl>
                                      </p:cBhvr>
                                    </p:animEffect>
                                    <p:set>
                                      <p:cBhvr>
                                        <p:cTn id="127" dur="1" fill="hold">
                                          <p:stCondLst>
                                            <p:cond delay="499"/>
                                          </p:stCondLst>
                                        </p:cTn>
                                        <p:tgtEl>
                                          <p:spTgt spid="23"/>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4"/>
                                        </p:tgtEl>
                                      </p:cBhvr>
                                    </p:animEffect>
                                    <p:set>
                                      <p:cBhvr>
                                        <p:cTn id="130" dur="1" fill="hold">
                                          <p:stCondLst>
                                            <p:cond delay="499"/>
                                          </p:stCondLst>
                                        </p:cTn>
                                        <p:tgtEl>
                                          <p:spTgt spid="24"/>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500"/>
                                        <p:tgtEl>
                                          <p:spTgt spid="25"/>
                                        </p:tgtEl>
                                      </p:cBhvr>
                                    </p:animEffect>
                                    <p:set>
                                      <p:cBhvr>
                                        <p:cTn id="133" dur="1" fill="hold">
                                          <p:stCondLst>
                                            <p:cond delay="499"/>
                                          </p:stCondLst>
                                        </p:cTn>
                                        <p:tgtEl>
                                          <p:spTgt spid="25"/>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26"/>
                                        </p:tgtEl>
                                      </p:cBhvr>
                                    </p:animEffect>
                                    <p:set>
                                      <p:cBhvr>
                                        <p:cTn id="136" dur="1" fill="hold">
                                          <p:stCondLst>
                                            <p:cond delay="499"/>
                                          </p:stCondLst>
                                        </p:cTn>
                                        <p:tgtEl>
                                          <p:spTgt spid="26"/>
                                        </p:tgtEl>
                                        <p:attrNameLst>
                                          <p:attrName>style.visibility</p:attrName>
                                        </p:attrNameLst>
                                      </p:cBhvr>
                                      <p:to>
                                        <p:strVal val="hidden"/>
                                      </p:to>
                                    </p:set>
                                  </p:childTnLst>
                                </p:cTn>
                              </p:par>
                              <p:par>
                                <p:cTn id="137" presetID="10" presetClass="exit" presetSubtype="0" fill="hold" grpId="1" nodeType="withEffect">
                                  <p:stCondLst>
                                    <p:cond delay="0"/>
                                  </p:stCondLst>
                                  <p:childTnLst>
                                    <p:animEffect transition="out" filter="fade">
                                      <p:cBhvr>
                                        <p:cTn id="138" dur="500"/>
                                        <p:tgtEl>
                                          <p:spTgt spid="33"/>
                                        </p:tgtEl>
                                      </p:cBhvr>
                                    </p:animEffect>
                                    <p:set>
                                      <p:cBhvr>
                                        <p:cTn id="139" dur="1" fill="hold">
                                          <p:stCondLst>
                                            <p:cond delay="499"/>
                                          </p:stCondLst>
                                        </p:cTn>
                                        <p:tgtEl>
                                          <p:spTgt spid="33"/>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nodeType="clickEffect">
                                  <p:stCondLst>
                                    <p:cond delay="0"/>
                                  </p:stCondLst>
                                  <p:childTnLst>
                                    <p:set>
                                      <p:cBhvr>
                                        <p:cTn id="143" dur="1" fill="hold">
                                          <p:stCondLst>
                                            <p:cond delay="0"/>
                                          </p:stCondLst>
                                        </p:cTn>
                                        <p:tgtEl>
                                          <p:spTgt spid="14"/>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18"/>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28"/>
                                        </p:tgtEl>
                                        <p:attrNameLst>
                                          <p:attrName>style.visibility</p:attrName>
                                        </p:attrNameLst>
                                      </p:cBhvr>
                                      <p:to>
                                        <p:strVal val="visible"/>
                                      </p:to>
                                    </p:set>
                                  </p:childTnLst>
                                </p:cTn>
                              </p:par>
                              <p:par>
                                <p:cTn id="150" presetID="1" presetClass="entr" presetSubtype="0" fill="hold" nodeType="withEffect">
                                  <p:stCondLst>
                                    <p:cond delay="0"/>
                                  </p:stCondLst>
                                  <p:childTnLst>
                                    <p:set>
                                      <p:cBhvr>
                                        <p:cTn id="151" dur="1" fill="hold">
                                          <p:stCondLst>
                                            <p:cond delay="0"/>
                                          </p:stCondLst>
                                        </p:cTn>
                                        <p:tgtEl>
                                          <p:spTgt spid="29"/>
                                        </p:tgtEl>
                                        <p:attrNameLst>
                                          <p:attrName>style.visibility</p:attrName>
                                        </p:attrNameLst>
                                      </p:cBhvr>
                                      <p:to>
                                        <p:strVal val="visible"/>
                                      </p:to>
                                    </p:set>
                                  </p:childTnLst>
                                </p:cTn>
                              </p:par>
                              <p:par>
                                <p:cTn id="152" presetID="1" presetClass="entr" presetSubtype="0" fill="hold" nodeType="withEffect">
                                  <p:stCondLst>
                                    <p:cond delay="0"/>
                                  </p:stCondLst>
                                  <p:childTnLst>
                                    <p:set>
                                      <p:cBhvr>
                                        <p:cTn id="153" dur="1" fill="hold">
                                          <p:stCondLst>
                                            <p:cond delay="0"/>
                                          </p:stCondLst>
                                        </p:cTn>
                                        <p:tgtEl>
                                          <p:spTgt spid="30"/>
                                        </p:tgtEl>
                                        <p:attrNameLst>
                                          <p:attrName>style.visibility</p:attrName>
                                        </p:attrNameLst>
                                      </p:cBhvr>
                                      <p:to>
                                        <p:strVal val="visible"/>
                                      </p:to>
                                    </p:set>
                                  </p:childTnLst>
                                </p:cTn>
                              </p:par>
                              <p:par>
                                <p:cTn id="154" presetID="1" presetClass="entr" presetSubtype="0" fill="hold" nodeType="withEffect">
                                  <p:stCondLst>
                                    <p:cond delay="0"/>
                                  </p:stCondLst>
                                  <p:childTnLst>
                                    <p:set>
                                      <p:cBhvr>
                                        <p:cTn id="155" dur="1" fill="hold">
                                          <p:stCondLst>
                                            <p:cond delay="0"/>
                                          </p:stCondLst>
                                        </p:cTn>
                                        <p:tgtEl>
                                          <p:spTgt spid="31"/>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34"/>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0" presetClass="exit" presetSubtype="0" fill="hold" nodeType="clickEffect">
                                  <p:stCondLst>
                                    <p:cond delay="0"/>
                                  </p:stCondLst>
                                  <p:childTnLst>
                                    <p:animEffect transition="out" filter="fade">
                                      <p:cBhvr>
                                        <p:cTn id="163" dur="500"/>
                                        <p:tgtEl>
                                          <p:spTgt spid="28"/>
                                        </p:tgtEl>
                                      </p:cBhvr>
                                    </p:animEffect>
                                    <p:set>
                                      <p:cBhvr>
                                        <p:cTn id="164" dur="1" fill="hold">
                                          <p:stCondLst>
                                            <p:cond delay="499"/>
                                          </p:stCondLst>
                                        </p:cTn>
                                        <p:tgtEl>
                                          <p:spTgt spid="28"/>
                                        </p:tgtEl>
                                        <p:attrNameLst>
                                          <p:attrName>style.visibility</p:attrName>
                                        </p:attrNameLst>
                                      </p:cBhvr>
                                      <p:to>
                                        <p:strVal val="hidden"/>
                                      </p:to>
                                    </p:set>
                                  </p:childTnLst>
                                </p:cTn>
                              </p:par>
                              <p:par>
                                <p:cTn id="165" presetID="10" presetClass="exit" presetSubtype="0" fill="hold" nodeType="withEffect">
                                  <p:stCondLst>
                                    <p:cond delay="0"/>
                                  </p:stCondLst>
                                  <p:childTnLst>
                                    <p:animEffect transition="out" filter="fade">
                                      <p:cBhvr>
                                        <p:cTn id="166" dur="500"/>
                                        <p:tgtEl>
                                          <p:spTgt spid="29"/>
                                        </p:tgtEl>
                                      </p:cBhvr>
                                    </p:animEffect>
                                    <p:set>
                                      <p:cBhvr>
                                        <p:cTn id="167" dur="1" fill="hold">
                                          <p:stCondLst>
                                            <p:cond delay="499"/>
                                          </p:stCondLst>
                                        </p:cTn>
                                        <p:tgtEl>
                                          <p:spTgt spid="29"/>
                                        </p:tgtEl>
                                        <p:attrNameLst>
                                          <p:attrName>style.visibility</p:attrName>
                                        </p:attrNameLst>
                                      </p:cBhvr>
                                      <p:to>
                                        <p:strVal val="hidden"/>
                                      </p:to>
                                    </p:set>
                                  </p:childTnLst>
                                </p:cTn>
                              </p:par>
                              <p:par>
                                <p:cTn id="168" presetID="10" presetClass="exit" presetSubtype="0" fill="hold" nodeType="withEffect">
                                  <p:stCondLst>
                                    <p:cond delay="0"/>
                                  </p:stCondLst>
                                  <p:childTnLst>
                                    <p:animEffect transition="out" filter="fade">
                                      <p:cBhvr>
                                        <p:cTn id="169" dur="500"/>
                                        <p:tgtEl>
                                          <p:spTgt spid="30"/>
                                        </p:tgtEl>
                                      </p:cBhvr>
                                    </p:animEffect>
                                    <p:set>
                                      <p:cBhvr>
                                        <p:cTn id="170" dur="1" fill="hold">
                                          <p:stCondLst>
                                            <p:cond delay="499"/>
                                          </p:stCondLst>
                                        </p:cTn>
                                        <p:tgtEl>
                                          <p:spTgt spid="30"/>
                                        </p:tgtEl>
                                        <p:attrNameLst>
                                          <p:attrName>style.visibility</p:attrName>
                                        </p:attrNameLst>
                                      </p:cBhvr>
                                      <p:to>
                                        <p:strVal val="hidden"/>
                                      </p:to>
                                    </p:set>
                                  </p:childTnLst>
                                </p:cTn>
                              </p:par>
                              <p:par>
                                <p:cTn id="171" presetID="10" presetClass="exit" presetSubtype="0" fill="hold" nodeType="withEffect">
                                  <p:stCondLst>
                                    <p:cond delay="0"/>
                                  </p:stCondLst>
                                  <p:childTnLst>
                                    <p:animEffect transition="out" filter="fade">
                                      <p:cBhvr>
                                        <p:cTn id="172" dur="500"/>
                                        <p:tgtEl>
                                          <p:spTgt spid="31"/>
                                        </p:tgtEl>
                                      </p:cBhvr>
                                    </p:animEffect>
                                    <p:set>
                                      <p:cBhvr>
                                        <p:cTn id="173" dur="1" fill="hold">
                                          <p:stCondLst>
                                            <p:cond delay="499"/>
                                          </p:stCondLst>
                                        </p:cTn>
                                        <p:tgtEl>
                                          <p:spTgt spid="31"/>
                                        </p:tgtEl>
                                        <p:attrNameLst>
                                          <p:attrName>style.visibility</p:attrName>
                                        </p:attrNameLst>
                                      </p:cBhvr>
                                      <p:to>
                                        <p:strVal val="hidden"/>
                                      </p:to>
                                    </p:set>
                                  </p:childTnLst>
                                </p:cTn>
                              </p:par>
                              <p:par>
                                <p:cTn id="174" presetID="10" presetClass="exit" presetSubtype="0" fill="hold" grpId="1" nodeType="withEffect">
                                  <p:stCondLst>
                                    <p:cond delay="0"/>
                                  </p:stCondLst>
                                  <p:childTnLst>
                                    <p:animEffect transition="out" filter="fade">
                                      <p:cBhvr>
                                        <p:cTn id="175" dur="500"/>
                                        <p:tgtEl>
                                          <p:spTgt spid="34"/>
                                        </p:tgtEl>
                                      </p:cBhvr>
                                    </p:animEffect>
                                    <p:set>
                                      <p:cBhvr>
                                        <p:cTn id="176" dur="1" fill="hold">
                                          <p:stCondLst>
                                            <p:cond delay="499"/>
                                          </p:stCondLst>
                                        </p:cTn>
                                        <p:tgtEl>
                                          <p:spTgt spid="34"/>
                                        </p:tgtEl>
                                        <p:attrNameLst>
                                          <p:attrName>style.visibility</p:attrName>
                                        </p:attrNameLst>
                                      </p:cBhvr>
                                      <p:to>
                                        <p:strVal val="hidden"/>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2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9"/>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2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animBg="1"/>
      <p:bldP spid="20" grpId="0" animBg="1"/>
      <p:bldP spid="21" grpId="0"/>
      <p:bldP spid="22" grpId="0"/>
      <p:bldP spid="27" grpId="0" animBg="1"/>
      <p:bldP spid="27" grpId="1" animBg="1"/>
      <p:bldP spid="32" grpId="0" animBg="1"/>
      <p:bldP spid="32" grpId="1" animBg="1"/>
      <p:bldP spid="33" grpId="0" animBg="1"/>
      <p:bldP spid="33" grpId="1" animBg="1"/>
      <p:bldP spid="34" grpId="0" animBg="1"/>
      <p:bldP spid="3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Commit Protocol)</a:t>
            </a:r>
            <a:endParaRPr lang="en-US" dirty="0"/>
          </a:p>
        </p:txBody>
      </p:sp>
      <p:sp>
        <p:nvSpPr>
          <p:cNvPr id="5" name="Rectangle 4">
            <a:extLst>
              <a:ext uri="{FF2B5EF4-FFF2-40B4-BE49-F238E27FC236}">
                <a16:creationId xmlns:a16="http://schemas.microsoft.com/office/drawing/2014/main" id="{B062C723-2AC2-4918-9477-B0DF97C85E97}"/>
              </a:ext>
            </a:extLst>
          </p:cNvPr>
          <p:cNvSpPr/>
          <p:nvPr/>
        </p:nvSpPr>
        <p:spPr>
          <a:xfrm>
            <a:off x="3511526" y="831373"/>
            <a:ext cx="8102295" cy="4893647"/>
          </a:xfrm>
          <a:prstGeom prst="rect">
            <a:avLst/>
          </a:prstGeom>
        </p:spPr>
        <p:txBody>
          <a:bodyPr wrap="square">
            <a:spAutoFit/>
          </a:bodyPr>
          <a:lstStyle/>
          <a:p>
            <a:pPr algn="just"/>
            <a:r>
              <a:rPr lang="en-US" sz="2400" b="1" dirty="0">
                <a:latin typeface="Cambria Math" panose="02040503050406030204" pitchFamily="18" charset="0"/>
                <a:ea typeface="Cambria Math" panose="02040503050406030204" pitchFamily="18" charset="0"/>
              </a:rPr>
              <a:t>Prepare Phase</a:t>
            </a:r>
          </a:p>
          <a:p>
            <a:pPr algn="just"/>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Once each slave completes its transaction, it sends a “DONE” message to the Coordinator. </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When the Coordinator receives “DONE” message from all the slaves, it sends a “Prepare” (prepare to commit) message to the slaves.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 slave wants to commit, it sends a “Ready” message.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 slave do not want to commit, it sends a “Not Ready” message.</a:t>
            </a:r>
          </a:p>
        </p:txBody>
      </p:sp>
    </p:spTree>
    <p:extLst>
      <p:ext uri="{BB962C8B-B14F-4D97-AF65-F5344CB8AC3E}">
        <p14:creationId xmlns:p14="http://schemas.microsoft.com/office/powerpoint/2010/main" val="7340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fade">
                                      <p:cBhvr>
                                        <p:cTn id="2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Commit Protocol)</a:t>
            </a:r>
            <a:endParaRPr lang="en-US" dirty="0"/>
          </a:p>
        </p:txBody>
      </p:sp>
      <p:sp>
        <p:nvSpPr>
          <p:cNvPr id="5" name="Rectangle 4">
            <a:extLst>
              <a:ext uri="{FF2B5EF4-FFF2-40B4-BE49-F238E27FC236}">
                <a16:creationId xmlns:a16="http://schemas.microsoft.com/office/drawing/2014/main" id="{B062C723-2AC2-4918-9477-B0DF97C85E97}"/>
              </a:ext>
            </a:extLst>
          </p:cNvPr>
          <p:cNvSpPr/>
          <p:nvPr/>
        </p:nvSpPr>
        <p:spPr>
          <a:xfrm>
            <a:off x="3525625" y="803093"/>
            <a:ext cx="8102295" cy="4524315"/>
          </a:xfrm>
          <a:prstGeom prst="rect">
            <a:avLst/>
          </a:prstGeom>
        </p:spPr>
        <p:txBody>
          <a:bodyPr wrap="square">
            <a:spAutoFit/>
          </a:bodyPr>
          <a:lstStyle/>
          <a:p>
            <a:pPr algn="just"/>
            <a:r>
              <a:rPr lang="en-US" sz="2400" b="1" dirty="0">
                <a:latin typeface="Cambria Math" panose="02040503050406030204" pitchFamily="18" charset="0"/>
                <a:ea typeface="Cambria Math" panose="02040503050406030204" pitchFamily="18" charset="0"/>
              </a:rPr>
              <a:t>Commit Phase</a:t>
            </a:r>
          </a:p>
          <a:p>
            <a:pPr algn="just"/>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When the Coordinator receives “Ready” message from all the slaves, it sends a “Global Commit” message to all the slaves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slaves commit the transaction and send “Commit Ack” message back to the Coordinator.</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Once a Coordinator receives “Commit Ack” message from all the slaves, then the transaction is considered to be Committed or Completed.</a:t>
            </a:r>
          </a:p>
        </p:txBody>
      </p:sp>
    </p:spTree>
    <p:extLst>
      <p:ext uri="{BB962C8B-B14F-4D97-AF65-F5344CB8AC3E}">
        <p14:creationId xmlns:p14="http://schemas.microsoft.com/office/powerpoint/2010/main" val="176657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Commit Protocol)</a:t>
            </a:r>
            <a:endParaRPr lang="en-US" dirty="0"/>
          </a:p>
        </p:txBody>
      </p:sp>
      <p:sp>
        <p:nvSpPr>
          <p:cNvPr id="5" name="Rectangle 4">
            <a:extLst>
              <a:ext uri="{FF2B5EF4-FFF2-40B4-BE49-F238E27FC236}">
                <a16:creationId xmlns:a16="http://schemas.microsoft.com/office/drawing/2014/main" id="{B062C723-2AC2-4918-9477-B0DF97C85E97}"/>
              </a:ext>
            </a:extLst>
          </p:cNvPr>
          <p:cNvSpPr/>
          <p:nvPr/>
        </p:nvSpPr>
        <p:spPr>
          <a:xfrm>
            <a:off x="3525625" y="803093"/>
            <a:ext cx="8102295" cy="4524315"/>
          </a:xfrm>
          <a:prstGeom prst="rect">
            <a:avLst/>
          </a:prstGeom>
        </p:spPr>
        <p:txBody>
          <a:bodyPr wrap="square">
            <a:spAutoFit/>
          </a:bodyPr>
          <a:lstStyle/>
          <a:p>
            <a:pPr algn="just"/>
            <a:r>
              <a:rPr lang="en-US" sz="2400" b="1" dirty="0">
                <a:latin typeface="Cambria Math" panose="02040503050406030204" pitchFamily="18" charset="0"/>
                <a:ea typeface="Cambria Math" panose="02040503050406030204" pitchFamily="18" charset="0"/>
              </a:rPr>
              <a:t>Commit Phase</a:t>
            </a:r>
          </a:p>
          <a:p>
            <a:pPr algn="just"/>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When the Coordinator receives “Not Ready” message from all the slaves, it sends a “Global Abort” message to all the slaves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slaves abort the transaction and send “Abort Ack” message back to the Coordinator.</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Once a Coordinator receives “Abort Ack” message from all the slaves, then the transaction is considered to be Aborted or Error.</a:t>
            </a:r>
          </a:p>
        </p:txBody>
      </p:sp>
    </p:spTree>
    <p:extLst>
      <p:ext uri="{BB962C8B-B14F-4D97-AF65-F5344CB8AC3E}">
        <p14:creationId xmlns:p14="http://schemas.microsoft.com/office/powerpoint/2010/main" val="140932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(Database Recovery)</a:t>
            </a:r>
            <a:endParaRPr lang="en-US" dirty="0"/>
          </a:p>
        </p:txBody>
      </p:sp>
      <p:sp>
        <p:nvSpPr>
          <p:cNvPr id="5" name="Rectangle 4">
            <a:extLst>
              <a:ext uri="{FF2B5EF4-FFF2-40B4-BE49-F238E27FC236}">
                <a16:creationId xmlns:a16="http://schemas.microsoft.com/office/drawing/2014/main" id="{B062C723-2AC2-4918-9477-B0DF97C85E97}"/>
              </a:ext>
            </a:extLst>
          </p:cNvPr>
          <p:cNvSpPr/>
          <p:nvPr/>
        </p:nvSpPr>
        <p:spPr>
          <a:xfrm>
            <a:off x="3516198" y="117693"/>
            <a:ext cx="8102295" cy="6740307"/>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There are many scenarios where a transaction could not reach commit or abort state. Some of them are:</a:t>
            </a: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Disk Failure</a:t>
            </a: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DBMS Crash</a:t>
            </a: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OS Failure</a:t>
            </a:r>
          </a:p>
          <a:p>
            <a:pPr marL="800100" lvl="1" indent="-3429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Power Failure</a:t>
            </a:r>
          </a:p>
          <a:p>
            <a:pPr algn="just"/>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This may lead to Data Inconsistency or Data Loss.</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For e.g., a DBMS crashes after about 20 out of 25 operations were executed successfully. This may lead to Inconsistent Database state.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Database Recovery is the process of restoring a database and its data to the consistent state.</a:t>
            </a:r>
          </a:p>
          <a:p>
            <a:pPr marL="342900" indent="-3429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helps to recover the data up to the state of crash or failure.</a:t>
            </a:r>
          </a:p>
        </p:txBody>
      </p:sp>
    </p:spTree>
    <p:extLst>
      <p:ext uri="{BB962C8B-B14F-4D97-AF65-F5344CB8AC3E}">
        <p14:creationId xmlns:p14="http://schemas.microsoft.com/office/powerpoint/2010/main" val="40175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fade">
                                      <p:cBhvr>
                                        <p:cTn id="42" dur="500"/>
                                        <p:tgtEl>
                                          <p:spTgt spid="5">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animEffect transition="in" filter="fade">
                                      <p:cBhvr>
                                        <p:cTn id="4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(Log Based Recovery)</a:t>
            </a:r>
            <a:endParaRPr lang="en-US" dirty="0"/>
          </a:p>
        </p:txBody>
      </p:sp>
      <p:sp>
        <p:nvSpPr>
          <p:cNvPr id="4" name="Rectangle 3">
            <a:extLst>
              <a:ext uri="{FF2B5EF4-FFF2-40B4-BE49-F238E27FC236}">
                <a16:creationId xmlns:a16="http://schemas.microsoft.com/office/drawing/2014/main" id="{81CC7C13-92B4-49C4-B50B-8701C926589C}"/>
              </a:ext>
            </a:extLst>
          </p:cNvPr>
          <p:cNvSpPr/>
          <p:nvPr/>
        </p:nvSpPr>
        <p:spPr>
          <a:xfrm>
            <a:off x="3538194" y="0"/>
            <a:ext cx="8226458" cy="6894195"/>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log is a sequence of records, which maintain information about all the activities done by each operation on the database.</a:t>
            </a:r>
          </a:p>
          <a:p>
            <a:pPr marL="342900" indent="-34290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log is kept on stable storage (i.e. HDD) and it contains:</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Start of transaction </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Transaction-id</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Record-id </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Type of operation (insert, update, delete) </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Old value, new value </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Status of transaction that is committed or aborted.</a:t>
            </a:r>
          </a:p>
          <a:p>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For e.g., when transaction T1 starts, it records &lt;T1 Start&gt; in the log.</a:t>
            </a: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When T1 is about to execute Write Operation, just before that, it records new log as &lt;T1,X,D1,D2&gt;, where X is  a data item , D1 is the value of X before transaction and D2 is the new value to be updated for X.</a:t>
            </a: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the transaction is completed, then it records &lt;T1 Commit&gt; and in case of failure, it records &lt;T1 Abort&gt;.</a:t>
            </a:r>
          </a:p>
        </p:txBody>
      </p:sp>
    </p:spTree>
    <p:extLst>
      <p:ext uri="{BB962C8B-B14F-4D97-AF65-F5344CB8AC3E}">
        <p14:creationId xmlns:p14="http://schemas.microsoft.com/office/powerpoint/2010/main" val="277012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1000"/>
                                        <p:tgtEl>
                                          <p:spTgt spid="4">
                                            <p:txEl>
                                              <p:pRg st="4" end="4"/>
                                            </p:txEl>
                                          </p:spTgt>
                                        </p:tgtEl>
                                      </p:cBhvr>
                                    </p:animEffect>
                                    <p:anim calcmode="lin" valueType="num">
                                      <p:cBhvr>
                                        <p:cTn id="2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1000"/>
                                        <p:tgtEl>
                                          <p:spTgt spid="4">
                                            <p:txEl>
                                              <p:pRg st="5" end="5"/>
                                            </p:txEl>
                                          </p:spTgt>
                                        </p:tgtEl>
                                      </p:cBhvr>
                                    </p:animEffect>
                                    <p:anim calcmode="lin" valueType="num">
                                      <p:cBhvr>
                                        <p:cTn id="3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fade">
                                      <p:cBhvr>
                                        <p:cTn id="38" dur="1000"/>
                                        <p:tgtEl>
                                          <p:spTgt spid="4">
                                            <p:txEl>
                                              <p:pRg st="6" end="6"/>
                                            </p:txEl>
                                          </p:spTgt>
                                        </p:tgtEl>
                                      </p:cBhvr>
                                    </p:animEffect>
                                    <p:anim calcmode="lin" valueType="num">
                                      <p:cBhvr>
                                        <p:cTn id="3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animEffect transition="in" filter="fade">
                                      <p:cBhvr>
                                        <p:cTn id="45" dur="1000"/>
                                        <p:tgtEl>
                                          <p:spTgt spid="4">
                                            <p:txEl>
                                              <p:pRg st="7" end="7"/>
                                            </p:txEl>
                                          </p:spTgt>
                                        </p:tgtEl>
                                      </p:cBhvr>
                                    </p:animEffect>
                                    <p:anim calcmode="lin" valueType="num">
                                      <p:cBhvr>
                                        <p:cTn id="46"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Effect transition="in" filter="fade">
                                      <p:cBhvr>
                                        <p:cTn id="52" dur="1000"/>
                                        <p:tgtEl>
                                          <p:spTgt spid="4">
                                            <p:txEl>
                                              <p:pRg st="8" end="8"/>
                                            </p:txEl>
                                          </p:spTgt>
                                        </p:tgtEl>
                                      </p:cBhvr>
                                    </p:animEffect>
                                    <p:anim calcmode="lin" valueType="num">
                                      <p:cBhvr>
                                        <p:cTn id="5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animEffect transition="in" filter="fade">
                                      <p:cBhvr>
                                        <p:cTn id="59" dur="500"/>
                                        <p:tgtEl>
                                          <p:spTgt spid="4">
                                            <p:txEl>
                                              <p:pRg st="10" end="1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
                                            <p:txEl>
                                              <p:pRg st="11" end="11"/>
                                            </p:txEl>
                                          </p:spTgt>
                                        </p:tgtEl>
                                        <p:attrNameLst>
                                          <p:attrName>style.visibility</p:attrName>
                                        </p:attrNameLst>
                                      </p:cBhvr>
                                      <p:to>
                                        <p:strVal val="visible"/>
                                      </p:to>
                                    </p:set>
                                    <p:animEffect transition="in" filter="fade">
                                      <p:cBhvr>
                                        <p:cTn id="64" dur="500"/>
                                        <p:tgtEl>
                                          <p:spTgt spid="4">
                                            <p:txEl>
                                              <p:pRg st="11" end="1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4">
                                            <p:txEl>
                                              <p:pRg st="12" end="12"/>
                                            </p:txEl>
                                          </p:spTgt>
                                        </p:tgtEl>
                                        <p:attrNameLst>
                                          <p:attrName>style.visibility</p:attrName>
                                        </p:attrNameLst>
                                      </p:cBhvr>
                                      <p:to>
                                        <p:strVal val="visible"/>
                                      </p:to>
                                    </p:set>
                                    <p:animEffect transition="in" filter="fade">
                                      <p:cBhvr>
                                        <p:cTn id="69"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(Types of  Log Based Recovery)</a:t>
            </a:r>
            <a:endParaRPr lang="en-US" dirty="0"/>
          </a:p>
        </p:txBody>
      </p:sp>
      <p:sp>
        <p:nvSpPr>
          <p:cNvPr id="3" name="Rectangle 2">
            <a:extLst>
              <a:ext uri="{FF2B5EF4-FFF2-40B4-BE49-F238E27FC236}">
                <a16:creationId xmlns:a16="http://schemas.microsoft.com/office/drawing/2014/main" id="{92206103-6EEE-423E-AD0A-643C259A1F14}"/>
              </a:ext>
            </a:extLst>
          </p:cNvPr>
          <p:cNvSpPr/>
          <p:nvPr/>
        </p:nvSpPr>
        <p:spPr>
          <a:xfrm>
            <a:off x="3621253" y="274891"/>
            <a:ext cx="8115117" cy="2800767"/>
          </a:xfrm>
          <a:prstGeom prst="rect">
            <a:avLst/>
          </a:prstGeom>
        </p:spPr>
        <p:txBody>
          <a:bodyPr wrap="square">
            <a:spAutoFit/>
          </a:bodyPr>
          <a:lstStyle/>
          <a:p>
            <a:r>
              <a:rPr lang="en-IN" sz="2400" b="1" dirty="0">
                <a:latin typeface="Cambria Math" panose="02040503050406030204" pitchFamily="18" charset="0"/>
                <a:ea typeface="Cambria Math" panose="02040503050406030204" pitchFamily="18" charset="0"/>
              </a:rPr>
              <a:t>Immediate Database Modification</a:t>
            </a:r>
          </a:p>
          <a:p>
            <a:endParaRPr lang="en-IN" sz="500" b="1"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Changes to the database are executed immediately as they happen without waiting for commit command.</a:t>
            </a: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the transaction is not committed, then the complete operation needs to be undone and transaction is restarted.</a:t>
            </a:r>
            <a:endParaRPr lang="en-IN"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IN" sz="2400" dirty="0">
                <a:latin typeface="Cambria Math" panose="02040503050406030204" pitchFamily="18" charset="0"/>
                <a:ea typeface="Cambria Math" panose="02040503050406030204" pitchFamily="18" charset="0"/>
              </a:rPr>
              <a:t>If the transaction is committed, then changes made will be permanent.</a:t>
            </a:r>
            <a:endParaRPr lang="en-US" sz="2400" dirty="0">
              <a:latin typeface="Cambria Math" panose="02040503050406030204" pitchFamily="18" charset="0"/>
              <a:ea typeface="Cambria Math" panose="02040503050406030204" pitchFamily="18" charset="0"/>
            </a:endParaRPr>
          </a:p>
        </p:txBody>
      </p:sp>
      <p:graphicFrame>
        <p:nvGraphicFramePr>
          <p:cNvPr id="5" name="Content Placeholder 1">
            <a:extLst>
              <a:ext uri="{FF2B5EF4-FFF2-40B4-BE49-F238E27FC236}">
                <a16:creationId xmlns:a16="http://schemas.microsoft.com/office/drawing/2014/main" id="{C03379A7-8A05-43A2-8B3B-C8461DB1042F}"/>
              </a:ext>
            </a:extLst>
          </p:cNvPr>
          <p:cNvGraphicFramePr>
            <a:graphicFrameLocks/>
          </p:cNvGraphicFramePr>
          <p:nvPr>
            <p:extLst>
              <p:ext uri="{D42A27DB-BD31-4B8C-83A1-F6EECF244321}">
                <p14:modId xmlns:p14="http://schemas.microsoft.com/office/powerpoint/2010/main" val="1876138659"/>
              </p:ext>
            </p:extLst>
          </p:nvPr>
        </p:nvGraphicFramePr>
        <p:xfrm>
          <a:off x="4097517" y="3223351"/>
          <a:ext cx="1752600" cy="2868963"/>
        </p:xfrm>
        <a:graphic>
          <a:graphicData uri="http://schemas.openxmlformats.org/drawingml/2006/table">
            <a:tbl>
              <a:tblPr firstRow="1" firstCol="1" bandRow="1">
                <a:tableStyleId>{BC89EF96-8CEA-46FF-86C4-4CE0E7609802}</a:tableStyleId>
              </a:tblPr>
              <a:tblGrid>
                <a:gridCol w="1752600">
                  <a:extLst>
                    <a:ext uri="{9D8B030D-6E8A-4147-A177-3AD203B41FA5}">
                      <a16:colId xmlns:a16="http://schemas.microsoft.com/office/drawing/2014/main" val="20000"/>
                    </a:ext>
                  </a:extLst>
                </a:gridCol>
              </a:tblGrid>
              <a:tr h="445168">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1931273">
                <a:tc>
                  <a:txBody>
                    <a:bodyPr/>
                    <a:lstStyle/>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Read (A)</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A = A - 50</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Write (A) </a:t>
                      </a: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Read (B)</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B = B + 50</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Write (B)</a:t>
                      </a: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Commit</a:t>
                      </a:r>
                      <a:endParaRPr lang="en-US" sz="2000"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bl>
          </a:graphicData>
        </a:graphic>
      </p:graphicFrame>
      <p:sp>
        <p:nvSpPr>
          <p:cNvPr id="6" name="Flowchart: Process 5">
            <a:extLst>
              <a:ext uri="{FF2B5EF4-FFF2-40B4-BE49-F238E27FC236}">
                <a16:creationId xmlns:a16="http://schemas.microsoft.com/office/drawing/2014/main" id="{5249AEBC-3777-45A5-9ED5-1B91E1795E3D}"/>
              </a:ext>
            </a:extLst>
          </p:cNvPr>
          <p:cNvSpPr/>
          <p:nvPr/>
        </p:nvSpPr>
        <p:spPr>
          <a:xfrm>
            <a:off x="6117302" y="3223351"/>
            <a:ext cx="2131152" cy="467693"/>
          </a:xfrm>
          <a:prstGeom prst="flowChartProcess">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Cambria Math" panose="02040503050406030204" pitchFamily="18" charset="0"/>
                <a:ea typeface="Cambria Math" panose="02040503050406030204" pitchFamily="18" charset="0"/>
              </a:rPr>
              <a:t>A=100, </a:t>
            </a:r>
            <a:r>
              <a:rPr lang="en-US" sz="2400" b="1" dirty="0">
                <a:solidFill>
                  <a:schemeClr val="bg1"/>
                </a:solidFill>
                <a:latin typeface="Cambria Math" panose="02040503050406030204" pitchFamily="18" charset="0"/>
                <a:ea typeface="Cambria Math" panose="02040503050406030204" pitchFamily="18" charset="0"/>
              </a:rPr>
              <a:t>B=200</a:t>
            </a:r>
            <a:endParaRPr lang="en-IN" sz="2400" b="1" dirty="0">
              <a:solidFill>
                <a:schemeClr val="bg1"/>
              </a:solidFill>
              <a:latin typeface="Cambria Math" panose="02040503050406030204" pitchFamily="18" charset="0"/>
              <a:ea typeface="Cambria Math" panose="02040503050406030204" pitchFamily="18" charset="0"/>
            </a:endParaRPr>
          </a:p>
        </p:txBody>
      </p:sp>
      <p:cxnSp>
        <p:nvCxnSpPr>
          <p:cNvPr id="7" name="Straight Connector 6">
            <a:extLst>
              <a:ext uri="{FF2B5EF4-FFF2-40B4-BE49-F238E27FC236}">
                <a16:creationId xmlns:a16="http://schemas.microsoft.com/office/drawing/2014/main" id="{452B421F-F9CD-4908-BD35-14DD0F6A7984}"/>
              </a:ext>
            </a:extLst>
          </p:cNvPr>
          <p:cNvCxnSpPr/>
          <p:nvPr/>
        </p:nvCxnSpPr>
        <p:spPr>
          <a:xfrm>
            <a:off x="4415672" y="5792579"/>
            <a:ext cx="1066800" cy="0"/>
          </a:xfrm>
          <a:prstGeom prst="line">
            <a:avLst/>
          </a:prstGeom>
          <a:ln w="57150"/>
        </p:spPr>
        <p:style>
          <a:lnRef idx="3">
            <a:schemeClr val="accent6"/>
          </a:lnRef>
          <a:fillRef idx="0">
            <a:schemeClr val="accent6"/>
          </a:fillRef>
          <a:effectRef idx="2">
            <a:schemeClr val="accent6"/>
          </a:effectRef>
          <a:fontRef idx="minor">
            <a:schemeClr val="tx1"/>
          </a:fontRef>
        </p:style>
      </p:cxnSp>
      <p:sp>
        <p:nvSpPr>
          <p:cNvPr id="8" name="Rounded Rectangular Callout 29">
            <a:extLst>
              <a:ext uri="{FF2B5EF4-FFF2-40B4-BE49-F238E27FC236}">
                <a16:creationId xmlns:a16="http://schemas.microsoft.com/office/drawing/2014/main" id="{71AD8373-B9EF-4019-B3C8-BE543497B793}"/>
              </a:ext>
            </a:extLst>
          </p:cNvPr>
          <p:cNvSpPr/>
          <p:nvPr/>
        </p:nvSpPr>
        <p:spPr>
          <a:xfrm>
            <a:off x="7352528" y="3876557"/>
            <a:ext cx="3903076" cy="1916022"/>
          </a:xfrm>
          <a:prstGeom prst="wedgeRoundRectCallout">
            <a:avLst>
              <a:gd name="adj1" fmla="val -96674"/>
              <a:gd name="adj2" fmla="val 44845"/>
              <a:gd name="adj3" fmla="val 16667"/>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IN" sz="2400" dirty="0">
                <a:solidFill>
                  <a:schemeClr val="tx1"/>
                </a:solidFill>
                <a:latin typeface="Cambria Math" panose="02040503050406030204" pitchFamily="18" charset="0"/>
                <a:ea typeface="Cambria Math" panose="02040503050406030204" pitchFamily="18" charset="0"/>
              </a:rPr>
              <a:t>&lt;T1 start&gt; </a:t>
            </a:r>
          </a:p>
          <a:p>
            <a:pPr algn="ctr"/>
            <a:r>
              <a:rPr lang="en-IN" sz="2400" dirty="0">
                <a:solidFill>
                  <a:schemeClr val="tx1"/>
                </a:solidFill>
                <a:latin typeface="Cambria Math" panose="02040503050406030204" pitchFamily="18" charset="0"/>
                <a:ea typeface="Cambria Math" panose="02040503050406030204" pitchFamily="18" charset="0"/>
              </a:rPr>
              <a:t>&lt;T1, A, 100, 50&gt;</a:t>
            </a:r>
          </a:p>
          <a:p>
            <a:pPr algn="ctr"/>
            <a:r>
              <a:rPr lang="en-IN" sz="2400" dirty="0">
                <a:solidFill>
                  <a:schemeClr val="tx1"/>
                </a:solidFill>
                <a:latin typeface="Cambria Math" panose="02040503050406030204" pitchFamily="18" charset="0"/>
                <a:ea typeface="Cambria Math" panose="02040503050406030204" pitchFamily="18" charset="0"/>
              </a:rPr>
              <a:t>A=50,B=200</a:t>
            </a:r>
          </a:p>
          <a:p>
            <a:pPr algn="ctr"/>
            <a:r>
              <a:rPr lang="en-IN" sz="2400" dirty="0">
                <a:solidFill>
                  <a:schemeClr val="tx1"/>
                </a:solidFill>
                <a:latin typeface="Cambria Math" panose="02040503050406030204" pitchFamily="18" charset="0"/>
                <a:ea typeface="Cambria Math" panose="02040503050406030204" pitchFamily="18" charset="0"/>
              </a:rPr>
              <a:t>&lt;T1, B, 200, 250&gt; </a:t>
            </a:r>
          </a:p>
          <a:p>
            <a:pPr algn="ctr"/>
            <a:r>
              <a:rPr lang="en-IN" sz="2400" dirty="0">
                <a:solidFill>
                  <a:schemeClr val="tx1"/>
                </a:solidFill>
                <a:latin typeface="Cambria Math" panose="02040503050406030204" pitchFamily="18" charset="0"/>
                <a:ea typeface="Cambria Math" panose="02040503050406030204" pitchFamily="18" charset="0"/>
              </a:rPr>
              <a:t>A=50,B=250</a:t>
            </a:r>
          </a:p>
        </p:txBody>
      </p:sp>
      <p:sp>
        <p:nvSpPr>
          <p:cNvPr id="9" name="Rectangle 8">
            <a:extLst>
              <a:ext uri="{FF2B5EF4-FFF2-40B4-BE49-F238E27FC236}">
                <a16:creationId xmlns:a16="http://schemas.microsoft.com/office/drawing/2014/main" id="{1169C9E4-C03D-45BB-9E25-87EAED0C286A}"/>
              </a:ext>
            </a:extLst>
          </p:cNvPr>
          <p:cNvSpPr/>
          <p:nvPr/>
        </p:nvSpPr>
        <p:spPr>
          <a:xfrm>
            <a:off x="6975349" y="6092314"/>
            <a:ext cx="4468791" cy="646331"/>
          </a:xfrm>
          <a:prstGeom prst="rect">
            <a:avLst/>
          </a:prstGeom>
        </p:spPr>
        <p:txBody>
          <a:bodyPr wrap="square">
            <a:spAutoFit/>
          </a:bodyPr>
          <a:lstStyle/>
          <a:p>
            <a:pPr algn="just"/>
            <a:r>
              <a:rPr lang="en-US" b="1" dirty="0">
                <a:solidFill>
                  <a:srgbClr val="FF0000"/>
                </a:solidFill>
                <a:latin typeface="Cambria Math" panose="02040503050406030204" pitchFamily="18" charset="0"/>
                <a:ea typeface="Cambria Math" panose="02040503050406030204" pitchFamily="18" charset="0"/>
              </a:rPr>
              <a:t>Before the commit is executed, all the updates are made in the database.</a:t>
            </a:r>
            <a:endParaRPr lang="en-US" b="1" dirty="0">
              <a:solidFill>
                <a:srgbClr val="FF0000"/>
              </a:solidFill>
            </a:endParaRPr>
          </a:p>
        </p:txBody>
      </p:sp>
      <p:sp>
        <p:nvSpPr>
          <p:cNvPr id="10" name="Arrow: Right 9">
            <a:extLst>
              <a:ext uri="{FF2B5EF4-FFF2-40B4-BE49-F238E27FC236}">
                <a16:creationId xmlns:a16="http://schemas.microsoft.com/office/drawing/2014/main" id="{E16F573A-C6E4-4D53-9E80-2F8A31BCA02A}"/>
              </a:ext>
            </a:extLst>
          </p:cNvPr>
          <p:cNvSpPr/>
          <p:nvPr/>
        </p:nvSpPr>
        <p:spPr>
          <a:xfrm rot="11651611">
            <a:off x="5481693" y="6098569"/>
            <a:ext cx="1522739" cy="183228"/>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726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(Types of  Log Based Recovery)</a:t>
            </a:r>
            <a:endParaRPr lang="en-US" dirty="0"/>
          </a:p>
        </p:txBody>
      </p:sp>
      <p:sp>
        <p:nvSpPr>
          <p:cNvPr id="3" name="Rectangle 2">
            <a:extLst>
              <a:ext uri="{FF2B5EF4-FFF2-40B4-BE49-F238E27FC236}">
                <a16:creationId xmlns:a16="http://schemas.microsoft.com/office/drawing/2014/main" id="{92206103-6EEE-423E-AD0A-643C259A1F14}"/>
              </a:ext>
            </a:extLst>
          </p:cNvPr>
          <p:cNvSpPr/>
          <p:nvPr/>
        </p:nvSpPr>
        <p:spPr>
          <a:xfrm>
            <a:off x="3621253" y="274891"/>
            <a:ext cx="8115117" cy="2800767"/>
          </a:xfrm>
          <a:prstGeom prst="rect">
            <a:avLst/>
          </a:prstGeom>
        </p:spPr>
        <p:txBody>
          <a:bodyPr wrap="square">
            <a:spAutoFit/>
          </a:bodyPr>
          <a:lstStyle/>
          <a:p>
            <a:r>
              <a:rPr lang="en-IN" sz="2400" b="1" dirty="0">
                <a:latin typeface="Cambria Math" panose="02040503050406030204" pitchFamily="18" charset="0"/>
                <a:ea typeface="Cambria Math" panose="02040503050406030204" pitchFamily="18" charset="0"/>
              </a:rPr>
              <a:t>Deferred Database Modification</a:t>
            </a:r>
          </a:p>
          <a:p>
            <a:endParaRPr lang="en-IN" sz="500" b="1"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Changes to the database are executed only after the commit command is executed.</a:t>
            </a: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the transaction is not committed, then the changes wont be reflected in database and only transaction is restarted.</a:t>
            </a:r>
            <a:endParaRPr lang="en-IN"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IN" sz="2400" dirty="0">
                <a:latin typeface="Cambria Math" panose="02040503050406030204" pitchFamily="18" charset="0"/>
                <a:ea typeface="Cambria Math" panose="02040503050406030204" pitchFamily="18" charset="0"/>
              </a:rPr>
              <a:t>If the transaction is committed, then all the changes are reflected and will be permanent.</a:t>
            </a:r>
            <a:endParaRPr lang="en-US" sz="2400" dirty="0">
              <a:latin typeface="Cambria Math" panose="02040503050406030204" pitchFamily="18" charset="0"/>
              <a:ea typeface="Cambria Math" panose="02040503050406030204" pitchFamily="18" charset="0"/>
            </a:endParaRPr>
          </a:p>
        </p:txBody>
      </p:sp>
      <p:graphicFrame>
        <p:nvGraphicFramePr>
          <p:cNvPr id="5" name="Content Placeholder 1">
            <a:extLst>
              <a:ext uri="{FF2B5EF4-FFF2-40B4-BE49-F238E27FC236}">
                <a16:creationId xmlns:a16="http://schemas.microsoft.com/office/drawing/2014/main" id="{C03379A7-8A05-43A2-8B3B-C8461DB1042F}"/>
              </a:ext>
            </a:extLst>
          </p:cNvPr>
          <p:cNvGraphicFramePr>
            <a:graphicFrameLocks/>
          </p:cNvGraphicFramePr>
          <p:nvPr>
            <p:extLst>
              <p:ext uri="{D42A27DB-BD31-4B8C-83A1-F6EECF244321}">
                <p14:modId xmlns:p14="http://schemas.microsoft.com/office/powerpoint/2010/main" val="4246601943"/>
              </p:ext>
            </p:extLst>
          </p:nvPr>
        </p:nvGraphicFramePr>
        <p:xfrm>
          <a:off x="4097517" y="3223351"/>
          <a:ext cx="1752600" cy="3007767"/>
        </p:xfrm>
        <a:graphic>
          <a:graphicData uri="http://schemas.openxmlformats.org/drawingml/2006/table">
            <a:tbl>
              <a:tblPr firstRow="1" firstCol="1" bandRow="1">
                <a:tableStyleId>{BC89EF96-8CEA-46FF-86C4-4CE0E7609802}</a:tableStyleId>
              </a:tblPr>
              <a:tblGrid>
                <a:gridCol w="1752600">
                  <a:extLst>
                    <a:ext uri="{9D8B030D-6E8A-4147-A177-3AD203B41FA5}">
                      <a16:colId xmlns:a16="http://schemas.microsoft.com/office/drawing/2014/main" val="20000"/>
                    </a:ext>
                  </a:extLst>
                </a:gridCol>
              </a:tblGrid>
              <a:tr h="466706">
                <a:tc>
                  <a:txBody>
                    <a:bodyPr/>
                    <a:lstStyle/>
                    <a:p>
                      <a:pPr marL="457200" marR="0" indent="-457200" algn="ctr" defTabSz="914400" rtl="0" eaLnBrk="1" fontAlgn="auto" latinLnBrk="0" hangingPunct="1">
                        <a:lnSpc>
                          <a:spcPct val="115000"/>
                        </a:lnSpc>
                        <a:spcBef>
                          <a:spcPts val="0"/>
                        </a:spcBef>
                        <a:spcAft>
                          <a:spcPts val="0"/>
                        </a:spcAft>
                        <a:buClrTx/>
                        <a:buSzTx/>
                        <a:buFontTx/>
                        <a:buNone/>
                        <a:tabLst/>
                        <a:defRPr/>
                      </a:pPr>
                      <a:r>
                        <a:rPr lang="en-US" sz="2000" b="1" kern="1200" dirty="0">
                          <a:solidFill>
                            <a:schemeClr val="tx1"/>
                          </a:solidFill>
                          <a:effectLst/>
                          <a:latin typeface="Cambria Math" panose="02040503050406030204" pitchFamily="18" charset="0"/>
                          <a:ea typeface="Cambria Math" panose="02040503050406030204" pitchFamily="18" charset="0"/>
                        </a:rPr>
                        <a:t>T1</a:t>
                      </a:r>
                      <a:endParaRPr lang="en-IN" sz="2000" b="1"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0"/>
                  </a:ext>
                </a:extLst>
              </a:tr>
              <a:tr h="2541061">
                <a:tc>
                  <a:txBody>
                    <a:bodyPr/>
                    <a:lstStyle/>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Read (A)</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A = A - 50</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Write (A) </a:t>
                      </a: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Read (B)</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B = B + 50</a:t>
                      </a:r>
                      <a:endParaRPr lang="en-IN" sz="2000" kern="1200" dirty="0">
                        <a:solidFill>
                          <a:schemeClr val="tx1"/>
                        </a:solidFill>
                        <a:effectLst/>
                        <a:latin typeface="Cambria Math" panose="02040503050406030204" pitchFamily="18" charset="0"/>
                        <a:ea typeface="Cambria Math" panose="02040503050406030204" pitchFamily="18" charset="0"/>
                      </a:endParaRP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Write (B)</a:t>
                      </a:r>
                    </a:p>
                    <a:p>
                      <a:pPr marL="457200" indent="-457200" algn="ctr">
                        <a:lnSpc>
                          <a:spcPct val="115000"/>
                        </a:lnSpc>
                        <a:spcAft>
                          <a:spcPts val="0"/>
                        </a:spcAft>
                      </a:pPr>
                      <a:r>
                        <a:rPr lang="en-US" sz="2000" kern="1200" dirty="0">
                          <a:solidFill>
                            <a:schemeClr val="tx1"/>
                          </a:solidFill>
                          <a:effectLst/>
                          <a:latin typeface="Cambria Math" panose="02040503050406030204" pitchFamily="18" charset="0"/>
                          <a:ea typeface="Cambria Math" panose="02040503050406030204" pitchFamily="18" charset="0"/>
                        </a:rPr>
                        <a:t>Commit</a:t>
                      </a:r>
                      <a:endParaRPr lang="en-US" sz="2000" kern="1200" dirty="0">
                        <a:solidFill>
                          <a:schemeClr val="tx1"/>
                        </a:solidFill>
                        <a:effectLst/>
                        <a:latin typeface="Cambria Math" panose="02040503050406030204" pitchFamily="18" charset="0"/>
                        <a:ea typeface="Cambria Math" panose="02040503050406030204" pitchFamily="18" charset="0"/>
                        <a:cs typeface="+mn-cs"/>
                      </a:endParaRPr>
                    </a:p>
                  </a:txBody>
                  <a:tcPr marL="68580" marR="68580" marT="0" marB="0"/>
                </a:tc>
                <a:extLst>
                  <a:ext uri="{0D108BD9-81ED-4DB2-BD59-A6C34878D82A}">
                    <a16:rowId xmlns:a16="http://schemas.microsoft.com/office/drawing/2014/main" val="10001"/>
                  </a:ext>
                </a:extLst>
              </a:tr>
            </a:tbl>
          </a:graphicData>
        </a:graphic>
      </p:graphicFrame>
      <p:sp>
        <p:nvSpPr>
          <p:cNvPr id="6" name="Flowchart: Process 5">
            <a:extLst>
              <a:ext uri="{FF2B5EF4-FFF2-40B4-BE49-F238E27FC236}">
                <a16:creationId xmlns:a16="http://schemas.microsoft.com/office/drawing/2014/main" id="{5249AEBC-3777-45A5-9ED5-1B91E1795E3D}"/>
              </a:ext>
            </a:extLst>
          </p:cNvPr>
          <p:cNvSpPr/>
          <p:nvPr/>
        </p:nvSpPr>
        <p:spPr>
          <a:xfrm>
            <a:off x="6117302" y="3223351"/>
            <a:ext cx="2131152" cy="467693"/>
          </a:xfrm>
          <a:prstGeom prst="flowChartProcess">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Cambria Math" panose="02040503050406030204" pitchFamily="18" charset="0"/>
                <a:ea typeface="Cambria Math" panose="02040503050406030204" pitchFamily="18" charset="0"/>
              </a:rPr>
              <a:t>A=100, </a:t>
            </a:r>
            <a:r>
              <a:rPr lang="en-US" sz="2400" b="1" dirty="0">
                <a:solidFill>
                  <a:schemeClr val="bg1"/>
                </a:solidFill>
                <a:latin typeface="Cambria Math" panose="02040503050406030204" pitchFamily="18" charset="0"/>
                <a:ea typeface="Cambria Math" panose="02040503050406030204" pitchFamily="18" charset="0"/>
              </a:rPr>
              <a:t>B=200</a:t>
            </a:r>
            <a:endParaRPr lang="en-IN" sz="2400" b="1" dirty="0">
              <a:solidFill>
                <a:schemeClr val="bg1"/>
              </a:solidFill>
              <a:latin typeface="Cambria Math" panose="02040503050406030204" pitchFamily="18" charset="0"/>
              <a:ea typeface="Cambria Math" panose="02040503050406030204" pitchFamily="18" charset="0"/>
            </a:endParaRPr>
          </a:p>
        </p:txBody>
      </p:sp>
      <p:cxnSp>
        <p:nvCxnSpPr>
          <p:cNvPr id="7" name="Straight Connector 6">
            <a:extLst>
              <a:ext uri="{FF2B5EF4-FFF2-40B4-BE49-F238E27FC236}">
                <a16:creationId xmlns:a16="http://schemas.microsoft.com/office/drawing/2014/main" id="{452B421F-F9CD-4908-BD35-14DD0F6A7984}"/>
              </a:ext>
            </a:extLst>
          </p:cNvPr>
          <p:cNvCxnSpPr/>
          <p:nvPr/>
        </p:nvCxnSpPr>
        <p:spPr>
          <a:xfrm>
            <a:off x="4434525" y="6130022"/>
            <a:ext cx="1066800" cy="0"/>
          </a:xfrm>
          <a:prstGeom prst="line">
            <a:avLst/>
          </a:prstGeom>
          <a:ln w="57150"/>
        </p:spPr>
        <p:style>
          <a:lnRef idx="3">
            <a:schemeClr val="accent6"/>
          </a:lnRef>
          <a:fillRef idx="0">
            <a:schemeClr val="accent6"/>
          </a:fillRef>
          <a:effectRef idx="2">
            <a:schemeClr val="accent6"/>
          </a:effectRef>
          <a:fontRef idx="minor">
            <a:schemeClr val="tx1"/>
          </a:fontRef>
        </p:style>
      </p:cxnSp>
      <p:sp>
        <p:nvSpPr>
          <p:cNvPr id="8" name="Rounded Rectangular Callout 29">
            <a:extLst>
              <a:ext uri="{FF2B5EF4-FFF2-40B4-BE49-F238E27FC236}">
                <a16:creationId xmlns:a16="http://schemas.microsoft.com/office/drawing/2014/main" id="{71AD8373-B9EF-4019-B3C8-BE543497B793}"/>
              </a:ext>
            </a:extLst>
          </p:cNvPr>
          <p:cNvSpPr/>
          <p:nvPr/>
        </p:nvSpPr>
        <p:spPr>
          <a:xfrm>
            <a:off x="7352528" y="3876557"/>
            <a:ext cx="3903076" cy="1916022"/>
          </a:xfrm>
          <a:prstGeom prst="wedgeRoundRectCallout">
            <a:avLst>
              <a:gd name="adj1" fmla="val -98848"/>
              <a:gd name="adj2" fmla="val 57637"/>
              <a:gd name="adj3" fmla="val 16667"/>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IN" sz="2400" dirty="0">
                <a:solidFill>
                  <a:schemeClr val="tx1"/>
                </a:solidFill>
                <a:latin typeface="Cambria Math" panose="02040503050406030204" pitchFamily="18" charset="0"/>
                <a:ea typeface="Cambria Math" panose="02040503050406030204" pitchFamily="18" charset="0"/>
              </a:rPr>
              <a:t>&lt;T1 start&gt; </a:t>
            </a:r>
          </a:p>
          <a:p>
            <a:pPr algn="ctr"/>
            <a:r>
              <a:rPr lang="en-IN" sz="2400" dirty="0">
                <a:solidFill>
                  <a:schemeClr val="tx1"/>
                </a:solidFill>
                <a:latin typeface="Cambria Math" panose="02040503050406030204" pitchFamily="18" charset="0"/>
                <a:ea typeface="Cambria Math" panose="02040503050406030204" pitchFamily="18" charset="0"/>
              </a:rPr>
              <a:t>&lt;T1, A, 100, 50&gt;</a:t>
            </a:r>
          </a:p>
          <a:p>
            <a:pPr algn="ctr"/>
            <a:r>
              <a:rPr lang="en-IN" sz="2400" dirty="0">
                <a:solidFill>
                  <a:schemeClr val="tx1"/>
                </a:solidFill>
                <a:latin typeface="Cambria Math" panose="02040503050406030204" pitchFamily="18" charset="0"/>
                <a:ea typeface="Cambria Math" panose="02040503050406030204" pitchFamily="18" charset="0"/>
              </a:rPr>
              <a:t>A=50,B=200</a:t>
            </a:r>
          </a:p>
          <a:p>
            <a:pPr algn="ctr"/>
            <a:r>
              <a:rPr lang="en-IN" sz="2400" dirty="0">
                <a:solidFill>
                  <a:schemeClr val="tx1"/>
                </a:solidFill>
                <a:latin typeface="Cambria Math" panose="02040503050406030204" pitchFamily="18" charset="0"/>
                <a:ea typeface="Cambria Math" panose="02040503050406030204" pitchFamily="18" charset="0"/>
              </a:rPr>
              <a:t>&lt;T1, B, 200, 250&gt; </a:t>
            </a:r>
          </a:p>
          <a:p>
            <a:pPr algn="ctr"/>
            <a:r>
              <a:rPr lang="en-IN" sz="2400" dirty="0">
                <a:solidFill>
                  <a:schemeClr val="tx1"/>
                </a:solidFill>
                <a:latin typeface="Cambria Math" panose="02040503050406030204" pitchFamily="18" charset="0"/>
                <a:ea typeface="Cambria Math" panose="02040503050406030204" pitchFamily="18" charset="0"/>
              </a:rPr>
              <a:t>A=50,B=250</a:t>
            </a:r>
          </a:p>
        </p:txBody>
      </p:sp>
      <p:sp>
        <p:nvSpPr>
          <p:cNvPr id="9" name="Rectangle 8">
            <a:extLst>
              <a:ext uri="{FF2B5EF4-FFF2-40B4-BE49-F238E27FC236}">
                <a16:creationId xmlns:a16="http://schemas.microsoft.com/office/drawing/2014/main" id="{1169C9E4-C03D-45BB-9E25-87EAED0C286A}"/>
              </a:ext>
            </a:extLst>
          </p:cNvPr>
          <p:cNvSpPr/>
          <p:nvPr/>
        </p:nvSpPr>
        <p:spPr>
          <a:xfrm>
            <a:off x="6975349" y="6092314"/>
            <a:ext cx="4468791" cy="646331"/>
          </a:xfrm>
          <a:prstGeom prst="rect">
            <a:avLst/>
          </a:prstGeom>
        </p:spPr>
        <p:txBody>
          <a:bodyPr wrap="square">
            <a:spAutoFit/>
          </a:bodyPr>
          <a:lstStyle/>
          <a:p>
            <a:pPr algn="just"/>
            <a:r>
              <a:rPr lang="en-US" b="1" dirty="0">
                <a:solidFill>
                  <a:srgbClr val="FF0000"/>
                </a:solidFill>
                <a:latin typeface="Cambria Math" panose="02040503050406030204" pitchFamily="18" charset="0"/>
                <a:ea typeface="Cambria Math" panose="02040503050406030204" pitchFamily="18" charset="0"/>
              </a:rPr>
              <a:t>After the commit is executed, all the updates are reflected in the database.</a:t>
            </a:r>
            <a:endParaRPr lang="en-US" b="1" dirty="0">
              <a:solidFill>
                <a:srgbClr val="FF0000"/>
              </a:solidFill>
            </a:endParaRPr>
          </a:p>
        </p:txBody>
      </p:sp>
      <p:sp>
        <p:nvSpPr>
          <p:cNvPr id="10" name="Arrow: Right 9">
            <a:extLst>
              <a:ext uri="{FF2B5EF4-FFF2-40B4-BE49-F238E27FC236}">
                <a16:creationId xmlns:a16="http://schemas.microsoft.com/office/drawing/2014/main" id="{E16F573A-C6E4-4D53-9E80-2F8A31BCA02A}"/>
              </a:ext>
            </a:extLst>
          </p:cNvPr>
          <p:cNvSpPr/>
          <p:nvPr/>
        </p:nvSpPr>
        <p:spPr>
          <a:xfrm rot="11651611">
            <a:off x="5481693" y="6098569"/>
            <a:ext cx="1522739" cy="183228"/>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94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(Checkpoints)</a:t>
            </a:r>
            <a:endParaRPr lang="en-US" dirty="0"/>
          </a:p>
        </p:txBody>
      </p:sp>
      <p:sp>
        <p:nvSpPr>
          <p:cNvPr id="4" name="Rectangle 3">
            <a:extLst>
              <a:ext uri="{FF2B5EF4-FFF2-40B4-BE49-F238E27FC236}">
                <a16:creationId xmlns:a16="http://schemas.microsoft.com/office/drawing/2014/main" id="{81CC7C13-92B4-49C4-B50B-8701C926589C}"/>
              </a:ext>
            </a:extLst>
          </p:cNvPr>
          <p:cNvSpPr/>
          <p:nvPr/>
        </p:nvSpPr>
        <p:spPr>
          <a:xfrm>
            <a:off x="3538194" y="0"/>
            <a:ext cx="8226458" cy="2385268"/>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may be possible that Log Based Recovery consumes more time while recovering the data using Logs. Thus, to reduce the time consumption, we can use Checkpoints.</a:t>
            </a:r>
          </a:p>
          <a:p>
            <a:pPr marL="342900" indent="-34290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Checkpoint is a point which describes that any operation of the transaction done before that point are executed correctly and stored safely in the database.</a:t>
            </a:r>
          </a:p>
        </p:txBody>
      </p:sp>
      <p:cxnSp>
        <p:nvCxnSpPr>
          <p:cNvPr id="30" name="Straight Arrow Connector 29">
            <a:extLst>
              <a:ext uri="{FF2B5EF4-FFF2-40B4-BE49-F238E27FC236}">
                <a16:creationId xmlns:a16="http://schemas.microsoft.com/office/drawing/2014/main" id="{0FF566B2-D392-4908-B527-B1BEC1DCD21B}"/>
              </a:ext>
            </a:extLst>
          </p:cNvPr>
          <p:cNvCxnSpPr/>
          <p:nvPr/>
        </p:nvCxnSpPr>
        <p:spPr>
          <a:xfrm>
            <a:off x="4062951" y="2784068"/>
            <a:ext cx="51054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TextBox 30">
            <a:extLst>
              <a:ext uri="{FF2B5EF4-FFF2-40B4-BE49-F238E27FC236}">
                <a16:creationId xmlns:a16="http://schemas.microsoft.com/office/drawing/2014/main" id="{A5F78CD2-2DE1-4CB3-875B-774158F6286C}"/>
              </a:ext>
            </a:extLst>
          </p:cNvPr>
          <p:cNvSpPr txBox="1"/>
          <p:nvPr/>
        </p:nvSpPr>
        <p:spPr>
          <a:xfrm>
            <a:off x="3453351" y="2338536"/>
            <a:ext cx="762000"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Time</a:t>
            </a:r>
            <a:endParaRPr lang="en-IN" sz="2000" dirty="0">
              <a:latin typeface="Cambria Math" panose="02040503050406030204" pitchFamily="18" charset="0"/>
              <a:ea typeface="Cambria Math" panose="02040503050406030204" pitchFamily="18" charset="0"/>
            </a:endParaRPr>
          </a:p>
        </p:txBody>
      </p:sp>
      <p:sp>
        <p:nvSpPr>
          <p:cNvPr id="32" name="TextBox 31">
            <a:extLst>
              <a:ext uri="{FF2B5EF4-FFF2-40B4-BE49-F238E27FC236}">
                <a16:creationId xmlns:a16="http://schemas.microsoft.com/office/drawing/2014/main" id="{C2257CB1-B07F-4F88-98F0-1A13719A396A}"/>
              </a:ext>
            </a:extLst>
          </p:cNvPr>
          <p:cNvSpPr txBox="1"/>
          <p:nvPr/>
        </p:nvSpPr>
        <p:spPr>
          <a:xfrm>
            <a:off x="5815551" y="2332702"/>
            <a:ext cx="685800"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a:t>
            </a:r>
            <a:r>
              <a:rPr lang="en-US" sz="2000" baseline="-25000" dirty="0">
                <a:latin typeface="Cambria Math" panose="02040503050406030204" pitchFamily="18" charset="0"/>
                <a:ea typeface="Cambria Math" panose="02040503050406030204" pitchFamily="18" charset="0"/>
              </a:rPr>
              <a:t>C</a:t>
            </a:r>
            <a:endParaRPr lang="en-IN" baseline="-25000" dirty="0">
              <a:latin typeface="Cambria Math" panose="02040503050406030204" pitchFamily="18" charset="0"/>
              <a:ea typeface="Cambria Math" panose="02040503050406030204" pitchFamily="18" charset="0"/>
            </a:endParaRPr>
          </a:p>
        </p:txBody>
      </p:sp>
      <p:sp>
        <p:nvSpPr>
          <p:cNvPr id="33" name="TextBox 32">
            <a:extLst>
              <a:ext uri="{FF2B5EF4-FFF2-40B4-BE49-F238E27FC236}">
                <a16:creationId xmlns:a16="http://schemas.microsoft.com/office/drawing/2014/main" id="{6F88592D-A4EB-4BD6-97A9-A78F77F98D42}"/>
              </a:ext>
            </a:extLst>
          </p:cNvPr>
          <p:cNvSpPr txBox="1"/>
          <p:nvPr/>
        </p:nvSpPr>
        <p:spPr>
          <a:xfrm>
            <a:off x="7891376" y="2332702"/>
            <a:ext cx="685800"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a:t>
            </a:r>
            <a:r>
              <a:rPr lang="en-US" sz="2000" baseline="-10000" dirty="0">
                <a:latin typeface="Cambria Math" panose="02040503050406030204" pitchFamily="18" charset="0"/>
                <a:ea typeface="Cambria Math" panose="02040503050406030204" pitchFamily="18" charset="0"/>
              </a:rPr>
              <a:t>F</a:t>
            </a:r>
            <a:endParaRPr lang="en-IN" baseline="-10000" dirty="0">
              <a:latin typeface="Cambria Math" panose="02040503050406030204" pitchFamily="18" charset="0"/>
              <a:ea typeface="Cambria Math" panose="02040503050406030204" pitchFamily="18" charset="0"/>
            </a:endParaRPr>
          </a:p>
        </p:txBody>
      </p:sp>
      <p:cxnSp>
        <p:nvCxnSpPr>
          <p:cNvPr id="34" name="Straight Connector 33">
            <a:extLst>
              <a:ext uri="{FF2B5EF4-FFF2-40B4-BE49-F238E27FC236}">
                <a16:creationId xmlns:a16="http://schemas.microsoft.com/office/drawing/2014/main" id="{8A92769B-733B-42E3-B725-62EAAF3198A4}"/>
              </a:ext>
            </a:extLst>
          </p:cNvPr>
          <p:cNvCxnSpPr/>
          <p:nvPr/>
        </p:nvCxnSpPr>
        <p:spPr>
          <a:xfrm>
            <a:off x="6120351" y="2784068"/>
            <a:ext cx="0" cy="2160000"/>
          </a:xfrm>
          <a:prstGeom prst="line">
            <a:avLst/>
          </a:prstGeom>
        </p:spPr>
        <p:style>
          <a:lnRef idx="3">
            <a:schemeClr val="accent1"/>
          </a:lnRef>
          <a:fillRef idx="0">
            <a:schemeClr val="accent1"/>
          </a:fillRef>
          <a:effectRef idx="2">
            <a:schemeClr val="accent1"/>
          </a:effectRef>
          <a:fontRef idx="minor">
            <a:schemeClr val="tx1"/>
          </a:fontRef>
        </p:style>
      </p:cxnSp>
      <p:cxnSp>
        <p:nvCxnSpPr>
          <p:cNvPr id="35" name="Straight Connector 34">
            <a:extLst>
              <a:ext uri="{FF2B5EF4-FFF2-40B4-BE49-F238E27FC236}">
                <a16:creationId xmlns:a16="http://schemas.microsoft.com/office/drawing/2014/main" id="{9FDAC1BB-B91C-48B7-BA23-8A9B4F35FE52}"/>
              </a:ext>
            </a:extLst>
          </p:cNvPr>
          <p:cNvCxnSpPr/>
          <p:nvPr/>
        </p:nvCxnSpPr>
        <p:spPr>
          <a:xfrm>
            <a:off x="8253951" y="2784068"/>
            <a:ext cx="0" cy="2160000"/>
          </a:xfrm>
          <a:prstGeom prst="line">
            <a:avLst/>
          </a:prstGeom>
        </p:spPr>
        <p:style>
          <a:lnRef idx="3">
            <a:schemeClr val="accent1"/>
          </a:lnRef>
          <a:fillRef idx="0">
            <a:schemeClr val="accent1"/>
          </a:fillRef>
          <a:effectRef idx="2">
            <a:schemeClr val="accent1"/>
          </a:effectRef>
          <a:fontRef idx="minor">
            <a:schemeClr val="tx1"/>
          </a:fontRef>
        </p:style>
      </p:cxnSp>
      <p:grpSp>
        <p:nvGrpSpPr>
          <p:cNvPr id="36" name="Group 35">
            <a:extLst>
              <a:ext uri="{FF2B5EF4-FFF2-40B4-BE49-F238E27FC236}">
                <a16:creationId xmlns:a16="http://schemas.microsoft.com/office/drawing/2014/main" id="{4C0FEEEB-D18F-458F-9D40-9395185AB0C0}"/>
              </a:ext>
            </a:extLst>
          </p:cNvPr>
          <p:cNvGrpSpPr/>
          <p:nvPr/>
        </p:nvGrpSpPr>
        <p:grpSpPr>
          <a:xfrm>
            <a:off x="3910551" y="3088868"/>
            <a:ext cx="914400" cy="381000"/>
            <a:chOff x="1447800" y="1828800"/>
            <a:chExt cx="914400" cy="381000"/>
          </a:xfrm>
        </p:grpSpPr>
        <p:cxnSp>
          <p:nvCxnSpPr>
            <p:cNvPr id="37" name="Straight Connector 36">
              <a:extLst>
                <a:ext uri="{FF2B5EF4-FFF2-40B4-BE49-F238E27FC236}">
                  <a16:creationId xmlns:a16="http://schemas.microsoft.com/office/drawing/2014/main" id="{50155DC2-E7BD-44A5-9D52-00D779E8DB5F}"/>
                </a:ext>
              </a:extLst>
            </p:cNvPr>
            <p:cNvCxnSpPr/>
            <p:nvPr/>
          </p:nvCxnSpPr>
          <p:spPr>
            <a:xfrm>
              <a:off x="1447800" y="201243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69D8B92-222D-40BE-A978-C7B02250EB5B}"/>
                </a:ext>
              </a:extLst>
            </p:cNvPr>
            <p:cNvCxnSpPr/>
            <p:nvPr/>
          </p:nvCxnSpPr>
          <p:spPr>
            <a:xfrm>
              <a:off x="14478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8FBE04E-77BF-4AB0-8EA1-BF1FF84D315D}"/>
                </a:ext>
              </a:extLst>
            </p:cNvPr>
            <p:cNvCxnSpPr/>
            <p:nvPr/>
          </p:nvCxnSpPr>
          <p:spPr>
            <a:xfrm>
              <a:off x="23622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16CF1B67-1D6B-4334-859A-B2556662E140}"/>
              </a:ext>
            </a:extLst>
          </p:cNvPr>
          <p:cNvGrpSpPr/>
          <p:nvPr/>
        </p:nvGrpSpPr>
        <p:grpSpPr>
          <a:xfrm>
            <a:off x="5491701" y="3469868"/>
            <a:ext cx="914400" cy="381000"/>
            <a:chOff x="1447800" y="1828800"/>
            <a:chExt cx="914400" cy="381000"/>
          </a:xfrm>
        </p:grpSpPr>
        <p:cxnSp>
          <p:nvCxnSpPr>
            <p:cNvPr id="41" name="Straight Connector 40">
              <a:extLst>
                <a:ext uri="{FF2B5EF4-FFF2-40B4-BE49-F238E27FC236}">
                  <a16:creationId xmlns:a16="http://schemas.microsoft.com/office/drawing/2014/main" id="{09BBB854-157D-424A-99A5-6E5BCBBC733C}"/>
                </a:ext>
              </a:extLst>
            </p:cNvPr>
            <p:cNvCxnSpPr/>
            <p:nvPr/>
          </p:nvCxnSpPr>
          <p:spPr>
            <a:xfrm>
              <a:off x="1447800" y="201243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DD28339-BEAA-480B-9A19-53657F9049D9}"/>
                </a:ext>
              </a:extLst>
            </p:cNvPr>
            <p:cNvCxnSpPr/>
            <p:nvPr/>
          </p:nvCxnSpPr>
          <p:spPr>
            <a:xfrm>
              <a:off x="14478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B51FC75-0914-4D65-98F8-F702B64CBBEA}"/>
                </a:ext>
              </a:extLst>
            </p:cNvPr>
            <p:cNvCxnSpPr/>
            <p:nvPr/>
          </p:nvCxnSpPr>
          <p:spPr>
            <a:xfrm>
              <a:off x="23622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F8870600-4409-4A10-AE56-D35FCA48B007}"/>
              </a:ext>
            </a:extLst>
          </p:cNvPr>
          <p:cNvGrpSpPr/>
          <p:nvPr/>
        </p:nvGrpSpPr>
        <p:grpSpPr>
          <a:xfrm>
            <a:off x="6675612" y="3850868"/>
            <a:ext cx="914400" cy="381000"/>
            <a:chOff x="1447800" y="1828800"/>
            <a:chExt cx="914400" cy="381000"/>
          </a:xfrm>
        </p:grpSpPr>
        <p:cxnSp>
          <p:nvCxnSpPr>
            <p:cNvPr id="45" name="Straight Connector 44">
              <a:extLst>
                <a:ext uri="{FF2B5EF4-FFF2-40B4-BE49-F238E27FC236}">
                  <a16:creationId xmlns:a16="http://schemas.microsoft.com/office/drawing/2014/main" id="{AD0AE3D3-13E0-4392-876C-B3900AC40161}"/>
                </a:ext>
              </a:extLst>
            </p:cNvPr>
            <p:cNvCxnSpPr/>
            <p:nvPr/>
          </p:nvCxnSpPr>
          <p:spPr>
            <a:xfrm>
              <a:off x="1447800" y="201243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D9C853A-68AC-4698-B3D1-7BD3F3428C73}"/>
                </a:ext>
              </a:extLst>
            </p:cNvPr>
            <p:cNvCxnSpPr/>
            <p:nvPr/>
          </p:nvCxnSpPr>
          <p:spPr>
            <a:xfrm>
              <a:off x="14478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875F4EF-EBA0-4ADB-804A-62794666C8D9}"/>
                </a:ext>
              </a:extLst>
            </p:cNvPr>
            <p:cNvCxnSpPr/>
            <p:nvPr/>
          </p:nvCxnSpPr>
          <p:spPr>
            <a:xfrm>
              <a:off x="23622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999A4A9A-5FD8-47DD-9EC3-5395A8A3E257}"/>
              </a:ext>
            </a:extLst>
          </p:cNvPr>
          <p:cNvGrpSpPr/>
          <p:nvPr/>
        </p:nvGrpSpPr>
        <p:grpSpPr>
          <a:xfrm>
            <a:off x="7720552" y="4384267"/>
            <a:ext cx="914400" cy="381000"/>
            <a:chOff x="1447800" y="1828800"/>
            <a:chExt cx="914400" cy="381000"/>
          </a:xfrm>
        </p:grpSpPr>
        <p:cxnSp>
          <p:nvCxnSpPr>
            <p:cNvPr id="49" name="Straight Connector 48">
              <a:extLst>
                <a:ext uri="{FF2B5EF4-FFF2-40B4-BE49-F238E27FC236}">
                  <a16:creationId xmlns:a16="http://schemas.microsoft.com/office/drawing/2014/main" id="{08671A93-E423-48A7-ACF9-841A913C3015}"/>
                </a:ext>
              </a:extLst>
            </p:cNvPr>
            <p:cNvCxnSpPr/>
            <p:nvPr/>
          </p:nvCxnSpPr>
          <p:spPr>
            <a:xfrm>
              <a:off x="1447800" y="201243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48F360E-75A0-424A-8813-D706C8EDE671}"/>
                </a:ext>
              </a:extLst>
            </p:cNvPr>
            <p:cNvCxnSpPr/>
            <p:nvPr/>
          </p:nvCxnSpPr>
          <p:spPr>
            <a:xfrm>
              <a:off x="14478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A642071-A449-4FD7-AF73-97DE767D072A}"/>
                </a:ext>
              </a:extLst>
            </p:cNvPr>
            <p:cNvCxnSpPr/>
            <p:nvPr/>
          </p:nvCxnSpPr>
          <p:spPr>
            <a:xfrm>
              <a:off x="2362200" y="1828800"/>
              <a:ext cx="0" cy="3810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66B46D45-0487-43AD-8D9D-41DD0C7D0DF3}"/>
              </a:ext>
            </a:extLst>
          </p:cNvPr>
          <p:cNvSpPr txBox="1"/>
          <p:nvPr/>
        </p:nvSpPr>
        <p:spPr>
          <a:xfrm>
            <a:off x="4133529" y="2917359"/>
            <a:ext cx="480103"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T1</a:t>
            </a:r>
            <a:endParaRPr lang="en-IN" baseline="-25000" dirty="0">
              <a:latin typeface="Cambria Math" panose="02040503050406030204" pitchFamily="18" charset="0"/>
              <a:ea typeface="Cambria Math" panose="02040503050406030204" pitchFamily="18" charset="0"/>
            </a:endParaRPr>
          </a:p>
        </p:txBody>
      </p:sp>
      <p:sp>
        <p:nvSpPr>
          <p:cNvPr id="53" name="TextBox 52">
            <a:extLst>
              <a:ext uri="{FF2B5EF4-FFF2-40B4-BE49-F238E27FC236}">
                <a16:creationId xmlns:a16="http://schemas.microsoft.com/office/drawing/2014/main" id="{E07744AB-B15E-423E-98BC-630B5CA6DB4D}"/>
              </a:ext>
            </a:extLst>
          </p:cNvPr>
          <p:cNvSpPr txBox="1"/>
          <p:nvPr/>
        </p:nvSpPr>
        <p:spPr>
          <a:xfrm>
            <a:off x="5711556" y="3332856"/>
            <a:ext cx="519969"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T2</a:t>
            </a:r>
            <a:endParaRPr lang="en-IN" baseline="-25000" dirty="0">
              <a:latin typeface="Cambria Math" panose="02040503050406030204" pitchFamily="18" charset="0"/>
              <a:ea typeface="Cambria Math" panose="02040503050406030204" pitchFamily="18" charset="0"/>
            </a:endParaRPr>
          </a:p>
        </p:txBody>
      </p:sp>
      <p:sp>
        <p:nvSpPr>
          <p:cNvPr id="54" name="TextBox 53">
            <a:extLst>
              <a:ext uri="{FF2B5EF4-FFF2-40B4-BE49-F238E27FC236}">
                <a16:creationId xmlns:a16="http://schemas.microsoft.com/office/drawing/2014/main" id="{2DEE01E9-BA7D-49A0-862C-46D39B4718B6}"/>
              </a:ext>
            </a:extLst>
          </p:cNvPr>
          <p:cNvSpPr txBox="1"/>
          <p:nvPr/>
        </p:nvSpPr>
        <p:spPr>
          <a:xfrm>
            <a:off x="6895467" y="3689869"/>
            <a:ext cx="520277"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T3</a:t>
            </a:r>
            <a:endParaRPr lang="en-IN" baseline="-25000" dirty="0">
              <a:latin typeface="Cambria Math" panose="02040503050406030204" pitchFamily="18" charset="0"/>
              <a:ea typeface="Cambria Math" panose="02040503050406030204" pitchFamily="18" charset="0"/>
            </a:endParaRPr>
          </a:p>
        </p:txBody>
      </p:sp>
      <p:sp>
        <p:nvSpPr>
          <p:cNvPr id="55" name="TextBox 54">
            <a:extLst>
              <a:ext uri="{FF2B5EF4-FFF2-40B4-BE49-F238E27FC236}">
                <a16:creationId xmlns:a16="http://schemas.microsoft.com/office/drawing/2014/main" id="{8A19AD3B-854D-4316-8C63-D193B6F81890}"/>
              </a:ext>
            </a:extLst>
          </p:cNvPr>
          <p:cNvSpPr txBox="1"/>
          <p:nvPr/>
        </p:nvSpPr>
        <p:spPr>
          <a:xfrm>
            <a:off x="7812991" y="4231868"/>
            <a:ext cx="487805"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T4</a:t>
            </a:r>
            <a:endParaRPr lang="en-IN" baseline="-25000" dirty="0">
              <a:latin typeface="Cambria Math" panose="02040503050406030204" pitchFamily="18" charset="0"/>
              <a:ea typeface="Cambria Math" panose="02040503050406030204" pitchFamily="18" charset="0"/>
            </a:endParaRPr>
          </a:p>
        </p:txBody>
      </p:sp>
      <p:sp>
        <p:nvSpPr>
          <p:cNvPr id="56" name="TextBox 55">
            <a:extLst>
              <a:ext uri="{FF2B5EF4-FFF2-40B4-BE49-F238E27FC236}">
                <a16:creationId xmlns:a16="http://schemas.microsoft.com/office/drawing/2014/main" id="{7C4ACA50-C972-495B-8288-FE24E77CC4AA}"/>
              </a:ext>
            </a:extLst>
          </p:cNvPr>
          <p:cNvSpPr txBox="1"/>
          <p:nvPr/>
        </p:nvSpPr>
        <p:spPr>
          <a:xfrm>
            <a:off x="5142241" y="4986465"/>
            <a:ext cx="2003270"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Checkpoint time</a:t>
            </a:r>
            <a:endParaRPr lang="en-IN" baseline="-25000" dirty="0">
              <a:latin typeface="Cambria Math" panose="02040503050406030204" pitchFamily="18" charset="0"/>
              <a:ea typeface="Cambria Math" panose="02040503050406030204" pitchFamily="18" charset="0"/>
            </a:endParaRPr>
          </a:p>
        </p:txBody>
      </p:sp>
      <p:sp>
        <p:nvSpPr>
          <p:cNvPr id="57" name="TextBox 56">
            <a:extLst>
              <a:ext uri="{FF2B5EF4-FFF2-40B4-BE49-F238E27FC236}">
                <a16:creationId xmlns:a16="http://schemas.microsoft.com/office/drawing/2014/main" id="{3EB5C1F0-84AB-4AEB-853F-8FE2C9713AD1}"/>
              </a:ext>
            </a:extLst>
          </p:cNvPr>
          <p:cNvSpPr txBox="1"/>
          <p:nvPr/>
        </p:nvSpPr>
        <p:spPr>
          <a:xfrm>
            <a:off x="7782230" y="4944068"/>
            <a:ext cx="950939" cy="400110"/>
          </a:xfrm>
          <a:prstGeom prst="rect">
            <a:avLst/>
          </a:prstGeom>
          <a:noFill/>
        </p:spPr>
        <p:txBody>
          <a:bodyPr wrap="square" rtlCol="0">
            <a:spAutoFit/>
          </a:bodyPr>
          <a:lstStyle/>
          <a:p>
            <a:pPr algn="ctr"/>
            <a:r>
              <a:rPr lang="en-US" sz="2000" dirty="0">
                <a:latin typeface="Cambria Math" panose="02040503050406030204" pitchFamily="18" charset="0"/>
                <a:ea typeface="Cambria Math" panose="02040503050406030204" pitchFamily="18" charset="0"/>
              </a:rPr>
              <a:t>Failure</a:t>
            </a:r>
            <a:endParaRPr lang="en-IN" baseline="-25000" dirty="0">
              <a:latin typeface="Cambria Math" panose="02040503050406030204" pitchFamily="18" charset="0"/>
              <a:ea typeface="Cambria Math" panose="02040503050406030204" pitchFamily="18" charset="0"/>
            </a:endParaRPr>
          </a:p>
        </p:txBody>
      </p:sp>
      <p:sp>
        <p:nvSpPr>
          <p:cNvPr id="3" name="Rectangle 2">
            <a:extLst>
              <a:ext uri="{FF2B5EF4-FFF2-40B4-BE49-F238E27FC236}">
                <a16:creationId xmlns:a16="http://schemas.microsoft.com/office/drawing/2014/main" id="{61C065BF-FE97-4A2D-9DF3-6D4FEDEEF92B}"/>
              </a:ext>
            </a:extLst>
          </p:cNvPr>
          <p:cNvSpPr/>
          <p:nvPr/>
        </p:nvSpPr>
        <p:spPr>
          <a:xfrm>
            <a:off x="3701099" y="5440824"/>
            <a:ext cx="5410004" cy="430887"/>
          </a:xfrm>
          <a:prstGeom prst="rect">
            <a:avLst/>
          </a:prstGeom>
        </p:spPr>
        <p:txBody>
          <a:bodyPr wrap="square">
            <a:spAutoFit/>
          </a:bodyPr>
          <a:lstStyle/>
          <a:p>
            <a:pPr algn="ctr"/>
            <a:r>
              <a:rPr lang="en-IN" sz="2200" b="1" dirty="0">
                <a:solidFill>
                  <a:srgbClr val="FF0000"/>
                </a:solidFill>
                <a:latin typeface="Cambria Math" panose="02040503050406030204" pitchFamily="18" charset="0"/>
                <a:ea typeface="Cambria Math" panose="02040503050406030204" pitchFamily="18" charset="0"/>
              </a:rPr>
              <a:t>Working of Checkpoints in case of Failure</a:t>
            </a:r>
            <a:endParaRPr lang="en-US" sz="2200" b="1" dirty="0">
              <a:solidFill>
                <a:srgbClr val="FF0000"/>
              </a:solidFill>
              <a:latin typeface="Cambria Math" panose="02040503050406030204" pitchFamily="18" charset="0"/>
              <a:ea typeface="Cambria Math" panose="02040503050406030204" pitchFamily="18" charset="0"/>
            </a:endParaRPr>
          </a:p>
        </p:txBody>
      </p:sp>
      <p:sp>
        <p:nvSpPr>
          <p:cNvPr id="58" name="Rectangle 57">
            <a:extLst>
              <a:ext uri="{FF2B5EF4-FFF2-40B4-BE49-F238E27FC236}">
                <a16:creationId xmlns:a16="http://schemas.microsoft.com/office/drawing/2014/main" id="{7AB7BE8C-BF46-450C-9709-0A6699BB4FE3}"/>
              </a:ext>
            </a:extLst>
          </p:cNvPr>
          <p:cNvSpPr/>
          <p:nvPr/>
        </p:nvSpPr>
        <p:spPr>
          <a:xfrm>
            <a:off x="9210673" y="2599402"/>
            <a:ext cx="2584221" cy="4124206"/>
          </a:xfrm>
          <a:prstGeom prst="rect">
            <a:avLst/>
          </a:prstGeom>
        </p:spPr>
        <p:txBody>
          <a:bodyPr wrap="square">
            <a:spAutoFit/>
          </a:bodyPr>
          <a:lstStyle/>
          <a:p>
            <a:pPr marL="285750" indent="-285750" algn="just">
              <a:buFont typeface="Wingdings" panose="05000000000000000000" pitchFamily="2" charset="2"/>
              <a:buChar char="ü"/>
            </a:pPr>
            <a:r>
              <a:rPr lang="en-US" b="1" dirty="0">
                <a:solidFill>
                  <a:srgbClr val="004274"/>
                </a:solidFill>
                <a:latin typeface="Cambria Math" panose="02040503050406030204" pitchFamily="18" charset="0"/>
                <a:ea typeface="Cambria Math" panose="02040503050406030204" pitchFamily="18" charset="0"/>
              </a:rPr>
              <a:t>T1 will be ignored as it is committed before checkpoint.</a:t>
            </a:r>
          </a:p>
          <a:p>
            <a:pPr marL="285750" indent="-285750" algn="just">
              <a:buFont typeface="Wingdings" panose="05000000000000000000" pitchFamily="2" charset="2"/>
              <a:buChar char="ü"/>
            </a:pPr>
            <a:endParaRPr lang="en-US" sz="500" b="1" dirty="0">
              <a:solidFill>
                <a:srgbClr val="004274"/>
              </a:solidFill>
              <a:latin typeface="Cambria Math" panose="02040503050406030204" pitchFamily="18" charset="0"/>
              <a:ea typeface="Cambria Math" panose="02040503050406030204" pitchFamily="18" charset="0"/>
            </a:endParaRPr>
          </a:p>
          <a:p>
            <a:pPr marL="285750" indent="-285750" algn="just">
              <a:buFont typeface="Wingdings" panose="05000000000000000000" pitchFamily="2" charset="2"/>
              <a:buChar char="ü"/>
            </a:pPr>
            <a:r>
              <a:rPr lang="en-US" b="1" dirty="0">
                <a:solidFill>
                  <a:srgbClr val="004274"/>
                </a:solidFill>
                <a:latin typeface="Cambria Math" panose="02040503050406030204" pitchFamily="18" charset="0"/>
                <a:ea typeface="Cambria Math" panose="02040503050406030204" pitchFamily="18" charset="0"/>
              </a:rPr>
              <a:t>T2 and T3 will restart again as they were active even after checkpoint, but committed before Failure.</a:t>
            </a:r>
          </a:p>
          <a:p>
            <a:pPr marL="285750" indent="-285750" algn="just">
              <a:buFont typeface="Wingdings" panose="05000000000000000000" pitchFamily="2" charset="2"/>
              <a:buChar char="ü"/>
            </a:pPr>
            <a:endParaRPr lang="en-US" sz="500" b="1" dirty="0">
              <a:solidFill>
                <a:srgbClr val="004274"/>
              </a:solidFill>
              <a:latin typeface="Cambria Math" panose="02040503050406030204" pitchFamily="18" charset="0"/>
              <a:ea typeface="Cambria Math" panose="02040503050406030204" pitchFamily="18" charset="0"/>
            </a:endParaRPr>
          </a:p>
          <a:p>
            <a:pPr marL="285750" indent="-285750" algn="just">
              <a:buFont typeface="Wingdings" panose="05000000000000000000" pitchFamily="2" charset="2"/>
              <a:buChar char="ü"/>
            </a:pPr>
            <a:r>
              <a:rPr lang="en-US" b="1" dirty="0">
                <a:solidFill>
                  <a:srgbClr val="004274"/>
                </a:solidFill>
                <a:latin typeface="Cambria Math" panose="02040503050406030204" pitchFamily="18" charset="0"/>
                <a:ea typeface="Cambria Math" panose="02040503050406030204" pitchFamily="18" charset="0"/>
              </a:rPr>
              <a:t>T4 will be completely ignored as it was active even after the checkpoint and has not committed.</a:t>
            </a:r>
            <a:endParaRPr lang="en-US" b="1" dirty="0">
              <a:solidFill>
                <a:srgbClr val="004274"/>
              </a:solidFill>
            </a:endParaRPr>
          </a:p>
        </p:txBody>
      </p:sp>
    </p:spTree>
    <p:extLst>
      <p:ext uri="{BB962C8B-B14F-4D97-AF65-F5344CB8AC3E}">
        <p14:creationId xmlns:p14="http://schemas.microsoft.com/office/powerpoint/2010/main" val="41071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8">
                                            <p:txEl>
                                              <p:pRg st="0" end="0"/>
                                            </p:txEl>
                                          </p:spTgt>
                                        </p:tgtEl>
                                        <p:attrNameLst>
                                          <p:attrName>style.visibility</p:attrName>
                                        </p:attrNameLst>
                                      </p:cBhvr>
                                      <p:to>
                                        <p:strVal val="visible"/>
                                      </p:to>
                                    </p:set>
                                    <p:anim calcmode="lin" valueType="num">
                                      <p:cBhvr additive="base">
                                        <p:cTn id="67" dur="500" fill="hold"/>
                                        <p:tgtEl>
                                          <p:spTgt spid="58">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8">
                                            <p:txEl>
                                              <p:pRg st="2" end="2"/>
                                            </p:txEl>
                                          </p:spTgt>
                                        </p:tgtEl>
                                        <p:attrNameLst>
                                          <p:attrName>style.visibility</p:attrName>
                                        </p:attrNameLst>
                                      </p:cBhvr>
                                      <p:to>
                                        <p:strVal val="visible"/>
                                      </p:to>
                                    </p:set>
                                    <p:anim calcmode="lin" valueType="num">
                                      <p:cBhvr additive="base">
                                        <p:cTn id="73" dur="500" fill="hold"/>
                                        <p:tgtEl>
                                          <p:spTgt spid="58">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8">
                                            <p:txEl>
                                              <p:pRg st="4" end="4"/>
                                            </p:txEl>
                                          </p:spTgt>
                                        </p:tgtEl>
                                        <p:attrNameLst>
                                          <p:attrName>style.visibility</p:attrName>
                                        </p:attrNameLst>
                                      </p:cBhvr>
                                      <p:to>
                                        <p:strVal val="visible"/>
                                      </p:to>
                                    </p:set>
                                    <p:anim calcmode="lin" valueType="num">
                                      <p:cBhvr additive="base">
                                        <p:cTn id="79" dur="500" fill="hold"/>
                                        <p:tgtEl>
                                          <p:spTgt spid="58">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52" grpId="0"/>
      <p:bldP spid="53" grpId="0"/>
      <p:bldP spid="54" grpId="0"/>
      <p:bldP spid="55" grpId="0"/>
      <p:bldP spid="56" grpId="0"/>
      <p:bldP spid="57"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281" y="1123837"/>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(Shadow Paging)</a:t>
            </a:r>
            <a:endParaRPr lang="en-US" dirty="0"/>
          </a:p>
        </p:txBody>
      </p:sp>
      <p:sp>
        <p:nvSpPr>
          <p:cNvPr id="4" name="Rectangle 3">
            <a:extLst>
              <a:ext uri="{FF2B5EF4-FFF2-40B4-BE49-F238E27FC236}">
                <a16:creationId xmlns:a16="http://schemas.microsoft.com/office/drawing/2014/main" id="{81CC7C13-92B4-49C4-B50B-8701C926589C}"/>
              </a:ext>
            </a:extLst>
          </p:cNvPr>
          <p:cNvSpPr/>
          <p:nvPr/>
        </p:nvSpPr>
        <p:spPr>
          <a:xfrm>
            <a:off x="3500485" y="377440"/>
            <a:ext cx="8226458" cy="6093976"/>
          </a:xfrm>
          <a:prstGeom prst="rect">
            <a:avLst/>
          </a:prstGeom>
        </p:spPr>
        <p:txBody>
          <a:bodyPr wrap="square">
            <a:spAutoFit/>
          </a:bodyPr>
          <a:lstStyle/>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Shadow Paging is an another method of database recovery and it is very useful in case of serial transactions.</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database is fragmented into fixed sized blocks referred as </a:t>
            </a:r>
            <a:r>
              <a:rPr lang="en-US" sz="2400" b="1" dirty="0">
                <a:latin typeface="Cambria Math" panose="02040503050406030204" pitchFamily="18" charset="0"/>
                <a:ea typeface="Cambria Math" panose="02040503050406030204" pitchFamily="18" charset="0"/>
              </a:rPr>
              <a:t>PAGES</a:t>
            </a:r>
            <a:r>
              <a:rPr lang="en-US" sz="2400" dirty="0">
                <a:latin typeface="Cambria Math" panose="02040503050406030204" pitchFamily="18" charset="0"/>
                <a:ea typeface="Cambria Math" panose="02040503050406030204" pitchFamily="18" charset="0"/>
              </a:rPr>
              <a:t>. Each pages are stored in a </a:t>
            </a:r>
            <a:r>
              <a:rPr lang="en-US" sz="2400" b="1" dirty="0">
                <a:latin typeface="Cambria Math" panose="02040503050406030204" pitchFamily="18" charset="0"/>
                <a:ea typeface="Cambria Math" panose="02040503050406030204" pitchFamily="18" charset="0"/>
              </a:rPr>
              <a:t>Page Table</a:t>
            </a:r>
            <a:r>
              <a:rPr lang="en-US" sz="2400" dirty="0">
                <a:latin typeface="Cambria Math" panose="02040503050406030204" pitchFamily="18" charset="0"/>
                <a:ea typeface="Cambria Math" panose="02040503050406030204" pitchFamily="18" charset="0"/>
              </a:rPr>
              <a:t>. </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Shadow Paging maintains 2 Page Tables:</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Current Page Table </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Shadow Page Table</a:t>
            </a:r>
          </a:p>
          <a:p>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When the transaction starts, both the tables are identical.</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During transaction, only Current Page Table changes, Shadow Page Table never changes.</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All the operations are performed on Current Page Table.</a:t>
            </a:r>
          </a:p>
          <a:p>
            <a:pPr marL="342900" indent="-3429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342900" indent="-34290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When a database page is updated:</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 New Copy of the page is created </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Current Page Table points to the New Copy.</a:t>
            </a:r>
          </a:p>
          <a:p>
            <a:pPr marL="800100" lvl="1" indent="-342900">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Then, the updates are performed</a:t>
            </a:r>
          </a:p>
        </p:txBody>
      </p:sp>
    </p:spTree>
    <p:extLst>
      <p:ext uri="{BB962C8B-B14F-4D97-AF65-F5344CB8AC3E}">
        <p14:creationId xmlns:p14="http://schemas.microsoft.com/office/powerpoint/2010/main" val="219897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1000"/>
                                        <p:tgtEl>
                                          <p:spTgt spid="4">
                                            <p:txEl>
                                              <p:pRg st="5" end="5"/>
                                            </p:txEl>
                                          </p:spTgt>
                                        </p:tgtEl>
                                      </p:cBhvr>
                                    </p:animEffect>
                                    <p:anim calcmode="lin" valueType="num">
                                      <p:cBhvr>
                                        <p:cTn id="2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1000"/>
                                        <p:tgtEl>
                                          <p:spTgt spid="4">
                                            <p:txEl>
                                              <p:pRg st="6" end="6"/>
                                            </p:txEl>
                                          </p:spTgt>
                                        </p:tgtEl>
                                      </p:cBhvr>
                                    </p:animEffect>
                                    <p:anim calcmode="lin" valueType="num">
                                      <p:cBhvr>
                                        <p:cTn id="3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xEl>
                                              <p:pRg st="8" end="8"/>
                                            </p:txEl>
                                          </p:spTgt>
                                        </p:tgtEl>
                                        <p:attrNameLst>
                                          <p:attrName>style.visibility</p:attrName>
                                        </p:attrNameLst>
                                      </p:cBhvr>
                                      <p:to>
                                        <p:strVal val="visible"/>
                                      </p:to>
                                    </p:set>
                                    <p:animEffect transition="in" filter="fade">
                                      <p:cBhvr>
                                        <p:cTn id="36" dur="500"/>
                                        <p:tgtEl>
                                          <p:spTgt spid="4">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animEffect transition="in" filter="fade">
                                      <p:cBhvr>
                                        <p:cTn id="41" dur="500"/>
                                        <p:tgtEl>
                                          <p:spTgt spid="4">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Effect transition="in" filter="fade">
                                      <p:cBhvr>
                                        <p:cTn id="46" dur="500"/>
                                        <p:tgtEl>
                                          <p:spTgt spid="4">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
                                            <p:txEl>
                                              <p:pRg st="14" end="14"/>
                                            </p:txEl>
                                          </p:spTgt>
                                        </p:tgtEl>
                                        <p:attrNameLst>
                                          <p:attrName>style.visibility</p:attrName>
                                        </p:attrNameLst>
                                      </p:cBhvr>
                                      <p:to>
                                        <p:strVal val="visible"/>
                                      </p:to>
                                    </p:set>
                                    <p:animEffect transition="in" filter="fade">
                                      <p:cBhvr>
                                        <p:cTn id="51" dur="500"/>
                                        <p:tgtEl>
                                          <p:spTgt spid="4">
                                            <p:txEl>
                                              <p:pRg st="14" end="1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
                                            <p:txEl>
                                              <p:pRg st="15" end="15"/>
                                            </p:txEl>
                                          </p:spTgt>
                                        </p:tgtEl>
                                        <p:attrNameLst>
                                          <p:attrName>style.visibility</p:attrName>
                                        </p:attrNameLst>
                                      </p:cBhvr>
                                      <p:to>
                                        <p:strVal val="visible"/>
                                      </p:to>
                                    </p:set>
                                    <p:animEffect transition="in" filter="fade">
                                      <p:cBhvr>
                                        <p:cTn id="56" dur="500"/>
                                        <p:tgtEl>
                                          <p:spTgt spid="4">
                                            <p:txEl>
                                              <p:pRg st="15" end="1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
                                            <p:txEl>
                                              <p:pRg st="16" end="16"/>
                                            </p:txEl>
                                          </p:spTgt>
                                        </p:tgtEl>
                                        <p:attrNameLst>
                                          <p:attrName>style.visibility</p:attrName>
                                        </p:attrNameLst>
                                      </p:cBhvr>
                                      <p:to>
                                        <p:strVal val="visible"/>
                                      </p:to>
                                    </p:set>
                                    <p:animEffect transition="in" filter="fade">
                                      <p:cBhvr>
                                        <p:cTn id="61" dur="500"/>
                                        <p:tgtEl>
                                          <p:spTgt spid="4">
                                            <p:txEl>
                                              <p:pRg st="16" end="16"/>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
                                            <p:txEl>
                                              <p:pRg st="17" end="17"/>
                                            </p:txEl>
                                          </p:spTgt>
                                        </p:tgtEl>
                                        <p:attrNameLst>
                                          <p:attrName>style.visibility</p:attrName>
                                        </p:attrNameLst>
                                      </p:cBhvr>
                                      <p:to>
                                        <p:strVal val="visible"/>
                                      </p:to>
                                    </p:set>
                                    <p:animEffect transition="in" filter="fade">
                                      <p:cBhvr>
                                        <p:cTn id="66"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021" y="867476"/>
            <a:ext cx="3374796"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(Shadow Paging)</a:t>
            </a:r>
            <a:endParaRPr lang="en-US" dirty="0"/>
          </a:p>
        </p:txBody>
      </p:sp>
      <p:graphicFrame>
        <p:nvGraphicFramePr>
          <p:cNvPr id="5" name="Content Placeholder 3">
            <a:extLst>
              <a:ext uri="{FF2B5EF4-FFF2-40B4-BE49-F238E27FC236}">
                <a16:creationId xmlns:a16="http://schemas.microsoft.com/office/drawing/2014/main" id="{3AD8DB66-17B8-48B7-9D22-9E98493C7B76}"/>
              </a:ext>
            </a:extLst>
          </p:cNvPr>
          <p:cNvGraphicFramePr>
            <a:graphicFrameLocks/>
          </p:cNvGraphicFramePr>
          <p:nvPr>
            <p:extLst>
              <p:ext uri="{D42A27DB-BD31-4B8C-83A1-F6EECF244321}">
                <p14:modId xmlns:p14="http://schemas.microsoft.com/office/powerpoint/2010/main" val="1764148857"/>
              </p:ext>
            </p:extLst>
          </p:nvPr>
        </p:nvGraphicFramePr>
        <p:xfrm>
          <a:off x="5252196" y="366231"/>
          <a:ext cx="1404000" cy="1854200"/>
        </p:xfrm>
        <a:graphic>
          <a:graphicData uri="http://schemas.openxmlformats.org/drawingml/2006/table">
            <a:tbl>
              <a:tblPr firstRow="1" bandRow="1">
                <a:tableStyleId>{D113A9D2-9D6B-4929-AA2D-F23B5EE8CBE7}</a:tableStyleId>
              </a:tblPr>
              <a:tblGrid>
                <a:gridCol w="1404000">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1</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2 </a:t>
                      </a:r>
                    </a:p>
                  </a:txBody>
                  <a:tcPr/>
                </a:tc>
                <a:extLst>
                  <a:ext uri="{0D108BD9-81ED-4DB2-BD59-A6C34878D82A}">
                    <a16:rowId xmlns:a16="http://schemas.microsoft.com/office/drawing/2014/main" val="10001"/>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3</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2"/>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4</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3"/>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5</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4"/>
                  </a:ext>
                </a:extLst>
              </a:tr>
            </a:tbl>
          </a:graphicData>
        </a:graphic>
      </p:graphicFrame>
      <p:graphicFrame>
        <p:nvGraphicFramePr>
          <p:cNvPr id="6" name="Content Placeholder 3">
            <a:extLst>
              <a:ext uri="{FF2B5EF4-FFF2-40B4-BE49-F238E27FC236}">
                <a16:creationId xmlns:a16="http://schemas.microsoft.com/office/drawing/2014/main" id="{EFC46F23-2930-4299-A7D2-525AC758AF79}"/>
              </a:ext>
            </a:extLst>
          </p:cNvPr>
          <p:cNvGraphicFramePr>
            <a:graphicFrameLocks/>
          </p:cNvGraphicFramePr>
          <p:nvPr>
            <p:extLst>
              <p:ext uri="{D42A27DB-BD31-4B8C-83A1-F6EECF244321}">
                <p14:modId xmlns:p14="http://schemas.microsoft.com/office/powerpoint/2010/main" val="2637991557"/>
              </p:ext>
            </p:extLst>
          </p:nvPr>
        </p:nvGraphicFramePr>
        <p:xfrm>
          <a:off x="3737627" y="347377"/>
          <a:ext cx="952500" cy="1854200"/>
        </p:xfrm>
        <a:graphic>
          <a:graphicData uri="http://schemas.openxmlformats.org/drawingml/2006/table">
            <a:tbl>
              <a:tblPr firstRow="1" bandRow="1">
                <a:tableStyleId>{D113A9D2-9D6B-4929-AA2D-F23B5EE8CBE7}</a:tableStyleId>
              </a:tblPr>
              <a:tblGrid>
                <a:gridCol w="952500">
                  <a:extLst>
                    <a:ext uri="{9D8B030D-6E8A-4147-A177-3AD203B41FA5}">
                      <a16:colId xmlns:a16="http://schemas.microsoft.com/office/drawing/2014/main" val="20000"/>
                    </a:ext>
                  </a:extLst>
                </a:gridCol>
              </a:tblGrid>
              <a:tr h="370840">
                <a:tc>
                  <a:txBody>
                    <a:bodyPr/>
                    <a:lstStyle/>
                    <a:p>
                      <a:pPr algn="ctr"/>
                      <a:r>
                        <a:rPr lang="en-US" b="1" dirty="0">
                          <a:latin typeface="Cambria Math" panose="02040503050406030204" pitchFamily="18" charset="0"/>
                          <a:ea typeface="Cambria Math" panose="02040503050406030204" pitchFamily="18" charset="0"/>
                        </a:rPr>
                        <a:t>Page 1</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0"/>
                  </a:ext>
                </a:extLst>
              </a:tr>
              <a:tr h="370840">
                <a:tc>
                  <a:txBody>
                    <a:bodyPr/>
                    <a:lstStyle/>
                    <a:p>
                      <a:pPr algn="ctr"/>
                      <a:r>
                        <a:rPr lang="en-US" b="1" dirty="0">
                          <a:latin typeface="Cambria Math" panose="02040503050406030204" pitchFamily="18" charset="0"/>
                          <a:ea typeface="Cambria Math" panose="02040503050406030204" pitchFamily="18" charset="0"/>
                        </a:rPr>
                        <a:t>Page 2</a:t>
                      </a:r>
                    </a:p>
                  </a:txBody>
                  <a:tcPr/>
                </a:tc>
                <a:extLst>
                  <a:ext uri="{0D108BD9-81ED-4DB2-BD59-A6C34878D82A}">
                    <a16:rowId xmlns:a16="http://schemas.microsoft.com/office/drawing/2014/main" val="10001"/>
                  </a:ext>
                </a:extLst>
              </a:tr>
              <a:tr h="370840">
                <a:tc>
                  <a:txBody>
                    <a:bodyPr/>
                    <a:lstStyle/>
                    <a:p>
                      <a:pPr algn="ctr"/>
                      <a:r>
                        <a:rPr lang="en-US" b="1" dirty="0">
                          <a:latin typeface="Cambria Math" panose="02040503050406030204" pitchFamily="18" charset="0"/>
                          <a:ea typeface="Cambria Math" panose="02040503050406030204" pitchFamily="18" charset="0"/>
                        </a:rPr>
                        <a:t>Page 3</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b="1" dirty="0">
                          <a:latin typeface="Cambria Math" panose="02040503050406030204" pitchFamily="18" charset="0"/>
                          <a:ea typeface="Cambria Math" panose="02040503050406030204" pitchFamily="18" charset="0"/>
                        </a:rPr>
                        <a:t>Page 4</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3"/>
                  </a:ext>
                </a:extLst>
              </a:tr>
              <a:tr h="370840">
                <a:tc>
                  <a:txBody>
                    <a:bodyPr/>
                    <a:lstStyle/>
                    <a:p>
                      <a:pPr algn="ctr"/>
                      <a:r>
                        <a:rPr lang="en-US" b="1" dirty="0">
                          <a:latin typeface="Cambria Math" panose="02040503050406030204" pitchFamily="18" charset="0"/>
                          <a:ea typeface="Cambria Math" panose="02040503050406030204" pitchFamily="18" charset="0"/>
                        </a:rPr>
                        <a:t>Page 5</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4"/>
                  </a:ext>
                </a:extLst>
              </a:tr>
            </a:tbl>
          </a:graphicData>
        </a:graphic>
      </p:graphicFrame>
      <p:graphicFrame>
        <p:nvGraphicFramePr>
          <p:cNvPr id="7" name="Content Placeholder 3">
            <a:extLst>
              <a:ext uri="{FF2B5EF4-FFF2-40B4-BE49-F238E27FC236}">
                <a16:creationId xmlns:a16="http://schemas.microsoft.com/office/drawing/2014/main" id="{43FADAF2-9D14-4D4F-8B92-53B1CDB0BDD8}"/>
              </a:ext>
            </a:extLst>
          </p:cNvPr>
          <p:cNvGraphicFramePr>
            <a:graphicFrameLocks/>
          </p:cNvGraphicFramePr>
          <p:nvPr>
            <p:extLst>
              <p:ext uri="{D42A27DB-BD31-4B8C-83A1-F6EECF244321}">
                <p14:modId xmlns:p14="http://schemas.microsoft.com/office/powerpoint/2010/main" val="3662154745"/>
              </p:ext>
            </p:extLst>
          </p:nvPr>
        </p:nvGraphicFramePr>
        <p:xfrm>
          <a:off x="7235184" y="364817"/>
          <a:ext cx="952500" cy="1854200"/>
        </p:xfrm>
        <a:graphic>
          <a:graphicData uri="http://schemas.openxmlformats.org/drawingml/2006/table">
            <a:tbl>
              <a:tblPr firstRow="1" bandRow="1">
                <a:tableStyleId>{D113A9D2-9D6B-4929-AA2D-F23B5EE8CBE7}</a:tableStyleId>
              </a:tblPr>
              <a:tblGrid>
                <a:gridCol w="952500">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1</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2</a:t>
                      </a:r>
                    </a:p>
                  </a:txBody>
                  <a:tcPr/>
                </a:tc>
                <a:extLst>
                  <a:ext uri="{0D108BD9-81ED-4DB2-BD59-A6C34878D82A}">
                    <a16:rowId xmlns:a16="http://schemas.microsoft.com/office/drawing/2014/main" val="10001"/>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3</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2"/>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4</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3"/>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5</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6C82F3AB-93BF-4FEF-9EAA-7F1F19FC5AB1}"/>
              </a:ext>
            </a:extLst>
          </p:cNvPr>
          <p:cNvSpPr txBox="1"/>
          <p:nvPr/>
        </p:nvSpPr>
        <p:spPr>
          <a:xfrm>
            <a:off x="5474347" y="2364705"/>
            <a:ext cx="758095"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Cambria Math" panose="02040503050406030204" pitchFamily="18" charset="0"/>
                <a:ea typeface="Cambria Math" panose="02040503050406030204" pitchFamily="18" charset="0"/>
              </a:rPr>
              <a:t>New Pages</a:t>
            </a:r>
            <a:endParaRPr lang="en-IN" dirty="0">
              <a:latin typeface="Cambria Math" panose="02040503050406030204" pitchFamily="18" charset="0"/>
              <a:ea typeface="Cambria Math" panose="02040503050406030204" pitchFamily="18" charset="0"/>
            </a:endParaRPr>
          </a:p>
        </p:txBody>
      </p:sp>
      <p:sp>
        <p:nvSpPr>
          <p:cNvPr id="9" name="TextBox 8">
            <a:extLst>
              <a:ext uri="{FF2B5EF4-FFF2-40B4-BE49-F238E27FC236}">
                <a16:creationId xmlns:a16="http://schemas.microsoft.com/office/drawing/2014/main" id="{5C52F67C-2D65-401F-A868-1344F65BF1A3}"/>
              </a:ext>
            </a:extLst>
          </p:cNvPr>
          <p:cNvSpPr txBox="1"/>
          <p:nvPr/>
        </p:nvSpPr>
        <p:spPr>
          <a:xfrm>
            <a:off x="3553903" y="2361937"/>
            <a:ext cx="1498862"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Cambria Math" panose="02040503050406030204" pitchFamily="18" charset="0"/>
                <a:ea typeface="Cambria Math" panose="02040503050406030204" pitchFamily="18" charset="0"/>
              </a:rPr>
              <a:t>Current Page </a:t>
            </a:r>
          </a:p>
          <a:p>
            <a:pPr algn="ctr"/>
            <a:r>
              <a:rPr lang="en-US" dirty="0">
                <a:latin typeface="Cambria Math" panose="02040503050406030204" pitchFamily="18" charset="0"/>
                <a:ea typeface="Cambria Math" panose="02040503050406030204" pitchFamily="18" charset="0"/>
              </a:rPr>
              <a:t>Table</a:t>
            </a:r>
            <a:endParaRPr lang="en-IN" dirty="0">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31E7D665-C691-49EC-8F10-492CA84F9AFC}"/>
              </a:ext>
            </a:extLst>
          </p:cNvPr>
          <p:cNvSpPr txBox="1"/>
          <p:nvPr/>
        </p:nvSpPr>
        <p:spPr>
          <a:xfrm>
            <a:off x="6803753" y="2394837"/>
            <a:ext cx="1498862"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Cambria Math" panose="02040503050406030204" pitchFamily="18" charset="0"/>
                <a:ea typeface="Cambria Math" panose="02040503050406030204" pitchFamily="18" charset="0"/>
              </a:rPr>
              <a:t>Shadow Page </a:t>
            </a:r>
          </a:p>
          <a:p>
            <a:pPr algn="ctr"/>
            <a:r>
              <a:rPr lang="en-US" dirty="0">
                <a:latin typeface="Cambria Math" panose="02040503050406030204" pitchFamily="18" charset="0"/>
                <a:ea typeface="Cambria Math" panose="02040503050406030204" pitchFamily="18" charset="0"/>
              </a:rPr>
              <a:t>Table</a:t>
            </a:r>
            <a:endParaRPr lang="en-IN" dirty="0">
              <a:latin typeface="Cambria Math" panose="02040503050406030204" pitchFamily="18" charset="0"/>
              <a:ea typeface="Cambria Math" panose="02040503050406030204" pitchFamily="18" charset="0"/>
            </a:endParaRPr>
          </a:p>
        </p:txBody>
      </p:sp>
      <p:cxnSp>
        <p:nvCxnSpPr>
          <p:cNvPr id="11" name="Straight Arrow Connector 10">
            <a:extLst>
              <a:ext uri="{FF2B5EF4-FFF2-40B4-BE49-F238E27FC236}">
                <a16:creationId xmlns:a16="http://schemas.microsoft.com/office/drawing/2014/main" id="{90E02A70-FBAC-4689-BAC8-C3C593C038C6}"/>
              </a:ext>
            </a:extLst>
          </p:cNvPr>
          <p:cNvCxnSpPr>
            <a:cxnSpLocks/>
          </p:cNvCxnSpPr>
          <p:nvPr/>
        </p:nvCxnSpPr>
        <p:spPr>
          <a:xfrm>
            <a:off x="4699652" y="581057"/>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59A3FBDE-B439-400E-AECD-79237081056D}"/>
              </a:ext>
            </a:extLst>
          </p:cNvPr>
          <p:cNvCxnSpPr>
            <a:cxnSpLocks/>
          </p:cNvCxnSpPr>
          <p:nvPr/>
        </p:nvCxnSpPr>
        <p:spPr>
          <a:xfrm>
            <a:off x="4680602" y="958882"/>
            <a:ext cx="50413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3" name="Straight Arrow Connector 12">
            <a:extLst>
              <a:ext uri="{FF2B5EF4-FFF2-40B4-BE49-F238E27FC236}">
                <a16:creationId xmlns:a16="http://schemas.microsoft.com/office/drawing/2014/main" id="{B9E36DAB-6F98-4F98-A6FD-5C4FC034C805}"/>
              </a:ext>
            </a:extLst>
          </p:cNvPr>
          <p:cNvCxnSpPr>
            <a:cxnSpLocks/>
          </p:cNvCxnSpPr>
          <p:nvPr/>
        </p:nvCxnSpPr>
        <p:spPr>
          <a:xfrm>
            <a:off x="4699652" y="1295432"/>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4" name="Straight Arrow Connector 13">
            <a:extLst>
              <a:ext uri="{FF2B5EF4-FFF2-40B4-BE49-F238E27FC236}">
                <a16:creationId xmlns:a16="http://schemas.microsoft.com/office/drawing/2014/main" id="{9F4483B8-57F9-4C74-8245-061ACC1B4FF1}"/>
              </a:ext>
            </a:extLst>
          </p:cNvPr>
          <p:cNvCxnSpPr>
            <a:cxnSpLocks/>
          </p:cNvCxnSpPr>
          <p:nvPr/>
        </p:nvCxnSpPr>
        <p:spPr>
          <a:xfrm>
            <a:off x="4699652" y="1685322"/>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1133DCD2-AC45-4AC4-9258-5A52A60B500A}"/>
              </a:ext>
            </a:extLst>
          </p:cNvPr>
          <p:cNvCxnSpPr>
            <a:cxnSpLocks/>
          </p:cNvCxnSpPr>
          <p:nvPr/>
        </p:nvCxnSpPr>
        <p:spPr>
          <a:xfrm flipH="1">
            <a:off x="6713095" y="1746141"/>
            <a:ext cx="522090" cy="791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a:extLst>
              <a:ext uri="{FF2B5EF4-FFF2-40B4-BE49-F238E27FC236}">
                <a16:creationId xmlns:a16="http://schemas.microsoft.com/office/drawing/2014/main" id="{49CFE1CC-DAA4-44A0-9042-9900DCA2B4C0}"/>
              </a:ext>
            </a:extLst>
          </p:cNvPr>
          <p:cNvCxnSpPr>
            <a:cxnSpLocks/>
          </p:cNvCxnSpPr>
          <p:nvPr/>
        </p:nvCxnSpPr>
        <p:spPr>
          <a:xfrm flipH="1">
            <a:off x="6713095" y="1312872"/>
            <a:ext cx="53161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7" name="Straight Arrow Connector 16">
            <a:extLst>
              <a:ext uri="{FF2B5EF4-FFF2-40B4-BE49-F238E27FC236}">
                <a16:creationId xmlns:a16="http://schemas.microsoft.com/office/drawing/2014/main" id="{241A0091-02EF-4BAA-B81D-0477724EDF2E}"/>
              </a:ext>
            </a:extLst>
          </p:cNvPr>
          <p:cNvCxnSpPr>
            <a:cxnSpLocks/>
          </p:cNvCxnSpPr>
          <p:nvPr/>
        </p:nvCxnSpPr>
        <p:spPr>
          <a:xfrm flipH="1">
            <a:off x="6713095" y="976322"/>
            <a:ext cx="522089"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0BB6D92F-E386-4905-B8B4-227A6AFF81C6}"/>
              </a:ext>
            </a:extLst>
          </p:cNvPr>
          <p:cNvCxnSpPr>
            <a:cxnSpLocks/>
          </p:cNvCxnSpPr>
          <p:nvPr/>
        </p:nvCxnSpPr>
        <p:spPr>
          <a:xfrm flipH="1">
            <a:off x="6713095" y="609836"/>
            <a:ext cx="53161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C4DC5338-3269-45CB-85E1-DA85B26C7E92}"/>
              </a:ext>
            </a:extLst>
          </p:cNvPr>
          <p:cNvCxnSpPr>
            <a:cxnSpLocks/>
          </p:cNvCxnSpPr>
          <p:nvPr/>
        </p:nvCxnSpPr>
        <p:spPr>
          <a:xfrm flipH="1">
            <a:off x="6713095" y="2071697"/>
            <a:ext cx="53161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1" name="Straight Arrow Connector 20">
            <a:extLst>
              <a:ext uri="{FF2B5EF4-FFF2-40B4-BE49-F238E27FC236}">
                <a16:creationId xmlns:a16="http://schemas.microsoft.com/office/drawing/2014/main" id="{516CD337-AE21-42C9-A51C-4D7626C6CF63}"/>
              </a:ext>
            </a:extLst>
          </p:cNvPr>
          <p:cNvCxnSpPr>
            <a:cxnSpLocks/>
          </p:cNvCxnSpPr>
          <p:nvPr/>
        </p:nvCxnSpPr>
        <p:spPr>
          <a:xfrm>
            <a:off x="4699652" y="2054257"/>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6" name="Rectangle 25">
            <a:extLst>
              <a:ext uri="{FF2B5EF4-FFF2-40B4-BE49-F238E27FC236}">
                <a16:creationId xmlns:a16="http://schemas.microsoft.com/office/drawing/2014/main" id="{F00FF776-7437-4737-8709-38B9F7DE0D5C}"/>
              </a:ext>
            </a:extLst>
          </p:cNvPr>
          <p:cNvSpPr/>
          <p:nvPr/>
        </p:nvSpPr>
        <p:spPr>
          <a:xfrm>
            <a:off x="8514575" y="893596"/>
            <a:ext cx="3258812" cy="1200329"/>
          </a:xfrm>
          <a:prstGeom prst="rect">
            <a:avLst/>
          </a:prstGeom>
        </p:spPr>
        <p:txBody>
          <a:bodyPr wrap="square">
            <a:spAutoFit/>
          </a:bodyPr>
          <a:lstStyle/>
          <a:p>
            <a:pPr marL="285750" indent="-285750" algn="just">
              <a:buFont typeface="Wingdings" panose="05000000000000000000" pitchFamily="2" charset="2"/>
              <a:buChar char="ü"/>
            </a:pPr>
            <a:r>
              <a:rPr lang="en-US" b="1" dirty="0">
                <a:solidFill>
                  <a:srgbClr val="FF0000"/>
                </a:solidFill>
                <a:latin typeface="Cambria Math" panose="02040503050406030204" pitchFamily="18" charset="0"/>
                <a:ea typeface="Cambria Math" panose="02040503050406030204" pitchFamily="18" charset="0"/>
              </a:rPr>
              <a:t>When the transaction starts, both Current Page Table and Shadow Page Table points to Same Pages in New Pages</a:t>
            </a:r>
            <a:endParaRPr lang="en-US" b="1" dirty="0">
              <a:solidFill>
                <a:srgbClr val="FF0000"/>
              </a:solidFill>
            </a:endParaRPr>
          </a:p>
        </p:txBody>
      </p:sp>
      <p:graphicFrame>
        <p:nvGraphicFramePr>
          <p:cNvPr id="37" name="Content Placeholder 3">
            <a:extLst>
              <a:ext uri="{FF2B5EF4-FFF2-40B4-BE49-F238E27FC236}">
                <a16:creationId xmlns:a16="http://schemas.microsoft.com/office/drawing/2014/main" id="{4A6793E0-BB23-4638-B665-41A7CB95D5F5}"/>
              </a:ext>
            </a:extLst>
          </p:cNvPr>
          <p:cNvGraphicFramePr>
            <a:graphicFrameLocks/>
          </p:cNvGraphicFramePr>
          <p:nvPr>
            <p:extLst>
              <p:ext uri="{D42A27DB-BD31-4B8C-83A1-F6EECF244321}">
                <p14:modId xmlns:p14="http://schemas.microsoft.com/office/powerpoint/2010/main" val="1159697836"/>
              </p:ext>
            </p:extLst>
          </p:nvPr>
        </p:nvGraphicFramePr>
        <p:xfrm>
          <a:off x="5261623" y="3400515"/>
          <a:ext cx="1404000" cy="2595880"/>
        </p:xfrm>
        <a:graphic>
          <a:graphicData uri="http://schemas.openxmlformats.org/drawingml/2006/table">
            <a:tbl>
              <a:tblPr firstRow="1" bandRow="1">
                <a:tableStyleId>{D113A9D2-9D6B-4929-AA2D-F23B5EE8CBE7}</a:tableStyleId>
              </a:tblPr>
              <a:tblGrid>
                <a:gridCol w="1404000">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1</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Old Page 2 </a:t>
                      </a:r>
                    </a:p>
                  </a:txBody>
                  <a:tcPr/>
                </a:tc>
                <a:extLst>
                  <a:ext uri="{0D108BD9-81ED-4DB2-BD59-A6C34878D82A}">
                    <a16:rowId xmlns:a16="http://schemas.microsoft.com/office/drawing/2014/main" val="10001"/>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3</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2"/>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4</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3"/>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Old Page 5</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Cambria Math" panose="02040503050406030204" pitchFamily="18" charset="0"/>
                          <a:ea typeface="Cambria Math" panose="02040503050406030204" pitchFamily="18" charset="0"/>
                          <a:cs typeface="+mn-cs"/>
                        </a:rPr>
                        <a:t>New Page 2 </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latin typeface="Cambria Math" panose="02040503050406030204" pitchFamily="18" charset="0"/>
                          <a:ea typeface="Cambria Math" panose="02040503050406030204" pitchFamily="18" charset="0"/>
                          <a:cs typeface="+mn-cs"/>
                        </a:rPr>
                        <a:t>New Page 5</a:t>
                      </a:r>
                    </a:p>
                  </a:txBody>
                  <a:tcPr/>
                </a:tc>
                <a:extLst>
                  <a:ext uri="{0D108BD9-81ED-4DB2-BD59-A6C34878D82A}">
                    <a16:rowId xmlns:a16="http://schemas.microsoft.com/office/drawing/2014/main" val="10006"/>
                  </a:ext>
                </a:extLst>
              </a:tr>
            </a:tbl>
          </a:graphicData>
        </a:graphic>
      </p:graphicFrame>
      <p:graphicFrame>
        <p:nvGraphicFramePr>
          <p:cNvPr id="38" name="Content Placeholder 3">
            <a:extLst>
              <a:ext uri="{FF2B5EF4-FFF2-40B4-BE49-F238E27FC236}">
                <a16:creationId xmlns:a16="http://schemas.microsoft.com/office/drawing/2014/main" id="{5E2970C3-5A1A-408E-85E7-374D0FD3FC4A}"/>
              </a:ext>
            </a:extLst>
          </p:cNvPr>
          <p:cNvGraphicFramePr>
            <a:graphicFrameLocks/>
          </p:cNvGraphicFramePr>
          <p:nvPr>
            <p:extLst>
              <p:ext uri="{D42A27DB-BD31-4B8C-83A1-F6EECF244321}">
                <p14:modId xmlns:p14="http://schemas.microsoft.com/office/powerpoint/2010/main" val="2466906937"/>
              </p:ext>
            </p:extLst>
          </p:nvPr>
        </p:nvGraphicFramePr>
        <p:xfrm>
          <a:off x="3747054" y="3381661"/>
          <a:ext cx="952500" cy="2595880"/>
        </p:xfrm>
        <a:graphic>
          <a:graphicData uri="http://schemas.openxmlformats.org/drawingml/2006/table">
            <a:tbl>
              <a:tblPr firstRow="1" bandRow="1">
                <a:tableStyleId>{D113A9D2-9D6B-4929-AA2D-F23B5EE8CBE7}</a:tableStyleId>
              </a:tblPr>
              <a:tblGrid>
                <a:gridCol w="952500">
                  <a:extLst>
                    <a:ext uri="{9D8B030D-6E8A-4147-A177-3AD203B41FA5}">
                      <a16:colId xmlns:a16="http://schemas.microsoft.com/office/drawing/2014/main" val="20000"/>
                    </a:ext>
                  </a:extLst>
                </a:gridCol>
              </a:tblGrid>
              <a:tr h="370840">
                <a:tc>
                  <a:txBody>
                    <a:bodyPr/>
                    <a:lstStyle/>
                    <a:p>
                      <a:pPr algn="ctr"/>
                      <a:r>
                        <a:rPr lang="en-US" b="1" dirty="0">
                          <a:latin typeface="Cambria Math" panose="02040503050406030204" pitchFamily="18" charset="0"/>
                          <a:ea typeface="Cambria Math" panose="02040503050406030204" pitchFamily="18" charset="0"/>
                        </a:rPr>
                        <a:t>Page 1</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0"/>
                  </a:ext>
                </a:extLst>
              </a:tr>
              <a:tr h="370840">
                <a:tc>
                  <a:txBody>
                    <a:bodyPr/>
                    <a:lstStyle/>
                    <a:p>
                      <a:pPr algn="ctr"/>
                      <a:r>
                        <a:rPr lang="en-US" b="1" dirty="0">
                          <a:latin typeface="Cambria Math" panose="02040503050406030204" pitchFamily="18" charset="0"/>
                          <a:ea typeface="Cambria Math" panose="02040503050406030204" pitchFamily="18" charset="0"/>
                        </a:rPr>
                        <a:t>Page 2</a:t>
                      </a:r>
                    </a:p>
                  </a:txBody>
                  <a:tcPr/>
                </a:tc>
                <a:extLst>
                  <a:ext uri="{0D108BD9-81ED-4DB2-BD59-A6C34878D82A}">
                    <a16:rowId xmlns:a16="http://schemas.microsoft.com/office/drawing/2014/main" val="10001"/>
                  </a:ext>
                </a:extLst>
              </a:tr>
              <a:tr h="370840">
                <a:tc>
                  <a:txBody>
                    <a:bodyPr/>
                    <a:lstStyle/>
                    <a:p>
                      <a:pPr algn="ctr"/>
                      <a:r>
                        <a:rPr lang="en-US" b="1" dirty="0">
                          <a:latin typeface="Cambria Math" panose="02040503050406030204" pitchFamily="18" charset="0"/>
                          <a:ea typeface="Cambria Math" panose="02040503050406030204" pitchFamily="18" charset="0"/>
                        </a:rPr>
                        <a:t>Page 3</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2"/>
                  </a:ext>
                </a:extLst>
              </a:tr>
              <a:tr h="370840">
                <a:tc>
                  <a:txBody>
                    <a:bodyPr/>
                    <a:lstStyle/>
                    <a:p>
                      <a:pPr algn="ctr"/>
                      <a:r>
                        <a:rPr lang="en-US" b="1" dirty="0">
                          <a:latin typeface="Cambria Math" panose="02040503050406030204" pitchFamily="18" charset="0"/>
                          <a:ea typeface="Cambria Math" panose="02040503050406030204" pitchFamily="18" charset="0"/>
                        </a:rPr>
                        <a:t>Page 4</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3"/>
                  </a:ext>
                </a:extLst>
              </a:tr>
              <a:tr h="370840">
                <a:tc>
                  <a:txBody>
                    <a:bodyPr/>
                    <a:lstStyle/>
                    <a:p>
                      <a:pPr algn="ctr"/>
                      <a:r>
                        <a:rPr lang="en-US" b="1" dirty="0">
                          <a:latin typeface="Cambria Math" panose="02040503050406030204" pitchFamily="18" charset="0"/>
                          <a:ea typeface="Cambria Math" panose="02040503050406030204" pitchFamily="18" charset="0"/>
                        </a:rPr>
                        <a:t>Page 5</a:t>
                      </a:r>
                      <a:endParaRPr lang="en-IN" b="1" dirty="0">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004"/>
                  </a:ext>
                </a:extLst>
              </a:tr>
              <a:tr h="370840">
                <a:tc>
                  <a:txBody>
                    <a:bodyPr/>
                    <a:lstStyle/>
                    <a:p>
                      <a:pPr algn="ctr"/>
                      <a:endParaRPr lang="en-IN" b="1" dirty="0"/>
                    </a:p>
                  </a:txBody>
                  <a:tcPr/>
                </a:tc>
                <a:extLst>
                  <a:ext uri="{0D108BD9-81ED-4DB2-BD59-A6C34878D82A}">
                    <a16:rowId xmlns:a16="http://schemas.microsoft.com/office/drawing/2014/main" val="10005"/>
                  </a:ext>
                </a:extLst>
              </a:tr>
              <a:tr h="370840">
                <a:tc>
                  <a:txBody>
                    <a:bodyPr/>
                    <a:lstStyle/>
                    <a:p>
                      <a:pPr algn="ctr"/>
                      <a:endParaRPr lang="en-IN" dirty="0"/>
                    </a:p>
                  </a:txBody>
                  <a:tcPr/>
                </a:tc>
                <a:extLst>
                  <a:ext uri="{0D108BD9-81ED-4DB2-BD59-A6C34878D82A}">
                    <a16:rowId xmlns:a16="http://schemas.microsoft.com/office/drawing/2014/main" val="10006"/>
                  </a:ext>
                </a:extLst>
              </a:tr>
            </a:tbl>
          </a:graphicData>
        </a:graphic>
      </p:graphicFrame>
      <p:graphicFrame>
        <p:nvGraphicFramePr>
          <p:cNvPr id="39" name="Content Placeholder 3">
            <a:extLst>
              <a:ext uri="{FF2B5EF4-FFF2-40B4-BE49-F238E27FC236}">
                <a16:creationId xmlns:a16="http://schemas.microsoft.com/office/drawing/2014/main" id="{F2CEC533-1856-4D5B-8C18-688085C99A17}"/>
              </a:ext>
            </a:extLst>
          </p:cNvPr>
          <p:cNvGraphicFramePr>
            <a:graphicFrameLocks/>
          </p:cNvGraphicFramePr>
          <p:nvPr>
            <p:extLst>
              <p:ext uri="{D42A27DB-BD31-4B8C-83A1-F6EECF244321}">
                <p14:modId xmlns:p14="http://schemas.microsoft.com/office/powerpoint/2010/main" val="1188102659"/>
              </p:ext>
            </p:extLst>
          </p:nvPr>
        </p:nvGraphicFramePr>
        <p:xfrm>
          <a:off x="7244611" y="3399101"/>
          <a:ext cx="952500" cy="2595880"/>
        </p:xfrm>
        <a:graphic>
          <a:graphicData uri="http://schemas.openxmlformats.org/drawingml/2006/table">
            <a:tbl>
              <a:tblPr firstRow="1" bandRow="1">
                <a:tableStyleId>{D113A9D2-9D6B-4929-AA2D-F23B5EE8CBE7}</a:tableStyleId>
              </a:tblPr>
              <a:tblGrid>
                <a:gridCol w="952500">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1</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2</a:t>
                      </a:r>
                    </a:p>
                  </a:txBody>
                  <a:tcPr/>
                </a:tc>
                <a:extLst>
                  <a:ext uri="{0D108BD9-81ED-4DB2-BD59-A6C34878D82A}">
                    <a16:rowId xmlns:a16="http://schemas.microsoft.com/office/drawing/2014/main" val="10001"/>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3</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2"/>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4</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3"/>
                  </a:ext>
                </a:extLst>
              </a:tr>
              <a:tr h="370840">
                <a:tc>
                  <a:txBody>
                    <a:bodyPr/>
                    <a:lstStyle/>
                    <a:p>
                      <a:pPr marL="0" algn="ctr" defTabSz="914400" rtl="0" eaLnBrk="1" latinLnBrk="0" hangingPunct="1"/>
                      <a:r>
                        <a:rPr lang="en-US" sz="1800" b="1" kern="1200" dirty="0">
                          <a:solidFill>
                            <a:schemeClr val="lt1"/>
                          </a:solidFill>
                          <a:latin typeface="Cambria Math" panose="02040503050406030204" pitchFamily="18" charset="0"/>
                          <a:ea typeface="Cambria Math" panose="02040503050406030204" pitchFamily="18" charset="0"/>
                          <a:cs typeface="+mn-cs"/>
                        </a:rPr>
                        <a:t>Page 5</a:t>
                      </a:r>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4"/>
                  </a:ext>
                </a:extLst>
              </a:tr>
              <a:tr h="370840">
                <a:tc>
                  <a:txBody>
                    <a:bodyPr/>
                    <a:lstStyle/>
                    <a:p>
                      <a:pPr marL="0" algn="ctr" defTabSz="914400" rtl="0" eaLnBrk="1" latinLnBrk="0" hangingPunct="1"/>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5"/>
                  </a:ext>
                </a:extLst>
              </a:tr>
              <a:tr h="370840">
                <a:tc>
                  <a:txBody>
                    <a:bodyPr/>
                    <a:lstStyle/>
                    <a:p>
                      <a:pPr marL="0" algn="ctr" defTabSz="914400" rtl="0" eaLnBrk="1" latinLnBrk="0" hangingPunct="1"/>
                      <a:endParaRPr lang="en-IN" sz="1800" b="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6"/>
                  </a:ext>
                </a:extLst>
              </a:tr>
            </a:tbl>
          </a:graphicData>
        </a:graphic>
      </p:graphicFrame>
      <p:sp>
        <p:nvSpPr>
          <p:cNvPr id="40" name="TextBox 39">
            <a:extLst>
              <a:ext uri="{FF2B5EF4-FFF2-40B4-BE49-F238E27FC236}">
                <a16:creationId xmlns:a16="http://schemas.microsoft.com/office/drawing/2014/main" id="{A0749DBB-34B8-4034-BBBA-8D6DA25034E4}"/>
              </a:ext>
            </a:extLst>
          </p:cNvPr>
          <p:cNvSpPr txBox="1"/>
          <p:nvPr/>
        </p:nvSpPr>
        <p:spPr>
          <a:xfrm>
            <a:off x="5592008" y="6105346"/>
            <a:ext cx="758095"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Cambria Math" panose="02040503050406030204" pitchFamily="18" charset="0"/>
                <a:ea typeface="Cambria Math" panose="02040503050406030204" pitchFamily="18" charset="0"/>
              </a:rPr>
              <a:t>New Pages</a:t>
            </a:r>
            <a:endParaRPr lang="en-IN" dirty="0">
              <a:latin typeface="Cambria Math" panose="02040503050406030204" pitchFamily="18" charset="0"/>
              <a:ea typeface="Cambria Math" panose="02040503050406030204" pitchFamily="18" charset="0"/>
            </a:endParaRPr>
          </a:p>
        </p:txBody>
      </p:sp>
      <p:sp>
        <p:nvSpPr>
          <p:cNvPr id="41" name="TextBox 40">
            <a:extLst>
              <a:ext uri="{FF2B5EF4-FFF2-40B4-BE49-F238E27FC236}">
                <a16:creationId xmlns:a16="http://schemas.microsoft.com/office/drawing/2014/main" id="{44BC31B3-3AE3-4318-8980-771613E68348}"/>
              </a:ext>
            </a:extLst>
          </p:cNvPr>
          <p:cNvSpPr txBox="1"/>
          <p:nvPr/>
        </p:nvSpPr>
        <p:spPr>
          <a:xfrm>
            <a:off x="3553903" y="6093810"/>
            <a:ext cx="1498862"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Cambria Math" panose="02040503050406030204" pitchFamily="18" charset="0"/>
                <a:ea typeface="Cambria Math" panose="02040503050406030204" pitchFamily="18" charset="0"/>
              </a:rPr>
              <a:t>Current Page </a:t>
            </a:r>
          </a:p>
          <a:p>
            <a:pPr algn="ctr"/>
            <a:r>
              <a:rPr lang="en-US" dirty="0">
                <a:latin typeface="Cambria Math" panose="02040503050406030204" pitchFamily="18" charset="0"/>
                <a:ea typeface="Cambria Math" panose="02040503050406030204" pitchFamily="18" charset="0"/>
              </a:rPr>
              <a:t>Table</a:t>
            </a:r>
            <a:endParaRPr lang="en-IN" dirty="0">
              <a:latin typeface="Cambria Math" panose="02040503050406030204" pitchFamily="18" charset="0"/>
              <a:ea typeface="Cambria Math" panose="02040503050406030204" pitchFamily="18" charset="0"/>
            </a:endParaRPr>
          </a:p>
        </p:txBody>
      </p:sp>
      <p:sp>
        <p:nvSpPr>
          <p:cNvPr id="42" name="TextBox 41">
            <a:extLst>
              <a:ext uri="{FF2B5EF4-FFF2-40B4-BE49-F238E27FC236}">
                <a16:creationId xmlns:a16="http://schemas.microsoft.com/office/drawing/2014/main" id="{94C3D413-1C0A-41C5-B042-40621ACCC484}"/>
              </a:ext>
            </a:extLst>
          </p:cNvPr>
          <p:cNvSpPr txBox="1"/>
          <p:nvPr/>
        </p:nvSpPr>
        <p:spPr>
          <a:xfrm>
            <a:off x="6832034" y="6070148"/>
            <a:ext cx="1498862" cy="64633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Cambria Math" panose="02040503050406030204" pitchFamily="18" charset="0"/>
                <a:ea typeface="Cambria Math" panose="02040503050406030204" pitchFamily="18" charset="0"/>
              </a:rPr>
              <a:t>Shadow Page </a:t>
            </a:r>
          </a:p>
          <a:p>
            <a:pPr algn="ctr"/>
            <a:r>
              <a:rPr lang="en-US" dirty="0">
                <a:latin typeface="Cambria Math" panose="02040503050406030204" pitchFamily="18" charset="0"/>
                <a:ea typeface="Cambria Math" panose="02040503050406030204" pitchFamily="18" charset="0"/>
              </a:rPr>
              <a:t>Table</a:t>
            </a:r>
            <a:endParaRPr lang="en-IN" dirty="0">
              <a:latin typeface="Cambria Math" panose="02040503050406030204" pitchFamily="18" charset="0"/>
              <a:ea typeface="Cambria Math" panose="02040503050406030204" pitchFamily="18" charset="0"/>
            </a:endParaRPr>
          </a:p>
        </p:txBody>
      </p:sp>
      <p:cxnSp>
        <p:nvCxnSpPr>
          <p:cNvPr id="43" name="Straight Arrow Connector 42">
            <a:extLst>
              <a:ext uri="{FF2B5EF4-FFF2-40B4-BE49-F238E27FC236}">
                <a16:creationId xmlns:a16="http://schemas.microsoft.com/office/drawing/2014/main" id="{3AF80F94-3B20-417C-9B57-913EAC3B3838}"/>
              </a:ext>
            </a:extLst>
          </p:cNvPr>
          <p:cNvCxnSpPr>
            <a:cxnSpLocks/>
          </p:cNvCxnSpPr>
          <p:nvPr/>
        </p:nvCxnSpPr>
        <p:spPr>
          <a:xfrm>
            <a:off x="4709079" y="3615341"/>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4" name="Straight Arrow Connector 43">
            <a:extLst>
              <a:ext uri="{FF2B5EF4-FFF2-40B4-BE49-F238E27FC236}">
                <a16:creationId xmlns:a16="http://schemas.microsoft.com/office/drawing/2014/main" id="{3389BE16-3BF9-4FD7-9AB0-095526046AD4}"/>
              </a:ext>
            </a:extLst>
          </p:cNvPr>
          <p:cNvCxnSpPr>
            <a:cxnSpLocks/>
          </p:cNvCxnSpPr>
          <p:nvPr/>
        </p:nvCxnSpPr>
        <p:spPr>
          <a:xfrm>
            <a:off x="4690029" y="3993166"/>
            <a:ext cx="504138" cy="14754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7EFF4940-9C16-4BB4-8CBC-9BBF42FE5FD4}"/>
              </a:ext>
            </a:extLst>
          </p:cNvPr>
          <p:cNvCxnSpPr>
            <a:cxnSpLocks/>
          </p:cNvCxnSpPr>
          <p:nvPr/>
        </p:nvCxnSpPr>
        <p:spPr>
          <a:xfrm>
            <a:off x="4709079" y="4329716"/>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6" name="Straight Arrow Connector 45">
            <a:extLst>
              <a:ext uri="{FF2B5EF4-FFF2-40B4-BE49-F238E27FC236}">
                <a16:creationId xmlns:a16="http://schemas.microsoft.com/office/drawing/2014/main" id="{B4855F00-B010-480A-A2E2-15B8ED44A818}"/>
              </a:ext>
            </a:extLst>
          </p:cNvPr>
          <p:cNvCxnSpPr>
            <a:cxnSpLocks/>
          </p:cNvCxnSpPr>
          <p:nvPr/>
        </p:nvCxnSpPr>
        <p:spPr>
          <a:xfrm>
            <a:off x="4709079" y="4719606"/>
            <a:ext cx="48508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7" name="Straight Arrow Connector 46">
            <a:extLst>
              <a:ext uri="{FF2B5EF4-FFF2-40B4-BE49-F238E27FC236}">
                <a16:creationId xmlns:a16="http://schemas.microsoft.com/office/drawing/2014/main" id="{3FE0C243-D37D-4C10-8F91-89B25B76A7D0}"/>
              </a:ext>
            </a:extLst>
          </p:cNvPr>
          <p:cNvCxnSpPr>
            <a:cxnSpLocks/>
            <a:stCxn id="39" idx="1"/>
          </p:cNvCxnSpPr>
          <p:nvPr/>
        </p:nvCxnSpPr>
        <p:spPr>
          <a:xfrm flipH="1">
            <a:off x="6722522" y="4697041"/>
            <a:ext cx="522089"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8" name="Straight Arrow Connector 47">
            <a:extLst>
              <a:ext uri="{FF2B5EF4-FFF2-40B4-BE49-F238E27FC236}">
                <a16:creationId xmlns:a16="http://schemas.microsoft.com/office/drawing/2014/main" id="{FA429F63-236D-477D-A185-51BCE49A6B69}"/>
              </a:ext>
            </a:extLst>
          </p:cNvPr>
          <p:cNvCxnSpPr>
            <a:cxnSpLocks/>
          </p:cNvCxnSpPr>
          <p:nvPr/>
        </p:nvCxnSpPr>
        <p:spPr>
          <a:xfrm flipH="1">
            <a:off x="6722522" y="4347156"/>
            <a:ext cx="53161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9" name="Straight Arrow Connector 48">
            <a:extLst>
              <a:ext uri="{FF2B5EF4-FFF2-40B4-BE49-F238E27FC236}">
                <a16:creationId xmlns:a16="http://schemas.microsoft.com/office/drawing/2014/main" id="{0FD8E235-4310-4068-9375-E012D333E148}"/>
              </a:ext>
            </a:extLst>
          </p:cNvPr>
          <p:cNvCxnSpPr>
            <a:cxnSpLocks/>
          </p:cNvCxnSpPr>
          <p:nvPr/>
        </p:nvCxnSpPr>
        <p:spPr>
          <a:xfrm flipH="1">
            <a:off x="6722522" y="4010606"/>
            <a:ext cx="522089"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0" name="Straight Arrow Connector 49">
            <a:extLst>
              <a:ext uri="{FF2B5EF4-FFF2-40B4-BE49-F238E27FC236}">
                <a16:creationId xmlns:a16="http://schemas.microsoft.com/office/drawing/2014/main" id="{75200F53-309F-4A4F-B2CA-C5619BA100AE}"/>
              </a:ext>
            </a:extLst>
          </p:cNvPr>
          <p:cNvCxnSpPr>
            <a:cxnSpLocks/>
          </p:cNvCxnSpPr>
          <p:nvPr/>
        </p:nvCxnSpPr>
        <p:spPr>
          <a:xfrm flipH="1">
            <a:off x="6722522" y="3644120"/>
            <a:ext cx="53161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51" name="Rounded Rectangle 21">
            <a:extLst>
              <a:ext uri="{FF2B5EF4-FFF2-40B4-BE49-F238E27FC236}">
                <a16:creationId xmlns:a16="http://schemas.microsoft.com/office/drawing/2014/main" id="{720A1391-9794-4CC7-822A-5E9CE457127A}"/>
              </a:ext>
            </a:extLst>
          </p:cNvPr>
          <p:cNvSpPr/>
          <p:nvPr/>
        </p:nvSpPr>
        <p:spPr>
          <a:xfrm>
            <a:off x="5320726" y="3801191"/>
            <a:ext cx="1313362" cy="304800"/>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cxnSp>
        <p:nvCxnSpPr>
          <p:cNvPr id="52" name="Straight Arrow Connector 51">
            <a:extLst>
              <a:ext uri="{FF2B5EF4-FFF2-40B4-BE49-F238E27FC236}">
                <a16:creationId xmlns:a16="http://schemas.microsoft.com/office/drawing/2014/main" id="{9F77EBD9-F7B1-43DC-ACCD-D9528AA1C783}"/>
              </a:ext>
            </a:extLst>
          </p:cNvPr>
          <p:cNvCxnSpPr>
            <a:cxnSpLocks/>
          </p:cNvCxnSpPr>
          <p:nvPr/>
        </p:nvCxnSpPr>
        <p:spPr>
          <a:xfrm flipH="1">
            <a:off x="6722522" y="5105981"/>
            <a:ext cx="53161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3" name="Straight Arrow Connector 52">
            <a:extLst>
              <a:ext uri="{FF2B5EF4-FFF2-40B4-BE49-F238E27FC236}">
                <a16:creationId xmlns:a16="http://schemas.microsoft.com/office/drawing/2014/main" id="{50AA0C42-701D-4F6F-86BF-97326E47F7CB}"/>
              </a:ext>
            </a:extLst>
          </p:cNvPr>
          <p:cNvCxnSpPr>
            <a:cxnSpLocks/>
          </p:cNvCxnSpPr>
          <p:nvPr/>
        </p:nvCxnSpPr>
        <p:spPr>
          <a:xfrm>
            <a:off x="4709079" y="5088541"/>
            <a:ext cx="475661" cy="7349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4" name="Rounded Rectangle 24">
            <a:extLst>
              <a:ext uri="{FF2B5EF4-FFF2-40B4-BE49-F238E27FC236}">
                <a16:creationId xmlns:a16="http://schemas.microsoft.com/office/drawing/2014/main" id="{EBFDB4DC-8AD3-46CD-B208-C95EA8EBE6BC}"/>
              </a:ext>
            </a:extLst>
          </p:cNvPr>
          <p:cNvSpPr/>
          <p:nvPr/>
        </p:nvSpPr>
        <p:spPr>
          <a:xfrm>
            <a:off x="5301676" y="4945469"/>
            <a:ext cx="1332412" cy="304800"/>
          </a:xfrm>
          <a:prstGeom prst="roundRect">
            <a:avLst/>
          </a:prstGeom>
          <a:noFill/>
          <a:ln w="2857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
        <p:nvSpPr>
          <p:cNvPr id="55" name="Rounded Rectangle 25">
            <a:extLst>
              <a:ext uri="{FF2B5EF4-FFF2-40B4-BE49-F238E27FC236}">
                <a16:creationId xmlns:a16="http://schemas.microsoft.com/office/drawing/2014/main" id="{E9E0CE1A-1558-412B-8728-71C81F924BA4}"/>
              </a:ext>
            </a:extLst>
          </p:cNvPr>
          <p:cNvSpPr/>
          <p:nvPr/>
        </p:nvSpPr>
        <p:spPr>
          <a:xfrm>
            <a:off x="5301676" y="5296768"/>
            <a:ext cx="1332412" cy="304800"/>
          </a:xfrm>
          <a:prstGeom prst="round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cxnSp>
        <p:nvCxnSpPr>
          <p:cNvPr id="60" name="Straight Connector 59">
            <a:extLst>
              <a:ext uri="{FF2B5EF4-FFF2-40B4-BE49-F238E27FC236}">
                <a16:creationId xmlns:a16="http://schemas.microsoft.com/office/drawing/2014/main" id="{47C11A5E-6C08-4325-83E0-7CBC0D7B5D47}"/>
              </a:ext>
            </a:extLst>
          </p:cNvPr>
          <p:cNvCxnSpPr/>
          <p:nvPr/>
        </p:nvCxnSpPr>
        <p:spPr>
          <a:xfrm>
            <a:off x="3553903" y="3149213"/>
            <a:ext cx="7937371" cy="0"/>
          </a:xfrm>
          <a:prstGeom prst="line">
            <a:avLst/>
          </a:prstGeom>
          <a:ln w="38100"/>
        </p:spPr>
        <p:style>
          <a:lnRef idx="3">
            <a:schemeClr val="accent6"/>
          </a:lnRef>
          <a:fillRef idx="0">
            <a:schemeClr val="accent6"/>
          </a:fillRef>
          <a:effectRef idx="2">
            <a:schemeClr val="accent6"/>
          </a:effectRef>
          <a:fontRef idx="minor">
            <a:schemeClr val="tx1"/>
          </a:fontRef>
        </p:style>
      </p:cxnSp>
      <p:sp>
        <p:nvSpPr>
          <p:cNvPr id="64" name="Rectangle 63">
            <a:extLst>
              <a:ext uri="{FF2B5EF4-FFF2-40B4-BE49-F238E27FC236}">
                <a16:creationId xmlns:a16="http://schemas.microsoft.com/office/drawing/2014/main" id="{7E3089EF-BE2E-48EC-BAF2-049668525D34}"/>
              </a:ext>
            </a:extLst>
          </p:cNvPr>
          <p:cNvSpPr/>
          <p:nvPr/>
        </p:nvSpPr>
        <p:spPr>
          <a:xfrm>
            <a:off x="8413357" y="3198307"/>
            <a:ext cx="3360030" cy="3447098"/>
          </a:xfrm>
          <a:prstGeom prst="rect">
            <a:avLst/>
          </a:prstGeom>
        </p:spPr>
        <p:txBody>
          <a:bodyPr wrap="square">
            <a:spAutoFit/>
          </a:bodyPr>
          <a:lstStyle/>
          <a:p>
            <a:pPr marL="285750" indent="-285750" algn="just">
              <a:buFont typeface="Wingdings" panose="05000000000000000000" pitchFamily="2" charset="2"/>
              <a:buChar char="ü"/>
            </a:pPr>
            <a:r>
              <a:rPr lang="en-US" b="1" dirty="0">
                <a:solidFill>
                  <a:srgbClr val="FF0000"/>
                </a:solidFill>
                <a:latin typeface="Cambria Math" panose="02040503050406030204" pitchFamily="18" charset="0"/>
                <a:ea typeface="Cambria Math" panose="02040503050406030204" pitchFamily="18" charset="0"/>
              </a:rPr>
              <a:t>When the transaction updates Page 2 and Page 5, then a new copy of the Page 2 and 5 is created in New Pages.</a:t>
            </a:r>
          </a:p>
          <a:p>
            <a:pPr marL="285750" indent="-285750" algn="just">
              <a:buFont typeface="Wingdings" panose="05000000000000000000" pitchFamily="2" charset="2"/>
              <a:buChar char="ü"/>
            </a:pPr>
            <a:endParaRPr lang="en-US" sz="100" b="1" dirty="0">
              <a:solidFill>
                <a:srgbClr val="FF0000"/>
              </a:solidFill>
              <a:latin typeface="Cambria Math" panose="02040503050406030204" pitchFamily="18" charset="0"/>
              <a:ea typeface="Cambria Math" panose="02040503050406030204" pitchFamily="18" charset="0"/>
            </a:endParaRPr>
          </a:p>
          <a:p>
            <a:pPr marL="285750" indent="-285750" algn="just">
              <a:buFont typeface="Wingdings" panose="05000000000000000000" pitchFamily="2" charset="2"/>
              <a:buChar char="ü"/>
            </a:pPr>
            <a:r>
              <a:rPr lang="en-US" b="1" dirty="0">
                <a:solidFill>
                  <a:srgbClr val="FF0000"/>
                </a:solidFill>
                <a:latin typeface="Cambria Math" panose="02040503050406030204" pitchFamily="18" charset="0"/>
                <a:ea typeface="Cambria Math" panose="02040503050406030204" pitchFamily="18" charset="0"/>
              </a:rPr>
              <a:t>Current Page Table points to New Copy and Shadow Page Table continues pointing Old Copy</a:t>
            </a:r>
          </a:p>
          <a:p>
            <a:pPr marL="285750" indent="-285750" algn="just">
              <a:buFont typeface="Wingdings" panose="05000000000000000000" pitchFamily="2" charset="2"/>
              <a:buChar char="ü"/>
            </a:pPr>
            <a:endParaRPr lang="en-US" sz="100" b="1" dirty="0">
              <a:solidFill>
                <a:srgbClr val="FF0000"/>
              </a:solidFill>
              <a:latin typeface="Cambria Math" panose="02040503050406030204" pitchFamily="18" charset="0"/>
              <a:ea typeface="Cambria Math" panose="02040503050406030204" pitchFamily="18" charset="0"/>
            </a:endParaRPr>
          </a:p>
          <a:p>
            <a:pPr marL="285750" indent="-285750" algn="just">
              <a:buFont typeface="Wingdings" panose="05000000000000000000" pitchFamily="2" charset="2"/>
              <a:buChar char="ü"/>
            </a:pPr>
            <a:r>
              <a:rPr lang="en-US" b="1" dirty="0">
                <a:solidFill>
                  <a:srgbClr val="FF0000"/>
                </a:solidFill>
                <a:latin typeface="Cambria Math" panose="02040503050406030204" pitchFamily="18" charset="0"/>
                <a:ea typeface="Cambria Math" panose="02040503050406030204" pitchFamily="18" charset="0"/>
              </a:rPr>
              <a:t>Thus, in case of Failure, Shadow Page Table can be used to recover the data as it keeps pointing Old Pages.</a:t>
            </a:r>
            <a:endParaRPr lang="en-US" b="1" dirty="0">
              <a:solidFill>
                <a:srgbClr val="FF0000"/>
              </a:solidFill>
            </a:endParaRPr>
          </a:p>
        </p:txBody>
      </p:sp>
      <p:sp>
        <p:nvSpPr>
          <p:cNvPr id="70" name="Rounded Rectangle 25">
            <a:extLst>
              <a:ext uri="{FF2B5EF4-FFF2-40B4-BE49-F238E27FC236}">
                <a16:creationId xmlns:a16="http://schemas.microsoft.com/office/drawing/2014/main" id="{313E1F29-0B47-4FCD-88CE-95952BBC2DF8}"/>
              </a:ext>
            </a:extLst>
          </p:cNvPr>
          <p:cNvSpPr/>
          <p:nvPr/>
        </p:nvSpPr>
        <p:spPr>
          <a:xfrm>
            <a:off x="5293819" y="5684841"/>
            <a:ext cx="1332412" cy="304800"/>
          </a:xfrm>
          <a:prstGeom prst="roundRect">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Tree>
    <p:extLst>
      <p:ext uri="{BB962C8B-B14F-4D97-AF65-F5344CB8AC3E}">
        <p14:creationId xmlns:p14="http://schemas.microsoft.com/office/powerpoint/2010/main" val="71859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par>
                                <p:cTn id="61" presetID="10" presetClass="entr" presetSubtype="0"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par>
                                <p:cTn id="64" presetID="10" presetClass="entr" presetSubtype="0" fill="hold"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circle(in)">
                                      <p:cBhvr>
                                        <p:cTn id="71" dur="20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60"/>
                                        </p:tgtEl>
                                        <p:attrNameLst>
                                          <p:attrName>style.visibility</p:attrName>
                                        </p:attrNameLst>
                                      </p:cBhvr>
                                      <p:to>
                                        <p:strVal val="visible"/>
                                      </p:to>
                                    </p:set>
                                    <p:anim calcmode="lin" valueType="num">
                                      <p:cBhvr additive="base">
                                        <p:cTn id="76" dur="500" fill="hold"/>
                                        <p:tgtEl>
                                          <p:spTgt spid="60"/>
                                        </p:tgtEl>
                                        <p:attrNameLst>
                                          <p:attrName>ppt_x</p:attrName>
                                        </p:attrNameLst>
                                      </p:cBhvr>
                                      <p:tavLst>
                                        <p:tav tm="0">
                                          <p:val>
                                            <p:strVal val="#ppt_x"/>
                                          </p:val>
                                        </p:tav>
                                        <p:tav tm="100000">
                                          <p:val>
                                            <p:strVal val="#ppt_x"/>
                                          </p:val>
                                        </p:tav>
                                      </p:tavLst>
                                    </p:anim>
                                    <p:anim calcmode="lin" valueType="num">
                                      <p:cBhvr additive="base">
                                        <p:cTn id="77"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5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500"/>
                                        <p:tgtEl>
                                          <p:spTgt spid="4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500"/>
                                        <p:tgtEl>
                                          <p:spTgt spid="42"/>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500"/>
                                        <p:tgtEl>
                                          <p:spTgt spid="37"/>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500"/>
                                        <p:tgtEl>
                                          <p:spTgt spid="40"/>
                                        </p:tgtEl>
                                      </p:cBhvr>
                                    </p:animEffect>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64">
                                            <p:txEl>
                                              <p:pRg st="0" end="0"/>
                                            </p:txEl>
                                          </p:spTgt>
                                        </p:tgtEl>
                                        <p:attrNameLst>
                                          <p:attrName>style.visibility</p:attrName>
                                        </p:attrNameLst>
                                      </p:cBhvr>
                                      <p:to>
                                        <p:strVal val="visible"/>
                                      </p:to>
                                    </p:set>
                                    <p:anim calcmode="lin" valueType="num">
                                      <p:cBhvr additive="base">
                                        <p:cTn id="112" dur="500" fill="hold"/>
                                        <p:tgtEl>
                                          <p:spTgt spid="64">
                                            <p:txEl>
                                              <p:pRg st="0" end="0"/>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1" presetClass="entr" presetSubtype="1" fill="hold" grpId="0" nodeType="click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wheel(1)">
                                      <p:cBhvr>
                                        <p:cTn id="118" dur="2000"/>
                                        <p:tgtEl>
                                          <p:spTgt spid="51"/>
                                        </p:tgtEl>
                                      </p:cBhvr>
                                    </p:animEffect>
                                  </p:childTnLst>
                                </p:cTn>
                              </p:par>
                              <p:par>
                                <p:cTn id="119" presetID="21" presetClass="entr" presetSubtype="1" fill="hold" grpId="0" nodeType="withEffect">
                                  <p:stCondLst>
                                    <p:cond delay="0"/>
                                  </p:stCondLst>
                                  <p:childTnLst>
                                    <p:set>
                                      <p:cBhvr>
                                        <p:cTn id="120" dur="1" fill="hold">
                                          <p:stCondLst>
                                            <p:cond delay="0"/>
                                          </p:stCondLst>
                                        </p:cTn>
                                        <p:tgtEl>
                                          <p:spTgt spid="54"/>
                                        </p:tgtEl>
                                        <p:attrNameLst>
                                          <p:attrName>style.visibility</p:attrName>
                                        </p:attrNameLst>
                                      </p:cBhvr>
                                      <p:to>
                                        <p:strVal val="visible"/>
                                      </p:to>
                                    </p:set>
                                    <p:animEffect transition="in" filter="wheel(1)">
                                      <p:cBhvr>
                                        <p:cTn id="121" dur="2000"/>
                                        <p:tgtEl>
                                          <p:spTgt spid="54"/>
                                        </p:tgtEl>
                                      </p:cBhvr>
                                    </p:animEffect>
                                  </p:childTnLst>
                                </p:cTn>
                              </p:par>
                              <p:par>
                                <p:cTn id="122" presetID="21" presetClass="entr" presetSubtype="1" fill="hold" grpId="0" nodeType="withEffect">
                                  <p:stCondLst>
                                    <p:cond delay="0"/>
                                  </p:stCondLst>
                                  <p:childTnLst>
                                    <p:set>
                                      <p:cBhvr>
                                        <p:cTn id="123" dur="1" fill="hold">
                                          <p:stCondLst>
                                            <p:cond delay="0"/>
                                          </p:stCondLst>
                                        </p:cTn>
                                        <p:tgtEl>
                                          <p:spTgt spid="55"/>
                                        </p:tgtEl>
                                        <p:attrNameLst>
                                          <p:attrName>style.visibility</p:attrName>
                                        </p:attrNameLst>
                                      </p:cBhvr>
                                      <p:to>
                                        <p:strVal val="visible"/>
                                      </p:to>
                                    </p:set>
                                    <p:animEffect transition="in" filter="wheel(1)">
                                      <p:cBhvr>
                                        <p:cTn id="124" dur="2000"/>
                                        <p:tgtEl>
                                          <p:spTgt spid="55"/>
                                        </p:tgtEl>
                                      </p:cBhvr>
                                    </p:animEffect>
                                  </p:childTnLst>
                                </p:cTn>
                              </p:par>
                              <p:par>
                                <p:cTn id="125" presetID="21" presetClass="entr" presetSubtype="1" fill="hold" grpId="0" nodeType="withEffect">
                                  <p:stCondLst>
                                    <p:cond delay="0"/>
                                  </p:stCondLst>
                                  <p:childTnLst>
                                    <p:set>
                                      <p:cBhvr>
                                        <p:cTn id="126" dur="1" fill="hold">
                                          <p:stCondLst>
                                            <p:cond delay="0"/>
                                          </p:stCondLst>
                                        </p:cTn>
                                        <p:tgtEl>
                                          <p:spTgt spid="70"/>
                                        </p:tgtEl>
                                        <p:attrNameLst>
                                          <p:attrName>style.visibility</p:attrName>
                                        </p:attrNameLst>
                                      </p:cBhvr>
                                      <p:to>
                                        <p:strVal val="visible"/>
                                      </p:to>
                                    </p:set>
                                    <p:animEffect transition="in" filter="wheel(1)">
                                      <p:cBhvr>
                                        <p:cTn id="127" dur="2000"/>
                                        <p:tgtEl>
                                          <p:spTgt spid="70"/>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64">
                                            <p:txEl>
                                              <p:pRg st="2" end="2"/>
                                            </p:txEl>
                                          </p:spTgt>
                                        </p:tgtEl>
                                        <p:attrNameLst>
                                          <p:attrName>style.visibility</p:attrName>
                                        </p:attrNameLst>
                                      </p:cBhvr>
                                      <p:to>
                                        <p:strVal val="visible"/>
                                      </p:to>
                                    </p:set>
                                    <p:animEffect transition="in" filter="fade">
                                      <p:cBhvr>
                                        <p:cTn id="132" dur="500"/>
                                        <p:tgtEl>
                                          <p:spTgt spid="64">
                                            <p:txEl>
                                              <p:pRg st="2" end="2"/>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1" presetClass="entr" presetSubtype="1" fill="hold" nodeType="click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wheel(1)">
                                      <p:cBhvr>
                                        <p:cTn id="137" dur="2000"/>
                                        <p:tgtEl>
                                          <p:spTgt spid="43"/>
                                        </p:tgtEl>
                                      </p:cBhvr>
                                    </p:animEffect>
                                  </p:childTnLst>
                                </p:cTn>
                              </p:par>
                              <p:par>
                                <p:cTn id="138" presetID="21" presetClass="entr" presetSubtype="1" fill="hold" nodeType="with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wheel(1)">
                                      <p:cBhvr>
                                        <p:cTn id="140" dur="2000"/>
                                        <p:tgtEl>
                                          <p:spTgt spid="44"/>
                                        </p:tgtEl>
                                      </p:cBhvr>
                                    </p:animEffect>
                                  </p:childTnLst>
                                </p:cTn>
                              </p:par>
                              <p:par>
                                <p:cTn id="141" presetID="21" presetClass="entr" presetSubtype="1" fill="hold" nodeType="withEffect">
                                  <p:stCondLst>
                                    <p:cond delay="0"/>
                                  </p:stCondLst>
                                  <p:childTnLst>
                                    <p:set>
                                      <p:cBhvr>
                                        <p:cTn id="142" dur="1" fill="hold">
                                          <p:stCondLst>
                                            <p:cond delay="0"/>
                                          </p:stCondLst>
                                        </p:cTn>
                                        <p:tgtEl>
                                          <p:spTgt spid="45"/>
                                        </p:tgtEl>
                                        <p:attrNameLst>
                                          <p:attrName>style.visibility</p:attrName>
                                        </p:attrNameLst>
                                      </p:cBhvr>
                                      <p:to>
                                        <p:strVal val="visible"/>
                                      </p:to>
                                    </p:set>
                                    <p:animEffect transition="in" filter="wheel(1)">
                                      <p:cBhvr>
                                        <p:cTn id="143" dur="2000"/>
                                        <p:tgtEl>
                                          <p:spTgt spid="45"/>
                                        </p:tgtEl>
                                      </p:cBhvr>
                                    </p:animEffect>
                                  </p:childTnLst>
                                </p:cTn>
                              </p:par>
                              <p:par>
                                <p:cTn id="144" presetID="21" presetClass="entr" presetSubtype="1" fill="hold"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wheel(1)">
                                      <p:cBhvr>
                                        <p:cTn id="146" dur="2000"/>
                                        <p:tgtEl>
                                          <p:spTgt spid="46"/>
                                        </p:tgtEl>
                                      </p:cBhvr>
                                    </p:animEffect>
                                  </p:childTnLst>
                                </p:cTn>
                              </p:par>
                              <p:par>
                                <p:cTn id="147" presetID="21" presetClass="entr" presetSubtype="1" fill="hold"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wheel(1)">
                                      <p:cBhvr>
                                        <p:cTn id="149" dur="2000"/>
                                        <p:tgtEl>
                                          <p:spTgt spid="53"/>
                                        </p:tgtEl>
                                      </p:cBhvr>
                                    </p:animEffect>
                                  </p:childTnLst>
                                </p:cTn>
                              </p:par>
                              <p:par>
                                <p:cTn id="150" presetID="21" presetClass="entr" presetSubtype="1" fill="hold" nodeType="withEffect">
                                  <p:stCondLst>
                                    <p:cond delay="0"/>
                                  </p:stCondLst>
                                  <p:childTnLst>
                                    <p:set>
                                      <p:cBhvr>
                                        <p:cTn id="151" dur="1" fill="hold">
                                          <p:stCondLst>
                                            <p:cond delay="0"/>
                                          </p:stCondLst>
                                        </p:cTn>
                                        <p:tgtEl>
                                          <p:spTgt spid="50"/>
                                        </p:tgtEl>
                                        <p:attrNameLst>
                                          <p:attrName>style.visibility</p:attrName>
                                        </p:attrNameLst>
                                      </p:cBhvr>
                                      <p:to>
                                        <p:strVal val="visible"/>
                                      </p:to>
                                    </p:set>
                                    <p:animEffect transition="in" filter="wheel(1)">
                                      <p:cBhvr>
                                        <p:cTn id="152" dur="2000"/>
                                        <p:tgtEl>
                                          <p:spTgt spid="50"/>
                                        </p:tgtEl>
                                      </p:cBhvr>
                                    </p:animEffect>
                                  </p:childTnLst>
                                </p:cTn>
                              </p:par>
                              <p:par>
                                <p:cTn id="153" presetID="21" presetClass="entr" presetSubtype="1" fill="hold" nodeType="withEffect">
                                  <p:stCondLst>
                                    <p:cond delay="0"/>
                                  </p:stCondLst>
                                  <p:childTnLst>
                                    <p:set>
                                      <p:cBhvr>
                                        <p:cTn id="154" dur="1" fill="hold">
                                          <p:stCondLst>
                                            <p:cond delay="0"/>
                                          </p:stCondLst>
                                        </p:cTn>
                                        <p:tgtEl>
                                          <p:spTgt spid="49"/>
                                        </p:tgtEl>
                                        <p:attrNameLst>
                                          <p:attrName>style.visibility</p:attrName>
                                        </p:attrNameLst>
                                      </p:cBhvr>
                                      <p:to>
                                        <p:strVal val="visible"/>
                                      </p:to>
                                    </p:set>
                                    <p:animEffect transition="in" filter="wheel(1)">
                                      <p:cBhvr>
                                        <p:cTn id="155" dur="2000"/>
                                        <p:tgtEl>
                                          <p:spTgt spid="49"/>
                                        </p:tgtEl>
                                      </p:cBhvr>
                                    </p:animEffect>
                                  </p:childTnLst>
                                </p:cTn>
                              </p:par>
                              <p:par>
                                <p:cTn id="156" presetID="21" presetClass="entr" presetSubtype="1" fill="hold" nodeType="withEffect">
                                  <p:stCondLst>
                                    <p:cond delay="0"/>
                                  </p:stCondLst>
                                  <p:childTnLst>
                                    <p:set>
                                      <p:cBhvr>
                                        <p:cTn id="157" dur="1" fill="hold">
                                          <p:stCondLst>
                                            <p:cond delay="0"/>
                                          </p:stCondLst>
                                        </p:cTn>
                                        <p:tgtEl>
                                          <p:spTgt spid="48"/>
                                        </p:tgtEl>
                                        <p:attrNameLst>
                                          <p:attrName>style.visibility</p:attrName>
                                        </p:attrNameLst>
                                      </p:cBhvr>
                                      <p:to>
                                        <p:strVal val="visible"/>
                                      </p:to>
                                    </p:set>
                                    <p:animEffect transition="in" filter="wheel(1)">
                                      <p:cBhvr>
                                        <p:cTn id="158" dur="2000"/>
                                        <p:tgtEl>
                                          <p:spTgt spid="48"/>
                                        </p:tgtEl>
                                      </p:cBhvr>
                                    </p:animEffect>
                                  </p:childTnLst>
                                </p:cTn>
                              </p:par>
                              <p:par>
                                <p:cTn id="159" presetID="21" presetClass="entr" presetSubtype="1" fill="hold" nodeType="withEffect">
                                  <p:stCondLst>
                                    <p:cond delay="0"/>
                                  </p:stCondLst>
                                  <p:childTnLst>
                                    <p:set>
                                      <p:cBhvr>
                                        <p:cTn id="160" dur="1" fill="hold">
                                          <p:stCondLst>
                                            <p:cond delay="0"/>
                                          </p:stCondLst>
                                        </p:cTn>
                                        <p:tgtEl>
                                          <p:spTgt spid="47"/>
                                        </p:tgtEl>
                                        <p:attrNameLst>
                                          <p:attrName>style.visibility</p:attrName>
                                        </p:attrNameLst>
                                      </p:cBhvr>
                                      <p:to>
                                        <p:strVal val="visible"/>
                                      </p:to>
                                    </p:set>
                                    <p:animEffect transition="in" filter="wheel(1)">
                                      <p:cBhvr>
                                        <p:cTn id="161" dur="2000"/>
                                        <p:tgtEl>
                                          <p:spTgt spid="47"/>
                                        </p:tgtEl>
                                      </p:cBhvr>
                                    </p:animEffect>
                                  </p:childTnLst>
                                </p:cTn>
                              </p:par>
                              <p:par>
                                <p:cTn id="162" presetID="21" presetClass="entr" presetSubtype="1" fill="hold" nodeType="withEffect">
                                  <p:stCondLst>
                                    <p:cond delay="0"/>
                                  </p:stCondLst>
                                  <p:childTnLst>
                                    <p:set>
                                      <p:cBhvr>
                                        <p:cTn id="163" dur="1" fill="hold">
                                          <p:stCondLst>
                                            <p:cond delay="0"/>
                                          </p:stCondLst>
                                        </p:cTn>
                                        <p:tgtEl>
                                          <p:spTgt spid="52"/>
                                        </p:tgtEl>
                                        <p:attrNameLst>
                                          <p:attrName>style.visibility</p:attrName>
                                        </p:attrNameLst>
                                      </p:cBhvr>
                                      <p:to>
                                        <p:strVal val="visible"/>
                                      </p:to>
                                    </p:set>
                                    <p:animEffect transition="in" filter="wheel(1)">
                                      <p:cBhvr>
                                        <p:cTn id="164" dur="2000"/>
                                        <p:tgtEl>
                                          <p:spTgt spid="52"/>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nodeType="clickEffect">
                                  <p:stCondLst>
                                    <p:cond delay="0"/>
                                  </p:stCondLst>
                                  <p:childTnLst>
                                    <p:set>
                                      <p:cBhvr>
                                        <p:cTn id="168" dur="1" fill="hold">
                                          <p:stCondLst>
                                            <p:cond delay="0"/>
                                          </p:stCondLst>
                                        </p:cTn>
                                        <p:tgtEl>
                                          <p:spTgt spid="64">
                                            <p:txEl>
                                              <p:pRg st="4" end="4"/>
                                            </p:txEl>
                                          </p:spTgt>
                                        </p:tgtEl>
                                        <p:attrNameLst>
                                          <p:attrName>style.visibility</p:attrName>
                                        </p:attrNameLst>
                                      </p:cBhvr>
                                      <p:to>
                                        <p:strVal val="visible"/>
                                      </p:to>
                                    </p:set>
                                    <p:animEffect transition="in" filter="fade">
                                      <p:cBhvr>
                                        <p:cTn id="169" dur="500"/>
                                        <p:tgtEl>
                                          <p:spTgt spid="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26" grpId="0"/>
      <p:bldP spid="40" grpId="0" animBg="1"/>
      <p:bldP spid="41" grpId="0" animBg="1"/>
      <p:bldP spid="42" grpId="0" animBg="1"/>
      <p:bldP spid="51" grpId="0" animBg="1"/>
      <p:bldP spid="54" grpId="0" animBg="1"/>
      <p:bldP spid="55" grpId="0" animBg="1"/>
      <p:bldP spid="7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Transaction</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(Database Recovery)</a:t>
            </a:r>
          </a:p>
        </p:txBody>
      </p:sp>
      <p:sp>
        <p:nvSpPr>
          <p:cNvPr id="6" name="Rectangle 5">
            <a:extLst>
              <a:ext uri="{FF2B5EF4-FFF2-40B4-BE49-F238E27FC236}">
                <a16:creationId xmlns:a16="http://schemas.microsoft.com/office/drawing/2014/main" id="{0F4CE4F2-39FB-4AB9-A82C-DFB095193EDB}"/>
              </a:ext>
            </a:extLst>
          </p:cNvPr>
          <p:cNvSpPr/>
          <p:nvPr/>
        </p:nvSpPr>
        <p:spPr>
          <a:xfrm>
            <a:off x="3431210" y="0"/>
            <a:ext cx="8038530" cy="3123932"/>
          </a:xfrm>
          <a:prstGeom prst="rect">
            <a:avLst/>
          </a:prstGeom>
        </p:spPr>
        <p:txBody>
          <a:bodyPr wrap="square">
            <a:spAutoFit/>
          </a:bodyPr>
          <a:lstStyle/>
          <a:p>
            <a:pPr marL="457200" indent="-457200" algn="just">
              <a:buFont typeface="Wingdings" panose="05000000000000000000" pitchFamily="2" charset="2"/>
              <a:buChar char="Ø"/>
            </a:pPr>
            <a:r>
              <a:rPr lang="en-US" sz="2400" b="1" dirty="0">
                <a:latin typeface="Cambria Math" panose="02040503050406030204" pitchFamily="18" charset="0"/>
                <a:ea typeface="Cambria Math" panose="02040503050406030204" pitchFamily="18" charset="0"/>
              </a:rPr>
              <a:t>Cascading Rollback</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 cascading rollback occurs in database systems when a transaction (T1) causes a failure and a rollback must be performed. </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Other transactions dependent on T1's actions must also be rollbacked due to T1's failure, thus causing a cascading effect. That is, one transaction's failure causes many to fail.</a:t>
            </a:r>
          </a:p>
        </p:txBody>
      </p:sp>
      <p:pic>
        <p:nvPicPr>
          <p:cNvPr id="3" name="Picture 2">
            <a:extLst>
              <a:ext uri="{FF2B5EF4-FFF2-40B4-BE49-F238E27FC236}">
                <a16:creationId xmlns:a16="http://schemas.microsoft.com/office/drawing/2014/main" id="{D273DC58-7BAF-4DA6-A322-25E8D7C8AC2E}"/>
              </a:ext>
            </a:extLst>
          </p:cNvPr>
          <p:cNvPicPr>
            <a:picLocks noChangeAspect="1"/>
          </p:cNvPicPr>
          <p:nvPr/>
        </p:nvPicPr>
        <p:blipFill>
          <a:blip r:embed="rId2"/>
          <a:stretch>
            <a:fillRect/>
          </a:stretch>
        </p:blipFill>
        <p:spPr>
          <a:xfrm>
            <a:off x="3925120" y="3031975"/>
            <a:ext cx="3621030" cy="2302112"/>
          </a:xfrm>
          <a:prstGeom prst="rect">
            <a:avLst/>
          </a:prstGeom>
        </p:spPr>
      </p:pic>
      <p:sp>
        <p:nvSpPr>
          <p:cNvPr id="5" name="Rectangle 4">
            <a:extLst>
              <a:ext uri="{FF2B5EF4-FFF2-40B4-BE49-F238E27FC236}">
                <a16:creationId xmlns:a16="http://schemas.microsoft.com/office/drawing/2014/main" id="{BA1FB824-627C-4E4E-963F-C7FA7C300B7A}"/>
              </a:ext>
            </a:extLst>
          </p:cNvPr>
          <p:cNvSpPr/>
          <p:nvPr/>
        </p:nvSpPr>
        <p:spPr>
          <a:xfrm>
            <a:off x="7625220" y="3444336"/>
            <a:ext cx="4035871" cy="830997"/>
          </a:xfrm>
          <a:prstGeom prst="rect">
            <a:avLst/>
          </a:prstGeom>
        </p:spPr>
        <p:txBody>
          <a:bodyPr wrap="square">
            <a:spAutoFit/>
          </a:bodyPr>
          <a:lstStyle/>
          <a:p>
            <a:pPr algn="just">
              <a:tabLst>
                <a:tab pos="2222500" algn="l"/>
                <a:tab pos="2568575" algn="l"/>
                <a:tab pos="3319463" algn="l"/>
                <a:tab pos="3594100" algn="l"/>
              </a:tabLst>
            </a:pPr>
            <a:r>
              <a:rPr lang="en-US" sz="2400" dirty="0">
                <a:solidFill>
                  <a:srgbClr val="FF0000"/>
                </a:solidFill>
                <a:latin typeface="Cambria Math" panose="02040503050406030204" pitchFamily="18" charset="0"/>
                <a:ea typeface="Cambria Math" panose="02040503050406030204" pitchFamily="18" charset="0"/>
              </a:rPr>
              <a:t>If T10 fails, T11 and T12 must also be rolled back.</a:t>
            </a:r>
          </a:p>
        </p:txBody>
      </p:sp>
      <p:sp>
        <p:nvSpPr>
          <p:cNvPr id="8" name="Rectangle 7">
            <a:extLst>
              <a:ext uri="{FF2B5EF4-FFF2-40B4-BE49-F238E27FC236}">
                <a16:creationId xmlns:a16="http://schemas.microsoft.com/office/drawing/2014/main" id="{CA38EB79-BAD3-416E-A08B-729D017BD28F}"/>
              </a:ext>
            </a:extLst>
          </p:cNvPr>
          <p:cNvSpPr/>
          <p:nvPr/>
        </p:nvSpPr>
        <p:spPr>
          <a:xfrm>
            <a:off x="3431210" y="5392596"/>
            <a:ext cx="8229881" cy="1446550"/>
          </a:xfrm>
          <a:prstGeom prst="rect">
            <a:avLst/>
          </a:prstGeom>
        </p:spPr>
        <p:txBody>
          <a:bodyPr wrap="square">
            <a:spAutoFit/>
          </a:bodyPr>
          <a:lstStyle/>
          <a:p>
            <a:pPr marL="457200" indent="-457200" algn="just">
              <a:buFont typeface="Wingdings" panose="05000000000000000000" pitchFamily="2" charset="2"/>
              <a:buChar char="Ø"/>
            </a:pPr>
            <a:r>
              <a:rPr lang="en-US" sz="2200" dirty="0">
                <a:latin typeface="Cambria Math" panose="02040503050406030204" pitchFamily="18" charset="0"/>
                <a:ea typeface="Cambria Math" panose="02040503050406030204" pitchFamily="18" charset="0"/>
              </a:rPr>
              <a:t>If in a schedule, a transaction is not allowed to read a data item until the last transaction that has written it is committed or aborted, then such a schedule is called as a </a:t>
            </a:r>
            <a:r>
              <a:rPr lang="en-US" sz="2200" b="1" dirty="0">
                <a:solidFill>
                  <a:srgbClr val="FF0000"/>
                </a:solidFill>
                <a:latin typeface="Cambria Math" panose="02040503050406030204" pitchFamily="18" charset="0"/>
                <a:ea typeface="Cambria Math" panose="02040503050406030204" pitchFamily="18" charset="0"/>
              </a:rPr>
              <a:t>Cascadeless Schedule.</a:t>
            </a:r>
          </a:p>
        </p:txBody>
      </p:sp>
    </p:spTree>
    <p:extLst>
      <p:ext uri="{BB962C8B-B14F-4D97-AF65-F5344CB8AC3E}">
        <p14:creationId xmlns:p14="http://schemas.microsoft.com/office/powerpoint/2010/main" val="421023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p>
        </p:txBody>
      </p:sp>
      <p:sp>
        <p:nvSpPr>
          <p:cNvPr id="6" name="Rectangle 5">
            <a:extLst>
              <a:ext uri="{FF2B5EF4-FFF2-40B4-BE49-F238E27FC236}">
                <a16:creationId xmlns:a16="http://schemas.microsoft.com/office/drawing/2014/main" id="{0F4CE4F2-39FB-4AB9-A82C-DFB095193EDB}"/>
              </a:ext>
            </a:extLst>
          </p:cNvPr>
          <p:cNvSpPr/>
          <p:nvPr/>
        </p:nvSpPr>
        <p:spPr>
          <a:xfrm>
            <a:off x="3534771" y="712928"/>
            <a:ext cx="8038530" cy="5709255"/>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Concurrency control is the procedure for managing simultaneous operations without conflicting with each other. </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Concurrency control is used to address conflicts which occur with a multi-user system who have access to perform READ and WRITE operation in database.</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If T1 conflicts with T2 over a data item A, then the existing concurrency control decides if T1 or T2 should get the A and if the other transaction is rolled-back or waits. </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Resolve read-write and write-write conflicts.</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Apply isolation through mutual exclusion between conflicting transactions.</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Concurrency control helps to ensure serializability.</a:t>
            </a: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2065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500"/>
                                        <p:tgtEl>
                                          <p:spTgt spid="6">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10" end="10"/>
                                            </p:txEl>
                                          </p:spTgt>
                                        </p:tgtEl>
                                        <p:attrNameLst>
                                          <p:attrName>style.visibility</p:attrName>
                                        </p:attrNameLst>
                                      </p:cBhvr>
                                      <p:to>
                                        <p:strVal val="visible"/>
                                      </p:to>
                                    </p:set>
                                    <p:animEffect transition="in" filter="fade">
                                      <p:cBhvr>
                                        <p:cTn id="32"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p>
        </p:txBody>
      </p:sp>
      <p:sp>
        <p:nvSpPr>
          <p:cNvPr id="6" name="Rectangle 5">
            <a:extLst>
              <a:ext uri="{FF2B5EF4-FFF2-40B4-BE49-F238E27FC236}">
                <a16:creationId xmlns:a16="http://schemas.microsoft.com/office/drawing/2014/main" id="{0F4CE4F2-39FB-4AB9-A82C-DFB095193EDB}"/>
              </a:ext>
            </a:extLst>
          </p:cNvPr>
          <p:cNvSpPr/>
          <p:nvPr/>
        </p:nvSpPr>
        <p:spPr>
          <a:xfrm>
            <a:off x="3478211" y="785244"/>
            <a:ext cx="8038530" cy="5278368"/>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Allowing Concurrent execution of operations may lead to following problems: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latin typeface="Cambria Math" panose="02040503050406030204" pitchFamily="18" charset="0"/>
                <a:ea typeface="Cambria Math" panose="02040503050406030204" pitchFamily="18" charset="0"/>
              </a:rPr>
              <a:t>Lost Update:</a:t>
            </a:r>
            <a:r>
              <a:rPr lang="en-US" sz="2400" dirty="0">
                <a:latin typeface="Cambria Math" panose="02040503050406030204" pitchFamily="18" charset="0"/>
                <a:ea typeface="Cambria Math" panose="02040503050406030204" pitchFamily="18" charset="0"/>
              </a:rPr>
              <a:t> if two transactions T1 and T2 both read the same data and then update it; in this case, first update will be overwritten by the second update.</a:t>
            </a:r>
          </a:p>
          <a:p>
            <a:pPr marL="457200" indent="-457200" algn="just">
              <a:buFont typeface="Wingdings" panose="05000000000000000000" pitchFamily="2" charset="2"/>
              <a:buChar char="ü"/>
            </a:pPr>
            <a:endParaRPr lang="en-US" sz="500" b="1"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ü"/>
            </a:pPr>
            <a:endParaRPr lang="en-US" alt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altLang="en-US" sz="2400" b="1" dirty="0">
                <a:latin typeface="Cambria Math" panose="02040503050406030204" pitchFamily="18" charset="0"/>
                <a:ea typeface="Cambria Math" panose="02040503050406030204" pitchFamily="18" charset="0"/>
              </a:rPr>
              <a:t>Dirty Read: </a:t>
            </a:r>
            <a:r>
              <a:rPr lang="en-US" altLang="en-US" sz="2400" dirty="0">
                <a:latin typeface="Cambria Math" panose="02040503050406030204" pitchFamily="18" charset="0"/>
                <a:ea typeface="Cambria Math" panose="02040503050406030204" pitchFamily="18" charset="0"/>
              </a:rPr>
              <a:t>when one transaction update some item and then fails. Moreover, this updated item is accessed by another transaction before it is rolled back to its initial value.</a:t>
            </a:r>
          </a:p>
          <a:p>
            <a:pPr marL="457200" indent="-457200" algn="just">
              <a:buFont typeface="Wingdings" panose="05000000000000000000" pitchFamily="2" charset="2"/>
              <a:buChar char="ü"/>
            </a:pPr>
            <a:endParaRPr lang="en-US" alt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altLang="en-US" sz="2400" b="1" dirty="0">
                <a:latin typeface="Cambria Math" panose="02040503050406030204" pitchFamily="18" charset="0"/>
                <a:ea typeface="Cambria Math" panose="02040503050406030204" pitchFamily="18" charset="0"/>
              </a:rPr>
              <a:t>Incorrect Retrieval: </a:t>
            </a:r>
            <a:r>
              <a:rPr lang="en-US" altLang="en-US" sz="2400" dirty="0">
                <a:latin typeface="Cambria Math" panose="02040503050406030204" pitchFamily="18" charset="0"/>
                <a:ea typeface="Cambria Math" panose="02040503050406030204" pitchFamily="18" charset="0"/>
              </a:rPr>
              <a:t>when one transaction accesses data to use it in other operation; but before it can use, another transaction updates that data and commits.</a:t>
            </a:r>
          </a:p>
        </p:txBody>
      </p:sp>
    </p:spTree>
    <p:extLst>
      <p:ext uri="{BB962C8B-B14F-4D97-AF65-F5344CB8AC3E}">
        <p14:creationId xmlns:p14="http://schemas.microsoft.com/office/powerpoint/2010/main" val="140606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fade">
                                      <p:cBhvr>
                                        <p:cTn id="17" dur="500"/>
                                        <p:tgtEl>
                                          <p:spTgt spid="6">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7" end="7"/>
                                            </p:txEl>
                                          </p:spTgt>
                                        </p:tgtEl>
                                        <p:attrNameLst>
                                          <p:attrName>style.visibility</p:attrName>
                                        </p:attrNameLst>
                                      </p:cBhvr>
                                      <p:to>
                                        <p:strVal val="visible"/>
                                      </p:to>
                                    </p:set>
                                    <p:animEffect transition="in" filter="fade">
                                      <p:cBhvr>
                                        <p:cTn id="2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p>
        </p:txBody>
      </p:sp>
      <p:sp>
        <p:nvSpPr>
          <p:cNvPr id="6" name="Rectangle 5">
            <a:extLst>
              <a:ext uri="{FF2B5EF4-FFF2-40B4-BE49-F238E27FC236}">
                <a16:creationId xmlns:a16="http://schemas.microsoft.com/office/drawing/2014/main" id="{0F4CE4F2-39FB-4AB9-A82C-DFB095193EDB}"/>
              </a:ext>
            </a:extLst>
          </p:cNvPr>
          <p:cNvSpPr/>
          <p:nvPr/>
        </p:nvSpPr>
        <p:spPr>
          <a:xfrm>
            <a:off x="3534771" y="712928"/>
            <a:ext cx="8038530" cy="5993949"/>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lock is a variable associated with data item to control concurrent access to that data item.</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Data items can be locked in 2 ways:</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altLang="en-US" sz="2400" b="1" dirty="0">
                <a:latin typeface="Cambria Math" panose="02040503050406030204" pitchFamily="18" charset="0"/>
                <a:ea typeface="Cambria Math" panose="02040503050406030204" pitchFamily="18" charset="0"/>
              </a:rPr>
              <a:t>Exclusive (X) mode</a:t>
            </a:r>
            <a:r>
              <a:rPr lang="en-US" altLang="en-US" sz="2400" dirty="0">
                <a:latin typeface="Cambria Math" panose="02040503050406030204" pitchFamily="18" charset="0"/>
                <a:ea typeface="Cambria Math" panose="02040503050406030204" pitchFamily="18" charset="0"/>
              </a:rPr>
              <a:t>: Data item can be both read as well as write. X-lock is requested using  </a:t>
            </a:r>
            <a:r>
              <a:rPr lang="en-US" altLang="en-US" sz="2400" b="1" dirty="0">
                <a:solidFill>
                  <a:srgbClr val="FF0000"/>
                </a:solidFill>
                <a:latin typeface="Cambria Math" panose="02040503050406030204" pitchFamily="18" charset="0"/>
                <a:ea typeface="Cambria Math" panose="02040503050406030204" pitchFamily="18" charset="0"/>
              </a:rPr>
              <a:t>lock-X</a:t>
            </a:r>
            <a:r>
              <a:rPr lang="en-US" altLang="en-US" sz="2400" dirty="0">
                <a:latin typeface="Cambria Math" panose="02040503050406030204" pitchFamily="18" charset="0"/>
                <a:ea typeface="Cambria Math" panose="02040503050406030204" pitchFamily="18" charset="0"/>
              </a:rPr>
              <a:t> instruction.</a:t>
            </a:r>
          </a:p>
          <a:p>
            <a:pPr marL="914400" lvl="1" indent="-457200" algn="just">
              <a:buFont typeface="Wingdings" panose="05000000000000000000" pitchFamily="2" charset="2"/>
              <a:buChar char="ü"/>
            </a:pPr>
            <a:endParaRPr lang="en-US" alt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altLang="en-US" sz="2400" b="1" dirty="0">
                <a:latin typeface="Cambria Math" panose="02040503050406030204" pitchFamily="18" charset="0"/>
                <a:ea typeface="Cambria Math" panose="02040503050406030204" pitchFamily="18" charset="0"/>
              </a:rPr>
              <a:t>Shared (S) mode</a:t>
            </a:r>
            <a:r>
              <a:rPr lang="en-US" altLang="en-US" sz="2400" dirty="0">
                <a:latin typeface="Cambria Math" panose="02040503050406030204" pitchFamily="18" charset="0"/>
                <a:ea typeface="Cambria Math" panose="02040503050406030204" pitchFamily="18" charset="0"/>
              </a:rPr>
              <a:t>: Data item can only be read. S-lock is requested using  </a:t>
            </a:r>
            <a:r>
              <a:rPr lang="en-US" altLang="en-US" sz="2400" b="1" dirty="0">
                <a:solidFill>
                  <a:srgbClr val="FF0000"/>
                </a:solidFill>
                <a:latin typeface="Cambria Math" panose="02040503050406030204" pitchFamily="18" charset="0"/>
                <a:ea typeface="Cambria Math" panose="02040503050406030204" pitchFamily="18" charset="0"/>
              </a:rPr>
              <a:t>lock-S</a:t>
            </a:r>
            <a:r>
              <a:rPr lang="en-US" altLang="en-US" sz="2400" dirty="0">
                <a:latin typeface="Cambria Math" panose="02040503050406030204" pitchFamily="18" charset="0"/>
                <a:ea typeface="Cambria Math" panose="02040503050406030204" pitchFamily="18" charset="0"/>
              </a:rPr>
              <a:t> instruction.</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Lock-compatibility matrix:</a:t>
            </a: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105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alt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Transaction can proceed only after request is granted.</a:t>
            </a:r>
            <a:endParaRPr lang="en-US" sz="2400" dirty="0">
              <a:latin typeface="Cambria Math" panose="02040503050406030204" pitchFamily="18" charset="0"/>
              <a:ea typeface="Cambria Math" panose="02040503050406030204" pitchFamily="18" charset="0"/>
            </a:endParaRPr>
          </a:p>
        </p:txBody>
      </p:sp>
      <p:pic>
        <p:nvPicPr>
          <p:cNvPr id="3" name="Picture 20">
            <a:extLst>
              <a:ext uri="{FF2B5EF4-FFF2-40B4-BE49-F238E27FC236}">
                <a16:creationId xmlns:a16="http://schemas.microsoft.com/office/drawing/2014/main" id="{BB008C4E-F77B-4ADB-ADF2-C481364703F1}"/>
              </a:ext>
            </a:extLst>
          </p:cNvPr>
          <p:cNvPicPr>
            <a:picLocks noChangeAspect="1" noChangeArrowheads="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FilmGrain/>
                    </a14:imgEffect>
                    <a14:imgEffect>
                      <a14:brightnessContrast bright="20000"/>
                    </a14:imgEffect>
                  </a14:imgLayer>
                </a14:imgProps>
              </a:ext>
              <a:ext uri="{28A0092B-C50C-407E-A947-70E740481C1C}">
                <a14:useLocalDpi xmlns:a14="http://schemas.microsoft.com/office/drawing/2010/main" val="0"/>
              </a:ext>
            </a:extLst>
          </a:blip>
          <a:srcRect l="4999" t="20000" r="6250" b="21666"/>
          <a:stretch>
            <a:fillRect/>
          </a:stretch>
        </p:blipFill>
        <p:spPr bwMode="auto">
          <a:xfrm>
            <a:off x="4209257" y="4898946"/>
            <a:ext cx="3344779" cy="1033463"/>
          </a:xfrm>
          <a:prstGeom prst="rect">
            <a:avLst/>
          </a:prstGeom>
          <a:noFill/>
          <a:ln w="76200" cmpd="tri">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8CFD11B-985E-4B3C-AC2F-1085AC2D9680}"/>
              </a:ext>
            </a:extLst>
          </p:cNvPr>
          <p:cNvSpPr/>
          <p:nvPr/>
        </p:nvSpPr>
        <p:spPr>
          <a:xfrm>
            <a:off x="4135019" y="4460391"/>
            <a:ext cx="2880917" cy="369332"/>
          </a:xfrm>
          <a:prstGeom prst="rect">
            <a:avLst/>
          </a:prstGeom>
        </p:spPr>
        <p:txBody>
          <a:bodyPr wrap="none">
            <a:spAutoFit/>
          </a:bodyPr>
          <a:lstStyle/>
          <a:p>
            <a:r>
              <a:rPr lang="en-US" altLang="en-US" dirty="0">
                <a:latin typeface="Cambria Math" panose="02040503050406030204" pitchFamily="18" charset="0"/>
                <a:ea typeface="Cambria Math" panose="02040503050406030204" pitchFamily="18" charset="0"/>
              </a:rPr>
              <a:t>T1 ----------------------------</a:t>
            </a:r>
            <a:r>
              <a:rPr lang="en-US" altLang="en-US" dirty="0">
                <a:latin typeface="Cambria Math" panose="02040503050406030204" pitchFamily="18" charset="0"/>
                <a:ea typeface="Cambria Math" panose="02040503050406030204" pitchFamily="18" charset="0"/>
                <a:sym typeface="Wingdings" panose="05000000000000000000" pitchFamily="2" charset="2"/>
              </a:rPr>
              <a:t></a:t>
            </a:r>
            <a:endParaRPr lang="en-US" dirty="0"/>
          </a:p>
        </p:txBody>
      </p:sp>
      <p:sp>
        <p:nvSpPr>
          <p:cNvPr id="8" name="Rectangle 7">
            <a:extLst>
              <a:ext uri="{FF2B5EF4-FFF2-40B4-BE49-F238E27FC236}">
                <a16:creationId xmlns:a16="http://schemas.microsoft.com/office/drawing/2014/main" id="{713EDEBE-D4FD-4E46-B1BA-CAC81555B01F}"/>
              </a:ext>
            </a:extLst>
          </p:cNvPr>
          <p:cNvSpPr/>
          <p:nvPr/>
        </p:nvSpPr>
        <p:spPr>
          <a:xfrm rot="5400000">
            <a:off x="3309547" y="5191659"/>
            <a:ext cx="1130680" cy="369332"/>
          </a:xfrm>
          <a:prstGeom prst="rect">
            <a:avLst/>
          </a:prstGeom>
        </p:spPr>
        <p:txBody>
          <a:bodyPr wrap="square">
            <a:spAutoFit/>
          </a:bodyPr>
          <a:lstStyle/>
          <a:p>
            <a:r>
              <a:rPr lang="en-US" altLang="en-US" dirty="0">
                <a:latin typeface="Cambria Math" panose="02040503050406030204" pitchFamily="18" charset="0"/>
                <a:ea typeface="Cambria Math" panose="02040503050406030204" pitchFamily="18" charset="0"/>
              </a:rPr>
              <a:t>T2------</a:t>
            </a:r>
            <a:r>
              <a:rPr lang="en-US" altLang="en-US" dirty="0">
                <a:latin typeface="Cambria Math" panose="02040503050406030204" pitchFamily="18" charset="0"/>
                <a:ea typeface="Cambria Math" panose="02040503050406030204" pitchFamily="18" charset="0"/>
                <a:sym typeface="Wingdings" panose="05000000000000000000" pitchFamily="2" charset="2"/>
              </a:rPr>
              <a:t></a:t>
            </a:r>
            <a:endParaRPr lang="en-US" dirty="0"/>
          </a:p>
        </p:txBody>
      </p:sp>
    </p:spTree>
    <p:extLst>
      <p:ext uri="{BB962C8B-B14F-4D97-AF65-F5344CB8AC3E}">
        <p14:creationId xmlns:p14="http://schemas.microsoft.com/office/powerpoint/2010/main" val="4229303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 calcmode="lin" valueType="num">
                                      <p:cBhvr additive="base">
                                        <p:cTn id="1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 calcmode="lin" valueType="num">
                                      <p:cBhvr additive="base">
                                        <p:cTn id="2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animEffect transition="in" filter="fade">
                                      <p:cBhvr>
                                        <p:cTn id="29" dur="500"/>
                                        <p:tgtEl>
                                          <p:spTgt spid="6">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fltVal val="0"/>
                                          </p:val>
                                        </p:tav>
                                        <p:tav tm="100000">
                                          <p:val>
                                            <p:strVal val="#ppt_w"/>
                                          </p:val>
                                        </p:tav>
                                      </p:tavLst>
                                    </p:anim>
                                    <p:anim calcmode="lin" valueType="num">
                                      <p:cBhvr>
                                        <p:cTn id="35" dur="500" fill="hold"/>
                                        <p:tgtEl>
                                          <p:spTgt spid="3"/>
                                        </p:tgtEl>
                                        <p:attrNameLst>
                                          <p:attrName>ppt_h</p:attrName>
                                        </p:attrNameLst>
                                      </p:cBhvr>
                                      <p:tavLst>
                                        <p:tav tm="0">
                                          <p:val>
                                            <p:fltVal val="0"/>
                                          </p:val>
                                        </p:tav>
                                        <p:tav tm="100000">
                                          <p:val>
                                            <p:strVal val="#ppt_h"/>
                                          </p:val>
                                        </p:tav>
                                      </p:tavLst>
                                    </p:anim>
                                    <p:animEffect transition="in" filter="fade">
                                      <p:cBhvr>
                                        <p:cTn id="36" dur="500"/>
                                        <p:tgtEl>
                                          <p:spTgt spid="3"/>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p:cTn id="39" dur="500" fill="hold"/>
                                        <p:tgtEl>
                                          <p:spTgt spid="5"/>
                                        </p:tgtEl>
                                        <p:attrNameLst>
                                          <p:attrName>ppt_w</p:attrName>
                                        </p:attrNameLst>
                                      </p:cBhvr>
                                      <p:tavLst>
                                        <p:tav tm="0">
                                          <p:val>
                                            <p:fltVal val="0"/>
                                          </p:val>
                                        </p:tav>
                                        <p:tav tm="100000">
                                          <p:val>
                                            <p:strVal val="#ppt_w"/>
                                          </p:val>
                                        </p:tav>
                                      </p:tavLst>
                                    </p:anim>
                                    <p:anim calcmode="lin" valueType="num">
                                      <p:cBhvr>
                                        <p:cTn id="40" dur="500" fill="hold"/>
                                        <p:tgtEl>
                                          <p:spTgt spid="5"/>
                                        </p:tgtEl>
                                        <p:attrNameLst>
                                          <p:attrName>ppt_h</p:attrName>
                                        </p:attrNameLst>
                                      </p:cBhvr>
                                      <p:tavLst>
                                        <p:tav tm="0">
                                          <p:val>
                                            <p:fltVal val="0"/>
                                          </p:val>
                                        </p:tav>
                                        <p:tav tm="100000">
                                          <p:val>
                                            <p:strVal val="#ppt_h"/>
                                          </p:val>
                                        </p:tav>
                                      </p:tavLst>
                                    </p:anim>
                                    <p:animEffect transition="in" filter="fade">
                                      <p:cBhvr>
                                        <p:cTn id="41" dur="500"/>
                                        <p:tgtEl>
                                          <p:spTgt spid="5"/>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25" end="25"/>
                                            </p:txEl>
                                          </p:spTgt>
                                        </p:tgtEl>
                                        <p:attrNameLst>
                                          <p:attrName>style.visibility</p:attrName>
                                        </p:attrNameLst>
                                      </p:cBhvr>
                                      <p:to>
                                        <p:strVal val="visible"/>
                                      </p:to>
                                    </p:set>
                                    <p:animEffect transition="in" filter="fade">
                                      <p:cBhvr>
                                        <p:cTn id="51" dur="500"/>
                                        <p:tgtEl>
                                          <p:spTgt spid="6">
                                            <p:txEl>
                                              <p:pRg st="25"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(Lock Based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506491" y="125368"/>
            <a:ext cx="8038530" cy="3939540"/>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transaction may be granted a lock on an item if the requested lock is compatible with locks already held on the item by other transactions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Any number of transactions can hold shared locks on an item, </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but if any transaction holds an exclusive on the item no other transaction may hold any lock on the item.</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 lock cannot be granted, the requesting transaction is made to wait till all incompatible locks held by other transactions have been released.</a:t>
            </a:r>
          </a:p>
        </p:txBody>
      </p:sp>
      <p:sp>
        <p:nvSpPr>
          <p:cNvPr id="4" name="Rectangle 3">
            <a:extLst>
              <a:ext uri="{FF2B5EF4-FFF2-40B4-BE49-F238E27FC236}">
                <a16:creationId xmlns:a16="http://schemas.microsoft.com/office/drawing/2014/main" id="{1983AAF4-A8F2-4F77-ABE0-50CBF7E5B658}"/>
              </a:ext>
            </a:extLst>
          </p:cNvPr>
          <p:cNvSpPr/>
          <p:nvPr/>
        </p:nvSpPr>
        <p:spPr>
          <a:xfrm>
            <a:off x="2705492" y="4064908"/>
            <a:ext cx="3959257" cy="2677656"/>
          </a:xfrm>
          <a:prstGeom prst="rect">
            <a:avLst/>
          </a:prstGeom>
        </p:spPr>
        <p:txBody>
          <a:bodyPr wrap="square">
            <a:spAutoFit/>
          </a:bodyPr>
          <a:lstStyle/>
          <a:p>
            <a:r>
              <a:rPr lang="en-US" sz="2400" dirty="0">
                <a:latin typeface="Cambria Math" panose="02040503050406030204" pitchFamily="18" charset="0"/>
                <a:ea typeface="Cambria Math" panose="02040503050406030204" pitchFamily="18" charset="0"/>
              </a:rPr>
              <a:t>			T2: lock-S(A);</a:t>
            </a:r>
          </a:p>
          <a:p>
            <a:r>
              <a:rPr lang="en-US" sz="2400" dirty="0">
                <a:latin typeface="Cambria Math" panose="02040503050406030204" pitchFamily="18" charset="0"/>
                <a:ea typeface="Cambria Math" panose="02040503050406030204" pitchFamily="18" charset="0"/>
              </a:rPr>
              <a:t>                             read (A);</a:t>
            </a:r>
          </a:p>
          <a:p>
            <a:r>
              <a:rPr lang="en-US" sz="2400" dirty="0">
                <a:latin typeface="Cambria Math" panose="02040503050406030204" pitchFamily="18" charset="0"/>
                <a:ea typeface="Cambria Math" panose="02040503050406030204" pitchFamily="18" charset="0"/>
              </a:rPr>
              <a:t>                             unlock(A);</a:t>
            </a:r>
          </a:p>
          <a:p>
            <a:r>
              <a:rPr lang="en-US" sz="2400" dirty="0">
                <a:latin typeface="Cambria Math" panose="02040503050406030204" pitchFamily="18" charset="0"/>
                <a:ea typeface="Cambria Math" panose="02040503050406030204" pitchFamily="18" charset="0"/>
              </a:rPr>
              <a:t>                             lock-S(B);</a:t>
            </a:r>
          </a:p>
          <a:p>
            <a:r>
              <a:rPr lang="en-US" sz="2400" dirty="0">
                <a:latin typeface="Cambria Math" panose="02040503050406030204" pitchFamily="18" charset="0"/>
                <a:ea typeface="Cambria Math" panose="02040503050406030204" pitchFamily="18" charset="0"/>
              </a:rPr>
              <a:t>                             read (B);</a:t>
            </a:r>
          </a:p>
          <a:p>
            <a:r>
              <a:rPr lang="en-US" sz="2400" dirty="0">
                <a:latin typeface="Cambria Math" panose="02040503050406030204" pitchFamily="18" charset="0"/>
                <a:ea typeface="Cambria Math" panose="02040503050406030204" pitchFamily="18" charset="0"/>
              </a:rPr>
              <a:t>                             unlock(B);</a:t>
            </a:r>
          </a:p>
          <a:p>
            <a:r>
              <a:rPr lang="en-US" sz="2400" dirty="0">
                <a:latin typeface="Cambria Math" panose="02040503050406030204" pitchFamily="18" charset="0"/>
                <a:ea typeface="Cambria Math" panose="02040503050406030204" pitchFamily="18" charset="0"/>
              </a:rPr>
              <a:t>                             display(A+B)</a:t>
            </a:r>
          </a:p>
        </p:txBody>
      </p:sp>
      <p:sp>
        <p:nvSpPr>
          <p:cNvPr id="5" name="Rectangle 4">
            <a:extLst>
              <a:ext uri="{FF2B5EF4-FFF2-40B4-BE49-F238E27FC236}">
                <a16:creationId xmlns:a16="http://schemas.microsoft.com/office/drawing/2014/main" id="{344F13C7-911B-49C4-B702-A921D8468E7B}"/>
              </a:ext>
            </a:extLst>
          </p:cNvPr>
          <p:cNvSpPr/>
          <p:nvPr/>
        </p:nvSpPr>
        <p:spPr>
          <a:xfrm>
            <a:off x="7088957" y="4064908"/>
            <a:ext cx="4606566" cy="2677656"/>
          </a:xfrm>
          <a:prstGeom prst="rect">
            <a:avLst/>
          </a:prstGeom>
        </p:spPr>
        <p:txBody>
          <a:bodyPr wrap="square">
            <a:spAutoFit/>
          </a:bodyPr>
          <a:lstStyle/>
          <a:p>
            <a:pPr marL="342900" indent="-342900" algn="just">
              <a:buFont typeface="Wingdings" panose="05000000000000000000" pitchFamily="2" charset="2"/>
              <a:buChar char="Ø"/>
            </a:pPr>
            <a:r>
              <a:rPr lang="en-US" altLang="en-US" sz="2400" b="1" dirty="0">
                <a:solidFill>
                  <a:srgbClr val="FF0000"/>
                </a:solidFill>
                <a:latin typeface="Cambria Math" panose="02040503050406030204" pitchFamily="18" charset="0"/>
                <a:ea typeface="Cambria Math" panose="02040503050406030204" pitchFamily="18" charset="0"/>
              </a:rPr>
              <a:t>Example of Transactions using Locking.</a:t>
            </a:r>
          </a:p>
          <a:p>
            <a:pPr algn="just"/>
            <a:endParaRPr lang="en-US" altLang="en-US" sz="24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A  </a:t>
            </a:r>
            <a:r>
              <a:rPr lang="en-US" altLang="en-US" sz="2400" b="1" dirty="0">
                <a:solidFill>
                  <a:schemeClr val="tx2"/>
                </a:solidFill>
                <a:latin typeface="Cambria Math" panose="02040503050406030204" pitchFamily="18" charset="0"/>
                <a:ea typeface="Cambria Math" panose="02040503050406030204" pitchFamily="18" charset="0"/>
              </a:rPr>
              <a:t>locking protocol</a:t>
            </a:r>
            <a:r>
              <a:rPr lang="en-US" altLang="en-US" sz="2400" dirty="0">
                <a:latin typeface="Cambria Math" panose="02040503050406030204" pitchFamily="18" charset="0"/>
                <a:ea typeface="Cambria Math" panose="02040503050406030204" pitchFamily="18" charset="0"/>
              </a:rPr>
              <a:t> is a set of rules followed by all transactions while requesting and releasing locks</a:t>
            </a: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67877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fade">
                                      <p:cBhvr>
                                        <p:cTn id="3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(Lock Based Protocol)</a:t>
            </a:r>
          </a:p>
        </p:txBody>
      </p:sp>
      <p:sp>
        <p:nvSpPr>
          <p:cNvPr id="19" name="Content Placeholder 2">
            <a:extLst>
              <a:ext uri="{FF2B5EF4-FFF2-40B4-BE49-F238E27FC236}">
                <a16:creationId xmlns:a16="http://schemas.microsoft.com/office/drawing/2014/main" id="{E64253B8-C7E4-4EC9-8668-EF0B837213D4}"/>
              </a:ext>
            </a:extLst>
          </p:cNvPr>
          <p:cNvSpPr txBox="1">
            <a:spLocks/>
          </p:cNvSpPr>
          <p:nvPr/>
        </p:nvSpPr>
        <p:spPr>
          <a:xfrm>
            <a:off x="3415400" y="360383"/>
            <a:ext cx="8066324" cy="5334000"/>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lIns="91440" tIns="45720" rIns="91440" bIns="45720" rtlCol="0">
            <a:normAutofit/>
          </a:bodyPr>
          <a:lstStyle>
            <a:lvl1pPr marL="342900" indent="-342900" algn="l" defTabSz="914400" rtl="0" eaLnBrk="1" latinLnBrk="0" hangingPunct="1">
              <a:lnSpc>
                <a:spcPct val="100000"/>
              </a:lnSpc>
              <a:spcBef>
                <a:spcPts val="9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00000"/>
              </a:lnSpc>
              <a:spcBef>
                <a:spcPts val="9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l" defTabSz="914400" rtl="0" eaLnBrk="1" latinLnBrk="0" hangingPunct="1">
              <a:lnSpc>
                <a:spcPct val="100000"/>
              </a:lnSpc>
              <a:spcBef>
                <a:spcPts val="9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l" defTabSz="914400" rtl="0" eaLnBrk="1" latinLnBrk="0" hangingPunct="1">
              <a:lnSpc>
                <a:spcPct val="100000"/>
              </a:lnSpc>
              <a:spcBef>
                <a:spcPts val="9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just" defTabSz="914400" rtl="0" eaLnBrk="1" fontAlgn="auto" latinLnBrk="0" hangingPunct="1">
              <a:lnSpc>
                <a:spcPct val="100000"/>
              </a:lnSpc>
              <a:spcBef>
                <a:spcPts val="900"/>
              </a:spcBef>
              <a:spcAft>
                <a:spcPts val="0"/>
              </a:spcAft>
              <a:buClrTx/>
              <a:buSzTx/>
              <a:buFont typeface="Wingdings" panose="05000000000000000000" pitchFamily="2" charset="2"/>
              <a:buChar char="Ø"/>
              <a:tabLst/>
              <a:defRPr/>
            </a:pPr>
            <a:r>
              <a:rPr kumimoji="0" lang="en-IN" sz="22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The execution phase</a:t>
            </a:r>
            <a:r>
              <a:rPr kumimoji="0" lang="en-IN" sz="2200" b="0" i="0" u="none" strike="noStrike" kern="1200" cap="none" spc="0" normalizeH="0" noProof="0" dirty="0">
                <a:ln>
                  <a:noFill/>
                </a:ln>
                <a:solidFill>
                  <a:sysClr val="windowText" lastClr="000000"/>
                </a:solidFill>
                <a:effectLst/>
                <a:uLnTx/>
                <a:uFillTx/>
                <a:latin typeface="Cambria Math" panose="02040503050406030204" pitchFamily="18" charset="0"/>
                <a:ea typeface="Cambria Math" panose="02040503050406030204" pitchFamily="18" charset="0"/>
              </a:rPr>
              <a:t> of transaction can be described as following</a:t>
            </a:r>
            <a:r>
              <a:rPr kumimoji="0" lang="en-IN" sz="2200" b="0" i="0" u="none" strike="noStrike" kern="120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rPr>
              <a:t>:</a:t>
            </a:r>
          </a:p>
          <a:p>
            <a:pPr marL="857250" marR="0" lvl="1" indent="-457200" algn="just"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IN" sz="22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When execution of transaction</a:t>
            </a:r>
            <a:r>
              <a:rPr kumimoji="0" lang="en-IN" sz="2200" i="0" u="none" strike="noStrike" kern="1200" cap="none" spc="0" normalizeH="0" noProof="0" dirty="0">
                <a:ln>
                  <a:noFill/>
                </a:ln>
                <a:effectLst/>
                <a:uLnTx/>
                <a:uFillTx/>
                <a:latin typeface="Cambria Math" panose="02040503050406030204" pitchFamily="18" charset="0"/>
                <a:ea typeface="Cambria Math" panose="02040503050406030204" pitchFamily="18" charset="0"/>
              </a:rPr>
              <a:t> starts</a:t>
            </a:r>
            <a:r>
              <a:rPr kumimoji="0" lang="en-IN" sz="22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a:t>
            </a:r>
            <a:r>
              <a:rPr kumimoji="0" lang="en-US" sz="22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create a list of data items and type of lock, it needs</a:t>
            </a:r>
            <a:r>
              <a:rPr kumimoji="0" lang="en-US" sz="2200" i="0" u="none" strike="noStrike" kern="1200" cap="none" spc="0" normalizeH="0" noProof="0" dirty="0">
                <a:ln>
                  <a:noFill/>
                </a:ln>
                <a:effectLst/>
                <a:uLnTx/>
                <a:uFillTx/>
                <a:latin typeface="Cambria Math" panose="02040503050406030204" pitchFamily="18" charset="0"/>
                <a:ea typeface="Cambria Math" panose="02040503050406030204" pitchFamily="18" charset="0"/>
              </a:rPr>
              <a:t> and request for that lock.</a:t>
            </a:r>
            <a:r>
              <a:rPr kumimoji="0" lang="en-IN" sz="22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a:t>
            </a:r>
          </a:p>
          <a:p>
            <a:pPr marR="0" lvl="1" algn="just"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IN" sz="22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When all the locks are granted, transaction continues execution of its operation. </a:t>
            </a:r>
          </a:p>
          <a:p>
            <a:pPr marR="0" lvl="1" algn="just" defTabSz="914400" rtl="0" eaLnBrk="1" fontAlgn="auto" latinLnBrk="0" hangingPunct="1">
              <a:lnSpc>
                <a:spcPct val="100000"/>
              </a:lnSpc>
              <a:spcBef>
                <a:spcPts val="900"/>
              </a:spcBef>
              <a:spcAft>
                <a:spcPts val="0"/>
              </a:spcAft>
              <a:buClrTx/>
              <a:buSzTx/>
              <a:buFont typeface="Wingdings" panose="05000000000000000000" pitchFamily="2" charset="2"/>
              <a:buChar char="ü"/>
              <a:tabLst/>
              <a:defRPr/>
            </a:pPr>
            <a:r>
              <a:rPr kumimoji="0" lang="en-IN" sz="2200" i="0"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As soon as the transaction releases its first lock, it cannot demand for any lock; but can only release the acquired locks.</a:t>
            </a:r>
          </a:p>
          <a:p>
            <a:pPr marL="342900" marR="0" lvl="0" indent="-342900" algn="just" defTabSz="914400" rtl="0" eaLnBrk="1" fontAlgn="auto" latinLnBrk="0" hangingPunct="1">
              <a:lnSpc>
                <a:spcPct val="100000"/>
              </a:lnSpc>
              <a:spcBef>
                <a:spcPts val="900"/>
              </a:spcBef>
              <a:spcAft>
                <a:spcPts val="0"/>
              </a:spcAft>
              <a:buClrTx/>
              <a:buSzTx/>
              <a:buFont typeface="Wingdings" panose="05000000000000000000" pitchFamily="2" charset="2"/>
              <a:buChar char="§"/>
              <a:tabLst/>
              <a:defRPr/>
            </a:pPr>
            <a:endParaRPr kumimoji="0" lang="en-IN" sz="2400" b="0" i="0" u="none" strike="noStrike" kern="1200" cap="none" spc="0" normalizeH="0" baseline="0" noProof="0" dirty="0">
              <a:ln>
                <a:noFill/>
              </a:ln>
              <a:solidFill>
                <a:sysClr val="windowText" lastClr="000000"/>
              </a:solidFill>
              <a:effectLst/>
              <a:uLnTx/>
              <a:uFillTx/>
              <a:latin typeface="Calibri"/>
              <a:cs typeface="Times New Roman" panose="02020603050405020304" pitchFamily="18" charset="0"/>
            </a:endParaRPr>
          </a:p>
        </p:txBody>
      </p:sp>
      <p:cxnSp>
        <p:nvCxnSpPr>
          <p:cNvPr id="20" name="Straight Arrow Connector 19">
            <a:extLst>
              <a:ext uri="{FF2B5EF4-FFF2-40B4-BE49-F238E27FC236}">
                <a16:creationId xmlns:a16="http://schemas.microsoft.com/office/drawing/2014/main" id="{7DF40986-2B34-4356-AB20-8C73D19256E7}"/>
              </a:ext>
            </a:extLst>
          </p:cNvPr>
          <p:cNvCxnSpPr>
            <a:cxnSpLocks/>
          </p:cNvCxnSpPr>
          <p:nvPr/>
        </p:nvCxnSpPr>
        <p:spPr>
          <a:xfrm>
            <a:off x="4617717" y="5665326"/>
            <a:ext cx="4802635" cy="0"/>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sp>
        <p:nvSpPr>
          <p:cNvPr id="21" name="Rectangle 20">
            <a:extLst>
              <a:ext uri="{FF2B5EF4-FFF2-40B4-BE49-F238E27FC236}">
                <a16:creationId xmlns:a16="http://schemas.microsoft.com/office/drawing/2014/main" id="{C26C5260-062F-4AB5-98E2-D03381BF4C67}"/>
              </a:ext>
            </a:extLst>
          </p:cNvPr>
          <p:cNvSpPr/>
          <p:nvPr/>
        </p:nvSpPr>
        <p:spPr>
          <a:xfrm>
            <a:off x="6026735" y="4960437"/>
            <a:ext cx="2314684" cy="7200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a:ea typeface="+mn-ea"/>
                <a:cs typeface="+mn-cs"/>
              </a:rPr>
              <a:t>Transaction</a:t>
            </a:r>
            <a:endParaRPr kumimoji="0" lang="en-IN"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1A39606C-6C82-4B9F-AE9F-56219005CD23}"/>
              </a:ext>
            </a:extLst>
          </p:cNvPr>
          <p:cNvSpPr txBox="1"/>
          <p:nvPr/>
        </p:nvSpPr>
        <p:spPr>
          <a:xfrm>
            <a:off x="5326143" y="5702802"/>
            <a:ext cx="1090953" cy="400110"/>
          </a:xfrm>
          <a:prstGeom prst="rect">
            <a:avLst/>
          </a:prstGeom>
          <a:noFill/>
        </p:spPr>
        <p:txBody>
          <a:bodyPr wrap="square" rtlCol="0">
            <a:spAutoFit/>
          </a:bodyPr>
          <a:lstStyle/>
          <a:p>
            <a:pPr defTabSz="914400"/>
            <a:r>
              <a:rPr lang="en-US" sz="2000" dirty="0">
                <a:solidFill>
                  <a:prstClr val="black"/>
                </a:solidFill>
                <a:latin typeface="Calibri"/>
              </a:rPr>
              <a:t>T begin</a:t>
            </a:r>
            <a:endParaRPr lang="en-IN" sz="2000" dirty="0">
              <a:solidFill>
                <a:prstClr val="black"/>
              </a:solidFill>
              <a:latin typeface="Calibri"/>
            </a:endParaRPr>
          </a:p>
        </p:txBody>
      </p:sp>
      <p:sp>
        <p:nvSpPr>
          <p:cNvPr id="23" name="TextBox 22">
            <a:extLst>
              <a:ext uri="{FF2B5EF4-FFF2-40B4-BE49-F238E27FC236}">
                <a16:creationId xmlns:a16="http://schemas.microsoft.com/office/drawing/2014/main" id="{45009ED6-BD78-441A-A142-C3D5ED35E111}"/>
              </a:ext>
            </a:extLst>
          </p:cNvPr>
          <p:cNvSpPr txBox="1"/>
          <p:nvPr/>
        </p:nvSpPr>
        <p:spPr>
          <a:xfrm>
            <a:off x="7794451" y="5692996"/>
            <a:ext cx="1090953" cy="400110"/>
          </a:xfrm>
          <a:prstGeom prst="rect">
            <a:avLst/>
          </a:prstGeom>
          <a:noFill/>
        </p:spPr>
        <p:txBody>
          <a:bodyPr wrap="square" rtlCol="0">
            <a:spAutoFit/>
          </a:bodyPr>
          <a:lstStyle/>
          <a:p>
            <a:pPr defTabSz="914400"/>
            <a:r>
              <a:rPr lang="en-US" sz="2000" dirty="0">
                <a:solidFill>
                  <a:prstClr val="black"/>
                </a:solidFill>
                <a:latin typeface="Calibri"/>
              </a:rPr>
              <a:t>T end</a:t>
            </a:r>
            <a:endParaRPr lang="en-IN" sz="2000" dirty="0">
              <a:solidFill>
                <a:prstClr val="black"/>
              </a:solidFill>
              <a:latin typeface="Calibri"/>
            </a:endParaRPr>
          </a:p>
        </p:txBody>
      </p:sp>
      <p:sp>
        <p:nvSpPr>
          <p:cNvPr id="24" name="TextBox 23">
            <a:extLst>
              <a:ext uri="{FF2B5EF4-FFF2-40B4-BE49-F238E27FC236}">
                <a16:creationId xmlns:a16="http://schemas.microsoft.com/office/drawing/2014/main" id="{BF639875-C078-46B9-BECF-C3F84E1310F8}"/>
              </a:ext>
            </a:extLst>
          </p:cNvPr>
          <p:cNvSpPr txBox="1"/>
          <p:nvPr/>
        </p:nvSpPr>
        <p:spPr>
          <a:xfrm>
            <a:off x="9289063" y="5692996"/>
            <a:ext cx="736259" cy="400110"/>
          </a:xfrm>
          <a:prstGeom prst="rect">
            <a:avLst/>
          </a:prstGeom>
          <a:noFill/>
        </p:spPr>
        <p:txBody>
          <a:bodyPr wrap="square" rtlCol="0">
            <a:spAutoFit/>
          </a:bodyPr>
          <a:lstStyle/>
          <a:p>
            <a:pPr defTabSz="914400"/>
            <a:r>
              <a:rPr lang="en-US" sz="2000" dirty="0">
                <a:solidFill>
                  <a:prstClr val="black"/>
                </a:solidFill>
                <a:latin typeface="Calibri"/>
              </a:rPr>
              <a:t>Time</a:t>
            </a:r>
            <a:endParaRPr lang="en-IN" sz="2000" dirty="0">
              <a:solidFill>
                <a:prstClr val="black"/>
              </a:solidFill>
              <a:latin typeface="Calibri"/>
            </a:endParaRPr>
          </a:p>
        </p:txBody>
      </p:sp>
      <p:sp>
        <p:nvSpPr>
          <p:cNvPr id="25" name="TextBox 24">
            <a:extLst>
              <a:ext uri="{FF2B5EF4-FFF2-40B4-BE49-F238E27FC236}">
                <a16:creationId xmlns:a16="http://schemas.microsoft.com/office/drawing/2014/main" id="{9B2092CF-01F8-49B5-A13D-71C00E399CB4}"/>
              </a:ext>
            </a:extLst>
          </p:cNvPr>
          <p:cNvSpPr txBox="1"/>
          <p:nvPr/>
        </p:nvSpPr>
        <p:spPr>
          <a:xfrm>
            <a:off x="3653266" y="4362951"/>
            <a:ext cx="1928903" cy="40011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a:ea typeface="+mn-ea"/>
                <a:cs typeface="+mn-cs"/>
              </a:rPr>
              <a:t>Lock Request</a:t>
            </a:r>
            <a:endParaRPr kumimoji="0" lang="en-IN" sz="2000" b="0" i="0" u="none" strike="noStrike" kern="0" cap="none" spc="0" normalizeH="0" baseline="0" noProof="0" dirty="0">
              <a:ln>
                <a:noFill/>
              </a:ln>
              <a:solidFill>
                <a:prstClr val="black"/>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1D1ECDCF-FA18-47F0-ABD9-183306D134A8}"/>
              </a:ext>
            </a:extLst>
          </p:cNvPr>
          <p:cNvSpPr txBox="1"/>
          <p:nvPr/>
        </p:nvSpPr>
        <p:spPr>
          <a:xfrm>
            <a:off x="8786683" y="4362951"/>
            <a:ext cx="1928903" cy="40011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a:ea typeface="+mn-ea"/>
                <a:cs typeface="+mn-cs"/>
              </a:rPr>
              <a:t>Lock Release</a:t>
            </a:r>
            <a:endParaRPr kumimoji="0" lang="en-IN" sz="20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27" name="Straight Arrow Connector 26">
            <a:extLst>
              <a:ext uri="{FF2B5EF4-FFF2-40B4-BE49-F238E27FC236}">
                <a16:creationId xmlns:a16="http://schemas.microsoft.com/office/drawing/2014/main" id="{38803AE9-BEFB-4642-8401-57946492614D}"/>
              </a:ext>
            </a:extLst>
          </p:cNvPr>
          <p:cNvCxnSpPr>
            <a:stCxn id="25" idx="3"/>
          </p:cNvCxnSpPr>
          <p:nvPr/>
        </p:nvCxnSpPr>
        <p:spPr>
          <a:xfrm>
            <a:off x="5582169" y="4563006"/>
            <a:ext cx="441558" cy="417891"/>
          </a:xfrm>
          <a:prstGeom prst="straightConnector1">
            <a:avLst/>
          </a:prstGeom>
          <a:noFill/>
          <a:ln w="28575" cap="flat" cmpd="sng" algn="ctr">
            <a:solidFill>
              <a:srgbClr val="C0504D">
                <a:shade val="95000"/>
                <a:satMod val="105000"/>
              </a:srgbClr>
            </a:solidFill>
            <a:prstDash val="solid"/>
            <a:tailEnd type="triangle"/>
          </a:ln>
          <a:effectLst/>
        </p:spPr>
      </p:cxnSp>
      <p:cxnSp>
        <p:nvCxnSpPr>
          <p:cNvPr id="28" name="Straight Arrow Connector 27">
            <a:extLst>
              <a:ext uri="{FF2B5EF4-FFF2-40B4-BE49-F238E27FC236}">
                <a16:creationId xmlns:a16="http://schemas.microsoft.com/office/drawing/2014/main" id="{6A03C815-0E69-4203-988A-236D71DDA0AD}"/>
              </a:ext>
            </a:extLst>
          </p:cNvPr>
          <p:cNvCxnSpPr>
            <a:cxnSpLocks/>
            <a:stCxn id="26" idx="1"/>
          </p:cNvCxnSpPr>
          <p:nvPr/>
        </p:nvCxnSpPr>
        <p:spPr>
          <a:xfrm flipH="1">
            <a:off x="8360779" y="4563006"/>
            <a:ext cx="425904" cy="507831"/>
          </a:xfrm>
          <a:prstGeom prst="straightConnector1">
            <a:avLst/>
          </a:prstGeom>
          <a:noFill/>
          <a:ln w="28575" cap="flat" cmpd="sng" algn="ctr">
            <a:solidFill>
              <a:srgbClr val="C0504D">
                <a:shade val="95000"/>
                <a:satMod val="105000"/>
              </a:srgbClr>
            </a:solidFill>
            <a:prstDash val="solid"/>
            <a:tailEnd type="triangle"/>
          </a:ln>
          <a:effectLst/>
        </p:spPr>
      </p:cxnSp>
      <p:sp>
        <p:nvSpPr>
          <p:cNvPr id="29" name="Right Brace 28">
            <a:extLst>
              <a:ext uri="{FF2B5EF4-FFF2-40B4-BE49-F238E27FC236}">
                <a16:creationId xmlns:a16="http://schemas.microsoft.com/office/drawing/2014/main" id="{F431BF55-9DE5-41D9-8C0E-64C70629F426}"/>
              </a:ext>
            </a:extLst>
          </p:cNvPr>
          <p:cNvSpPr/>
          <p:nvPr/>
        </p:nvSpPr>
        <p:spPr>
          <a:xfrm rot="16200000">
            <a:off x="7071124" y="3682185"/>
            <a:ext cx="245266" cy="2314684"/>
          </a:xfrm>
          <a:prstGeom prst="rightBrace">
            <a:avLst/>
          </a:prstGeom>
          <a:noFill/>
          <a:ln w="28575" cap="flat" cmpd="sng" algn="ctr">
            <a:solidFill>
              <a:srgbClr val="8064A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9B6A547F-A5C5-4CE2-9F0D-089813F6E751}"/>
              </a:ext>
            </a:extLst>
          </p:cNvPr>
          <p:cNvSpPr txBox="1"/>
          <p:nvPr/>
        </p:nvSpPr>
        <p:spPr>
          <a:xfrm>
            <a:off x="6239014" y="3967531"/>
            <a:ext cx="1928903" cy="707886"/>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a:ea typeface="+mn-ea"/>
                <a:cs typeface="+mn-cs"/>
              </a:rPr>
              <a:t>Transaction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a:ea typeface="+mn-ea"/>
                <a:cs typeface="+mn-cs"/>
              </a:rPr>
              <a:t>Execution</a:t>
            </a:r>
            <a:endParaRPr kumimoji="0" lang="en-IN" sz="2000" b="0" i="0" u="none" strike="noStrike" kern="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5220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p:bldP spid="24" grpId="0"/>
      <p:bldP spid="25" grpId="0" animBg="1"/>
      <p:bldP spid="26" grpId="0" animBg="1"/>
      <p:bldP spid="29" grpId="0" animBg="1"/>
      <p:bldP spid="3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Lock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591333" y="454384"/>
            <a:ext cx="8038530" cy="3647152"/>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Two Phase Lock protocol has 2 phases: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Growing Phase:</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may obtain locks </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may not release locks</a:t>
            </a:r>
          </a:p>
          <a:p>
            <a:pPr marL="914400" lvl="1" indent="-457200" algn="just">
              <a:buFont typeface="Wingdings" panose="05000000000000000000" pitchFamily="2" charset="2"/>
              <a:buChar char="ü"/>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Shrinking Phase:</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may release locks</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may not obtain locks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ensures serialized transactions based on lock points (the point where a transaction acquired its final lock). </a:t>
            </a:r>
            <a:endParaRPr lang="en-US" sz="500" dirty="0">
              <a:latin typeface="Cambria Math" panose="02040503050406030204" pitchFamily="18" charset="0"/>
              <a:ea typeface="Cambria Math" panose="02040503050406030204" pitchFamily="18" charset="0"/>
            </a:endParaRPr>
          </a:p>
        </p:txBody>
      </p:sp>
      <p:cxnSp>
        <p:nvCxnSpPr>
          <p:cNvPr id="4" name="Straight Arrow Connector 3">
            <a:extLst>
              <a:ext uri="{FF2B5EF4-FFF2-40B4-BE49-F238E27FC236}">
                <a16:creationId xmlns:a16="http://schemas.microsoft.com/office/drawing/2014/main" id="{E86B7564-2090-4142-86C7-9BDD9A5959B4}"/>
              </a:ext>
            </a:extLst>
          </p:cNvPr>
          <p:cNvCxnSpPr>
            <a:cxnSpLocks/>
          </p:cNvCxnSpPr>
          <p:nvPr/>
        </p:nvCxnSpPr>
        <p:spPr>
          <a:xfrm>
            <a:off x="4686982" y="5966030"/>
            <a:ext cx="4802635" cy="0"/>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sp>
        <p:nvSpPr>
          <p:cNvPr id="5" name="Rectangle 4">
            <a:extLst>
              <a:ext uri="{FF2B5EF4-FFF2-40B4-BE49-F238E27FC236}">
                <a16:creationId xmlns:a16="http://schemas.microsoft.com/office/drawing/2014/main" id="{5A298344-E907-48A4-A93E-32E7A7C74D6C}"/>
              </a:ext>
            </a:extLst>
          </p:cNvPr>
          <p:cNvSpPr/>
          <p:nvPr/>
        </p:nvSpPr>
        <p:spPr>
          <a:xfrm>
            <a:off x="6096000" y="5261141"/>
            <a:ext cx="2314684" cy="7200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Calibri"/>
                <a:ea typeface="+mn-ea"/>
                <a:cs typeface="+mn-cs"/>
              </a:rPr>
              <a:t>Transaction</a:t>
            </a:r>
            <a:endParaRPr kumimoji="0" lang="en-IN" sz="2800" b="0" i="0" u="none" strike="noStrike" kern="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22FB249C-D4EA-4FFD-83CF-CD02E5113365}"/>
              </a:ext>
            </a:extLst>
          </p:cNvPr>
          <p:cNvSpPr txBox="1"/>
          <p:nvPr/>
        </p:nvSpPr>
        <p:spPr>
          <a:xfrm>
            <a:off x="5395408" y="6003506"/>
            <a:ext cx="1090953" cy="400110"/>
          </a:xfrm>
          <a:prstGeom prst="rect">
            <a:avLst/>
          </a:prstGeom>
          <a:noFill/>
        </p:spPr>
        <p:txBody>
          <a:bodyPr wrap="square" rtlCol="0">
            <a:spAutoFit/>
          </a:bodyPr>
          <a:lstStyle/>
          <a:p>
            <a:pPr defTabSz="914400"/>
            <a:r>
              <a:rPr lang="en-US" sz="2000" dirty="0">
                <a:solidFill>
                  <a:prstClr val="black"/>
                </a:solidFill>
                <a:latin typeface="Calibri"/>
              </a:rPr>
              <a:t>T begin</a:t>
            </a:r>
            <a:endParaRPr lang="en-IN" sz="2000" dirty="0">
              <a:solidFill>
                <a:prstClr val="black"/>
              </a:solidFill>
              <a:latin typeface="Calibri"/>
            </a:endParaRPr>
          </a:p>
        </p:txBody>
      </p:sp>
      <p:sp>
        <p:nvSpPr>
          <p:cNvPr id="8" name="TextBox 7">
            <a:extLst>
              <a:ext uri="{FF2B5EF4-FFF2-40B4-BE49-F238E27FC236}">
                <a16:creationId xmlns:a16="http://schemas.microsoft.com/office/drawing/2014/main" id="{66FFEF9D-642C-492F-99DD-00F48772664C}"/>
              </a:ext>
            </a:extLst>
          </p:cNvPr>
          <p:cNvSpPr txBox="1"/>
          <p:nvPr/>
        </p:nvSpPr>
        <p:spPr>
          <a:xfrm>
            <a:off x="7863716" y="5993700"/>
            <a:ext cx="1090953" cy="400110"/>
          </a:xfrm>
          <a:prstGeom prst="rect">
            <a:avLst/>
          </a:prstGeom>
          <a:noFill/>
        </p:spPr>
        <p:txBody>
          <a:bodyPr wrap="square" rtlCol="0">
            <a:spAutoFit/>
          </a:bodyPr>
          <a:lstStyle/>
          <a:p>
            <a:pPr defTabSz="914400"/>
            <a:r>
              <a:rPr lang="en-US" sz="2000" dirty="0">
                <a:solidFill>
                  <a:prstClr val="black"/>
                </a:solidFill>
                <a:latin typeface="Calibri"/>
              </a:rPr>
              <a:t>T end</a:t>
            </a:r>
            <a:endParaRPr lang="en-IN" sz="2000" dirty="0">
              <a:solidFill>
                <a:prstClr val="black"/>
              </a:solidFill>
              <a:latin typeface="Calibri"/>
            </a:endParaRPr>
          </a:p>
        </p:txBody>
      </p:sp>
      <p:sp>
        <p:nvSpPr>
          <p:cNvPr id="9" name="TextBox 8">
            <a:extLst>
              <a:ext uri="{FF2B5EF4-FFF2-40B4-BE49-F238E27FC236}">
                <a16:creationId xmlns:a16="http://schemas.microsoft.com/office/drawing/2014/main" id="{6EDCA673-2A76-4BFA-82D2-D930471E3170}"/>
              </a:ext>
            </a:extLst>
          </p:cNvPr>
          <p:cNvSpPr txBox="1"/>
          <p:nvPr/>
        </p:nvSpPr>
        <p:spPr>
          <a:xfrm>
            <a:off x="9358328" y="5993700"/>
            <a:ext cx="736259" cy="400110"/>
          </a:xfrm>
          <a:prstGeom prst="rect">
            <a:avLst/>
          </a:prstGeom>
          <a:noFill/>
        </p:spPr>
        <p:txBody>
          <a:bodyPr wrap="square" rtlCol="0">
            <a:spAutoFit/>
          </a:bodyPr>
          <a:lstStyle/>
          <a:p>
            <a:pPr defTabSz="914400"/>
            <a:r>
              <a:rPr lang="en-US" sz="2000" dirty="0">
                <a:solidFill>
                  <a:prstClr val="black"/>
                </a:solidFill>
                <a:latin typeface="Calibri"/>
              </a:rPr>
              <a:t>Time</a:t>
            </a:r>
            <a:endParaRPr lang="en-IN" sz="2000" dirty="0">
              <a:solidFill>
                <a:prstClr val="black"/>
              </a:solidFill>
              <a:latin typeface="Calibri"/>
            </a:endParaRPr>
          </a:p>
        </p:txBody>
      </p:sp>
      <p:sp>
        <p:nvSpPr>
          <p:cNvPr id="10" name="TextBox 9">
            <a:extLst>
              <a:ext uri="{FF2B5EF4-FFF2-40B4-BE49-F238E27FC236}">
                <a16:creationId xmlns:a16="http://schemas.microsoft.com/office/drawing/2014/main" id="{F36EB275-AE4B-482D-8BEF-3F1CCBD55275}"/>
              </a:ext>
            </a:extLst>
          </p:cNvPr>
          <p:cNvSpPr txBox="1"/>
          <p:nvPr/>
        </p:nvSpPr>
        <p:spPr>
          <a:xfrm>
            <a:off x="3722531" y="4663655"/>
            <a:ext cx="1928903" cy="40011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a:ea typeface="+mn-ea"/>
                <a:cs typeface="+mn-cs"/>
              </a:rPr>
              <a:t>Growing</a:t>
            </a:r>
            <a:r>
              <a:rPr kumimoji="0" lang="en-US" sz="2000" b="0" i="0" u="none" strike="noStrike" kern="0" cap="none" spc="0" normalizeH="0" noProof="0" dirty="0">
                <a:ln>
                  <a:noFill/>
                </a:ln>
                <a:solidFill>
                  <a:prstClr val="black"/>
                </a:solidFill>
                <a:effectLst/>
                <a:uLnTx/>
                <a:uFillTx/>
                <a:latin typeface="Calibri"/>
                <a:ea typeface="+mn-ea"/>
                <a:cs typeface="+mn-cs"/>
              </a:rPr>
              <a:t> Phase</a:t>
            </a:r>
            <a:endParaRPr kumimoji="0" lang="en-IN" sz="2000" b="0" i="0" u="none" strike="noStrike" kern="0" cap="none" spc="0" normalizeH="0" baseline="0" noProof="0" dirty="0">
              <a:ln>
                <a:noFill/>
              </a:ln>
              <a:solidFill>
                <a:prstClr val="black"/>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02CA4FD2-9FDA-462F-952B-2F90F63CA974}"/>
              </a:ext>
            </a:extLst>
          </p:cNvPr>
          <p:cNvSpPr txBox="1"/>
          <p:nvPr/>
        </p:nvSpPr>
        <p:spPr>
          <a:xfrm>
            <a:off x="8855948" y="4663655"/>
            <a:ext cx="1928903" cy="40011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Calibri"/>
                <a:ea typeface="+mn-ea"/>
                <a:cs typeface="+mn-cs"/>
              </a:rPr>
              <a:t>Shrinking Phase</a:t>
            </a:r>
            <a:endParaRPr kumimoji="0" lang="en-IN" sz="20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12" name="Straight Arrow Connector 11">
            <a:extLst>
              <a:ext uri="{FF2B5EF4-FFF2-40B4-BE49-F238E27FC236}">
                <a16:creationId xmlns:a16="http://schemas.microsoft.com/office/drawing/2014/main" id="{B812BBC9-D816-4375-AD8A-5394D0786F4D}"/>
              </a:ext>
            </a:extLst>
          </p:cNvPr>
          <p:cNvCxnSpPr>
            <a:stCxn id="10" idx="3"/>
          </p:cNvCxnSpPr>
          <p:nvPr/>
        </p:nvCxnSpPr>
        <p:spPr>
          <a:xfrm>
            <a:off x="5651434" y="4863710"/>
            <a:ext cx="441558" cy="417891"/>
          </a:xfrm>
          <a:prstGeom prst="straightConnector1">
            <a:avLst/>
          </a:prstGeom>
          <a:noFill/>
          <a:ln w="28575" cap="flat" cmpd="sng" algn="ctr">
            <a:solidFill>
              <a:srgbClr val="C0504D">
                <a:shade val="95000"/>
                <a:satMod val="105000"/>
              </a:srgbClr>
            </a:solidFill>
            <a:prstDash val="solid"/>
            <a:tailEnd type="triangle"/>
          </a:ln>
          <a:effectLst/>
        </p:spPr>
      </p:cxnSp>
      <p:cxnSp>
        <p:nvCxnSpPr>
          <p:cNvPr id="13" name="Straight Arrow Connector 12">
            <a:extLst>
              <a:ext uri="{FF2B5EF4-FFF2-40B4-BE49-F238E27FC236}">
                <a16:creationId xmlns:a16="http://schemas.microsoft.com/office/drawing/2014/main" id="{F1D69DE5-1A52-428C-9C6F-052B5C31ADBD}"/>
              </a:ext>
            </a:extLst>
          </p:cNvPr>
          <p:cNvCxnSpPr>
            <a:cxnSpLocks/>
            <a:stCxn id="11" idx="1"/>
          </p:cNvCxnSpPr>
          <p:nvPr/>
        </p:nvCxnSpPr>
        <p:spPr>
          <a:xfrm flipH="1">
            <a:off x="8430044" y="4863710"/>
            <a:ext cx="425904" cy="507831"/>
          </a:xfrm>
          <a:prstGeom prst="straightConnector1">
            <a:avLst/>
          </a:prstGeom>
          <a:noFill/>
          <a:ln w="28575" cap="flat" cmpd="sng" algn="ctr">
            <a:solidFill>
              <a:srgbClr val="C0504D">
                <a:shade val="95000"/>
                <a:satMod val="105000"/>
              </a:srgbClr>
            </a:solidFill>
            <a:prstDash val="solid"/>
            <a:tailEnd type="triangle"/>
          </a:ln>
          <a:effectLst/>
        </p:spPr>
      </p:cxnSp>
    </p:spTree>
    <p:extLst>
      <p:ext uri="{BB962C8B-B14F-4D97-AF65-F5344CB8AC3E}">
        <p14:creationId xmlns:p14="http://schemas.microsoft.com/office/powerpoint/2010/main" val="3506088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500"/>
                                        <p:tgtEl>
                                          <p:spTgt spid="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500"/>
                                        <p:tgtEl>
                                          <p:spTgt spid="6">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fade">
                                      <p:cBhvr>
                                        <p:cTn id="39" dur="500"/>
                                        <p:tgtEl>
                                          <p:spTgt spid="6">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xEl>
                                              <p:pRg st="6" end="6"/>
                                            </p:txEl>
                                          </p:spTgt>
                                        </p:tgtEl>
                                        <p:attrNameLst>
                                          <p:attrName>style.visibility</p:attrName>
                                        </p:attrNameLst>
                                      </p:cBhvr>
                                      <p:to>
                                        <p:strVal val="visible"/>
                                      </p:to>
                                    </p:set>
                                    <p:animEffect transition="in" filter="fade">
                                      <p:cBhvr>
                                        <p:cTn id="56" dur="500"/>
                                        <p:tgtEl>
                                          <p:spTgt spid="6">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6">
                                            <p:txEl>
                                              <p:pRg st="7" end="7"/>
                                            </p:txEl>
                                          </p:spTgt>
                                        </p:tgtEl>
                                        <p:attrNameLst>
                                          <p:attrName>style.visibility</p:attrName>
                                        </p:attrNameLst>
                                      </p:cBhvr>
                                      <p:to>
                                        <p:strVal val="visible"/>
                                      </p:to>
                                    </p:set>
                                    <p:animEffect transition="in" filter="fade">
                                      <p:cBhvr>
                                        <p:cTn id="61" dur="500"/>
                                        <p:tgtEl>
                                          <p:spTgt spid="6">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6">
                                            <p:txEl>
                                              <p:pRg st="8" end="8"/>
                                            </p:txEl>
                                          </p:spTgt>
                                        </p:tgtEl>
                                        <p:attrNameLst>
                                          <p:attrName>style.visibility</p:attrName>
                                        </p:attrNameLst>
                                      </p:cBhvr>
                                      <p:to>
                                        <p:strVal val="visible"/>
                                      </p:to>
                                    </p:set>
                                    <p:animEffect transition="in" filter="fade">
                                      <p:cBhvr>
                                        <p:cTn id="66" dur="500"/>
                                        <p:tgtEl>
                                          <p:spTgt spid="6">
                                            <p:txEl>
                                              <p:pRg st="8" end="8"/>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1000"/>
                                        <p:tgtEl>
                                          <p:spTgt spid="11"/>
                                        </p:tgtEl>
                                      </p:cBhvr>
                                    </p:animEffect>
                                    <p:anim calcmode="lin" valueType="num">
                                      <p:cBhvr>
                                        <p:cTn id="72" dur="1000" fill="hold"/>
                                        <p:tgtEl>
                                          <p:spTgt spid="11"/>
                                        </p:tgtEl>
                                        <p:attrNameLst>
                                          <p:attrName>ppt_x</p:attrName>
                                        </p:attrNameLst>
                                      </p:cBhvr>
                                      <p:tavLst>
                                        <p:tav tm="0">
                                          <p:val>
                                            <p:strVal val="#ppt_x"/>
                                          </p:val>
                                        </p:tav>
                                        <p:tav tm="100000">
                                          <p:val>
                                            <p:strVal val="#ppt_x"/>
                                          </p:val>
                                        </p:tav>
                                      </p:tavLst>
                                    </p:anim>
                                    <p:anim calcmode="lin" valueType="num">
                                      <p:cBhvr>
                                        <p:cTn id="73" dur="1000" fill="hold"/>
                                        <p:tgtEl>
                                          <p:spTgt spid="11"/>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1000"/>
                                        <p:tgtEl>
                                          <p:spTgt spid="13"/>
                                        </p:tgtEl>
                                      </p:cBhvr>
                                    </p:animEffect>
                                    <p:anim calcmode="lin" valueType="num">
                                      <p:cBhvr>
                                        <p:cTn id="77" dur="1000" fill="hold"/>
                                        <p:tgtEl>
                                          <p:spTgt spid="13"/>
                                        </p:tgtEl>
                                        <p:attrNameLst>
                                          <p:attrName>ppt_x</p:attrName>
                                        </p:attrNameLst>
                                      </p:cBhvr>
                                      <p:tavLst>
                                        <p:tav tm="0">
                                          <p:val>
                                            <p:strVal val="#ppt_x"/>
                                          </p:val>
                                        </p:tav>
                                        <p:tav tm="100000">
                                          <p:val>
                                            <p:strVal val="#ppt_x"/>
                                          </p:val>
                                        </p:tav>
                                      </p:tavLst>
                                    </p:anim>
                                    <p:anim calcmode="lin" valueType="num">
                                      <p:cBhvr>
                                        <p:cTn id="7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6">
                                            <p:txEl>
                                              <p:pRg st="10" end="10"/>
                                            </p:txEl>
                                          </p:spTgt>
                                        </p:tgtEl>
                                        <p:attrNameLst>
                                          <p:attrName>style.visibility</p:attrName>
                                        </p:attrNameLst>
                                      </p:cBhvr>
                                      <p:to>
                                        <p:strVal val="visible"/>
                                      </p:to>
                                    </p:set>
                                    <p:animEffect transition="in" filter="fade">
                                      <p:cBhvr>
                                        <p:cTn id="83"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9" grpId="0"/>
      <p:bldP spid="10"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Lock Protocol – Lock Conversions)</a:t>
            </a:r>
          </a:p>
        </p:txBody>
      </p:sp>
      <p:sp>
        <p:nvSpPr>
          <p:cNvPr id="6" name="Rectangle 5">
            <a:extLst>
              <a:ext uri="{FF2B5EF4-FFF2-40B4-BE49-F238E27FC236}">
                <a16:creationId xmlns:a16="http://schemas.microsoft.com/office/drawing/2014/main" id="{0F4CE4F2-39FB-4AB9-A82C-DFB095193EDB}"/>
              </a:ext>
            </a:extLst>
          </p:cNvPr>
          <p:cNvSpPr/>
          <p:nvPr/>
        </p:nvSpPr>
        <p:spPr>
          <a:xfrm>
            <a:off x="3572479" y="1199101"/>
            <a:ext cx="8211026" cy="4016484"/>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Two Phase Lock Conversions are as follows: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Growing Phase:</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receive Lock - S</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receive Lock - X</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convert Lock - S to Lock - X</a:t>
            </a:r>
          </a:p>
          <a:p>
            <a:pPr marL="914400" lvl="1" indent="-457200" algn="just">
              <a:buFont typeface="Wingdings" panose="05000000000000000000" pitchFamily="2" charset="2"/>
              <a:buChar char="ü"/>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Shrinking Phase:</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releases Lock - S</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releases Lock - X</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transaction convert Lock - X to Lock – S and release</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It ensures serialized transactions.</a:t>
            </a:r>
            <a:endParaRPr lang="en-US" sz="5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4482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fade">
                                      <p:cBhvr>
                                        <p:cTn id="37" dur="500"/>
                                        <p:tgtEl>
                                          <p:spTgt spid="6">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fade">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fade">
                                      <p:cBhvr>
                                        <p:cTn id="47" dur="5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12" end="12"/>
                                            </p:txEl>
                                          </p:spTgt>
                                        </p:tgtEl>
                                        <p:attrNameLst>
                                          <p:attrName>style.visibility</p:attrName>
                                        </p:attrNameLst>
                                      </p:cBhvr>
                                      <p:to>
                                        <p:strVal val="visible"/>
                                      </p:to>
                                    </p:set>
                                    <p:animEffect transition="in" filter="fade">
                                      <p:cBhvr>
                                        <p:cTn id="52"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(Two Phase Lock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591333" y="454384"/>
            <a:ext cx="8038530" cy="5986254"/>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Two Phase Lock can be of 2 types: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Strict two phase locking protocol:</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A transaction may release all the shared locks after the Lock Point, but cannot release any of the exclusive locks until the transaction commits or aborts. </a:t>
            </a:r>
          </a:p>
          <a:p>
            <a:pPr marL="1371600" lvl="2" indent="-457200" algn="just">
              <a:buFont typeface="Wingdings" panose="05000000000000000000" pitchFamily="2" charset="2"/>
              <a:buChar char="§"/>
            </a:pPr>
            <a:endParaRPr lang="en-US" sz="5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It ensures that if the data is being modified by one transaction, then other transaction cannot read it until first transaction commits.</a:t>
            </a:r>
          </a:p>
          <a:p>
            <a:pPr marL="914400" lvl="1" indent="-457200" algn="just">
              <a:buFont typeface="Wingdings" panose="05000000000000000000" pitchFamily="2" charset="2"/>
              <a:buChar char="ü"/>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Rigorous two phase locking protocol:</a:t>
            </a: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A transaction is not allowed to release any lock (either shared or exclusive) until it commits. </a:t>
            </a:r>
          </a:p>
          <a:p>
            <a:pPr marL="1371600" lvl="2" indent="-457200" algn="just">
              <a:buFont typeface="Wingdings" panose="05000000000000000000" pitchFamily="2" charset="2"/>
              <a:buChar char="§"/>
            </a:pPr>
            <a:endParaRPr lang="en-US" sz="5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Until the transaction commits, other transaction can not acquire even a shared lock on a data item which is already been used by active transaction.</a:t>
            </a:r>
          </a:p>
        </p:txBody>
      </p:sp>
    </p:spTree>
    <p:extLst>
      <p:ext uri="{BB962C8B-B14F-4D97-AF65-F5344CB8AC3E}">
        <p14:creationId xmlns:p14="http://schemas.microsoft.com/office/powerpoint/2010/main" val="21172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animEffect transition="in" filter="fade">
                                      <p:cBhvr>
                                        <p:cTn id="17" dur="500"/>
                                        <p:tgtEl>
                                          <p:spTgt spid="6">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1000"/>
                                        <p:tgtEl>
                                          <p:spTgt spid="6">
                                            <p:txEl>
                                              <p:pRg st="5" end="5"/>
                                            </p:txEl>
                                          </p:spTgt>
                                        </p:tgtEl>
                                      </p:cBhvr>
                                    </p:animEffect>
                                    <p:anim calcmode="lin" valueType="num">
                                      <p:cBhvr>
                                        <p:cTn id="3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6">
                                            <p:txEl>
                                              <p:pRg st="8" end="8"/>
                                            </p:txEl>
                                          </p:spTgt>
                                        </p:tgtEl>
                                        <p:attrNameLst>
                                          <p:attrName>style.visibility</p:attrName>
                                        </p:attrNameLst>
                                      </p:cBhvr>
                                      <p:to>
                                        <p:strVal val="visible"/>
                                      </p:to>
                                    </p:set>
                                    <p:animEffect transition="in" filter="fade">
                                      <p:cBhvr>
                                        <p:cTn id="36" dur="1000"/>
                                        <p:tgtEl>
                                          <p:spTgt spid="6">
                                            <p:txEl>
                                              <p:pRg st="8" end="8"/>
                                            </p:txEl>
                                          </p:spTgt>
                                        </p:tgtEl>
                                      </p:cBhvr>
                                    </p:animEffect>
                                    <p:anim calcmode="lin" valueType="num">
                                      <p:cBhvr>
                                        <p:cTn id="37"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6">
                                            <p:txEl>
                                              <p:pRg st="10" end="10"/>
                                            </p:txEl>
                                          </p:spTgt>
                                        </p:tgtEl>
                                        <p:attrNameLst>
                                          <p:attrName>style.visibility</p:attrName>
                                        </p:attrNameLst>
                                      </p:cBhvr>
                                      <p:to>
                                        <p:strVal val="visible"/>
                                      </p:to>
                                    </p:set>
                                    <p:animEffect transition="in" filter="fade">
                                      <p:cBhvr>
                                        <p:cTn id="43" dur="1000"/>
                                        <p:tgtEl>
                                          <p:spTgt spid="6">
                                            <p:txEl>
                                              <p:pRg st="10" end="10"/>
                                            </p:txEl>
                                          </p:spTgt>
                                        </p:tgtEl>
                                      </p:cBhvr>
                                    </p:animEffect>
                                    <p:anim calcmode="lin" valueType="num">
                                      <p:cBhvr>
                                        <p:cTn id="44"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(Pitfalls of Lock Based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449930" y="161996"/>
            <a:ext cx="8038530" cy="5940088"/>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Consider the following schedule:</a:t>
            </a: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algn="just"/>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Neither T3 nor T4 can make progress. lock-X(B) causes T4 to wait for T3 to release its lock on B, while lock-X(A) causes T3  to wait for T4 to release its lock on A.</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Such a situation is called a </a:t>
            </a:r>
            <a:r>
              <a:rPr lang="en-US" sz="2400" b="1" dirty="0">
                <a:solidFill>
                  <a:srgbClr val="FF0000"/>
                </a:solidFill>
                <a:latin typeface="Cambria Math" panose="02040503050406030204" pitchFamily="18" charset="0"/>
                <a:ea typeface="Cambria Math" panose="02040503050406030204" pitchFamily="18" charset="0"/>
              </a:rPr>
              <a:t>Deadlock</a:t>
            </a:r>
            <a:r>
              <a:rPr lang="en-US" sz="2400" dirty="0">
                <a:latin typeface="Cambria Math" panose="02040503050406030204" pitchFamily="18" charset="0"/>
                <a:ea typeface="Cambria Math" panose="02040503050406030204" pitchFamily="18" charset="0"/>
              </a:rPr>
              <a:t>. </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To handle a deadlock, one of T3 or T4 must be rolled back and its locks must be released.</a:t>
            </a:r>
          </a:p>
        </p:txBody>
      </p:sp>
      <p:pic>
        <p:nvPicPr>
          <p:cNvPr id="3" name="Picture 12">
            <a:extLst>
              <a:ext uri="{FF2B5EF4-FFF2-40B4-BE49-F238E27FC236}">
                <a16:creationId xmlns:a16="http://schemas.microsoft.com/office/drawing/2014/main" id="{1F465A65-7A9E-4CC1-98FF-19A1C38CF343}"/>
              </a:ext>
            </a:extLst>
          </p:cNvPr>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4131" t="2899" r="13043" b="1450"/>
          <a:stretch>
            <a:fillRect/>
          </a:stretch>
        </p:blipFill>
        <p:spPr bwMode="auto">
          <a:xfrm>
            <a:off x="4233175" y="799226"/>
            <a:ext cx="3449670" cy="2625725"/>
          </a:xfrm>
          <a:prstGeom prst="rect">
            <a:avLst/>
          </a:prstGeom>
          <a:noFill/>
          <a:ln w="76200" cmpd="tri">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905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1" end="11"/>
                                            </p:txEl>
                                          </p:spTgt>
                                        </p:tgtEl>
                                        <p:attrNameLst>
                                          <p:attrName>style.visibility</p:attrName>
                                        </p:attrNameLst>
                                      </p:cBhvr>
                                      <p:to>
                                        <p:strVal val="visible"/>
                                      </p:to>
                                    </p:set>
                                    <p:animEffect transition="in" filter="fade">
                                      <p:cBhvr>
                                        <p:cTn id="17" dur="500"/>
                                        <p:tgtEl>
                                          <p:spTgt spid="6">
                                            <p:txEl>
                                              <p:pRg st="11" end="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13" end="13"/>
                                            </p:txEl>
                                          </p:spTgt>
                                        </p:tgtEl>
                                        <p:attrNameLst>
                                          <p:attrName>style.visibility</p:attrName>
                                        </p:attrNameLst>
                                      </p:cBhvr>
                                      <p:to>
                                        <p:strVal val="visible"/>
                                      </p:to>
                                    </p:set>
                                    <p:animEffect transition="in" filter="fade">
                                      <p:cBhvr>
                                        <p:cTn id="22" dur="500"/>
                                        <p:tgtEl>
                                          <p:spTgt spid="6">
                                            <p:txEl>
                                              <p:pRg st="13" end="1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15" end="15"/>
                                            </p:txEl>
                                          </p:spTgt>
                                        </p:tgtEl>
                                        <p:attrNameLst>
                                          <p:attrName>style.visibility</p:attrName>
                                        </p:attrNameLst>
                                      </p:cBhvr>
                                      <p:to>
                                        <p:strVal val="visible"/>
                                      </p:to>
                                    </p:set>
                                    <p:animEffect transition="in" filter="fade">
                                      <p:cBhvr>
                                        <p:cTn id="27" dur="500"/>
                                        <p:tgtEl>
                                          <p:spTgt spid="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(Pitfalls of Lock Based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591333" y="454384"/>
            <a:ext cx="8038530" cy="5940088"/>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potential for deadlock exists in most locking protocols. Deadlocks are a necessary evil.</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Starvation</a:t>
            </a:r>
            <a:r>
              <a:rPr lang="en-US" sz="2400" dirty="0">
                <a:latin typeface="Cambria Math" panose="02040503050406030204" pitchFamily="18" charset="0"/>
                <a:ea typeface="Cambria Math" panose="02040503050406030204" pitchFamily="18" charset="0"/>
              </a:rPr>
              <a:t> is also possible if concurrency control manager is badly designed. For example:</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Transaction may be waiting for an X-lock on an item, while a sequence of other transactions request and are granted an S-lock on the same item.  </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same transaction is repeatedly rolled back due to deadlocks.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Starvation can be managed in following way:</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There is no other transaction holding a lock that arises a certain type of conflicts.</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There is no other transaction who requested lock before any other transaction and is still waiting to acquire lock.</a:t>
            </a:r>
          </a:p>
        </p:txBody>
      </p:sp>
    </p:spTree>
    <p:extLst>
      <p:ext uri="{BB962C8B-B14F-4D97-AF65-F5344CB8AC3E}">
        <p14:creationId xmlns:p14="http://schemas.microsoft.com/office/powerpoint/2010/main" val="425548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fade">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9" end="9"/>
                                            </p:txEl>
                                          </p:spTgt>
                                        </p:tgtEl>
                                        <p:attrNameLst>
                                          <p:attrName>style.visibility</p:attrName>
                                        </p:attrNameLst>
                                      </p:cBhvr>
                                      <p:to>
                                        <p:strVal val="visible"/>
                                      </p:to>
                                    </p:set>
                                    <p:animEffect transition="in" filter="fade">
                                      <p:cBhvr>
                                        <p:cTn id="32" dur="500"/>
                                        <p:tgtEl>
                                          <p:spTgt spid="6">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10" end="10"/>
                                            </p:txEl>
                                          </p:spTgt>
                                        </p:tgtEl>
                                        <p:attrNameLst>
                                          <p:attrName>style.visibility</p:attrName>
                                        </p:attrNameLst>
                                      </p:cBhvr>
                                      <p:to>
                                        <p:strVal val="visible"/>
                                      </p:to>
                                    </p:set>
                                    <p:animEffect transition="in" filter="fade">
                                      <p:cBhvr>
                                        <p:cTn id="3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(Intention Locking)</a:t>
            </a:r>
          </a:p>
        </p:txBody>
      </p:sp>
      <p:sp>
        <p:nvSpPr>
          <p:cNvPr id="4" name="Rectangle 3">
            <a:extLst>
              <a:ext uri="{FF2B5EF4-FFF2-40B4-BE49-F238E27FC236}">
                <a16:creationId xmlns:a16="http://schemas.microsoft.com/office/drawing/2014/main" id="{E7DF2CD9-F301-4312-B7F0-AB458BCCB73C}"/>
              </a:ext>
            </a:extLst>
          </p:cNvPr>
          <p:cNvSpPr/>
          <p:nvPr/>
        </p:nvSpPr>
        <p:spPr>
          <a:xfrm>
            <a:off x="3434498" y="67777"/>
            <a:ext cx="8330153" cy="3416320"/>
          </a:xfrm>
          <a:prstGeom prst="rect">
            <a:avLst/>
          </a:prstGeom>
        </p:spPr>
        <p:txBody>
          <a:bodyPr wrap="square">
            <a:spAutoFit/>
          </a:bodyPr>
          <a:lstStyle/>
          <a:p>
            <a:pPr marL="342900" indent="-342900">
              <a:buFont typeface="Wingdings" panose="05000000000000000000" pitchFamily="2" charset="2"/>
              <a:buChar char="Ø"/>
            </a:pPr>
            <a:r>
              <a:rPr lang="en-US" altLang="en-US" sz="2400" dirty="0">
                <a:latin typeface="Cambria Math" panose="02040503050406030204" pitchFamily="18" charset="0"/>
                <a:ea typeface="Cambria Math" panose="02040503050406030204" pitchFamily="18" charset="0"/>
              </a:rPr>
              <a:t>In addition to S and X lock modes, there are three additional lock modes with multiple granularity:</a:t>
            </a:r>
          </a:p>
          <a:p>
            <a:pPr marL="914400" lvl="1" indent="-457200" algn="just">
              <a:buFont typeface="Wingdings" panose="05000000000000000000" pitchFamily="2" charset="2"/>
              <a:buChar char="ü"/>
            </a:pPr>
            <a:r>
              <a:rPr lang="en-US" altLang="en-US" sz="2400" b="1" dirty="0">
                <a:solidFill>
                  <a:srgbClr val="FF0000"/>
                </a:solidFill>
                <a:latin typeface="Cambria Math" panose="02040503050406030204" pitchFamily="18" charset="0"/>
                <a:ea typeface="Cambria Math" panose="02040503050406030204" pitchFamily="18" charset="0"/>
              </a:rPr>
              <a:t>intention-shared</a:t>
            </a:r>
            <a:r>
              <a:rPr lang="en-US" altLang="en-US" sz="2400" dirty="0">
                <a:solidFill>
                  <a:srgbClr val="FF0000"/>
                </a:solidFill>
                <a:latin typeface="Cambria Math" panose="02040503050406030204" pitchFamily="18" charset="0"/>
                <a:ea typeface="Cambria Math" panose="02040503050406030204" pitchFamily="18" charset="0"/>
              </a:rPr>
              <a:t> (IS):</a:t>
            </a:r>
            <a:r>
              <a:rPr lang="en-US" altLang="en-US" sz="2400" dirty="0">
                <a:latin typeface="Cambria Math" panose="02040503050406030204" pitchFamily="18" charset="0"/>
                <a:ea typeface="Cambria Math" panose="02040503050406030204" pitchFamily="18" charset="0"/>
              </a:rPr>
              <a:t> indicates explicit locking at a lower level of the tree but only with shared locks.</a:t>
            </a:r>
          </a:p>
          <a:p>
            <a:pPr marL="914400" lvl="1" indent="-457200" algn="just">
              <a:buFont typeface="Wingdings" panose="05000000000000000000" pitchFamily="2" charset="2"/>
              <a:buChar char="ü"/>
            </a:pPr>
            <a:r>
              <a:rPr lang="en-US" altLang="en-US" sz="2400" b="1" dirty="0">
                <a:solidFill>
                  <a:srgbClr val="FF0000"/>
                </a:solidFill>
                <a:latin typeface="Cambria Math" panose="02040503050406030204" pitchFamily="18" charset="0"/>
                <a:ea typeface="Cambria Math" panose="02040503050406030204" pitchFamily="18" charset="0"/>
              </a:rPr>
              <a:t>intention-exclusive</a:t>
            </a:r>
            <a:r>
              <a:rPr lang="en-US" altLang="en-US" sz="2400" dirty="0">
                <a:solidFill>
                  <a:srgbClr val="FF0000"/>
                </a:solidFill>
                <a:latin typeface="Cambria Math" panose="02040503050406030204" pitchFamily="18" charset="0"/>
                <a:ea typeface="Cambria Math" panose="02040503050406030204" pitchFamily="18" charset="0"/>
              </a:rPr>
              <a:t> (IX): </a:t>
            </a:r>
            <a:r>
              <a:rPr lang="en-US" altLang="en-US" sz="2400" dirty="0">
                <a:latin typeface="Cambria Math" panose="02040503050406030204" pitchFamily="18" charset="0"/>
                <a:ea typeface="Cambria Math" panose="02040503050406030204" pitchFamily="18" charset="0"/>
              </a:rPr>
              <a:t>indicates explicit locking at a lower level with exclusive or shared locks.</a:t>
            </a:r>
          </a:p>
          <a:p>
            <a:pPr marL="914400" lvl="1" indent="-457200" algn="just">
              <a:buFont typeface="Wingdings" panose="05000000000000000000" pitchFamily="2" charset="2"/>
              <a:buChar char="ü"/>
            </a:pPr>
            <a:r>
              <a:rPr lang="en-US" altLang="en-US" sz="2400" b="1" dirty="0">
                <a:solidFill>
                  <a:srgbClr val="FF0000"/>
                </a:solidFill>
                <a:latin typeface="Cambria Math" panose="02040503050406030204" pitchFamily="18" charset="0"/>
                <a:ea typeface="Cambria Math" panose="02040503050406030204" pitchFamily="18" charset="0"/>
              </a:rPr>
              <a:t>shared and intention-exclusive</a:t>
            </a:r>
            <a:r>
              <a:rPr lang="en-US" altLang="en-US" sz="2400" dirty="0">
                <a:solidFill>
                  <a:srgbClr val="FF0000"/>
                </a:solidFill>
                <a:latin typeface="Cambria Math" panose="02040503050406030204" pitchFamily="18" charset="0"/>
                <a:ea typeface="Cambria Math" panose="02040503050406030204" pitchFamily="18" charset="0"/>
              </a:rPr>
              <a:t> (SIX): </a:t>
            </a:r>
            <a:r>
              <a:rPr lang="en-US" altLang="en-US" sz="2400" dirty="0">
                <a:latin typeface="Cambria Math" panose="02040503050406030204" pitchFamily="18" charset="0"/>
                <a:ea typeface="Cambria Math" panose="02040503050406030204" pitchFamily="18" charset="0"/>
              </a:rPr>
              <a:t>the subtree rooted by that node is locked explicitly in shared mode and explicit locking is being done by exclusive lock.</a:t>
            </a:r>
            <a:endParaRPr lang="en-US" dirty="0">
              <a:latin typeface="Cambria Math" panose="02040503050406030204" pitchFamily="18" charset="0"/>
              <a:ea typeface="Cambria Math" panose="02040503050406030204" pitchFamily="18" charset="0"/>
            </a:endParaRPr>
          </a:p>
        </p:txBody>
      </p:sp>
      <p:grpSp>
        <p:nvGrpSpPr>
          <p:cNvPr id="11" name="Group 4">
            <a:extLst>
              <a:ext uri="{FF2B5EF4-FFF2-40B4-BE49-F238E27FC236}">
                <a16:creationId xmlns:a16="http://schemas.microsoft.com/office/drawing/2014/main" id="{D8587044-BED7-4D51-803B-3EB21ED4997F}"/>
              </a:ext>
            </a:extLst>
          </p:cNvPr>
          <p:cNvGrpSpPr>
            <a:grpSpLocks/>
          </p:cNvGrpSpPr>
          <p:nvPr/>
        </p:nvGrpSpPr>
        <p:grpSpPr bwMode="auto">
          <a:xfrm>
            <a:off x="4119512" y="3522624"/>
            <a:ext cx="5081049" cy="3335376"/>
            <a:chOff x="831" y="1104"/>
            <a:chExt cx="2913" cy="2400"/>
          </a:xfrm>
        </p:grpSpPr>
        <p:sp>
          <p:nvSpPr>
            <p:cNvPr id="12" name="Line 5">
              <a:extLst>
                <a:ext uri="{FF2B5EF4-FFF2-40B4-BE49-F238E27FC236}">
                  <a16:creationId xmlns:a16="http://schemas.microsoft.com/office/drawing/2014/main" id="{232D8921-05E6-4727-A15E-17A6BA77EDB7}"/>
                </a:ext>
              </a:extLst>
            </p:cNvPr>
            <p:cNvSpPr>
              <a:spLocks noChangeShapeType="1"/>
            </p:cNvSpPr>
            <p:nvPr/>
          </p:nvSpPr>
          <p:spPr bwMode="auto">
            <a:xfrm>
              <a:off x="1296" y="1104"/>
              <a:ext cx="0" cy="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6">
              <a:extLst>
                <a:ext uri="{FF2B5EF4-FFF2-40B4-BE49-F238E27FC236}">
                  <a16:creationId xmlns:a16="http://schemas.microsoft.com/office/drawing/2014/main" id="{9479FBA2-4141-45C6-B750-871A19E7754E}"/>
                </a:ext>
              </a:extLst>
            </p:cNvPr>
            <p:cNvSpPr>
              <a:spLocks noChangeShapeType="1"/>
            </p:cNvSpPr>
            <p:nvPr/>
          </p:nvSpPr>
          <p:spPr bwMode="auto">
            <a:xfrm>
              <a:off x="1776" y="1137"/>
              <a:ext cx="0" cy="23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
              <a:extLst>
                <a:ext uri="{FF2B5EF4-FFF2-40B4-BE49-F238E27FC236}">
                  <a16:creationId xmlns:a16="http://schemas.microsoft.com/office/drawing/2014/main" id="{E0A8DEAA-9FD4-4181-80F1-32E399C3D220}"/>
                </a:ext>
              </a:extLst>
            </p:cNvPr>
            <p:cNvSpPr>
              <a:spLocks noChangeShapeType="1"/>
            </p:cNvSpPr>
            <p:nvPr/>
          </p:nvSpPr>
          <p:spPr bwMode="auto">
            <a:xfrm>
              <a:off x="2256" y="1152"/>
              <a:ext cx="0" cy="2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8">
              <a:extLst>
                <a:ext uri="{FF2B5EF4-FFF2-40B4-BE49-F238E27FC236}">
                  <a16:creationId xmlns:a16="http://schemas.microsoft.com/office/drawing/2014/main" id="{36136BDC-7065-4397-B940-BB8BC1D877E3}"/>
                </a:ext>
              </a:extLst>
            </p:cNvPr>
            <p:cNvSpPr>
              <a:spLocks noChangeShapeType="1"/>
            </p:cNvSpPr>
            <p:nvPr/>
          </p:nvSpPr>
          <p:spPr bwMode="auto">
            <a:xfrm>
              <a:off x="2736" y="1152"/>
              <a:ext cx="0" cy="2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9">
              <a:extLst>
                <a:ext uri="{FF2B5EF4-FFF2-40B4-BE49-F238E27FC236}">
                  <a16:creationId xmlns:a16="http://schemas.microsoft.com/office/drawing/2014/main" id="{AA241856-64F4-4596-90AB-1AA36E9F7DC9}"/>
                </a:ext>
              </a:extLst>
            </p:cNvPr>
            <p:cNvSpPr>
              <a:spLocks noChangeShapeType="1"/>
            </p:cNvSpPr>
            <p:nvPr/>
          </p:nvSpPr>
          <p:spPr bwMode="auto">
            <a:xfrm>
              <a:off x="3264" y="1152"/>
              <a:ext cx="0" cy="2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0">
              <a:extLst>
                <a:ext uri="{FF2B5EF4-FFF2-40B4-BE49-F238E27FC236}">
                  <a16:creationId xmlns:a16="http://schemas.microsoft.com/office/drawing/2014/main" id="{B8234CEF-483E-41BC-9633-C3CF205953A4}"/>
                </a:ext>
              </a:extLst>
            </p:cNvPr>
            <p:cNvSpPr>
              <a:spLocks noChangeShapeType="1"/>
            </p:cNvSpPr>
            <p:nvPr/>
          </p:nvSpPr>
          <p:spPr bwMode="auto">
            <a:xfrm>
              <a:off x="3744" y="1152"/>
              <a:ext cx="0" cy="2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1">
              <a:extLst>
                <a:ext uri="{FF2B5EF4-FFF2-40B4-BE49-F238E27FC236}">
                  <a16:creationId xmlns:a16="http://schemas.microsoft.com/office/drawing/2014/main" id="{83172981-1EB8-45AE-AE35-4DF3D5A9E6A9}"/>
                </a:ext>
              </a:extLst>
            </p:cNvPr>
            <p:cNvSpPr>
              <a:spLocks noChangeShapeType="1"/>
            </p:cNvSpPr>
            <p:nvPr/>
          </p:nvSpPr>
          <p:spPr bwMode="auto">
            <a:xfrm>
              <a:off x="864" y="1392"/>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2">
              <a:extLst>
                <a:ext uri="{FF2B5EF4-FFF2-40B4-BE49-F238E27FC236}">
                  <a16:creationId xmlns:a16="http://schemas.microsoft.com/office/drawing/2014/main" id="{E8074574-6F76-4123-AAB5-AC8BA81D6472}"/>
                </a:ext>
              </a:extLst>
            </p:cNvPr>
            <p:cNvSpPr>
              <a:spLocks noChangeShapeType="1"/>
            </p:cNvSpPr>
            <p:nvPr/>
          </p:nvSpPr>
          <p:spPr bwMode="auto">
            <a:xfrm>
              <a:off x="849" y="1776"/>
              <a:ext cx="289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3">
              <a:extLst>
                <a:ext uri="{FF2B5EF4-FFF2-40B4-BE49-F238E27FC236}">
                  <a16:creationId xmlns:a16="http://schemas.microsoft.com/office/drawing/2014/main" id="{E1553A5F-9F7A-4FEC-A04E-BDD5DDFD52D2}"/>
                </a:ext>
              </a:extLst>
            </p:cNvPr>
            <p:cNvSpPr>
              <a:spLocks noChangeShapeType="1"/>
            </p:cNvSpPr>
            <p:nvPr/>
          </p:nvSpPr>
          <p:spPr bwMode="auto">
            <a:xfrm>
              <a:off x="864" y="2160"/>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14">
              <a:extLst>
                <a:ext uri="{FF2B5EF4-FFF2-40B4-BE49-F238E27FC236}">
                  <a16:creationId xmlns:a16="http://schemas.microsoft.com/office/drawing/2014/main" id="{A08C9CD3-F92D-43A4-93A3-4ADDB777D18F}"/>
                </a:ext>
              </a:extLst>
            </p:cNvPr>
            <p:cNvSpPr>
              <a:spLocks noChangeShapeType="1"/>
            </p:cNvSpPr>
            <p:nvPr/>
          </p:nvSpPr>
          <p:spPr bwMode="auto">
            <a:xfrm>
              <a:off x="864" y="2592"/>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5">
              <a:extLst>
                <a:ext uri="{FF2B5EF4-FFF2-40B4-BE49-F238E27FC236}">
                  <a16:creationId xmlns:a16="http://schemas.microsoft.com/office/drawing/2014/main" id="{9AF467EA-2EAD-45E1-ACD7-48CB4D958E24}"/>
                </a:ext>
              </a:extLst>
            </p:cNvPr>
            <p:cNvSpPr>
              <a:spLocks noChangeShapeType="1"/>
            </p:cNvSpPr>
            <p:nvPr/>
          </p:nvSpPr>
          <p:spPr bwMode="auto">
            <a:xfrm>
              <a:off x="864" y="3024"/>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6">
              <a:extLst>
                <a:ext uri="{FF2B5EF4-FFF2-40B4-BE49-F238E27FC236}">
                  <a16:creationId xmlns:a16="http://schemas.microsoft.com/office/drawing/2014/main" id="{18E68CF3-F103-4634-A9E6-8E9972660853}"/>
                </a:ext>
              </a:extLst>
            </p:cNvPr>
            <p:cNvSpPr>
              <a:spLocks noChangeShapeType="1"/>
            </p:cNvSpPr>
            <p:nvPr/>
          </p:nvSpPr>
          <p:spPr bwMode="auto">
            <a:xfrm>
              <a:off x="864" y="3504"/>
              <a:ext cx="28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Text Box 17">
              <a:extLst>
                <a:ext uri="{FF2B5EF4-FFF2-40B4-BE49-F238E27FC236}">
                  <a16:creationId xmlns:a16="http://schemas.microsoft.com/office/drawing/2014/main" id="{D641549A-C322-4E07-AC4D-A2B86B77ADEF}"/>
                </a:ext>
              </a:extLst>
            </p:cNvPr>
            <p:cNvSpPr txBox="1">
              <a:spLocks noChangeArrowheads="1"/>
            </p:cNvSpPr>
            <p:nvPr/>
          </p:nvSpPr>
          <p:spPr bwMode="auto">
            <a:xfrm>
              <a:off x="1382" y="1186"/>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IS</a:t>
              </a:r>
            </a:p>
          </p:txBody>
        </p:sp>
        <p:sp>
          <p:nvSpPr>
            <p:cNvPr id="25" name="Text Box 18">
              <a:extLst>
                <a:ext uri="{FF2B5EF4-FFF2-40B4-BE49-F238E27FC236}">
                  <a16:creationId xmlns:a16="http://schemas.microsoft.com/office/drawing/2014/main" id="{B7A16F67-D5D0-4689-845A-58B3F47DEFCE}"/>
                </a:ext>
              </a:extLst>
            </p:cNvPr>
            <p:cNvSpPr txBox="1">
              <a:spLocks noChangeArrowheads="1"/>
            </p:cNvSpPr>
            <p:nvPr/>
          </p:nvSpPr>
          <p:spPr bwMode="auto">
            <a:xfrm>
              <a:off x="1872" y="1168"/>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IX</a:t>
              </a:r>
            </a:p>
          </p:txBody>
        </p:sp>
        <p:sp>
          <p:nvSpPr>
            <p:cNvPr id="26" name="Text Box 19">
              <a:extLst>
                <a:ext uri="{FF2B5EF4-FFF2-40B4-BE49-F238E27FC236}">
                  <a16:creationId xmlns:a16="http://schemas.microsoft.com/office/drawing/2014/main" id="{646AB6B7-1097-42D8-8536-007C50481CF7}"/>
                </a:ext>
              </a:extLst>
            </p:cNvPr>
            <p:cNvSpPr txBox="1">
              <a:spLocks noChangeArrowheads="1"/>
            </p:cNvSpPr>
            <p:nvPr/>
          </p:nvSpPr>
          <p:spPr bwMode="auto">
            <a:xfrm>
              <a:off x="2372" y="1162"/>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S</a:t>
              </a:r>
            </a:p>
          </p:txBody>
        </p:sp>
        <p:sp>
          <p:nvSpPr>
            <p:cNvPr id="27" name="Text Box 20">
              <a:extLst>
                <a:ext uri="{FF2B5EF4-FFF2-40B4-BE49-F238E27FC236}">
                  <a16:creationId xmlns:a16="http://schemas.microsoft.com/office/drawing/2014/main" id="{4BDF63C2-ED74-49DB-873E-48DBE6BABDAE}"/>
                </a:ext>
              </a:extLst>
            </p:cNvPr>
            <p:cNvSpPr txBox="1">
              <a:spLocks noChangeArrowheads="1"/>
            </p:cNvSpPr>
            <p:nvPr/>
          </p:nvSpPr>
          <p:spPr bwMode="auto">
            <a:xfrm>
              <a:off x="2784" y="1159"/>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S IX</a:t>
              </a:r>
            </a:p>
          </p:txBody>
        </p:sp>
        <p:sp>
          <p:nvSpPr>
            <p:cNvPr id="28" name="Text Box 21">
              <a:extLst>
                <a:ext uri="{FF2B5EF4-FFF2-40B4-BE49-F238E27FC236}">
                  <a16:creationId xmlns:a16="http://schemas.microsoft.com/office/drawing/2014/main" id="{0FC50BF1-0C60-4092-8B12-1410782D2432}"/>
                </a:ext>
              </a:extLst>
            </p:cNvPr>
            <p:cNvSpPr txBox="1">
              <a:spLocks noChangeArrowheads="1"/>
            </p:cNvSpPr>
            <p:nvPr/>
          </p:nvSpPr>
          <p:spPr bwMode="auto">
            <a:xfrm>
              <a:off x="3312" y="1171"/>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X </a:t>
              </a:r>
            </a:p>
          </p:txBody>
        </p:sp>
        <p:sp>
          <p:nvSpPr>
            <p:cNvPr id="29" name="Text Box 22">
              <a:extLst>
                <a:ext uri="{FF2B5EF4-FFF2-40B4-BE49-F238E27FC236}">
                  <a16:creationId xmlns:a16="http://schemas.microsoft.com/office/drawing/2014/main" id="{1DC97439-45C3-4190-9B3A-90B04242D867}"/>
                </a:ext>
              </a:extLst>
            </p:cNvPr>
            <p:cNvSpPr txBox="1">
              <a:spLocks noChangeArrowheads="1"/>
            </p:cNvSpPr>
            <p:nvPr/>
          </p:nvSpPr>
          <p:spPr bwMode="auto">
            <a:xfrm>
              <a:off x="971" y="1471"/>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IS</a:t>
              </a:r>
            </a:p>
          </p:txBody>
        </p:sp>
        <p:sp>
          <p:nvSpPr>
            <p:cNvPr id="30" name="Text Box 23">
              <a:extLst>
                <a:ext uri="{FF2B5EF4-FFF2-40B4-BE49-F238E27FC236}">
                  <a16:creationId xmlns:a16="http://schemas.microsoft.com/office/drawing/2014/main" id="{B06B2CB6-9C18-4F1E-A9A5-4D952EAC588C}"/>
                </a:ext>
              </a:extLst>
            </p:cNvPr>
            <p:cNvSpPr txBox="1">
              <a:spLocks noChangeArrowheads="1"/>
            </p:cNvSpPr>
            <p:nvPr/>
          </p:nvSpPr>
          <p:spPr bwMode="auto">
            <a:xfrm>
              <a:off x="947" y="1828"/>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IX</a:t>
              </a:r>
            </a:p>
          </p:txBody>
        </p:sp>
        <p:sp>
          <p:nvSpPr>
            <p:cNvPr id="31" name="Text Box 24">
              <a:extLst>
                <a:ext uri="{FF2B5EF4-FFF2-40B4-BE49-F238E27FC236}">
                  <a16:creationId xmlns:a16="http://schemas.microsoft.com/office/drawing/2014/main" id="{B5B744C1-AF2C-45B7-A426-8AAC260679BF}"/>
                </a:ext>
              </a:extLst>
            </p:cNvPr>
            <p:cNvSpPr txBox="1">
              <a:spLocks noChangeArrowheads="1"/>
            </p:cNvSpPr>
            <p:nvPr/>
          </p:nvSpPr>
          <p:spPr bwMode="auto">
            <a:xfrm>
              <a:off x="960" y="223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S</a:t>
              </a:r>
            </a:p>
          </p:txBody>
        </p:sp>
        <p:sp>
          <p:nvSpPr>
            <p:cNvPr id="32" name="Text Box 25">
              <a:extLst>
                <a:ext uri="{FF2B5EF4-FFF2-40B4-BE49-F238E27FC236}">
                  <a16:creationId xmlns:a16="http://schemas.microsoft.com/office/drawing/2014/main" id="{16B6C177-FA8A-4A37-B420-45936D37C9B2}"/>
                </a:ext>
              </a:extLst>
            </p:cNvPr>
            <p:cNvSpPr txBox="1">
              <a:spLocks noChangeArrowheads="1"/>
            </p:cNvSpPr>
            <p:nvPr/>
          </p:nvSpPr>
          <p:spPr bwMode="auto">
            <a:xfrm>
              <a:off x="831" y="2671"/>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S IX</a:t>
              </a:r>
            </a:p>
          </p:txBody>
        </p:sp>
        <p:sp>
          <p:nvSpPr>
            <p:cNvPr id="33" name="Text Box 26">
              <a:extLst>
                <a:ext uri="{FF2B5EF4-FFF2-40B4-BE49-F238E27FC236}">
                  <a16:creationId xmlns:a16="http://schemas.microsoft.com/office/drawing/2014/main" id="{96F32951-86DD-47EB-94E5-283CF0B99887}"/>
                </a:ext>
              </a:extLst>
            </p:cNvPr>
            <p:cNvSpPr txBox="1">
              <a:spLocks noChangeArrowheads="1"/>
            </p:cNvSpPr>
            <p:nvPr/>
          </p:nvSpPr>
          <p:spPr bwMode="auto">
            <a:xfrm>
              <a:off x="912" y="3151"/>
              <a:ext cx="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t>X </a:t>
              </a:r>
            </a:p>
          </p:txBody>
        </p:sp>
        <p:sp>
          <p:nvSpPr>
            <p:cNvPr id="34" name="Text Box 27">
              <a:extLst>
                <a:ext uri="{FF2B5EF4-FFF2-40B4-BE49-F238E27FC236}">
                  <a16:creationId xmlns:a16="http://schemas.microsoft.com/office/drawing/2014/main" id="{CDAF120D-FC5E-4255-A769-88133047525F}"/>
                </a:ext>
              </a:extLst>
            </p:cNvPr>
            <p:cNvSpPr txBox="1">
              <a:spLocks noChangeArrowheads="1"/>
            </p:cNvSpPr>
            <p:nvPr/>
          </p:nvSpPr>
          <p:spPr bwMode="auto">
            <a:xfrm>
              <a:off x="1382" y="1448"/>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35" name="Text Box 28">
              <a:extLst>
                <a:ext uri="{FF2B5EF4-FFF2-40B4-BE49-F238E27FC236}">
                  <a16:creationId xmlns:a16="http://schemas.microsoft.com/office/drawing/2014/main" id="{B526F8C7-E3A4-4090-9A0F-324741CCDC84}"/>
                </a:ext>
              </a:extLst>
            </p:cNvPr>
            <p:cNvSpPr txBox="1">
              <a:spLocks noChangeArrowheads="1"/>
            </p:cNvSpPr>
            <p:nvPr/>
          </p:nvSpPr>
          <p:spPr bwMode="auto">
            <a:xfrm>
              <a:off x="1365" y="1855"/>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36" name="Text Box 29">
              <a:extLst>
                <a:ext uri="{FF2B5EF4-FFF2-40B4-BE49-F238E27FC236}">
                  <a16:creationId xmlns:a16="http://schemas.microsoft.com/office/drawing/2014/main" id="{902CD5FE-107A-4AFA-8A40-486244934AE1}"/>
                </a:ext>
              </a:extLst>
            </p:cNvPr>
            <p:cNvSpPr txBox="1">
              <a:spLocks noChangeArrowheads="1"/>
            </p:cNvSpPr>
            <p:nvPr/>
          </p:nvSpPr>
          <p:spPr bwMode="auto">
            <a:xfrm>
              <a:off x="1365" y="2287"/>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37" name="Text Box 30">
              <a:extLst>
                <a:ext uri="{FF2B5EF4-FFF2-40B4-BE49-F238E27FC236}">
                  <a16:creationId xmlns:a16="http://schemas.microsoft.com/office/drawing/2014/main" id="{7D33D402-C927-4B64-A55F-61C8255891BF}"/>
                </a:ext>
              </a:extLst>
            </p:cNvPr>
            <p:cNvSpPr txBox="1">
              <a:spLocks noChangeArrowheads="1"/>
            </p:cNvSpPr>
            <p:nvPr/>
          </p:nvSpPr>
          <p:spPr bwMode="auto">
            <a:xfrm>
              <a:off x="1392" y="2719"/>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38" name="Text Box 31">
              <a:extLst>
                <a:ext uri="{FF2B5EF4-FFF2-40B4-BE49-F238E27FC236}">
                  <a16:creationId xmlns:a16="http://schemas.microsoft.com/office/drawing/2014/main" id="{A5E5944F-72D5-4941-A0C5-083970102555}"/>
                </a:ext>
              </a:extLst>
            </p:cNvPr>
            <p:cNvSpPr txBox="1">
              <a:spLocks noChangeArrowheads="1"/>
            </p:cNvSpPr>
            <p:nvPr/>
          </p:nvSpPr>
          <p:spPr bwMode="auto">
            <a:xfrm>
              <a:off x="1392" y="3178"/>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p>
          </p:txBody>
        </p:sp>
        <p:sp>
          <p:nvSpPr>
            <p:cNvPr id="39" name="Text Box 32">
              <a:extLst>
                <a:ext uri="{FF2B5EF4-FFF2-40B4-BE49-F238E27FC236}">
                  <a16:creationId xmlns:a16="http://schemas.microsoft.com/office/drawing/2014/main" id="{6DF17ADA-3676-4C12-B8E6-6B303FCD579E}"/>
                </a:ext>
              </a:extLst>
            </p:cNvPr>
            <p:cNvSpPr txBox="1">
              <a:spLocks noChangeArrowheads="1"/>
            </p:cNvSpPr>
            <p:nvPr/>
          </p:nvSpPr>
          <p:spPr bwMode="auto">
            <a:xfrm>
              <a:off x="1824" y="1471"/>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40" name="Text Box 33">
              <a:extLst>
                <a:ext uri="{FF2B5EF4-FFF2-40B4-BE49-F238E27FC236}">
                  <a16:creationId xmlns:a16="http://schemas.microsoft.com/office/drawing/2014/main" id="{C840726D-94F0-4AA8-80F9-C4D95AFF92AD}"/>
                </a:ext>
              </a:extLst>
            </p:cNvPr>
            <p:cNvSpPr txBox="1">
              <a:spLocks noChangeArrowheads="1"/>
            </p:cNvSpPr>
            <p:nvPr/>
          </p:nvSpPr>
          <p:spPr bwMode="auto">
            <a:xfrm>
              <a:off x="2325" y="1471"/>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41" name="Text Box 34">
              <a:extLst>
                <a:ext uri="{FF2B5EF4-FFF2-40B4-BE49-F238E27FC236}">
                  <a16:creationId xmlns:a16="http://schemas.microsoft.com/office/drawing/2014/main" id="{099255FB-64DC-4D0F-9FA0-4AEFF545D741}"/>
                </a:ext>
              </a:extLst>
            </p:cNvPr>
            <p:cNvSpPr txBox="1">
              <a:spLocks noChangeArrowheads="1"/>
            </p:cNvSpPr>
            <p:nvPr/>
          </p:nvSpPr>
          <p:spPr bwMode="auto">
            <a:xfrm>
              <a:off x="2853" y="1471"/>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42" name="Text Box 35">
              <a:extLst>
                <a:ext uri="{FF2B5EF4-FFF2-40B4-BE49-F238E27FC236}">
                  <a16:creationId xmlns:a16="http://schemas.microsoft.com/office/drawing/2014/main" id="{DB863EC9-AB18-4795-B5C7-372E1A5C8537}"/>
                </a:ext>
              </a:extLst>
            </p:cNvPr>
            <p:cNvSpPr txBox="1">
              <a:spLocks noChangeArrowheads="1"/>
            </p:cNvSpPr>
            <p:nvPr/>
          </p:nvSpPr>
          <p:spPr bwMode="auto">
            <a:xfrm>
              <a:off x="1872" y="1855"/>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43" name="Text Box 36">
              <a:extLst>
                <a:ext uri="{FF2B5EF4-FFF2-40B4-BE49-F238E27FC236}">
                  <a16:creationId xmlns:a16="http://schemas.microsoft.com/office/drawing/2014/main" id="{E3513451-A770-4CD6-988D-C2A333FFCA80}"/>
                </a:ext>
              </a:extLst>
            </p:cNvPr>
            <p:cNvSpPr txBox="1">
              <a:spLocks noChangeArrowheads="1"/>
            </p:cNvSpPr>
            <p:nvPr/>
          </p:nvSpPr>
          <p:spPr bwMode="auto">
            <a:xfrm>
              <a:off x="2352" y="2287"/>
              <a:ext cx="24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Wingdings" panose="05000000000000000000" pitchFamily="2" charset="2"/>
                </a:rPr>
                <a:t></a:t>
              </a:r>
            </a:p>
          </p:txBody>
        </p:sp>
        <p:sp>
          <p:nvSpPr>
            <p:cNvPr id="44" name="Text Box 37">
              <a:extLst>
                <a:ext uri="{FF2B5EF4-FFF2-40B4-BE49-F238E27FC236}">
                  <a16:creationId xmlns:a16="http://schemas.microsoft.com/office/drawing/2014/main" id="{A93E9EEE-9066-4758-915D-4ABB8C195972}"/>
                </a:ext>
              </a:extLst>
            </p:cNvPr>
            <p:cNvSpPr txBox="1">
              <a:spLocks noChangeArrowheads="1"/>
            </p:cNvSpPr>
            <p:nvPr/>
          </p:nvSpPr>
          <p:spPr bwMode="auto">
            <a:xfrm>
              <a:off x="1910" y="2261"/>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45" name="Text Box 38">
              <a:extLst>
                <a:ext uri="{FF2B5EF4-FFF2-40B4-BE49-F238E27FC236}">
                  <a16:creationId xmlns:a16="http://schemas.microsoft.com/office/drawing/2014/main" id="{709AB568-8780-4467-92C3-3FC5E0C65869}"/>
                </a:ext>
              </a:extLst>
            </p:cNvPr>
            <p:cNvSpPr txBox="1">
              <a:spLocks noChangeArrowheads="1"/>
            </p:cNvSpPr>
            <p:nvPr/>
          </p:nvSpPr>
          <p:spPr bwMode="auto">
            <a:xfrm>
              <a:off x="1891" y="2719"/>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46" name="Text Box 39">
              <a:extLst>
                <a:ext uri="{FF2B5EF4-FFF2-40B4-BE49-F238E27FC236}">
                  <a16:creationId xmlns:a16="http://schemas.microsoft.com/office/drawing/2014/main" id="{A6756E43-0541-4663-8DA5-4125F8B7B5E8}"/>
                </a:ext>
              </a:extLst>
            </p:cNvPr>
            <p:cNvSpPr txBox="1">
              <a:spLocks noChangeArrowheads="1"/>
            </p:cNvSpPr>
            <p:nvPr/>
          </p:nvSpPr>
          <p:spPr bwMode="auto">
            <a:xfrm>
              <a:off x="1891" y="3151"/>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47" name="Text Box 40">
              <a:extLst>
                <a:ext uri="{FF2B5EF4-FFF2-40B4-BE49-F238E27FC236}">
                  <a16:creationId xmlns:a16="http://schemas.microsoft.com/office/drawing/2014/main" id="{E6CBED2D-1467-4237-92B9-96182479E5B4}"/>
                </a:ext>
              </a:extLst>
            </p:cNvPr>
            <p:cNvSpPr txBox="1">
              <a:spLocks noChangeArrowheads="1"/>
            </p:cNvSpPr>
            <p:nvPr/>
          </p:nvSpPr>
          <p:spPr bwMode="auto">
            <a:xfrm>
              <a:off x="2371" y="3151"/>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48" name="Text Box 41">
              <a:extLst>
                <a:ext uri="{FF2B5EF4-FFF2-40B4-BE49-F238E27FC236}">
                  <a16:creationId xmlns:a16="http://schemas.microsoft.com/office/drawing/2014/main" id="{0788B322-EFAD-4145-BD45-777332A9B218}"/>
                </a:ext>
              </a:extLst>
            </p:cNvPr>
            <p:cNvSpPr txBox="1">
              <a:spLocks noChangeArrowheads="1"/>
            </p:cNvSpPr>
            <p:nvPr/>
          </p:nvSpPr>
          <p:spPr bwMode="auto">
            <a:xfrm>
              <a:off x="2881" y="3151"/>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49" name="Text Box 42">
              <a:extLst>
                <a:ext uri="{FF2B5EF4-FFF2-40B4-BE49-F238E27FC236}">
                  <a16:creationId xmlns:a16="http://schemas.microsoft.com/office/drawing/2014/main" id="{E17E9EEB-91FE-4216-ACEE-8031A1794837}"/>
                </a:ext>
              </a:extLst>
            </p:cNvPr>
            <p:cNvSpPr txBox="1">
              <a:spLocks noChangeArrowheads="1"/>
            </p:cNvSpPr>
            <p:nvPr/>
          </p:nvSpPr>
          <p:spPr bwMode="auto">
            <a:xfrm>
              <a:off x="3412" y="3151"/>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0" name="Text Box 43">
              <a:extLst>
                <a:ext uri="{FF2B5EF4-FFF2-40B4-BE49-F238E27FC236}">
                  <a16:creationId xmlns:a16="http://schemas.microsoft.com/office/drawing/2014/main" id="{DBF831F7-6DDF-4DCE-A692-32573C53EB8E}"/>
                </a:ext>
              </a:extLst>
            </p:cNvPr>
            <p:cNvSpPr txBox="1">
              <a:spLocks noChangeArrowheads="1"/>
            </p:cNvSpPr>
            <p:nvPr/>
          </p:nvSpPr>
          <p:spPr bwMode="auto">
            <a:xfrm>
              <a:off x="3408" y="2719"/>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1" name="Text Box 44">
              <a:extLst>
                <a:ext uri="{FF2B5EF4-FFF2-40B4-BE49-F238E27FC236}">
                  <a16:creationId xmlns:a16="http://schemas.microsoft.com/office/drawing/2014/main" id="{FE93001D-8807-41EC-B20D-D289DFE54566}"/>
                </a:ext>
              </a:extLst>
            </p:cNvPr>
            <p:cNvSpPr txBox="1">
              <a:spLocks noChangeArrowheads="1"/>
            </p:cNvSpPr>
            <p:nvPr/>
          </p:nvSpPr>
          <p:spPr bwMode="auto">
            <a:xfrm>
              <a:off x="2371" y="2719"/>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2" name="Text Box 45">
              <a:extLst>
                <a:ext uri="{FF2B5EF4-FFF2-40B4-BE49-F238E27FC236}">
                  <a16:creationId xmlns:a16="http://schemas.microsoft.com/office/drawing/2014/main" id="{FC662938-4E01-41EB-8CF4-CAE9E08D29BB}"/>
                </a:ext>
              </a:extLst>
            </p:cNvPr>
            <p:cNvSpPr txBox="1">
              <a:spLocks noChangeArrowheads="1"/>
            </p:cNvSpPr>
            <p:nvPr/>
          </p:nvSpPr>
          <p:spPr bwMode="auto">
            <a:xfrm>
              <a:off x="2899" y="2719"/>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3" name="Text Box 46">
              <a:extLst>
                <a:ext uri="{FF2B5EF4-FFF2-40B4-BE49-F238E27FC236}">
                  <a16:creationId xmlns:a16="http://schemas.microsoft.com/office/drawing/2014/main" id="{A50D6016-B1B9-45D3-A9D3-CE89D1141358}"/>
                </a:ext>
              </a:extLst>
            </p:cNvPr>
            <p:cNvSpPr txBox="1">
              <a:spLocks noChangeArrowheads="1"/>
            </p:cNvSpPr>
            <p:nvPr/>
          </p:nvSpPr>
          <p:spPr bwMode="auto">
            <a:xfrm>
              <a:off x="2382" y="1855"/>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4" name="Text Box 47">
              <a:extLst>
                <a:ext uri="{FF2B5EF4-FFF2-40B4-BE49-F238E27FC236}">
                  <a16:creationId xmlns:a16="http://schemas.microsoft.com/office/drawing/2014/main" id="{FFC2E406-FD22-4E25-97FA-73502E1E9774}"/>
                </a:ext>
              </a:extLst>
            </p:cNvPr>
            <p:cNvSpPr txBox="1">
              <a:spLocks noChangeArrowheads="1"/>
            </p:cNvSpPr>
            <p:nvPr/>
          </p:nvSpPr>
          <p:spPr bwMode="auto">
            <a:xfrm>
              <a:off x="2899" y="1855"/>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5" name="Text Box 48">
              <a:extLst>
                <a:ext uri="{FF2B5EF4-FFF2-40B4-BE49-F238E27FC236}">
                  <a16:creationId xmlns:a16="http://schemas.microsoft.com/office/drawing/2014/main" id="{6AB7928C-847E-4588-82AF-2BD90353F481}"/>
                </a:ext>
              </a:extLst>
            </p:cNvPr>
            <p:cNvSpPr txBox="1">
              <a:spLocks noChangeArrowheads="1"/>
            </p:cNvSpPr>
            <p:nvPr/>
          </p:nvSpPr>
          <p:spPr bwMode="auto">
            <a:xfrm>
              <a:off x="3412" y="1471"/>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6" name="Text Box 49">
              <a:extLst>
                <a:ext uri="{FF2B5EF4-FFF2-40B4-BE49-F238E27FC236}">
                  <a16:creationId xmlns:a16="http://schemas.microsoft.com/office/drawing/2014/main" id="{0540F612-AFF1-41C8-B61A-7A6AA3F2FD26}"/>
                </a:ext>
              </a:extLst>
            </p:cNvPr>
            <p:cNvSpPr txBox="1">
              <a:spLocks noChangeArrowheads="1"/>
            </p:cNvSpPr>
            <p:nvPr/>
          </p:nvSpPr>
          <p:spPr bwMode="auto">
            <a:xfrm>
              <a:off x="3394" y="1807"/>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7" name="Text Box 50">
              <a:extLst>
                <a:ext uri="{FF2B5EF4-FFF2-40B4-BE49-F238E27FC236}">
                  <a16:creationId xmlns:a16="http://schemas.microsoft.com/office/drawing/2014/main" id="{C7BB4692-92E7-41E5-ACA0-E0740D8DEA8B}"/>
                </a:ext>
              </a:extLst>
            </p:cNvPr>
            <p:cNvSpPr txBox="1">
              <a:spLocks noChangeArrowheads="1"/>
            </p:cNvSpPr>
            <p:nvPr/>
          </p:nvSpPr>
          <p:spPr bwMode="auto">
            <a:xfrm>
              <a:off x="3412" y="2239"/>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sp>
          <p:nvSpPr>
            <p:cNvPr id="58" name="Text Box 51">
              <a:extLst>
                <a:ext uri="{FF2B5EF4-FFF2-40B4-BE49-F238E27FC236}">
                  <a16:creationId xmlns:a16="http://schemas.microsoft.com/office/drawing/2014/main" id="{69F2A71F-4421-4444-BE0B-6955CA421A00}"/>
                </a:ext>
              </a:extLst>
            </p:cNvPr>
            <p:cNvSpPr txBox="1">
              <a:spLocks noChangeArrowheads="1"/>
            </p:cNvSpPr>
            <p:nvPr/>
          </p:nvSpPr>
          <p:spPr bwMode="auto">
            <a:xfrm>
              <a:off x="2899" y="2239"/>
              <a:ext cx="2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a:buChar char="n"/>
                <a:defRPr kumimoji="1" sz="32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a:buChar char="l"/>
                <a:defRPr kumimoji="1" sz="28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400">
                  <a:solidFill>
                    <a:schemeClr val="tx1"/>
                  </a:solidFill>
                  <a:latin typeface="Helvetica" panose="020B0604020202020204" pitchFamily="34" charset="0"/>
                </a:defRPr>
              </a:lvl3pPr>
              <a:lvl4pPr marL="1600200" indent="-228600">
                <a:spcBef>
                  <a:spcPct val="35000"/>
                </a:spcBef>
                <a:buClr>
                  <a:schemeClr val="hlink"/>
                </a:buClr>
                <a:buChar char="–"/>
                <a:defRPr kumimoji="1" sz="2000">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20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2000">
                  <a:solidFill>
                    <a:schemeClr val="tx1"/>
                  </a:solidFill>
                  <a:latin typeface="Helvetica" panose="020B0604020202020204" pitchFamily="34" charset="0"/>
                </a:defRPr>
              </a:lvl9pPr>
            </a:lstStyle>
            <a:p>
              <a:pPr>
                <a:spcBef>
                  <a:spcPct val="0"/>
                </a:spcBef>
                <a:buClrTx/>
                <a:buSzTx/>
                <a:buFontTx/>
                <a:buNone/>
              </a:pPr>
              <a:r>
                <a:rPr kumimoji="0" lang="en-US" altLang="en-US" sz="2000">
                  <a:sym typeface="Symbol" panose="05050102010706020507" pitchFamily="18" charset="2"/>
                </a:rPr>
                <a:t></a:t>
              </a:r>
              <a:endParaRPr kumimoji="0" lang="en-US" altLang="en-US" sz="2000"/>
            </a:p>
          </p:txBody>
        </p:sp>
      </p:grpSp>
      <p:sp>
        <p:nvSpPr>
          <p:cNvPr id="5" name="Rectangle 4">
            <a:extLst>
              <a:ext uri="{FF2B5EF4-FFF2-40B4-BE49-F238E27FC236}">
                <a16:creationId xmlns:a16="http://schemas.microsoft.com/office/drawing/2014/main" id="{F7CA5C4B-4ABF-4EFC-AB97-488B6E21FE89}"/>
              </a:ext>
            </a:extLst>
          </p:cNvPr>
          <p:cNvSpPr/>
          <p:nvPr/>
        </p:nvSpPr>
        <p:spPr>
          <a:xfrm>
            <a:off x="9481388" y="4371111"/>
            <a:ext cx="2014637" cy="1569660"/>
          </a:xfrm>
          <a:prstGeom prst="rect">
            <a:avLst/>
          </a:prstGeom>
        </p:spPr>
        <p:txBody>
          <a:bodyPr wrap="square">
            <a:spAutoFit/>
          </a:bodyPr>
          <a:lstStyle/>
          <a:p>
            <a:r>
              <a:rPr lang="en-US" altLang="en-US" sz="2400" b="1" dirty="0">
                <a:solidFill>
                  <a:srgbClr val="FF0000"/>
                </a:solidFill>
                <a:latin typeface="Cambria Math" panose="02040503050406030204" pitchFamily="18" charset="0"/>
                <a:ea typeface="Cambria Math" panose="02040503050406030204" pitchFamily="18" charset="0"/>
              </a:rPr>
              <a:t>Intention Lock Compatibility Matrix</a:t>
            </a:r>
            <a:endParaRPr lang="en-US" sz="2400" dirty="0"/>
          </a:p>
        </p:txBody>
      </p:sp>
      <p:sp>
        <p:nvSpPr>
          <p:cNvPr id="59" name="Rectangle 58">
            <a:extLst>
              <a:ext uri="{FF2B5EF4-FFF2-40B4-BE49-F238E27FC236}">
                <a16:creationId xmlns:a16="http://schemas.microsoft.com/office/drawing/2014/main" id="{6969E180-F2D7-4773-9E98-E6DCDC29EAC1}"/>
              </a:ext>
            </a:extLst>
          </p:cNvPr>
          <p:cNvSpPr/>
          <p:nvPr/>
        </p:nvSpPr>
        <p:spPr>
          <a:xfrm>
            <a:off x="4504734" y="3329813"/>
            <a:ext cx="2880917" cy="369332"/>
          </a:xfrm>
          <a:prstGeom prst="rect">
            <a:avLst/>
          </a:prstGeom>
        </p:spPr>
        <p:txBody>
          <a:bodyPr wrap="none">
            <a:spAutoFit/>
          </a:bodyPr>
          <a:lstStyle/>
          <a:p>
            <a:r>
              <a:rPr lang="en-US" altLang="en-US" dirty="0">
                <a:latin typeface="Cambria Math" panose="02040503050406030204" pitchFamily="18" charset="0"/>
                <a:ea typeface="Cambria Math" panose="02040503050406030204" pitchFamily="18" charset="0"/>
              </a:rPr>
              <a:t>T1 ----------------------------</a:t>
            </a:r>
            <a:r>
              <a:rPr lang="en-US" altLang="en-US" dirty="0">
                <a:latin typeface="Cambria Math" panose="02040503050406030204" pitchFamily="18" charset="0"/>
                <a:ea typeface="Cambria Math" panose="02040503050406030204" pitchFamily="18" charset="0"/>
                <a:sym typeface="Wingdings" panose="05000000000000000000" pitchFamily="2" charset="2"/>
              </a:rPr>
              <a:t></a:t>
            </a:r>
            <a:endParaRPr lang="en-US" dirty="0"/>
          </a:p>
        </p:txBody>
      </p:sp>
      <p:sp>
        <p:nvSpPr>
          <p:cNvPr id="60" name="Rectangle 59">
            <a:extLst>
              <a:ext uri="{FF2B5EF4-FFF2-40B4-BE49-F238E27FC236}">
                <a16:creationId xmlns:a16="http://schemas.microsoft.com/office/drawing/2014/main" id="{8AD75A09-640A-4BF8-9086-1840A391D711}"/>
              </a:ext>
            </a:extLst>
          </p:cNvPr>
          <p:cNvSpPr/>
          <p:nvPr/>
        </p:nvSpPr>
        <p:spPr>
          <a:xfrm rot="5400000">
            <a:off x="3001521" y="4883634"/>
            <a:ext cx="1746731" cy="369332"/>
          </a:xfrm>
          <a:prstGeom prst="rect">
            <a:avLst/>
          </a:prstGeom>
        </p:spPr>
        <p:txBody>
          <a:bodyPr wrap="square">
            <a:spAutoFit/>
          </a:bodyPr>
          <a:lstStyle/>
          <a:p>
            <a:r>
              <a:rPr lang="en-US" altLang="en-US" dirty="0">
                <a:latin typeface="Cambria Math" panose="02040503050406030204" pitchFamily="18" charset="0"/>
                <a:ea typeface="Cambria Math" panose="02040503050406030204" pitchFamily="18" charset="0"/>
              </a:rPr>
              <a:t>T2------</a:t>
            </a:r>
            <a:r>
              <a:rPr lang="en-US" altLang="en-US" dirty="0">
                <a:latin typeface="Cambria Math" panose="02040503050406030204" pitchFamily="18" charset="0"/>
                <a:ea typeface="Cambria Math" panose="02040503050406030204" pitchFamily="18" charset="0"/>
                <a:sym typeface="Wingdings" panose="05000000000000000000" pitchFamily="2" charset="2"/>
              </a:rPr>
              <a:t></a:t>
            </a:r>
            <a:endParaRPr lang="en-US" dirty="0"/>
          </a:p>
        </p:txBody>
      </p:sp>
    </p:spTree>
    <p:extLst>
      <p:ext uri="{BB962C8B-B14F-4D97-AF65-F5344CB8AC3E}">
        <p14:creationId xmlns:p14="http://schemas.microsoft.com/office/powerpoint/2010/main" val="195327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500"/>
                                        <p:tgtEl>
                                          <p:spTgt spid="5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par>
                                <p:cTn id="36" presetID="10"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9" grpId="0"/>
      <p:bldP spid="6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(Multiple Granularity)</a:t>
            </a:r>
          </a:p>
        </p:txBody>
      </p:sp>
      <p:sp>
        <p:nvSpPr>
          <p:cNvPr id="6" name="Rectangle 5">
            <a:extLst>
              <a:ext uri="{FF2B5EF4-FFF2-40B4-BE49-F238E27FC236}">
                <a16:creationId xmlns:a16="http://schemas.microsoft.com/office/drawing/2014/main" id="{0F4CE4F2-39FB-4AB9-A82C-DFB095193EDB}"/>
              </a:ext>
            </a:extLst>
          </p:cNvPr>
          <p:cNvSpPr/>
          <p:nvPr/>
        </p:nvSpPr>
        <p:spPr>
          <a:xfrm>
            <a:off x="3507416" y="90455"/>
            <a:ext cx="8038530" cy="830997"/>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Data Items are represented in a tree like structure. It has a parent as well as child.</a:t>
            </a:r>
            <a:endParaRPr lang="en-US" sz="500" dirty="0">
              <a:latin typeface="Cambria Math" panose="02040503050406030204" pitchFamily="18" charset="0"/>
              <a:ea typeface="Cambria Math" panose="02040503050406030204" pitchFamily="18" charset="0"/>
            </a:endParaRPr>
          </a:p>
        </p:txBody>
      </p:sp>
      <p:pic>
        <p:nvPicPr>
          <p:cNvPr id="3" name="Picture 2">
            <a:extLst>
              <a:ext uri="{FF2B5EF4-FFF2-40B4-BE49-F238E27FC236}">
                <a16:creationId xmlns:a16="http://schemas.microsoft.com/office/drawing/2014/main" id="{E5E79A80-E18E-42AD-B692-0B0876CF5A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7473" y="1294597"/>
            <a:ext cx="3143439" cy="5208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B1B4F806-5C6C-42FB-ACEF-4F95230D3AAF}"/>
              </a:ext>
            </a:extLst>
          </p:cNvPr>
          <p:cNvSpPr/>
          <p:nvPr/>
        </p:nvSpPr>
        <p:spPr>
          <a:xfrm>
            <a:off x="3515916" y="879099"/>
            <a:ext cx="8161080" cy="830997"/>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 lock is acquired on Parent node, then automatically, all its children are locked.</a:t>
            </a:r>
          </a:p>
        </p:txBody>
      </p:sp>
      <p:sp>
        <p:nvSpPr>
          <p:cNvPr id="10" name="Rectangle 9">
            <a:extLst>
              <a:ext uri="{FF2B5EF4-FFF2-40B4-BE49-F238E27FC236}">
                <a16:creationId xmlns:a16="http://schemas.microsoft.com/office/drawing/2014/main" id="{AA472D6E-9984-43A8-BE5F-8D7B73A7E34C}"/>
              </a:ext>
            </a:extLst>
          </p:cNvPr>
          <p:cNvSpPr/>
          <p:nvPr/>
        </p:nvSpPr>
        <p:spPr>
          <a:xfrm>
            <a:off x="3515916" y="4828553"/>
            <a:ext cx="5502252" cy="1938992"/>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At the same time, if other transaction request lock on Record2, then lock will not be granted as its Parent Page 2 has been locked by some other transaction.</a:t>
            </a:r>
          </a:p>
        </p:txBody>
      </p:sp>
      <p:sp>
        <p:nvSpPr>
          <p:cNvPr id="11" name="Rectangle 10">
            <a:extLst>
              <a:ext uri="{FF2B5EF4-FFF2-40B4-BE49-F238E27FC236}">
                <a16:creationId xmlns:a16="http://schemas.microsoft.com/office/drawing/2014/main" id="{72B5699C-0F15-4F11-964D-8CD7B0180B59}"/>
              </a:ext>
            </a:extLst>
          </p:cNvPr>
          <p:cNvSpPr/>
          <p:nvPr/>
        </p:nvSpPr>
        <p:spPr>
          <a:xfrm>
            <a:off x="3574528" y="3321899"/>
            <a:ext cx="5315284" cy="1569660"/>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Page2 has been locked by any transaction, then all its children i.e. Record1, Record 2, Field1 and Field2 will be locked.</a:t>
            </a:r>
          </a:p>
        </p:txBody>
      </p:sp>
      <p:sp>
        <p:nvSpPr>
          <p:cNvPr id="9" name="Rectangle 8">
            <a:extLst>
              <a:ext uri="{FF2B5EF4-FFF2-40B4-BE49-F238E27FC236}">
                <a16:creationId xmlns:a16="http://schemas.microsoft.com/office/drawing/2014/main" id="{3A7B9E68-8CB0-4436-8BF0-1E020E3B0F65}"/>
              </a:ext>
            </a:extLst>
          </p:cNvPr>
          <p:cNvSpPr/>
          <p:nvPr/>
        </p:nvSpPr>
        <p:spPr>
          <a:xfrm>
            <a:off x="3507416" y="1695850"/>
            <a:ext cx="5315285" cy="1569660"/>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any transaction requests lock on any child, then compiler checks whether a Lock on any parent has not been given. </a:t>
            </a:r>
          </a:p>
        </p:txBody>
      </p:sp>
    </p:spTree>
    <p:extLst>
      <p:ext uri="{BB962C8B-B14F-4D97-AF65-F5344CB8AC3E}">
        <p14:creationId xmlns:p14="http://schemas.microsoft.com/office/powerpoint/2010/main" val="274651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5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5988" y="1123837"/>
            <a:ext cx="3299381"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(Implementing Locking)</a:t>
            </a:r>
          </a:p>
        </p:txBody>
      </p:sp>
      <p:sp>
        <p:nvSpPr>
          <p:cNvPr id="6" name="Rectangle 5">
            <a:extLst>
              <a:ext uri="{FF2B5EF4-FFF2-40B4-BE49-F238E27FC236}">
                <a16:creationId xmlns:a16="http://schemas.microsoft.com/office/drawing/2014/main" id="{0F4CE4F2-39FB-4AB9-A82C-DFB095193EDB}"/>
              </a:ext>
            </a:extLst>
          </p:cNvPr>
          <p:cNvSpPr/>
          <p:nvPr/>
        </p:nvSpPr>
        <p:spPr>
          <a:xfrm>
            <a:off x="3478491" y="115019"/>
            <a:ext cx="8276733" cy="2831544"/>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Transactions send lock and unlock requests to </a:t>
            </a:r>
            <a:r>
              <a:rPr lang="en-US" sz="2400" b="1" dirty="0">
                <a:solidFill>
                  <a:srgbClr val="FF0000"/>
                </a:solidFill>
                <a:latin typeface="Cambria Math" panose="02040503050406030204" pitchFamily="18" charset="0"/>
                <a:ea typeface="Cambria Math" panose="02040503050406030204" pitchFamily="18" charset="0"/>
              </a:rPr>
              <a:t>Lock Manager. </a:t>
            </a:r>
            <a:r>
              <a:rPr lang="en-US" sz="2400" dirty="0">
                <a:latin typeface="Cambria Math" panose="02040503050406030204" pitchFamily="18" charset="0"/>
                <a:ea typeface="Cambria Math" panose="02040503050406030204" pitchFamily="18" charset="0"/>
              </a:rPr>
              <a:t>All transactions has to wait for lock manager’s response.</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Lock manager responds to the request with either “Lock Granted” or “Wait” message.</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Lock manager keeps all the records of lock grants and pending requests in a </a:t>
            </a:r>
            <a:r>
              <a:rPr lang="en-US" sz="2400" b="1" dirty="0">
                <a:solidFill>
                  <a:srgbClr val="FF0000"/>
                </a:solidFill>
                <a:latin typeface="Cambria Math" panose="02040503050406030204" pitchFamily="18" charset="0"/>
                <a:ea typeface="Cambria Math" panose="02040503050406030204" pitchFamily="18" charset="0"/>
              </a:rPr>
              <a:t>Lock Table.</a:t>
            </a:r>
            <a:endParaRPr lang="en-US" sz="2400" dirty="0">
              <a:latin typeface="Cambria Math" panose="02040503050406030204" pitchFamily="18" charset="0"/>
              <a:ea typeface="Cambria Math" panose="02040503050406030204" pitchFamily="18" charset="0"/>
            </a:endParaRPr>
          </a:p>
        </p:txBody>
      </p:sp>
      <p:pic>
        <p:nvPicPr>
          <p:cNvPr id="13" name="Picture 4">
            <a:extLst>
              <a:ext uri="{FF2B5EF4-FFF2-40B4-BE49-F238E27FC236}">
                <a16:creationId xmlns:a16="http://schemas.microsoft.com/office/drawing/2014/main" id="{9C1BC82D-3C17-41E5-9F55-F8A8D9E4AEE7}"/>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PaintStrokes/>
                    </a14:imgEffect>
                    <a14:imgEffect>
                      <a14:sharpenSoften amount="25000"/>
                    </a14:imgEffect>
                  </a14:imgLayer>
                </a14:imgProps>
              </a:ext>
              <a:ext uri="{28A0092B-C50C-407E-A947-70E740481C1C}">
                <a14:useLocalDpi xmlns:a14="http://schemas.microsoft.com/office/drawing/2010/main" val="0"/>
              </a:ext>
            </a:extLst>
          </a:blip>
          <a:srcRect l="19557" t="1344" r="20766" b="26352"/>
          <a:stretch/>
        </p:blipFill>
        <p:spPr bwMode="auto">
          <a:xfrm>
            <a:off x="3738317" y="3114494"/>
            <a:ext cx="3543300" cy="3220318"/>
          </a:xfrm>
          <a:prstGeom prst="rect">
            <a:avLst/>
          </a:prstGeom>
          <a:noFill/>
          <a:ln w="38100" cmpd="dbl">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 name="Group 11">
            <a:extLst>
              <a:ext uri="{FF2B5EF4-FFF2-40B4-BE49-F238E27FC236}">
                <a16:creationId xmlns:a16="http://schemas.microsoft.com/office/drawing/2014/main" id="{75956230-00A5-4513-85BA-BEF1993C8814}"/>
              </a:ext>
            </a:extLst>
          </p:cNvPr>
          <p:cNvGrpSpPr>
            <a:grpSpLocks/>
          </p:cNvGrpSpPr>
          <p:nvPr/>
        </p:nvGrpSpPr>
        <p:grpSpPr bwMode="auto">
          <a:xfrm>
            <a:off x="5845274" y="5359895"/>
            <a:ext cx="1335088" cy="730250"/>
            <a:chOff x="840" y="3502"/>
            <a:chExt cx="841" cy="460"/>
          </a:xfrm>
        </p:grpSpPr>
        <p:sp>
          <p:nvSpPr>
            <p:cNvPr id="15" name="Rectangle 6">
              <a:extLst>
                <a:ext uri="{FF2B5EF4-FFF2-40B4-BE49-F238E27FC236}">
                  <a16:creationId xmlns:a16="http://schemas.microsoft.com/office/drawing/2014/main" id="{EF9307FF-958D-4AA9-8052-53B0CE30667A}"/>
                </a:ext>
              </a:extLst>
            </p:cNvPr>
            <p:cNvSpPr>
              <a:spLocks noChangeArrowheads="1"/>
            </p:cNvSpPr>
            <p:nvPr/>
          </p:nvSpPr>
          <p:spPr bwMode="auto">
            <a:xfrm>
              <a:off x="840" y="3808"/>
              <a:ext cx="112" cy="9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solidFill>
                    <a:schemeClr val="accent1"/>
                  </a:solidFill>
                </a:ln>
                <a:solidFill>
                  <a:srgbClr val="000000"/>
                </a:solidFill>
                <a:effectLst/>
                <a:uLnTx/>
                <a:uFillTx/>
                <a:latin typeface="Helvetica" panose="020B0604020202020204" pitchFamily="34" charset="0"/>
              </a:endParaRPr>
            </a:p>
          </p:txBody>
        </p:sp>
        <p:sp>
          <p:nvSpPr>
            <p:cNvPr id="16" name="Rectangle 7">
              <a:extLst>
                <a:ext uri="{FF2B5EF4-FFF2-40B4-BE49-F238E27FC236}">
                  <a16:creationId xmlns:a16="http://schemas.microsoft.com/office/drawing/2014/main" id="{D8B8D65E-62A1-4A97-A086-BE407D31B990}"/>
                </a:ext>
              </a:extLst>
            </p:cNvPr>
            <p:cNvSpPr>
              <a:spLocks noChangeArrowheads="1"/>
            </p:cNvSpPr>
            <p:nvPr/>
          </p:nvSpPr>
          <p:spPr bwMode="auto">
            <a:xfrm>
              <a:off x="840" y="3600"/>
              <a:ext cx="112" cy="96"/>
            </a:xfrm>
            <a:prstGeom prst="rect">
              <a:avLst/>
            </a:prstGeom>
            <a:solidFill>
              <a:srgbClr val="2893A8"/>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highlight>
                  <a:srgbClr val="40BAD2"/>
                </a:highlight>
                <a:uLnTx/>
                <a:uFillTx/>
                <a:latin typeface="Helvetica" panose="020B0604020202020204" pitchFamily="34" charset="0"/>
              </a:endParaRPr>
            </a:p>
          </p:txBody>
        </p:sp>
        <p:sp>
          <p:nvSpPr>
            <p:cNvPr id="17" name="Text Box 8">
              <a:extLst>
                <a:ext uri="{FF2B5EF4-FFF2-40B4-BE49-F238E27FC236}">
                  <a16:creationId xmlns:a16="http://schemas.microsoft.com/office/drawing/2014/main" id="{6D35A9B8-D593-46DE-B92C-FC2F5CD37848}"/>
                </a:ext>
              </a:extLst>
            </p:cNvPr>
            <p:cNvSpPr txBox="1">
              <a:spLocks noChangeArrowheads="1"/>
            </p:cNvSpPr>
            <p:nvPr/>
          </p:nvSpPr>
          <p:spPr bwMode="auto">
            <a:xfrm>
              <a:off x="1102" y="3502"/>
              <a:ext cx="57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Helvetica" panose="020B0604020202020204" pitchFamily="34" charset="0"/>
                </a:rPr>
                <a:t>Granted</a:t>
              </a:r>
            </a:p>
          </p:txBody>
        </p:sp>
        <p:sp>
          <p:nvSpPr>
            <p:cNvPr id="18" name="Text Box 9">
              <a:extLst>
                <a:ext uri="{FF2B5EF4-FFF2-40B4-BE49-F238E27FC236}">
                  <a16:creationId xmlns:a16="http://schemas.microsoft.com/office/drawing/2014/main" id="{17FF4C32-C9E6-414A-8AA8-A19DCAB06109}"/>
                </a:ext>
              </a:extLst>
            </p:cNvPr>
            <p:cNvSpPr txBox="1">
              <a:spLocks noChangeArrowheads="1"/>
            </p:cNvSpPr>
            <p:nvPr/>
          </p:nvSpPr>
          <p:spPr bwMode="auto">
            <a:xfrm>
              <a:off x="1078" y="3750"/>
              <a:ext cx="54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Helvetica" panose="020B0604020202020204" pitchFamily="34" charset="0"/>
                </a:rPr>
                <a:t>Waiting</a:t>
              </a:r>
            </a:p>
          </p:txBody>
        </p:sp>
      </p:grpSp>
      <p:sp>
        <p:nvSpPr>
          <p:cNvPr id="5" name="Rectangle 4">
            <a:extLst>
              <a:ext uri="{FF2B5EF4-FFF2-40B4-BE49-F238E27FC236}">
                <a16:creationId xmlns:a16="http://schemas.microsoft.com/office/drawing/2014/main" id="{949A1180-A8F5-4626-968A-97A7E0080E50}"/>
              </a:ext>
            </a:extLst>
          </p:cNvPr>
          <p:cNvSpPr/>
          <p:nvPr/>
        </p:nvSpPr>
        <p:spPr>
          <a:xfrm>
            <a:off x="7516305" y="2946563"/>
            <a:ext cx="4238919" cy="3724096"/>
          </a:xfrm>
          <a:prstGeom prst="rect">
            <a:avLst/>
          </a:prstGeom>
        </p:spPr>
        <p:txBody>
          <a:bodyPr wrap="square">
            <a:spAutoFit/>
          </a:bodyPr>
          <a:lstStyle/>
          <a:p>
            <a:pPr marL="342900" indent="-342900" algn="just">
              <a:buFont typeface="Wingdings" panose="05000000000000000000" pitchFamily="2" charset="2"/>
              <a:buChar char="ü"/>
            </a:pPr>
            <a:r>
              <a:rPr lang="en-US" altLang="en-US" sz="2000" dirty="0">
                <a:latin typeface="Cambria Math" panose="02040503050406030204" pitchFamily="18" charset="0"/>
                <a:ea typeface="Cambria Math" panose="02040503050406030204" pitchFamily="18" charset="0"/>
              </a:rPr>
              <a:t>Dark rectangles indicate granted locks, white ones indicate waiting requests.</a:t>
            </a:r>
          </a:p>
          <a:p>
            <a:pPr marL="342900" indent="-342900" algn="just">
              <a:buFont typeface="Wingdings" panose="05000000000000000000" pitchFamily="2" charset="2"/>
              <a:buChar char="ü"/>
            </a:pPr>
            <a:endParaRPr lang="en-US" alt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ü"/>
            </a:pPr>
            <a:r>
              <a:rPr lang="en-US" altLang="en-US" sz="2000" dirty="0">
                <a:latin typeface="Cambria Math" panose="02040503050406030204" pitchFamily="18" charset="0"/>
                <a:ea typeface="Cambria Math" panose="02040503050406030204" pitchFamily="18" charset="0"/>
              </a:rPr>
              <a:t>It has the record of type of locks issued on the data items.</a:t>
            </a:r>
          </a:p>
          <a:p>
            <a:pPr marL="342900" indent="-342900" algn="just">
              <a:buFont typeface="Wingdings" panose="05000000000000000000" pitchFamily="2" charset="2"/>
              <a:buChar char="ü"/>
            </a:pPr>
            <a:endParaRPr lang="en-US" alt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ü"/>
            </a:pPr>
            <a:r>
              <a:rPr lang="en-US" altLang="en-US" sz="2000" dirty="0">
                <a:latin typeface="Cambria Math" panose="02040503050406030204" pitchFamily="18" charset="0"/>
                <a:ea typeface="Cambria Math" panose="02040503050406030204" pitchFamily="18" charset="0"/>
              </a:rPr>
              <a:t>The new requests are listed in the queue from the bottom of the table.</a:t>
            </a:r>
          </a:p>
          <a:p>
            <a:pPr marL="342900" indent="-342900" algn="just">
              <a:buFont typeface="Wingdings" panose="05000000000000000000" pitchFamily="2" charset="2"/>
              <a:buChar char="ü"/>
            </a:pPr>
            <a:endParaRPr lang="en-US" altLang="en-US" sz="500" dirty="0">
              <a:latin typeface="Cambria Math" panose="02040503050406030204" pitchFamily="18" charset="0"/>
              <a:ea typeface="Cambria Math" panose="02040503050406030204" pitchFamily="18" charset="0"/>
            </a:endParaRPr>
          </a:p>
          <a:p>
            <a:pPr marL="342900" indent="-342900" algn="just">
              <a:buFont typeface="Wingdings" panose="05000000000000000000" pitchFamily="2" charset="2"/>
              <a:buChar char="ü"/>
            </a:pPr>
            <a:r>
              <a:rPr lang="en-US" altLang="en-US" sz="2000" dirty="0">
                <a:latin typeface="Cambria Math" panose="02040503050406030204" pitchFamily="18" charset="0"/>
                <a:ea typeface="Cambria Math" panose="02040503050406030204" pitchFamily="18" charset="0"/>
              </a:rPr>
              <a:t>If a transaction releases a lock, it will check which transaction can be provided with that lock.</a:t>
            </a:r>
          </a:p>
        </p:txBody>
      </p:sp>
    </p:spTree>
    <p:extLst>
      <p:ext uri="{BB962C8B-B14F-4D97-AF65-F5344CB8AC3E}">
        <p14:creationId xmlns:p14="http://schemas.microsoft.com/office/powerpoint/2010/main" val="913246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par>
                                <p:cTn id="23" presetID="16" presetClass="entr" presetSubtype="21"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fade">
                                      <p:cBhvr>
                                        <p:cTn id="35" dur="500"/>
                                        <p:tgtEl>
                                          <p:spTgt spid="5">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4" end="4"/>
                                            </p:txEl>
                                          </p:spTgt>
                                        </p:tgtEl>
                                        <p:attrNameLst>
                                          <p:attrName>style.visibility</p:attrName>
                                        </p:attrNameLst>
                                      </p:cBhvr>
                                      <p:to>
                                        <p:strVal val="visible"/>
                                      </p:to>
                                    </p:set>
                                    <p:animEffect transition="in" filter="fade">
                                      <p:cBhvr>
                                        <p:cTn id="40" dur="500"/>
                                        <p:tgtEl>
                                          <p:spTgt spid="5">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6" end="6"/>
                                            </p:txEl>
                                          </p:spTgt>
                                        </p:tgtEl>
                                        <p:attrNameLst>
                                          <p:attrName>style.visibility</p:attrName>
                                        </p:attrNameLst>
                                      </p:cBhvr>
                                      <p:to>
                                        <p:strVal val="visible"/>
                                      </p:to>
                                    </p:set>
                                    <p:animEffect transition="in" filter="fade">
                                      <p:cBhvr>
                                        <p:cTn id="45"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(Time Stamp Based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459359" y="467633"/>
            <a:ext cx="8324148" cy="5940088"/>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Each transaction is issued a timestamp when it enters the system. An old transaction T1 has time-stamp TS(T1) and new transaction T2 is assigned time-stamp TS(T2), then following condition satisfies: TS(T1) &lt; TS(T2). For e.g. TS(T1) = 0002 and TS(T2) = 0005, then TS(T1) &lt; TS(T2).</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Transaction with older timestamp are give priority for execution.</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protocol manages concurrent execution such that the </a:t>
            </a:r>
            <a:r>
              <a:rPr lang="en-US" sz="2400" b="1" dirty="0">
                <a:solidFill>
                  <a:srgbClr val="FF0000"/>
                </a:solidFill>
                <a:latin typeface="Cambria Math" panose="02040503050406030204" pitchFamily="18" charset="0"/>
                <a:ea typeface="Cambria Math" panose="02040503050406030204" pitchFamily="18" charset="0"/>
              </a:rPr>
              <a:t>read</a:t>
            </a:r>
            <a:r>
              <a:rPr lang="en-US" sz="2400" dirty="0">
                <a:latin typeface="Cambria Math" panose="02040503050406030204" pitchFamily="18" charset="0"/>
                <a:ea typeface="Cambria Math" panose="02040503050406030204" pitchFamily="18" charset="0"/>
              </a:rPr>
              <a:t> and </a:t>
            </a:r>
            <a:r>
              <a:rPr lang="en-US" sz="2400" b="1" dirty="0">
                <a:solidFill>
                  <a:srgbClr val="FF0000"/>
                </a:solidFill>
                <a:latin typeface="Cambria Math" panose="02040503050406030204" pitchFamily="18" charset="0"/>
                <a:ea typeface="Cambria Math" panose="02040503050406030204" pitchFamily="18" charset="0"/>
              </a:rPr>
              <a:t>write</a:t>
            </a:r>
            <a:r>
              <a:rPr lang="en-US" sz="2400" dirty="0">
                <a:latin typeface="Cambria Math" panose="02040503050406030204" pitchFamily="18" charset="0"/>
                <a:ea typeface="Cambria Math" panose="02040503050406030204" pitchFamily="18" charset="0"/>
              </a:rPr>
              <a:t> operations are executed in timestamp order.</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protocol maintains for each data Q two timestamp values:</a:t>
            </a:r>
          </a:p>
          <a:p>
            <a:pPr marL="914400" lvl="1" indent="-457200" algn="just">
              <a:buFont typeface="Wingdings" panose="05000000000000000000" pitchFamily="2" charset="2"/>
              <a:buChar char="Ø"/>
            </a:pPr>
            <a:r>
              <a:rPr lang="en-US" sz="2400" b="1" dirty="0">
                <a:solidFill>
                  <a:srgbClr val="FF0000"/>
                </a:solidFill>
                <a:latin typeface="Cambria Math" panose="02040503050406030204" pitchFamily="18" charset="0"/>
                <a:ea typeface="Cambria Math" panose="02040503050406030204" pitchFamily="18" charset="0"/>
              </a:rPr>
              <a:t>W-timestamp(Q):</a:t>
            </a:r>
            <a:r>
              <a:rPr lang="en-US" sz="2400" dirty="0">
                <a:latin typeface="Cambria Math" panose="02040503050406030204" pitchFamily="18" charset="0"/>
                <a:ea typeface="Cambria Math" panose="02040503050406030204" pitchFamily="18" charset="0"/>
              </a:rPr>
              <a:t> largest time-stamp of any transaction that executed write(Q) successfully.</a:t>
            </a:r>
          </a:p>
          <a:p>
            <a:pPr marL="914400" lvl="1"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Ø"/>
            </a:pPr>
            <a:r>
              <a:rPr lang="en-US" sz="2400" b="1" dirty="0">
                <a:solidFill>
                  <a:srgbClr val="FF0000"/>
                </a:solidFill>
                <a:latin typeface="Cambria Math" panose="02040503050406030204" pitchFamily="18" charset="0"/>
                <a:ea typeface="Cambria Math" panose="02040503050406030204" pitchFamily="18" charset="0"/>
              </a:rPr>
              <a:t>R-timestamp(Q):</a:t>
            </a:r>
            <a:r>
              <a:rPr lang="en-US" sz="2400" dirty="0">
                <a:latin typeface="Cambria Math" panose="02040503050406030204" pitchFamily="18" charset="0"/>
                <a:ea typeface="Cambria Math" panose="02040503050406030204" pitchFamily="18" charset="0"/>
              </a:rPr>
              <a:t> largest time-stamp of any transaction that executed read(Q) successfully.</a:t>
            </a:r>
          </a:p>
        </p:txBody>
      </p:sp>
    </p:spTree>
    <p:extLst>
      <p:ext uri="{BB962C8B-B14F-4D97-AF65-F5344CB8AC3E}">
        <p14:creationId xmlns:p14="http://schemas.microsoft.com/office/powerpoint/2010/main" val="29398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fade">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9" end="9"/>
                                            </p:txEl>
                                          </p:spTgt>
                                        </p:tgtEl>
                                        <p:attrNameLst>
                                          <p:attrName>style.visibility</p:attrName>
                                        </p:attrNameLst>
                                      </p:cBhvr>
                                      <p:to>
                                        <p:strVal val="visible"/>
                                      </p:to>
                                    </p:set>
                                    <p:animEffect transition="in" filter="fade">
                                      <p:cBhvr>
                                        <p:cTn id="3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Concurrency Control</a:t>
            </a:r>
            <a:br>
              <a:rPr lang="en-US" b="1" dirty="0">
                <a:solidFill>
                  <a:schemeClr val="tx1"/>
                </a:solidFill>
                <a:latin typeface="Cambria" panose="02040503050406030204" pitchFamily="18" charset="0"/>
                <a:ea typeface="Cambria" panose="02040503050406030204" pitchFamily="18" charset="0"/>
              </a:rPr>
            </a:br>
            <a:r>
              <a:rPr lang="en-US" b="1" dirty="0">
                <a:solidFill>
                  <a:schemeClr val="tx1"/>
                </a:solidFill>
                <a:latin typeface="Cambria" panose="02040503050406030204" pitchFamily="18" charset="0"/>
                <a:ea typeface="Cambria" panose="02040503050406030204" pitchFamily="18" charset="0"/>
              </a:rPr>
              <a:t>(Time Stamp Based Protocol)</a:t>
            </a:r>
          </a:p>
        </p:txBody>
      </p:sp>
      <p:sp>
        <p:nvSpPr>
          <p:cNvPr id="6" name="Rectangle 5">
            <a:extLst>
              <a:ext uri="{FF2B5EF4-FFF2-40B4-BE49-F238E27FC236}">
                <a16:creationId xmlns:a16="http://schemas.microsoft.com/office/drawing/2014/main" id="{0F4CE4F2-39FB-4AB9-A82C-DFB095193EDB}"/>
              </a:ext>
            </a:extLst>
          </p:cNvPr>
          <p:cNvSpPr/>
          <p:nvPr/>
        </p:nvSpPr>
        <p:spPr>
          <a:xfrm>
            <a:off x="3440783" y="262024"/>
            <a:ext cx="8305015" cy="6324808"/>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Suppose a transaction T1 issues a </a:t>
            </a:r>
            <a:r>
              <a:rPr lang="en-US" sz="2400" b="1" dirty="0">
                <a:solidFill>
                  <a:srgbClr val="FF0000"/>
                </a:solidFill>
                <a:latin typeface="Cambria Math" panose="02040503050406030204" pitchFamily="18" charset="0"/>
                <a:ea typeface="Cambria Math" panose="02040503050406030204" pitchFamily="18" charset="0"/>
              </a:rPr>
              <a:t>read(Q).</a:t>
            </a:r>
          </a:p>
          <a:p>
            <a:pPr marL="914400" lvl="1" indent="-457200" algn="just">
              <a:buFont typeface="Wingdings" panose="05000000000000000000" pitchFamily="2" charset="2"/>
              <a:buChar char="Ø"/>
            </a:pPr>
            <a:endParaRPr lang="en-US" sz="500" b="1" dirty="0">
              <a:solidFill>
                <a:srgbClr val="FF0000"/>
              </a:solidFill>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If </a:t>
            </a:r>
            <a:r>
              <a:rPr lang="en-US" sz="2400" b="1" dirty="0">
                <a:solidFill>
                  <a:srgbClr val="FF0000"/>
                </a:solidFill>
                <a:latin typeface="Cambria Math" panose="02040503050406030204" pitchFamily="18" charset="0"/>
                <a:ea typeface="Cambria Math" panose="02040503050406030204" pitchFamily="18" charset="0"/>
              </a:rPr>
              <a:t>TS(T1)</a:t>
            </a:r>
            <a:r>
              <a:rPr lang="en-US" sz="2400" dirty="0">
                <a:latin typeface="Cambria Math" panose="02040503050406030204" pitchFamily="18" charset="0"/>
                <a:ea typeface="Cambria Math" panose="02040503050406030204" pitchFamily="18" charset="0"/>
              </a:rPr>
              <a:t> &lt;= </a:t>
            </a:r>
            <a:r>
              <a:rPr lang="en-US" sz="2400" b="1" dirty="0">
                <a:solidFill>
                  <a:srgbClr val="FF0000"/>
                </a:solidFill>
                <a:latin typeface="Cambria Math" panose="02040503050406030204" pitchFamily="18" charset="0"/>
                <a:ea typeface="Cambria Math" panose="02040503050406030204" pitchFamily="18" charset="0"/>
              </a:rPr>
              <a:t>W-timestamp(Q)</a:t>
            </a:r>
            <a:r>
              <a:rPr lang="en-US" sz="2400" dirty="0">
                <a:latin typeface="Cambria Math" panose="02040503050406030204" pitchFamily="18" charset="0"/>
                <a:ea typeface="Cambria Math" panose="02040503050406030204" pitchFamily="18" charset="0"/>
              </a:rPr>
              <a:t>, then the read operation is rejected as </a:t>
            </a:r>
            <a:r>
              <a:rPr lang="en-US" sz="2400" b="1" dirty="0">
                <a:solidFill>
                  <a:srgbClr val="FF0000"/>
                </a:solidFill>
                <a:latin typeface="Cambria Math" panose="02040503050406030204" pitchFamily="18" charset="0"/>
                <a:ea typeface="Cambria Math" panose="02040503050406030204" pitchFamily="18" charset="0"/>
              </a:rPr>
              <a:t>write</a:t>
            </a:r>
            <a:r>
              <a:rPr lang="en-US" sz="2400" dirty="0">
                <a:latin typeface="Cambria Math" panose="02040503050406030204" pitchFamily="18" charset="0"/>
                <a:ea typeface="Cambria Math" panose="02040503050406030204" pitchFamily="18" charset="0"/>
              </a:rPr>
              <a:t> operation is in execution. For e.g. TS(T1) = 0002, W-timestamp(Q) = 0008</a:t>
            </a:r>
          </a:p>
          <a:p>
            <a:pPr marL="914400" lvl="1" indent="-457200" algn="just">
              <a:buFont typeface="Wingdings" panose="05000000000000000000" pitchFamily="2" charset="2"/>
              <a:buChar char="ü"/>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If </a:t>
            </a:r>
            <a:r>
              <a:rPr lang="en-US" sz="2400" b="1" dirty="0">
                <a:solidFill>
                  <a:srgbClr val="FF0000"/>
                </a:solidFill>
                <a:latin typeface="Cambria Math" panose="02040503050406030204" pitchFamily="18" charset="0"/>
                <a:ea typeface="Cambria Math" panose="02040503050406030204" pitchFamily="18" charset="0"/>
              </a:rPr>
              <a:t>TS(T1)</a:t>
            </a:r>
            <a:r>
              <a:rPr lang="en-US" sz="2400" dirty="0">
                <a:latin typeface="Cambria Math" panose="02040503050406030204" pitchFamily="18" charset="0"/>
                <a:ea typeface="Cambria Math" panose="02040503050406030204" pitchFamily="18" charset="0"/>
              </a:rPr>
              <a:t> &gt;= </a:t>
            </a:r>
            <a:r>
              <a:rPr lang="en-US" sz="2400" b="1" dirty="0">
                <a:solidFill>
                  <a:srgbClr val="FF0000"/>
                </a:solidFill>
                <a:latin typeface="Cambria Math" panose="02040503050406030204" pitchFamily="18" charset="0"/>
                <a:ea typeface="Cambria Math" panose="02040503050406030204" pitchFamily="18" charset="0"/>
              </a:rPr>
              <a:t>W-timestamp(Q)</a:t>
            </a:r>
            <a:r>
              <a:rPr lang="en-US" sz="2400" dirty="0">
                <a:latin typeface="Cambria Math" panose="02040503050406030204" pitchFamily="18" charset="0"/>
                <a:ea typeface="Cambria Math" panose="02040503050406030204" pitchFamily="18" charset="0"/>
              </a:rPr>
              <a:t>, then the read operation is executed as it is assumed that </a:t>
            </a:r>
            <a:r>
              <a:rPr lang="en-US" sz="2400" b="1" dirty="0">
                <a:solidFill>
                  <a:srgbClr val="FF0000"/>
                </a:solidFill>
                <a:latin typeface="Cambria Math" panose="02040503050406030204" pitchFamily="18" charset="0"/>
                <a:ea typeface="Cambria Math" panose="02040503050406030204" pitchFamily="18" charset="0"/>
              </a:rPr>
              <a:t>write</a:t>
            </a:r>
            <a:r>
              <a:rPr lang="en-US" sz="2400" dirty="0">
                <a:latin typeface="Cambria Math" panose="02040503050406030204" pitchFamily="18" charset="0"/>
                <a:ea typeface="Cambria Math" panose="02040503050406030204" pitchFamily="18" charset="0"/>
              </a:rPr>
              <a:t> operation is committed. For e.g. TS(T1) = 0005, W-timestamp(Q) = 0003</a:t>
            </a:r>
          </a:p>
          <a:p>
            <a:pPr lvl="1" algn="just"/>
            <a:endParaRPr lang="en-US" sz="1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Suppose a transaction T1 issues a </a:t>
            </a:r>
            <a:r>
              <a:rPr lang="en-US" sz="2400" b="1" dirty="0">
                <a:solidFill>
                  <a:srgbClr val="FF0000"/>
                </a:solidFill>
                <a:latin typeface="Cambria Math" panose="02040503050406030204" pitchFamily="18" charset="0"/>
                <a:ea typeface="Cambria Math" panose="02040503050406030204" pitchFamily="18" charset="0"/>
              </a:rPr>
              <a:t>write(Q).</a:t>
            </a:r>
          </a:p>
          <a:p>
            <a:pPr marL="457200" indent="-457200" algn="just">
              <a:buFont typeface="Wingdings" panose="05000000000000000000" pitchFamily="2" charset="2"/>
              <a:buChar char="Ø"/>
            </a:pPr>
            <a:endParaRPr lang="en-US" sz="500" b="1" dirty="0">
              <a:solidFill>
                <a:srgbClr val="FF0000"/>
              </a:solidFill>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If </a:t>
            </a:r>
            <a:r>
              <a:rPr lang="en-US" sz="2400" b="1" dirty="0">
                <a:solidFill>
                  <a:srgbClr val="FF0000"/>
                </a:solidFill>
                <a:latin typeface="Cambria Math" panose="02040503050406030204" pitchFamily="18" charset="0"/>
                <a:ea typeface="Cambria Math" panose="02040503050406030204" pitchFamily="18" charset="0"/>
              </a:rPr>
              <a:t>TS(T1)</a:t>
            </a:r>
            <a:r>
              <a:rPr lang="en-US" sz="2400" dirty="0">
                <a:latin typeface="Cambria Math" panose="02040503050406030204" pitchFamily="18" charset="0"/>
                <a:ea typeface="Cambria Math" panose="02040503050406030204" pitchFamily="18" charset="0"/>
              </a:rPr>
              <a:t> &lt;= </a:t>
            </a:r>
            <a:r>
              <a:rPr lang="en-US" sz="2400" b="1" dirty="0">
                <a:solidFill>
                  <a:srgbClr val="FF0000"/>
                </a:solidFill>
                <a:latin typeface="Cambria Math" panose="02040503050406030204" pitchFamily="18" charset="0"/>
                <a:ea typeface="Cambria Math" panose="02040503050406030204" pitchFamily="18" charset="0"/>
              </a:rPr>
              <a:t>R-timestamp(Q)</a:t>
            </a:r>
            <a:r>
              <a:rPr lang="en-US" sz="2400" dirty="0">
                <a:latin typeface="Cambria Math" panose="02040503050406030204" pitchFamily="18" charset="0"/>
                <a:ea typeface="Cambria Math" panose="02040503050406030204" pitchFamily="18" charset="0"/>
              </a:rPr>
              <a:t>, then the write operation is rejected as </a:t>
            </a:r>
            <a:r>
              <a:rPr lang="en-US" sz="2400" b="1" dirty="0">
                <a:solidFill>
                  <a:srgbClr val="FF0000"/>
                </a:solidFill>
                <a:latin typeface="Cambria Math" panose="02040503050406030204" pitchFamily="18" charset="0"/>
                <a:ea typeface="Cambria Math" panose="02040503050406030204" pitchFamily="18" charset="0"/>
              </a:rPr>
              <a:t>read</a:t>
            </a:r>
            <a:r>
              <a:rPr lang="en-US" sz="2400" dirty="0">
                <a:latin typeface="Cambria Math" panose="02040503050406030204" pitchFamily="18" charset="0"/>
                <a:ea typeface="Cambria Math" panose="02040503050406030204" pitchFamily="18" charset="0"/>
              </a:rPr>
              <a:t> operation is in execution. For e.g. TS(T1) = 0002, R-timestamp(Q) = 0008</a:t>
            </a:r>
          </a:p>
          <a:p>
            <a:pPr marL="914400" lvl="1" indent="-457200" algn="just">
              <a:buFont typeface="Wingdings" panose="05000000000000000000" pitchFamily="2" charset="2"/>
              <a:buChar char="ü"/>
            </a:pPr>
            <a:endParaRPr lang="en-US" sz="5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If </a:t>
            </a:r>
            <a:r>
              <a:rPr lang="en-US" sz="2400" b="1" dirty="0">
                <a:solidFill>
                  <a:srgbClr val="FF0000"/>
                </a:solidFill>
                <a:latin typeface="Cambria Math" panose="02040503050406030204" pitchFamily="18" charset="0"/>
                <a:ea typeface="Cambria Math" panose="02040503050406030204" pitchFamily="18" charset="0"/>
              </a:rPr>
              <a:t>TS(T1)</a:t>
            </a:r>
            <a:r>
              <a:rPr lang="en-US" sz="2400" dirty="0">
                <a:latin typeface="Cambria Math" panose="02040503050406030204" pitchFamily="18" charset="0"/>
                <a:ea typeface="Cambria Math" panose="02040503050406030204" pitchFamily="18" charset="0"/>
              </a:rPr>
              <a:t> &gt;= </a:t>
            </a:r>
            <a:r>
              <a:rPr lang="en-US" sz="2400" b="1" dirty="0">
                <a:solidFill>
                  <a:srgbClr val="FF0000"/>
                </a:solidFill>
                <a:latin typeface="Cambria Math" panose="02040503050406030204" pitchFamily="18" charset="0"/>
                <a:ea typeface="Cambria Math" panose="02040503050406030204" pitchFamily="18" charset="0"/>
              </a:rPr>
              <a:t>R-timestamp(Q)</a:t>
            </a:r>
            <a:r>
              <a:rPr lang="en-US" sz="2400" dirty="0">
                <a:latin typeface="Cambria Math" panose="02040503050406030204" pitchFamily="18" charset="0"/>
                <a:ea typeface="Cambria Math" panose="02040503050406030204" pitchFamily="18" charset="0"/>
              </a:rPr>
              <a:t>, then the write operation is executed as it is assumed that </a:t>
            </a:r>
            <a:r>
              <a:rPr lang="en-US" sz="2400" b="1" dirty="0">
                <a:solidFill>
                  <a:srgbClr val="FF0000"/>
                </a:solidFill>
                <a:latin typeface="Cambria Math" panose="02040503050406030204" pitchFamily="18" charset="0"/>
                <a:ea typeface="Cambria Math" panose="02040503050406030204" pitchFamily="18" charset="0"/>
              </a:rPr>
              <a:t>read</a:t>
            </a:r>
            <a:r>
              <a:rPr lang="en-US" sz="2400" dirty="0">
                <a:latin typeface="Cambria Math" panose="02040503050406030204" pitchFamily="18" charset="0"/>
                <a:ea typeface="Cambria Math" panose="02040503050406030204" pitchFamily="18" charset="0"/>
              </a:rPr>
              <a:t> operation is complete. For e.g. TS(T1) = 0005, R-timestamp(Q) = 0003</a:t>
            </a:r>
          </a:p>
        </p:txBody>
      </p:sp>
    </p:spTree>
    <p:extLst>
      <p:ext uri="{BB962C8B-B14F-4D97-AF65-F5344CB8AC3E}">
        <p14:creationId xmlns:p14="http://schemas.microsoft.com/office/powerpoint/2010/main" val="2074526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500"/>
                                        <p:tgtEl>
                                          <p:spTgt spid="6">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10" end="10"/>
                                            </p:txEl>
                                          </p:spTgt>
                                        </p:tgtEl>
                                        <p:attrNameLst>
                                          <p:attrName>style.visibility</p:attrName>
                                        </p:attrNameLst>
                                      </p:cBhvr>
                                      <p:to>
                                        <p:strVal val="visible"/>
                                      </p:to>
                                    </p:set>
                                    <p:animEffect transition="in" filter="fade">
                                      <p:cBhvr>
                                        <p:cTn id="32"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a:t>
            </a:r>
          </a:p>
        </p:txBody>
      </p:sp>
      <p:sp>
        <p:nvSpPr>
          <p:cNvPr id="6" name="Rectangle 5">
            <a:extLst>
              <a:ext uri="{FF2B5EF4-FFF2-40B4-BE49-F238E27FC236}">
                <a16:creationId xmlns:a16="http://schemas.microsoft.com/office/drawing/2014/main" id="{0F4CE4F2-39FB-4AB9-A82C-DFB095193EDB}"/>
              </a:ext>
            </a:extLst>
          </p:cNvPr>
          <p:cNvSpPr/>
          <p:nvPr/>
        </p:nvSpPr>
        <p:spPr>
          <a:xfrm>
            <a:off x="3459360" y="1123837"/>
            <a:ext cx="8324148" cy="4385816"/>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deadlock is a situation in which one transaction is waiting for other transaction to release the resources.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Let there be a set of transaction {T1, T2, T3} such that T1 is waiting for a data item that T2 holds, and T2 is waiting for a data item that T3 holds, T3 is waiting for a data item that T1 holds.</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Here, each transaction is waiting for some other. Hence, no transaction will work smoothly.</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only solution to this situation is transaction being rolled back to its initial state every time and come again to check the availability of resources.</a:t>
            </a:r>
          </a:p>
        </p:txBody>
      </p:sp>
    </p:spTree>
    <p:extLst>
      <p:ext uri="{BB962C8B-B14F-4D97-AF65-F5344CB8AC3E}">
        <p14:creationId xmlns:p14="http://schemas.microsoft.com/office/powerpoint/2010/main" val="353518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 Detection</a:t>
            </a:r>
          </a:p>
        </p:txBody>
      </p:sp>
      <p:sp>
        <p:nvSpPr>
          <p:cNvPr id="6" name="Rectangle 5">
            <a:extLst>
              <a:ext uri="{FF2B5EF4-FFF2-40B4-BE49-F238E27FC236}">
                <a16:creationId xmlns:a16="http://schemas.microsoft.com/office/drawing/2014/main" id="{0F4CE4F2-39FB-4AB9-A82C-DFB095193EDB}"/>
              </a:ext>
            </a:extLst>
          </p:cNvPr>
          <p:cNvSpPr/>
          <p:nvPr/>
        </p:nvSpPr>
        <p:spPr>
          <a:xfrm>
            <a:off x="3421653" y="235008"/>
            <a:ext cx="8324148" cy="6001643"/>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Deadlock Condition arise only if all these four conditions are true together.</a:t>
            </a: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Mutual Exclusion:</a:t>
            </a:r>
            <a:r>
              <a:rPr lang="en-US" sz="2400" dirty="0">
                <a:latin typeface="Cambria Math" panose="02040503050406030204" pitchFamily="18" charset="0"/>
                <a:ea typeface="Cambria Math" panose="02040503050406030204" pitchFamily="18" charset="0"/>
              </a:rPr>
              <a:t> One Process to work at one time. If any other process requests the same resource, it will wait till the first release it.</a:t>
            </a:r>
          </a:p>
          <a:p>
            <a:pPr marL="914400" lvl="1" indent="-457200" algn="just">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Hold and Wait:</a:t>
            </a:r>
            <a:r>
              <a:rPr lang="en-US" sz="2400" dirty="0">
                <a:latin typeface="Cambria Math" panose="02040503050406030204" pitchFamily="18" charset="0"/>
                <a:ea typeface="Cambria Math" panose="02040503050406030204" pitchFamily="18" charset="0"/>
              </a:rPr>
              <a:t> One process holds one resource and waiting for other resource that is held by other process.</a:t>
            </a:r>
          </a:p>
          <a:p>
            <a:pPr marL="914400" lvl="1" indent="-457200" algn="just">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Non-Preemption:</a:t>
            </a:r>
            <a:r>
              <a:rPr lang="en-US" sz="2400" dirty="0">
                <a:latin typeface="Cambria Math" panose="02040503050406030204" pitchFamily="18" charset="0"/>
                <a:ea typeface="Cambria Math" panose="02040503050406030204" pitchFamily="18" charset="0"/>
              </a:rPr>
              <a:t> Process can release resources only when it has completed its task. No force to acquire resource</a:t>
            </a:r>
          </a:p>
          <a:p>
            <a:pPr marL="914400" lvl="1" indent="-457200" algn="just">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Circular Wait:</a:t>
            </a:r>
            <a:r>
              <a:rPr lang="en-US" sz="2400" dirty="0">
                <a:latin typeface="Cambria Math" panose="02040503050406030204" pitchFamily="18" charset="0"/>
                <a:ea typeface="Cambria Math" panose="02040503050406030204" pitchFamily="18" charset="0"/>
              </a:rPr>
              <a:t> One Process waiting for other, Other waiting for another and thus creates the cycle.</a:t>
            </a:r>
          </a:p>
        </p:txBody>
      </p:sp>
    </p:spTree>
    <p:extLst>
      <p:ext uri="{BB962C8B-B14F-4D97-AF65-F5344CB8AC3E}">
        <p14:creationId xmlns:p14="http://schemas.microsoft.com/office/powerpoint/2010/main" val="230306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 Detection</a:t>
            </a:r>
          </a:p>
        </p:txBody>
      </p:sp>
      <p:sp>
        <p:nvSpPr>
          <p:cNvPr id="6" name="Rectangle 5">
            <a:extLst>
              <a:ext uri="{FF2B5EF4-FFF2-40B4-BE49-F238E27FC236}">
                <a16:creationId xmlns:a16="http://schemas.microsoft.com/office/drawing/2014/main" id="{0F4CE4F2-39FB-4AB9-A82C-DFB095193EDB}"/>
              </a:ext>
            </a:extLst>
          </p:cNvPr>
          <p:cNvSpPr/>
          <p:nvPr/>
        </p:nvSpPr>
        <p:spPr>
          <a:xfrm>
            <a:off x="3478214" y="18192"/>
            <a:ext cx="8324148" cy="3277820"/>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most simpler way to detect deadlock is to use </a:t>
            </a:r>
            <a:r>
              <a:rPr lang="en-US" sz="2400" b="1" dirty="0">
                <a:solidFill>
                  <a:srgbClr val="FF0000"/>
                </a:solidFill>
                <a:latin typeface="Cambria Math" panose="02040503050406030204" pitchFamily="18" charset="0"/>
                <a:ea typeface="Cambria Math" panose="02040503050406030204" pitchFamily="18" charset="0"/>
              </a:rPr>
              <a:t>Wait-for Graph.</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Each Transaction is represented by a node. When a Transaction Ti is waiting for the resource held by Tj, a </a:t>
            </a:r>
            <a:r>
              <a:rPr lang="en-US" sz="2400" b="1" dirty="0">
                <a:solidFill>
                  <a:srgbClr val="FF0000"/>
                </a:solidFill>
                <a:latin typeface="Cambria Math" panose="02040503050406030204" pitchFamily="18" charset="0"/>
                <a:ea typeface="Cambria Math" panose="02040503050406030204" pitchFamily="18" charset="0"/>
              </a:rPr>
              <a:t>directed edge</a:t>
            </a:r>
            <a:r>
              <a:rPr lang="en-US" sz="2400" b="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is drawn from Ti to Tj (Ti -----</a:t>
            </a:r>
            <a:r>
              <a:rPr lang="en-US" sz="2400" dirty="0">
                <a:latin typeface="Cambria Math" panose="02040503050406030204" pitchFamily="18" charset="0"/>
                <a:ea typeface="Cambria Math" panose="02040503050406030204" pitchFamily="18" charset="0"/>
                <a:sym typeface="Wingdings" panose="05000000000000000000" pitchFamily="2" charset="2"/>
              </a:rPr>
              <a:t> Tj).</a:t>
            </a:r>
            <a:endParaRPr lang="en-US" sz="24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If the Wait-for graph has any cycle, then we can say there is a </a:t>
            </a:r>
            <a:r>
              <a:rPr lang="en-US" sz="2400" b="1" dirty="0">
                <a:solidFill>
                  <a:srgbClr val="FF0000"/>
                </a:solidFill>
                <a:latin typeface="Cambria Math" panose="02040503050406030204" pitchFamily="18" charset="0"/>
                <a:ea typeface="Cambria Math" panose="02040503050406030204" pitchFamily="18" charset="0"/>
              </a:rPr>
              <a:t>Deadlock</a:t>
            </a:r>
            <a:r>
              <a:rPr lang="en-US" sz="2400" dirty="0">
                <a:latin typeface="Cambria Math" panose="02040503050406030204" pitchFamily="18" charset="0"/>
                <a:ea typeface="Cambria Math" panose="02040503050406030204" pitchFamily="18" charset="0"/>
              </a:rPr>
              <a:t> and all the transactions in the cycle are also said to be deadlocked.</a:t>
            </a:r>
          </a:p>
        </p:txBody>
      </p:sp>
      <p:sp>
        <p:nvSpPr>
          <p:cNvPr id="4" name="Oval 3">
            <a:extLst>
              <a:ext uri="{FF2B5EF4-FFF2-40B4-BE49-F238E27FC236}">
                <a16:creationId xmlns:a16="http://schemas.microsoft.com/office/drawing/2014/main" id="{A94FF3FF-4812-4282-9CB6-916AB6197E31}"/>
              </a:ext>
            </a:extLst>
          </p:cNvPr>
          <p:cNvSpPr/>
          <p:nvPr/>
        </p:nvSpPr>
        <p:spPr>
          <a:xfrm>
            <a:off x="4652962" y="3304753"/>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5" name="Oval 4">
            <a:extLst>
              <a:ext uri="{FF2B5EF4-FFF2-40B4-BE49-F238E27FC236}">
                <a16:creationId xmlns:a16="http://schemas.microsoft.com/office/drawing/2014/main" id="{3FAF7995-7F66-4880-A52B-95F41CF75998}"/>
              </a:ext>
            </a:extLst>
          </p:cNvPr>
          <p:cNvSpPr/>
          <p:nvPr/>
        </p:nvSpPr>
        <p:spPr>
          <a:xfrm>
            <a:off x="3729037" y="408236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9EFA41E3-2709-415B-8EE6-25627069C9AF}"/>
              </a:ext>
            </a:extLst>
          </p:cNvPr>
          <p:cNvSpPr/>
          <p:nvPr/>
        </p:nvSpPr>
        <p:spPr>
          <a:xfrm>
            <a:off x="5784945" y="3304753"/>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Oval 7">
            <a:extLst>
              <a:ext uri="{FF2B5EF4-FFF2-40B4-BE49-F238E27FC236}">
                <a16:creationId xmlns:a16="http://schemas.microsoft.com/office/drawing/2014/main" id="{087F23EE-AD72-454D-851E-29833C5E7960}"/>
              </a:ext>
            </a:extLst>
          </p:cNvPr>
          <p:cNvSpPr/>
          <p:nvPr/>
        </p:nvSpPr>
        <p:spPr>
          <a:xfrm>
            <a:off x="4652962" y="414931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9" name="Straight Arrow Connector 8">
            <a:extLst>
              <a:ext uri="{FF2B5EF4-FFF2-40B4-BE49-F238E27FC236}">
                <a16:creationId xmlns:a16="http://schemas.microsoft.com/office/drawing/2014/main" id="{E76DC5A3-6757-4C06-BFD9-9FDFB1188E04}"/>
              </a:ext>
            </a:extLst>
          </p:cNvPr>
          <p:cNvCxnSpPr>
            <a:cxnSpLocks/>
          </p:cNvCxnSpPr>
          <p:nvPr/>
        </p:nvCxnSpPr>
        <p:spPr>
          <a:xfrm flipV="1">
            <a:off x="4119282" y="3705158"/>
            <a:ext cx="600635" cy="454318"/>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10" name="Straight Arrow Connector 9">
            <a:extLst>
              <a:ext uri="{FF2B5EF4-FFF2-40B4-BE49-F238E27FC236}">
                <a16:creationId xmlns:a16="http://schemas.microsoft.com/office/drawing/2014/main" id="{50191769-5DC7-4017-8554-E225A00FF882}"/>
              </a:ext>
            </a:extLst>
          </p:cNvPr>
          <p:cNvCxnSpPr>
            <a:cxnSpLocks/>
          </p:cNvCxnSpPr>
          <p:nvPr/>
        </p:nvCxnSpPr>
        <p:spPr>
          <a:xfrm>
            <a:off x="5110162" y="3533353"/>
            <a:ext cx="674783" cy="0"/>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11" name="Straight Arrow Connector 10">
            <a:extLst>
              <a:ext uri="{FF2B5EF4-FFF2-40B4-BE49-F238E27FC236}">
                <a16:creationId xmlns:a16="http://schemas.microsoft.com/office/drawing/2014/main" id="{B75CF806-9CCC-41B0-A8FD-E13B3B63CF08}"/>
              </a:ext>
            </a:extLst>
          </p:cNvPr>
          <p:cNvCxnSpPr>
            <a:cxnSpLocks/>
          </p:cNvCxnSpPr>
          <p:nvPr/>
        </p:nvCxnSpPr>
        <p:spPr>
          <a:xfrm flipV="1">
            <a:off x="4881562" y="3761953"/>
            <a:ext cx="0" cy="387362"/>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6C542146-BDA8-4EDD-B508-03468E49B4A2}"/>
              </a:ext>
            </a:extLst>
          </p:cNvPr>
          <p:cNvCxnSpPr>
            <a:cxnSpLocks/>
          </p:cNvCxnSpPr>
          <p:nvPr/>
        </p:nvCxnSpPr>
        <p:spPr>
          <a:xfrm flipV="1">
            <a:off x="4190240" y="4375573"/>
            <a:ext cx="477346" cy="11083"/>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sp>
        <p:nvSpPr>
          <p:cNvPr id="3" name="Rectangle 2">
            <a:extLst>
              <a:ext uri="{FF2B5EF4-FFF2-40B4-BE49-F238E27FC236}">
                <a16:creationId xmlns:a16="http://schemas.microsoft.com/office/drawing/2014/main" id="{51929626-275E-403D-8A79-C84BB7CEFD55}"/>
              </a:ext>
            </a:extLst>
          </p:cNvPr>
          <p:cNvSpPr/>
          <p:nvPr/>
        </p:nvSpPr>
        <p:spPr>
          <a:xfrm>
            <a:off x="3478215" y="4654881"/>
            <a:ext cx="4034948" cy="2169825"/>
          </a:xfrm>
          <a:prstGeom prst="rect">
            <a:avLst/>
          </a:prstGeom>
        </p:spPr>
        <p:txBody>
          <a:bodyPr wrap="square">
            <a:spAutoFit/>
          </a:bodyPr>
          <a:lstStyle/>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is waiting for B and C</a:t>
            </a:r>
          </a:p>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 is waiting for B</a:t>
            </a:r>
          </a:p>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B is waiting for D</a:t>
            </a:r>
          </a:p>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Still, there is no cycle, </a:t>
            </a:r>
          </a:p>
          <a:p>
            <a:r>
              <a:rPr lang="en-US" sz="2400" dirty="0">
                <a:latin typeface="Cambria Math" panose="02040503050406030204" pitchFamily="18" charset="0"/>
                <a:ea typeface="Cambria Math" panose="02040503050406030204" pitchFamily="18" charset="0"/>
              </a:rPr>
              <a:t>hence it is not </a:t>
            </a:r>
            <a:r>
              <a:rPr lang="en-US" sz="2400" b="1" dirty="0">
                <a:solidFill>
                  <a:srgbClr val="FF0000"/>
                </a:solidFill>
                <a:latin typeface="Cambria Math" panose="02040503050406030204" pitchFamily="18" charset="0"/>
                <a:ea typeface="Cambria Math" panose="02040503050406030204" pitchFamily="18" charset="0"/>
              </a:rPr>
              <a:t>Deadlock.</a:t>
            </a:r>
            <a:endParaRPr lang="en-US" sz="2400" b="1" dirty="0">
              <a:solidFill>
                <a:srgbClr val="FF0000"/>
              </a:solidFill>
            </a:endParaRPr>
          </a:p>
        </p:txBody>
      </p:sp>
      <p:cxnSp>
        <p:nvCxnSpPr>
          <p:cNvPr id="23" name="Straight Connector 22">
            <a:extLst>
              <a:ext uri="{FF2B5EF4-FFF2-40B4-BE49-F238E27FC236}">
                <a16:creationId xmlns:a16="http://schemas.microsoft.com/office/drawing/2014/main" id="{13D06CFB-9E19-47D5-9AD0-CDC55B909997}"/>
              </a:ext>
            </a:extLst>
          </p:cNvPr>
          <p:cNvCxnSpPr>
            <a:cxnSpLocks/>
          </p:cNvCxnSpPr>
          <p:nvPr/>
        </p:nvCxnSpPr>
        <p:spPr>
          <a:xfrm>
            <a:off x="7212391" y="3007151"/>
            <a:ext cx="0" cy="3640646"/>
          </a:xfrm>
          <a:prstGeom prst="line">
            <a:avLst/>
          </a:prstGeom>
          <a:ln w="381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Oval 25">
            <a:extLst>
              <a:ext uri="{FF2B5EF4-FFF2-40B4-BE49-F238E27FC236}">
                <a16:creationId xmlns:a16="http://schemas.microsoft.com/office/drawing/2014/main" id="{1FE5A764-4768-4068-A8DB-D73ABF54DAD1}"/>
              </a:ext>
            </a:extLst>
          </p:cNvPr>
          <p:cNvSpPr/>
          <p:nvPr/>
        </p:nvSpPr>
        <p:spPr>
          <a:xfrm>
            <a:off x="8391401" y="310377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7" name="Oval 26">
            <a:extLst>
              <a:ext uri="{FF2B5EF4-FFF2-40B4-BE49-F238E27FC236}">
                <a16:creationId xmlns:a16="http://schemas.microsoft.com/office/drawing/2014/main" id="{6234085C-6F9B-4D13-9B8C-5682831DF123}"/>
              </a:ext>
            </a:extLst>
          </p:cNvPr>
          <p:cNvSpPr/>
          <p:nvPr/>
        </p:nvSpPr>
        <p:spPr>
          <a:xfrm>
            <a:off x="7467476" y="388138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 name="Oval 27">
            <a:extLst>
              <a:ext uri="{FF2B5EF4-FFF2-40B4-BE49-F238E27FC236}">
                <a16:creationId xmlns:a16="http://schemas.microsoft.com/office/drawing/2014/main" id="{B2F28318-E00F-4DF1-A207-98085F0E14D7}"/>
              </a:ext>
            </a:extLst>
          </p:cNvPr>
          <p:cNvSpPr/>
          <p:nvPr/>
        </p:nvSpPr>
        <p:spPr>
          <a:xfrm>
            <a:off x="9523384" y="310377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29" name="Oval 28">
            <a:extLst>
              <a:ext uri="{FF2B5EF4-FFF2-40B4-BE49-F238E27FC236}">
                <a16:creationId xmlns:a16="http://schemas.microsoft.com/office/drawing/2014/main" id="{582A4064-3C87-4225-93FD-792DE6E62795}"/>
              </a:ext>
            </a:extLst>
          </p:cNvPr>
          <p:cNvSpPr/>
          <p:nvPr/>
        </p:nvSpPr>
        <p:spPr>
          <a:xfrm>
            <a:off x="8391401" y="394834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30" name="Straight Arrow Connector 29">
            <a:extLst>
              <a:ext uri="{FF2B5EF4-FFF2-40B4-BE49-F238E27FC236}">
                <a16:creationId xmlns:a16="http://schemas.microsoft.com/office/drawing/2014/main" id="{ED0ED83D-1613-40AC-A85B-2D12D65D206A}"/>
              </a:ext>
            </a:extLst>
          </p:cNvPr>
          <p:cNvCxnSpPr>
            <a:cxnSpLocks/>
            <a:endCxn id="26" idx="3"/>
          </p:cNvCxnSpPr>
          <p:nvPr/>
        </p:nvCxnSpPr>
        <p:spPr>
          <a:xfrm flipV="1">
            <a:off x="7857721" y="3494023"/>
            <a:ext cx="600635" cy="454318"/>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31" name="Straight Arrow Connector 30">
            <a:extLst>
              <a:ext uri="{FF2B5EF4-FFF2-40B4-BE49-F238E27FC236}">
                <a16:creationId xmlns:a16="http://schemas.microsoft.com/office/drawing/2014/main" id="{0E5CAE43-5D28-4E32-A7BE-8BEB62B4BBD2}"/>
              </a:ext>
            </a:extLst>
          </p:cNvPr>
          <p:cNvCxnSpPr>
            <a:cxnSpLocks/>
          </p:cNvCxnSpPr>
          <p:nvPr/>
        </p:nvCxnSpPr>
        <p:spPr>
          <a:xfrm>
            <a:off x="8848601" y="3332378"/>
            <a:ext cx="674783" cy="0"/>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32" name="Straight Arrow Connector 31">
            <a:extLst>
              <a:ext uri="{FF2B5EF4-FFF2-40B4-BE49-F238E27FC236}">
                <a16:creationId xmlns:a16="http://schemas.microsoft.com/office/drawing/2014/main" id="{83F41B83-EE56-4177-B3E1-D1877A814AFB}"/>
              </a:ext>
            </a:extLst>
          </p:cNvPr>
          <p:cNvCxnSpPr>
            <a:cxnSpLocks/>
          </p:cNvCxnSpPr>
          <p:nvPr/>
        </p:nvCxnSpPr>
        <p:spPr>
          <a:xfrm flipV="1">
            <a:off x="8620001" y="3560978"/>
            <a:ext cx="0" cy="387362"/>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33" name="Straight Arrow Connector 32">
            <a:extLst>
              <a:ext uri="{FF2B5EF4-FFF2-40B4-BE49-F238E27FC236}">
                <a16:creationId xmlns:a16="http://schemas.microsoft.com/office/drawing/2014/main" id="{5F355689-8624-4BA4-BE53-3AAB58B2668F}"/>
              </a:ext>
            </a:extLst>
          </p:cNvPr>
          <p:cNvCxnSpPr>
            <a:cxnSpLocks/>
          </p:cNvCxnSpPr>
          <p:nvPr/>
        </p:nvCxnSpPr>
        <p:spPr>
          <a:xfrm flipV="1">
            <a:off x="7928679" y="4174598"/>
            <a:ext cx="477346" cy="11083"/>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cxnSp>
        <p:nvCxnSpPr>
          <p:cNvPr id="34" name="Straight Arrow Connector 33">
            <a:extLst>
              <a:ext uri="{FF2B5EF4-FFF2-40B4-BE49-F238E27FC236}">
                <a16:creationId xmlns:a16="http://schemas.microsoft.com/office/drawing/2014/main" id="{E276DC3F-3D31-4260-B0D3-9AB4848CAECB}"/>
              </a:ext>
            </a:extLst>
          </p:cNvPr>
          <p:cNvCxnSpPr>
            <a:cxnSpLocks/>
            <a:stCxn id="28" idx="3"/>
            <a:endCxn id="29" idx="7"/>
          </p:cNvCxnSpPr>
          <p:nvPr/>
        </p:nvCxnSpPr>
        <p:spPr>
          <a:xfrm flipH="1">
            <a:off x="8781646" y="3494023"/>
            <a:ext cx="808693" cy="521272"/>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sp>
        <p:nvSpPr>
          <p:cNvPr id="39" name="Rectangle 38">
            <a:extLst>
              <a:ext uri="{FF2B5EF4-FFF2-40B4-BE49-F238E27FC236}">
                <a16:creationId xmlns:a16="http://schemas.microsoft.com/office/drawing/2014/main" id="{11E6A847-6E4A-475C-AD39-48B4AC14AC49}"/>
              </a:ext>
            </a:extLst>
          </p:cNvPr>
          <p:cNvSpPr/>
          <p:nvPr/>
        </p:nvSpPr>
        <p:spPr>
          <a:xfrm>
            <a:off x="7311843" y="4631797"/>
            <a:ext cx="4880157" cy="2246769"/>
          </a:xfrm>
          <a:prstGeom prst="rect">
            <a:avLst/>
          </a:prstGeom>
        </p:spPr>
        <p:txBody>
          <a:bodyPr wrap="square">
            <a:spAutoFit/>
          </a:bodyPr>
          <a:lstStyle/>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B is waiting for D</a:t>
            </a:r>
          </a:p>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D is waiting for C</a:t>
            </a:r>
          </a:p>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C is waiting for B</a:t>
            </a:r>
          </a:p>
          <a:p>
            <a:pPr marL="285750" indent="-285750">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There is a cycle B – D – C - B, It is a </a:t>
            </a:r>
            <a:r>
              <a:rPr lang="en-US" sz="2400" b="1" dirty="0">
                <a:solidFill>
                  <a:srgbClr val="FF0000"/>
                </a:solidFill>
                <a:latin typeface="Cambria Math" panose="02040503050406030204" pitchFamily="18" charset="0"/>
                <a:ea typeface="Cambria Math" panose="02040503050406030204" pitchFamily="18" charset="0"/>
              </a:rPr>
              <a:t>Deadlock.</a:t>
            </a:r>
            <a:r>
              <a:rPr lang="en-US" sz="2400" dirty="0">
                <a:latin typeface="Cambria Math" panose="02040503050406030204" pitchFamily="18" charset="0"/>
                <a:ea typeface="Cambria Math" panose="02040503050406030204" pitchFamily="18" charset="0"/>
              </a:rPr>
              <a:t> for B, C, and D.</a:t>
            </a:r>
            <a:endParaRPr lang="en-US" sz="2400" dirty="0"/>
          </a:p>
        </p:txBody>
      </p:sp>
      <p:sp>
        <p:nvSpPr>
          <p:cNvPr id="40" name="Rectangle 39">
            <a:extLst>
              <a:ext uri="{FF2B5EF4-FFF2-40B4-BE49-F238E27FC236}">
                <a16:creationId xmlns:a16="http://schemas.microsoft.com/office/drawing/2014/main" id="{9ED80437-9F66-4DC3-8778-6EFB37AFA067}"/>
              </a:ext>
            </a:extLst>
          </p:cNvPr>
          <p:cNvSpPr/>
          <p:nvPr/>
        </p:nvSpPr>
        <p:spPr>
          <a:xfrm>
            <a:off x="8841045" y="4015295"/>
            <a:ext cx="2917258" cy="830997"/>
          </a:xfrm>
          <a:prstGeom prst="rect">
            <a:avLst/>
          </a:prstGeom>
        </p:spPr>
        <p:txBody>
          <a:bodyPr wrap="square">
            <a:spAutoFit/>
          </a:bodyPr>
          <a:lstStyle/>
          <a:p>
            <a:pPr marL="285750" indent="-285750">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is waiting for B and C</a:t>
            </a:r>
          </a:p>
        </p:txBody>
      </p:sp>
      <p:sp>
        <p:nvSpPr>
          <p:cNvPr id="42" name="TextBox 41">
            <a:extLst>
              <a:ext uri="{FF2B5EF4-FFF2-40B4-BE49-F238E27FC236}">
                <a16:creationId xmlns:a16="http://schemas.microsoft.com/office/drawing/2014/main" id="{F334087C-0260-4772-AD17-1C9DEBA35300}"/>
              </a:ext>
            </a:extLst>
          </p:cNvPr>
          <p:cNvSpPr txBox="1"/>
          <p:nvPr/>
        </p:nvSpPr>
        <p:spPr>
          <a:xfrm>
            <a:off x="10196934" y="3601772"/>
            <a:ext cx="1499268" cy="369332"/>
          </a:xfrm>
          <a:prstGeom prst="rect">
            <a:avLst/>
          </a:prstGeom>
          <a:noFill/>
        </p:spPr>
        <p:txBody>
          <a:bodyPr wrap="square" rtlCol="0">
            <a:spAutoFit/>
          </a:bodyPr>
          <a:lstStyle/>
          <a:p>
            <a:pPr algn="ctr"/>
            <a:r>
              <a:rPr lang="en-US" b="1" dirty="0">
                <a:solidFill>
                  <a:srgbClr val="FF0000"/>
                </a:solidFill>
              </a:rPr>
              <a:t>DEADLOCK</a:t>
            </a:r>
          </a:p>
        </p:txBody>
      </p:sp>
      <p:sp>
        <p:nvSpPr>
          <p:cNvPr id="43" name="Arrow: Right 42">
            <a:extLst>
              <a:ext uri="{FF2B5EF4-FFF2-40B4-BE49-F238E27FC236}">
                <a16:creationId xmlns:a16="http://schemas.microsoft.com/office/drawing/2014/main" id="{CA383E2C-9496-45EB-8DF8-142ACE56FB68}"/>
              </a:ext>
            </a:extLst>
          </p:cNvPr>
          <p:cNvSpPr/>
          <p:nvPr/>
        </p:nvSpPr>
        <p:spPr>
          <a:xfrm rot="10800000">
            <a:off x="9751982" y="3649647"/>
            <a:ext cx="502152" cy="289924"/>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599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fade">
                                      <p:cBhvr>
                                        <p:cTn id="17" dur="500"/>
                                        <p:tgtEl>
                                          <p:spTgt spid="6">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down)">
                                      <p:cBhvr>
                                        <p:cTn id="36" dur="500"/>
                                        <p:tgtEl>
                                          <p:spTgt spid="9"/>
                                        </p:tgtEl>
                                      </p:cBhvr>
                                    </p:animEffect>
                                  </p:childTnLst>
                                </p:cTn>
                              </p:par>
                              <p:par>
                                <p:cTn id="37" presetID="2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fade">
                                      <p:cBhvr>
                                        <p:cTn id="44" dur="500"/>
                                        <p:tgtEl>
                                          <p:spTgt spid="3">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down)">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2" end="2"/>
                                            </p:txEl>
                                          </p:spTgt>
                                        </p:tgtEl>
                                        <p:attrNameLst>
                                          <p:attrName>style.visibility</p:attrName>
                                        </p:attrNameLst>
                                      </p:cBhvr>
                                      <p:to>
                                        <p:strVal val="visible"/>
                                      </p:to>
                                    </p:set>
                                    <p:animEffect transition="in" filter="fade">
                                      <p:cBhvr>
                                        <p:cTn id="54" dur="500"/>
                                        <p:tgtEl>
                                          <p:spTgt spid="3">
                                            <p:txEl>
                                              <p:pRg st="2" end="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down)">
                                      <p:cBhvr>
                                        <p:cTn id="59" dur="500"/>
                                        <p:tgtEl>
                                          <p:spTgt spid="1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4" end="4"/>
                                            </p:txEl>
                                          </p:spTgt>
                                        </p:tgtEl>
                                        <p:attrNameLst>
                                          <p:attrName>style.visibility</p:attrName>
                                        </p:attrNameLst>
                                      </p:cBhvr>
                                      <p:to>
                                        <p:strVal val="visible"/>
                                      </p:to>
                                    </p:set>
                                    <p:animEffect transition="in" filter="fade">
                                      <p:cBhvr>
                                        <p:cTn id="64" dur="500"/>
                                        <p:tgtEl>
                                          <p:spTgt spid="3">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animEffect transition="in" filter="fade">
                                      <p:cBhvr>
                                        <p:cTn id="69" dur="1000"/>
                                        <p:tgtEl>
                                          <p:spTgt spid="3">
                                            <p:txEl>
                                              <p:pRg st="6" end="6"/>
                                            </p:txEl>
                                          </p:spTgt>
                                        </p:tgtEl>
                                      </p:cBhvr>
                                    </p:animEffect>
                                    <p:anim calcmode="lin" valueType="num">
                                      <p:cBhvr>
                                        <p:cTn id="7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3">
                                            <p:txEl>
                                              <p:pRg st="7" end="7"/>
                                            </p:txEl>
                                          </p:spTgt>
                                        </p:tgtEl>
                                        <p:attrNameLst>
                                          <p:attrName>style.visibility</p:attrName>
                                        </p:attrNameLst>
                                      </p:cBhvr>
                                      <p:to>
                                        <p:strVal val="visible"/>
                                      </p:to>
                                    </p:set>
                                    <p:animEffect transition="in" filter="fade">
                                      <p:cBhvr>
                                        <p:cTn id="74" dur="1000"/>
                                        <p:tgtEl>
                                          <p:spTgt spid="3">
                                            <p:txEl>
                                              <p:pRg st="7" end="7"/>
                                            </p:txEl>
                                          </p:spTgt>
                                        </p:tgtEl>
                                      </p:cBhvr>
                                    </p:animEffect>
                                    <p:anim calcmode="lin" valueType="num">
                                      <p:cBhvr>
                                        <p:cTn id="7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7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fill="hold"/>
                                        <p:tgtEl>
                                          <p:spTgt spid="23"/>
                                        </p:tgtEl>
                                        <p:attrNameLst>
                                          <p:attrName>ppt_x</p:attrName>
                                        </p:attrNameLst>
                                      </p:cBhvr>
                                      <p:tavLst>
                                        <p:tav tm="0">
                                          <p:val>
                                            <p:strVal val="#ppt_x"/>
                                          </p:val>
                                        </p:tav>
                                        <p:tav tm="100000">
                                          <p:val>
                                            <p:strVal val="#ppt_x"/>
                                          </p:val>
                                        </p:tav>
                                      </p:tavLst>
                                    </p:anim>
                                    <p:anim calcmode="lin" valueType="num">
                                      <p:cBhvr additive="base">
                                        <p:cTn id="8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ipe(down)">
                                      <p:cBhvr>
                                        <p:cTn id="87" dur="500"/>
                                        <p:tgtEl>
                                          <p:spTgt spid="27"/>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wipe(down)">
                                      <p:cBhvr>
                                        <p:cTn id="90" dur="500"/>
                                        <p:tgtEl>
                                          <p:spTgt spid="29"/>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wipe(down)">
                                      <p:cBhvr>
                                        <p:cTn id="93" dur="500"/>
                                        <p:tgtEl>
                                          <p:spTgt spid="26"/>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wipe(down)">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wipe(down)">
                                      <p:cBhvr>
                                        <p:cTn id="101" dur="500"/>
                                        <p:tgtEl>
                                          <p:spTgt spid="30"/>
                                        </p:tgtEl>
                                      </p:cBhvr>
                                    </p:animEffect>
                                  </p:childTnLst>
                                </p:cTn>
                              </p:par>
                              <p:par>
                                <p:cTn id="102" presetID="22" presetClass="entr" presetSubtype="4" fill="hold"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wipe(down)">
                                      <p:cBhvr>
                                        <p:cTn id="104" dur="500"/>
                                        <p:tgtEl>
                                          <p:spTgt spid="33"/>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40">
                                            <p:txEl>
                                              <p:pRg st="0" end="0"/>
                                            </p:txEl>
                                          </p:spTgt>
                                        </p:tgtEl>
                                        <p:attrNameLst>
                                          <p:attrName>style.visibility</p:attrName>
                                        </p:attrNameLst>
                                      </p:cBhvr>
                                      <p:to>
                                        <p:strVal val="visible"/>
                                      </p:to>
                                    </p:set>
                                    <p:animEffect transition="in" filter="fade">
                                      <p:cBhvr>
                                        <p:cTn id="109" dur="500"/>
                                        <p:tgtEl>
                                          <p:spTgt spid="40">
                                            <p:txEl>
                                              <p:pRg st="0" end="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4" fill="hold" nodeType="clickEffect">
                                  <p:stCondLst>
                                    <p:cond delay="0"/>
                                  </p:stCondLst>
                                  <p:childTnLst>
                                    <p:set>
                                      <p:cBhvr>
                                        <p:cTn id="113" dur="1" fill="hold">
                                          <p:stCondLst>
                                            <p:cond delay="0"/>
                                          </p:stCondLst>
                                        </p:cTn>
                                        <p:tgtEl>
                                          <p:spTgt spid="31"/>
                                        </p:tgtEl>
                                        <p:attrNameLst>
                                          <p:attrName>style.visibility</p:attrName>
                                        </p:attrNameLst>
                                      </p:cBhvr>
                                      <p:to>
                                        <p:strVal val="visible"/>
                                      </p:to>
                                    </p:set>
                                    <p:animEffect transition="in" filter="wipe(down)">
                                      <p:cBhvr>
                                        <p:cTn id="114" dur="500"/>
                                        <p:tgtEl>
                                          <p:spTgt spid="31"/>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39">
                                            <p:txEl>
                                              <p:pRg st="1" end="1"/>
                                            </p:txEl>
                                          </p:spTgt>
                                        </p:tgtEl>
                                        <p:attrNameLst>
                                          <p:attrName>style.visibility</p:attrName>
                                        </p:attrNameLst>
                                      </p:cBhvr>
                                      <p:to>
                                        <p:strVal val="visible"/>
                                      </p:to>
                                    </p:set>
                                    <p:animEffect transition="in" filter="fade">
                                      <p:cBhvr>
                                        <p:cTn id="119" dur="500"/>
                                        <p:tgtEl>
                                          <p:spTgt spid="39">
                                            <p:txEl>
                                              <p:pRg st="1" end="1"/>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34"/>
                                        </p:tgtEl>
                                        <p:attrNameLst>
                                          <p:attrName>style.visibility</p:attrName>
                                        </p:attrNameLst>
                                      </p:cBhvr>
                                      <p:to>
                                        <p:strVal val="visible"/>
                                      </p:to>
                                    </p:set>
                                    <p:animEffect transition="in" filter="wipe(down)">
                                      <p:cBhvr>
                                        <p:cTn id="124" dur="500"/>
                                        <p:tgtEl>
                                          <p:spTgt spid="34"/>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39">
                                            <p:txEl>
                                              <p:pRg st="3" end="3"/>
                                            </p:txEl>
                                          </p:spTgt>
                                        </p:tgtEl>
                                        <p:attrNameLst>
                                          <p:attrName>style.visibility</p:attrName>
                                        </p:attrNameLst>
                                      </p:cBhvr>
                                      <p:to>
                                        <p:strVal val="visible"/>
                                      </p:to>
                                    </p:set>
                                    <p:animEffect transition="in" filter="fade">
                                      <p:cBhvr>
                                        <p:cTn id="129" dur="500"/>
                                        <p:tgtEl>
                                          <p:spTgt spid="39">
                                            <p:txEl>
                                              <p:pRg st="3" end="3"/>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4" fill="hold" nodeType="clickEffect">
                                  <p:stCondLst>
                                    <p:cond delay="0"/>
                                  </p:stCondLst>
                                  <p:childTnLst>
                                    <p:set>
                                      <p:cBhvr>
                                        <p:cTn id="133" dur="1" fill="hold">
                                          <p:stCondLst>
                                            <p:cond delay="0"/>
                                          </p:stCondLst>
                                        </p:cTn>
                                        <p:tgtEl>
                                          <p:spTgt spid="32"/>
                                        </p:tgtEl>
                                        <p:attrNameLst>
                                          <p:attrName>style.visibility</p:attrName>
                                        </p:attrNameLst>
                                      </p:cBhvr>
                                      <p:to>
                                        <p:strVal val="visible"/>
                                      </p:to>
                                    </p:set>
                                    <p:animEffect transition="in" filter="wipe(down)">
                                      <p:cBhvr>
                                        <p:cTn id="134" dur="500"/>
                                        <p:tgtEl>
                                          <p:spTgt spid="32"/>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nodeType="clickEffect">
                                  <p:stCondLst>
                                    <p:cond delay="0"/>
                                  </p:stCondLst>
                                  <p:childTnLst>
                                    <p:set>
                                      <p:cBhvr>
                                        <p:cTn id="138" dur="1" fill="hold">
                                          <p:stCondLst>
                                            <p:cond delay="0"/>
                                          </p:stCondLst>
                                        </p:cTn>
                                        <p:tgtEl>
                                          <p:spTgt spid="39">
                                            <p:txEl>
                                              <p:pRg st="5" end="5"/>
                                            </p:txEl>
                                          </p:spTgt>
                                        </p:tgtEl>
                                        <p:attrNameLst>
                                          <p:attrName>style.visibility</p:attrName>
                                        </p:attrNameLst>
                                      </p:cBhvr>
                                      <p:to>
                                        <p:strVal val="visible"/>
                                      </p:to>
                                    </p:set>
                                    <p:animEffect transition="in" filter="fade">
                                      <p:cBhvr>
                                        <p:cTn id="139" dur="500"/>
                                        <p:tgtEl>
                                          <p:spTgt spid="39">
                                            <p:txEl>
                                              <p:pRg st="5" end="5"/>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42" presetClass="entr" presetSubtype="0" fill="hold" nodeType="clickEffect">
                                  <p:stCondLst>
                                    <p:cond delay="0"/>
                                  </p:stCondLst>
                                  <p:childTnLst>
                                    <p:set>
                                      <p:cBhvr>
                                        <p:cTn id="143" dur="1" fill="hold">
                                          <p:stCondLst>
                                            <p:cond delay="0"/>
                                          </p:stCondLst>
                                        </p:cTn>
                                        <p:tgtEl>
                                          <p:spTgt spid="39">
                                            <p:txEl>
                                              <p:pRg st="7" end="7"/>
                                            </p:txEl>
                                          </p:spTgt>
                                        </p:tgtEl>
                                        <p:attrNameLst>
                                          <p:attrName>style.visibility</p:attrName>
                                        </p:attrNameLst>
                                      </p:cBhvr>
                                      <p:to>
                                        <p:strVal val="visible"/>
                                      </p:to>
                                    </p:set>
                                    <p:animEffect transition="in" filter="fade">
                                      <p:cBhvr>
                                        <p:cTn id="144" dur="1000"/>
                                        <p:tgtEl>
                                          <p:spTgt spid="39">
                                            <p:txEl>
                                              <p:pRg st="7" end="7"/>
                                            </p:txEl>
                                          </p:spTgt>
                                        </p:tgtEl>
                                      </p:cBhvr>
                                    </p:animEffect>
                                    <p:anim calcmode="lin" valueType="num">
                                      <p:cBhvr>
                                        <p:cTn id="145" dur="1000" fill="hold"/>
                                        <p:tgtEl>
                                          <p:spTgt spid="39">
                                            <p:txEl>
                                              <p:pRg st="7" end="7"/>
                                            </p:txEl>
                                          </p:spTgt>
                                        </p:tgtEl>
                                        <p:attrNameLst>
                                          <p:attrName>ppt_x</p:attrName>
                                        </p:attrNameLst>
                                      </p:cBhvr>
                                      <p:tavLst>
                                        <p:tav tm="0">
                                          <p:val>
                                            <p:strVal val="#ppt_x"/>
                                          </p:val>
                                        </p:tav>
                                        <p:tav tm="100000">
                                          <p:val>
                                            <p:strVal val="#ppt_x"/>
                                          </p:val>
                                        </p:tav>
                                      </p:tavLst>
                                    </p:anim>
                                    <p:anim calcmode="lin" valueType="num">
                                      <p:cBhvr>
                                        <p:cTn id="146" dur="1000" fill="hold"/>
                                        <p:tgtEl>
                                          <p:spTgt spid="39">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43"/>
                                        </p:tgtEl>
                                        <p:attrNameLst>
                                          <p:attrName>style.visibility</p:attrName>
                                        </p:attrNameLst>
                                      </p:cBhvr>
                                      <p:to>
                                        <p:strVal val="visible"/>
                                      </p:to>
                                    </p:set>
                                    <p:anim calcmode="lin" valueType="num">
                                      <p:cBhvr additive="base">
                                        <p:cTn id="151" dur="500" fill="hold"/>
                                        <p:tgtEl>
                                          <p:spTgt spid="43"/>
                                        </p:tgtEl>
                                        <p:attrNameLst>
                                          <p:attrName>ppt_x</p:attrName>
                                        </p:attrNameLst>
                                      </p:cBhvr>
                                      <p:tavLst>
                                        <p:tav tm="0">
                                          <p:val>
                                            <p:strVal val="#ppt_x"/>
                                          </p:val>
                                        </p:tav>
                                        <p:tav tm="100000">
                                          <p:val>
                                            <p:strVal val="#ppt_x"/>
                                          </p:val>
                                        </p:tav>
                                      </p:tavLst>
                                    </p:anim>
                                    <p:anim calcmode="lin" valueType="num">
                                      <p:cBhvr additive="base">
                                        <p:cTn id="15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42"/>
                                        </p:tgtEl>
                                        <p:attrNameLst>
                                          <p:attrName>style.visibility</p:attrName>
                                        </p:attrNameLst>
                                      </p:cBhvr>
                                      <p:to>
                                        <p:strVal val="visible"/>
                                      </p:to>
                                    </p:set>
                                    <p:anim calcmode="lin" valueType="num">
                                      <p:cBhvr additive="base">
                                        <p:cTn id="157" dur="500" fill="hold"/>
                                        <p:tgtEl>
                                          <p:spTgt spid="42"/>
                                        </p:tgtEl>
                                        <p:attrNameLst>
                                          <p:attrName>ppt_x</p:attrName>
                                        </p:attrNameLst>
                                      </p:cBhvr>
                                      <p:tavLst>
                                        <p:tav tm="0">
                                          <p:val>
                                            <p:strVal val="#ppt_x"/>
                                          </p:val>
                                        </p:tav>
                                        <p:tav tm="100000">
                                          <p:val>
                                            <p:strVal val="#ppt_x"/>
                                          </p:val>
                                        </p:tav>
                                      </p:tavLst>
                                    </p:anim>
                                    <p:anim calcmode="lin" valueType="num">
                                      <p:cBhvr additive="base">
                                        <p:cTn id="15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26" grpId="0" animBg="1"/>
      <p:bldP spid="27" grpId="0" animBg="1"/>
      <p:bldP spid="28" grpId="0" animBg="1"/>
      <p:bldP spid="29" grpId="0" animBg="1"/>
      <p:bldP spid="42" grpId="0"/>
      <p:bldP spid="4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 Recovery</a:t>
            </a:r>
          </a:p>
        </p:txBody>
      </p:sp>
      <p:sp>
        <p:nvSpPr>
          <p:cNvPr id="6" name="Rectangle 5">
            <a:extLst>
              <a:ext uri="{FF2B5EF4-FFF2-40B4-BE49-F238E27FC236}">
                <a16:creationId xmlns:a16="http://schemas.microsoft.com/office/drawing/2014/main" id="{0F4CE4F2-39FB-4AB9-A82C-DFB095193EDB}"/>
              </a:ext>
            </a:extLst>
          </p:cNvPr>
          <p:cNvSpPr/>
          <p:nvPr/>
        </p:nvSpPr>
        <p:spPr>
          <a:xfrm>
            <a:off x="3468787" y="1290811"/>
            <a:ext cx="8324148" cy="3570208"/>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most simpler way to recover from deadlock is to </a:t>
            </a:r>
            <a:r>
              <a:rPr lang="en-US" sz="2400" b="1" dirty="0">
                <a:solidFill>
                  <a:srgbClr val="FF0000"/>
                </a:solidFill>
                <a:latin typeface="Cambria Math" panose="02040503050406030204" pitchFamily="18" charset="0"/>
                <a:ea typeface="Cambria Math" panose="02040503050406030204" pitchFamily="18" charset="0"/>
              </a:rPr>
              <a:t>Roll Back</a:t>
            </a:r>
            <a:r>
              <a:rPr lang="en-US" sz="2400" dirty="0">
                <a:latin typeface="Cambria Math" panose="02040503050406030204" pitchFamily="18" charset="0"/>
                <a:ea typeface="Cambria Math" panose="02040503050406030204" pitchFamily="18" charset="0"/>
              </a:rPr>
              <a:t> any of the transactions</a:t>
            </a:r>
            <a:r>
              <a:rPr lang="en-US" sz="2400" b="1" dirty="0">
                <a:latin typeface="Cambria Math" panose="02040503050406030204" pitchFamily="18" charset="0"/>
                <a:ea typeface="Cambria Math" panose="02040503050406030204" pitchFamily="18" charset="0"/>
              </a:rPr>
              <a:t>.</a:t>
            </a:r>
          </a:p>
          <a:p>
            <a:pPr marL="457200" indent="-457200" algn="just">
              <a:buFont typeface="Wingdings" panose="05000000000000000000" pitchFamily="2" charset="2"/>
              <a:buChar char="Ø"/>
            </a:pPr>
            <a:endParaRPr lang="en-US" sz="500" dirty="0">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transaction which incurs minimum loss is rolled back and it is known as </a:t>
            </a:r>
            <a:r>
              <a:rPr lang="en-US" sz="2400" b="1" dirty="0">
                <a:solidFill>
                  <a:srgbClr val="FF0000"/>
                </a:solidFill>
                <a:latin typeface="Cambria Math" panose="02040503050406030204" pitchFamily="18" charset="0"/>
                <a:ea typeface="Cambria Math" panose="02040503050406030204" pitchFamily="18" charset="0"/>
              </a:rPr>
              <a:t>Victim.</a:t>
            </a:r>
          </a:p>
          <a:p>
            <a:pPr marL="457200" indent="-457200" algn="just">
              <a:buFont typeface="Wingdings" panose="05000000000000000000" pitchFamily="2" charset="2"/>
              <a:buChar char="Ø"/>
            </a:pPr>
            <a:endParaRPr lang="en-US" sz="500" b="1" dirty="0">
              <a:solidFill>
                <a:srgbClr val="FF0000"/>
              </a:solidFill>
              <a:latin typeface="Cambria Math" panose="02040503050406030204" pitchFamily="18" charset="0"/>
              <a:ea typeface="Cambria Math" panose="02040503050406030204" pitchFamily="18" charset="0"/>
            </a:endParaRPr>
          </a:p>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The decision to roll back a transaction is made on following criteria:</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The transaction which have minimum locks</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The transaction which has executed less work</a:t>
            </a:r>
          </a:p>
          <a:p>
            <a:pPr marL="914400" lvl="1" indent="-457200" algn="just">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The transaction which is very far from completion</a:t>
            </a:r>
          </a:p>
        </p:txBody>
      </p:sp>
    </p:spTree>
    <p:extLst>
      <p:ext uri="{BB962C8B-B14F-4D97-AF65-F5344CB8AC3E}">
        <p14:creationId xmlns:p14="http://schemas.microsoft.com/office/powerpoint/2010/main" val="150698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 Prevention</a:t>
            </a:r>
          </a:p>
        </p:txBody>
      </p:sp>
      <p:sp>
        <p:nvSpPr>
          <p:cNvPr id="6" name="Rectangle 5">
            <a:extLst>
              <a:ext uri="{FF2B5EF4-FFF2-40B4-BE49-F238E27FC236}">
                <a16:creationId xmlns:a16="http://schemas.microsoft.com/office/drawing/2014/main" id="{0F4CE4F2-39FB-4AB9-A82C-DFB095193EDB}"/>
              </a:ext>
            </a:extLst>
          </p:cNvPr>
          <p:cNvSpPr/>
          <p:nvPr/>
        </p:nvSpPr>
        <p:spPr>
          <a:xfrm>
            <a:off x="3421653" y="235008"/>
            <a:ext cx="8324148" cy="3770263"/>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Deadlock can be prevented using:</a:t>
            </a: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Wait-Die Approach:</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endParaRPr lang="en-US" sz="8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If an older transaction is requesting a resource which is held by younger transaction, then older transaction waits.</a:t>
            </a:r>
          </a:p>
          <a:p>
            <a:pPr marL="1371600" lvl="2" indent="-457200" algn="just">
              <a:buFont typeface="Wingdings" panose="05000000000000000000" pitchFamily="2" charset="2"/>
              <a:buChar char="§"/>
            </a:pPr>
            <a:endParaRPr lang="en-US" sz="9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If an younger transaction is requesting a resource which is held by older transaction, then younger transaction is killed and rolled back.</a:t>
            </a:r>
          </a:p>
        </p:txBody>
      </p:sp>
      <p:graphicFrame>
        <p:nvGraphicFramePr>
          <p:cNvPr id="5" name="Table 4">
            <a:extLst>
              <a:ext uri="{FF2B5EF4-FFF2-40B4-BE49-F238E27FC236}">
                <a16:creationId xmlns:a16="http://schemas.microsoft.com/office/drawing/2014/main" id="{07AD402A-D749-4000-822B-29328AB5CBCA}"/>
              </a:ext>
            </a:extLst>
          </p:cNvPr>
          <p:cNvGraphicFramePr>
            <a:graphicFrameLocks noGrp="1"/>
          </p:cNvGraphicFramePr>
          <p:nvPr>
            <p:extLst>
              <p:ext uri="{D42A27DB-BD31-4B8C-83A1-F6EECF244321}">
                <p14:modId xmlns:p14="http://schemas.microsoft.com/office/powerpoint/2010/main" val="1788302980"/>
              </p:ext>
            </p:extLst>
          </p:nvPr>
        </p:nvGraphicFramePr>
        <p:xfrm>
          <a:off x="4468305" y="4379349"/>
          <a:ext cx="6513922" cy="1219200"/>
        </p:xfrm>
        <a:graphic>
          <a:graphicData uri="http://schemas.openxmlformats.org/drawingml/2006/table">
            <a:tbl>
              <a:tblPr firstRow="1" firstCol="1" bandRow="1">
                <a:tableStyleId>{5C22544A-7EE6-4342-B048-85BDC9FD1C3A}</a:tableStyleId>
              </a:tblPr>
              <a:tblGrid>
                <a:gridCol w="4536158">
                  <a:extLst>
                    <a:ext uri="{9D8B030D-6E8A-4147-A177-3AD203B41FA5}">
                      <a16:colId xmlns:a16="http://schemas.microsoft.com/office/drawing/2014/main" val="20000"/>
                    </a:ext>
                  </a:extLst>
                </a:gridCol>
                <a:gridCol w="1977764">
                  <a:extLst>
                    <a:ext uri="{9D8B030D-6E8A-4147-A177-3AD203B41FA5}">
                      <a16:colId xmlns:a16="http://schemas.microsoft.com/office/drawing/2014/main" val="20001"/>
                    </a:ext>
                  </a:extLst>
                </a:gridCol>
              </a:tblGrid>
              <a:tr h="406400">
                <a:tc gridSpan="2">
                  <a:txBody>
                    <a:bodyPr/>
                    <a:lstStyle/>
                    <a:p>
                      <a:pPr marL="457200" algn="ctr">
                        <a:lnSpc>
                          <a:spcPct val="115000"/>
                        </a:lnSpc>
                        <a:spcAft>
                          <a:spcPts val="0"/>
                        </a:spcAft>
                      </a:pPr>
                      <a:r>
                        <a:rPr lang="en-US" sz="2400" dirty="0">
                          <a:effectLst/>
                          <a:latin typeface="Cambria Math" panose="02040503050406030204" pitchFamily="18" charset="0"/>
                          <a:ea typeface="Cambria Math" panose="02040503050406030204" pitchFamily="18" charset="0"/>
                        </a:rPr>
                        <a:t> Wait-Die</a:t>
                      </a:r>
                      <a:endParaRPr lang="en-IN"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hMerge="1">
                  <a:txBody>
                    <a:bodyPr/>
                    <a:lstStyle/>
                    <a:p>
                      <a:pPr marL="457200" algn="just">
                        <a:lnSpc>
                          <a:spcPct val="115000"/>
                        </a:lnSpc>
                        <a:spcAft>
                          <a:spcPts val="0"/>
                        </a:spcAft>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06400">
                <a:tc>
                  <a:txBody>
                    <a:bodyPr/>
                    <a:lstStyle/>
                    <a:p>
                      <a:pPr marL="457200" algn="just">
                        <a:lnSpc>
                          <a:spcPct val="115000"/>
                        </a:lnSpc>
                        <a:spcAft>
                          <a:spcPts val="0"/>
                        </a:spcAft>
                      </a:pPr>
                      <a:r>
                        <a:rPr lang="en-US" sz="2400" dirty="0">
                          <a:effectLst/>
                          <a:latin typeface="Cambria Math" panose="02040503050406030204" pitchFamily="18" charset="0"/>
                          <a:ea typeface="Cambria Math" panose="02040503050406030204" pitchFamily="18" charset="0"/>
                        </a:rPr>
                        <a:t>O needs a resource held by Y</a:t>
                      </a:r>
                      <a:endParaRPr lang="en-IN"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algn="just">
                        <a:lnSpc>
                          <a:spcPct val="115000"/>
                        </a:lnSpc>
                        <a:spcAft>
                          <a:spcPts val="0"/>
                        </a:spcAft>
                      </a:pPr>
                      <a:r>
                        <a:rPr lang="en-US" sz="2400" b="1" dirty="0">
                          <a:solidFill>
                            <a:srgbClr val="FF0000"/>
                          </a:solidFill>
                          <a:effectLst/>
                          <a:latin typeface="Cambria Math" panose="02040503050406030204" pitchFamily="18" charset="0"/>
                          <a:ea typeface="Cambria Math" panose="02040503050406030204" pitchFamily="18" charset="0"/>
                        </a:rPr>
                        <a:t>O Waits</a:t>
                      </a:r>
                      <a:endParaRPr lang="en-IN" sz="2400" b="1" dirty="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06400">
                <a:tc>
                  <a:txBody>
                    <a:bodyPr/>
                    <a:lstStyle/>
                    <a:p>
                      <a:pPr marL="457200" algn="just">
                        <a:lnSpc>
                          <a:spcPct val="115000"/>
                        </a:lnSpc>
                        <a:spcAft>
                          <a:spcPts val="0"/>
                        </a:spcAft>
                      </a:pPr>
                      <a:r>
                        <a:rPr lang="en-US" sz="2400" dirty="0">
                          <a:effectLst/>
                          <a:latin typeface="Cambria Math" panose="02040503050406030204" pitchFamily="18" charset="0"/>
                          <a:ea typeface="Cambria Math" panose="02040503050406030204" pitchFamily="18" charset="0"/>
                        </a:rPr>
                        <a:t>Y needs a resource held by O</a:t>
                      </a:r>
                      <a:endParaRPr lang="en-IN"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algn="just">
                        <a:lnSpc>
                          <a:spcPct val="115000"/>
                        </a:lnSpc>
                        <a:spcAft>
                          <a:spcPts val="0"/>
                        </a:spcAft>
                      </a:pPr>
                      <a:r>
                        <a:rPr lang="en-US" sz="2400" b="1" dirty="0">
                          <a:solidFill>
                            <a:srgbClr val="FF0000"/>
                          </a:solidFill>
                          <a:effectLst/>
                          <a:latin typeface="Cambria Math" panose="02040503050406030204" pitchFamily="18" charset="0"/>
                          <a:ea typeface="Cambria Math" panose="02040503050406030204" pitchFamily="18" charset="0"/>
                        </a:rPr>
                        <a:t>Y Dies</a:t>
                      </a:r>
                      <a:endParaRPr lang="en-IN" sz="2400" b="1" dirty="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1395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 calcmode="lin" valueType="num">
                                      <p:cBhvr additive="base">
                                        <p:cTn id="1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fade">
                                      <p:cBhvr>
                                        <p:cTn id="23" dur="500"/>
                                        <p:tgtEl>
                                          <p:spTgt spid="6">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 Prevention</a:t>
            </a:r>
          </a:p>
        </p:txBody>
      </p:sp>
      <p:sp>
        <p:nvSpPr>
          <p:cNvPr id="6" name="Rectangle 5">
            <a:extLst>
              <a:ext uri="{FF2B5EF4-FFF2-40B4-BE49-F238E27FC236}">
                <a16:creationId xmlns:a16="http://schemas.microsoft.com/office/drawing/2014/main" id="{0F4CE4F2-39FB-4AB9-A82C-DFB095193EDB}"/>
              </a:ext>
            </a:extLst>
          </p:cNvPr>
          <p:cNvSpPr/>
          <p:nvPr/>
        </p:nvSpPr>
        <p:spPr>
          <a:xfrm>
            <a:off x="3421653" y="235008"/>
            <a:ext cx="8324148" cy="4416594"/>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Deadlock can be prevented using:</a:t>
            </a: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Wound-Wait Approach:</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endParaRPr lang="en-US" sz="8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If an older transaction is requesting a resource which is held by younger transaction, then older transaction forces younger transaction to kill the transaction and releases the resource.</a:t>
            </a:r>
          </a:p>
          <a:p>
            <a:pPr marL="1371600" lvl="2" indent="-457200" algn="just">
              <a:buFont typeface="Wingdings" panose="05000000000000000000" pitchFamily="2" charset="2"/>
              <a:buChar char="§"/>
            </a:pPr>
            <a:endParaRPr lang="en-US" sz="9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If an younger transaction is requesting a resource which is held by older transaction, then younger transaction waits till older transaction releases resource.</a:t>
            </a:r>
          </a:p>
        </p:txBody>
      </p:sp>
      <p:graphicFrame>
        <p:nvGraphicFramePr>
          <p:cNvPr id="5" name="Table 4">
            <a:extLst>
              <a:ext uri="{FF2B5EF4-FFF2-40B4-BE49-F238E27FC236}">
                <a16:creationId xmlns:a16="http://schemas.microsoft.com/office/drawing/2014/main" id="{07AD402A-D749-4000-822B-29328AB5CBCA}"/>
              </a:ext>
            </a:extLst>
          </p:cNvPr>
          <p:cNvGraphicFramePr>
            <a:graphicFrameLocks noGrp="1"/>
          </p:cNvGraphicFramePr>
          <p:nvPr>
            <p:extLst>
              <p:ext uri="{D42A27DB-BD31-4B8C-83A1-F6EECF244321}">
                <p14:modId xmlns:p14="http://schemas.microsoft.com/office/powerpoint/2010/main" val="3712466295"/>
              </p:ext>
            </p:extLst>
          </p:nvPr>
        </p:nvGraphicFramePr>
        <p:xfrm>
          <a:off x="4326765" y="4944957"/>
          <a:ext cx="6994827" cy="1325880"/>
        </p:xfrm>
        <a:graphic>
          <a:graphicData uri="http://schemas.openxmlformats.org/drawingml/2006/table">
            <a:tbl>
              <a:tblPr firstRow="1" firstCol="1" bandRow="1">
                <a:tableStyleId>{5C22544A-7EE6-4342-B048-85BDC9FD1C3A}</a:tableStyleId>
              </a:tblPr>
              <a:tblGrid>
                <a:gridCol w="4393029">
                  <a:extLst>
                    <a:ext uri="{9D8B030D-6E8A-4147-A177-3AD203B41FA5}">
                      <a16:colId xmlns:a16="http://schemas.microsoft.com/office/drawing/2014/main" val="20000"/>
                    </a:ext>
                  </a:extLst>
                </a:gridCol>
                <a:gridCol w="2601798">
                  <a:extLst>
                    <a:ext uri="{9D8B030D-6E8A-4147-A177-3AD203B41FA5}">
                      <a16:colId xmlns:a16="http://schemas.microsoft.com/office/drawing/2014/main" val="20001"/>
                    </a:ext>
                  </a:extLst>
                </a:gridCol>
              </a:tblGrid>
              <a:tr h="406400">
                <a:tc gridSpan="2">
                  <a:txBody>
                    <a:bodyPr/>
                    <a:lstStyle/>
                    <a:p>
                      <a:pPr marL="457200" algn="ctr">
                        <a:lnSpc>
                          <a:spcPct val="115000"/>
                        </a:lnSpc>
                        <a:spcAft>
                          <a:spcPts val="0"/>
                        </a:spcAft>
                      </a:pPr>
                      <a:r>
                        <a:rPr lang="en-US" sz="2400" dirty="0">
                          <a:effectLst/>
                          <a:latin typeface="Cambria Math" panose="02040503050406030204" pitchFamily="18" charset="0"/>
                          <a:ea typeface="Cambria Math" panose="02040503050406030204" pitchFamily="18" charset="0"/>
                        </a:rPr>
                        <a:t> </a:t>
                      </a:r>
                      <a:r>
                        <a:rPr lang="en-US" sz="3200" dirty="0">
                          <a:effectLst/>
                          <a:latin typeface="Cambria Math" panose="02040503050406030204" pitchFamily="18" charset="0"/>
                          <a:ea typeface="Cambria Math" panose="02040503050406030204" pitchFamily="18" charset="0"/>
                        </a:rPr>
                        <a:t>Wound-Wait</a:t>
                      </a:r>
                      <a:endParaRPr lang="en-IN"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hMerge="1">
                  <a:txBody>
                    <a:bodyPr/>
                    <a:lstStyle/>
                    <a:p>
                      <a:pPr marL="457200" algn="just">
                        <a:lnSpc>
                          <a:spcPct val="115000"/>
                        </a:lnSpc>
                        <a:spcAft>
                          <a:spcPts val="0"/>
                        </a:spcAft>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06400">
                <a:tc>
                  <a:txBody>
                    <a:bodyPr/>
                    <a:lstStyle/>
                    <a:p>
                      <a:pPr marL="457200" algn="just">
                        <a:lnSpc>
                          <a:spcPct val="115000"/>
                        </a:lnSpc>
                        <a:spcAft>
                          <a:spcPts val="0"/>
                        </a:spcAft>
                      </a:pPr>
                      <a:r>
                        <a:rPr lang="en-US" sz="2400" dirty="0">
                          <a:effectLst/>
                          <a:latin typeface="Cambria Math" panose="02040503050406030204" pitchFamily="18" charset="0"/>
                          <a:ea typeface="Cambria Math" panose="02040503050406030204" pitchFamily="18" charset="0"/>
                        </a:rPr>
                        <a:t>O needs a resource held by Y</a:t>
                      </a:r>
                      <a:endParaRPr lang="en-IN"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algn="just">
                        <a:lnSpc>
                          <a:spcPct val="115000"/>
                        </a:lnSpc>
                        <a:spcAft>
                          <a:spcPts val="0"/>
                        </a:spcAft>
                      </a:pPr>
                      <a:r>
                        <a:rPr lang="en-US" sz="2400" b="1" dirty="0">
                          <a:solidFill>
                            <a:srgbClr val="FF0000"/>
                          </a:solidFill>
                          <a:effectLst/>
                          <a:latin typeface="Cambria Math" panose="02040503050406030204" pitchFamily="18" charset="0"/>
                          <a:ea typeface="Cambria Math" panose="02040503050406030204" pitchFamily="18" charset="0"/>
                        </a:rPr>
                        <a:t>Y Hurts / Dies</a:t>
                      </a:r>
                      <a:endParaRPr lang="en-IN" sz="2400" b="1" dirty="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06400">
                <a:tc>
                  <a:txBody>
                    <a:bodyPr/>
                    <a:lstStyle/>
                    <a:p>
                      <a:pPr marL="457200" algn="just">
                        <a:lnSpc>
                          <a:spcPct val="115000"/>
                        </a:lnSpc>
                        <a:spcAft>
                          <a:spcPts val="0"/>
                        </a:spcAft>
                      </a:pPr>
                      <a:r>
                        <a:rPr lang="en-US" sz="2400" dirty="0">
                          <a:effectLst/>
                          <a:latin typeface="Cambria Math" panose="02040503050406030204" pitchFamily="18" charset="0"/>
                          <a:ea typeface="Cambria Math" panose="02040503050406030204" pitchFamily="18" charset="0"/>
                        </a:rPr>
                        <a:t>Y needs a resource held by O</a:t>
                      </a:r>
                      <a:endParaRPr lang="en-IN" sz="24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tc>
                  <a:txBody>
                    <a:bodyPr/>
                    <a:lstStyle/>
                    <a:p>
                      <a:pPr marL="457200" algn="just">
                        <a:lnSpc>
                          <a:spcPct val="115000"/>
                        </a:lnSpc>
                        <a:spcAft>
                          <a:spcPts val="0"/>
                        </a:spcAft>
                      </a:pPr>
                      <a:r>
                        <a:rPr lang="en-US" sz="2400" b="1" dirty="0">
                          <a:solidFill>
                            <a:srgbClr val="FF0000"/>
                          </a:solidFill>
                          <a:effectLst/>
                          <a:latin typeface="Cambria Math" panose="02040503050406030204" pitchFamily="18" charset="0"/>
                          <a:ea typeface="Cambria Math" panose="02040503050406030204" pitchFamily="18" charset="0"/>
                        </a:rPr>
                        <a:t>Y Waits</a:t>
                      </a:r>
                      <a:endParaRPr lang="en-IN" sz="2400" b="1" dirty="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96818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 calcmode="lin" valueType="num">
                                      <p:cBhvr additive="base">
                                        <p:cTn id="1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fade">
                                      <p:cBhvr>
                                        <p:cTn id="23" dur="500"/>
                                        <p:tgtEl>
                                          <p:spTgt spid="6">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2919" y="1123837"/>
            <a:ext cx="2947482" cy="4601183"/>
          </a:xfrm>
        </p:spPr>
        <p:txBody>
          <a:bodyPr/>
          <a:lstStyle/>
          <a:p>
            <a:r>
              <a:rPr lang="en-US" b="1" dirty="0">
                <a:solidFill>
                  <a:schemeClr val="tx1"/>
                </a:solidFill>
                <a:latin typeface="Cambria" panose="02040503050406030204" pitchFamily="18" charset="0"/>
                <a:ea typeface="Cambria" panose="02040503050406030204" pitchFamily="18" charset="0"/>
              </a:rPr>
              <a:t>Deadlock Prevention</a:t>
            </a:r>
          </a:p>
        </p:txBody>
      </p:sp>
      <p:sp>
        <p:nvSpPr>
          <p:cNvPr id="6" name="Rectangle 5">
            <a:extLst>
              <a:ext uri="{FF2B5EF4-FFF2-40B4-BE49-F238E27FC236}">
                <a16:creationId xmlns:a16="http://schemas.microsoft.com/office/drawing/2014/main" id="{0F4CE4F2-39FB-4AB9-A82C-DFB095193EDB}"/>
              </a:ext>
            </a:extLst>
          </p:cNvPr>
          <p:cNvSpPr/>
          <p:nvPr/>
        </p:nvSpPr>
        <p:spPr>
          <a:xfrm>
            <a:off x="3421653" y="235008"/>
            <a:ext cx="8324148" cy="2923877"/>
          </a:xfrm>
          <a:prstGeom prst="rect">
            <a:avLst/>
          </a:prstGeom>
        </p:spPr>
        <p:txBody>
          <a:bodyPr wrap="square">
            <a:spAutoFit/>
          </a:bodyPr>
          <a:lstStyle/>
          <a:p>
            <a:pPr marL="457200" indent="-457200" algn="just">
              <a:buFont typeface="Wingdings" panose="05000000000000000000" pitchFamily="2" charset="2"/>
              <a:buChar char="Ø"/>
            </a:pPr>
            <a:r>
              <a:rPr lang="en-US" sz="2400" dirty="0">
                <a:latin typeface="Cambria Math" panose="02040503050406030204" pitchFamily="18" charset="0"/>
                <a:ea typeface="Cambria Math" panose="02040503050406030204" pitchFamily="18" charset="0"/>
              </a:rPr>
              <a:t>A Deadlock can be prevented using:</a:t>
            </a:r>
          </a:p>
          <a:p>
            <a:pPr marL="457200" indent="-457200" algn="just">
              <a:buFont typeface="Wingdings" panose="05000000000000000000" pitchFamily="2" charset="2"/>
              <a:buChar char="Ø"/>
            </a:pPr>
            <a:endParaRPr lang="en-US" sz="2400" dirty="0">
              <a:latin typeface="Cambria Math" panose="02040503050406030204" pitchFamily="18" charset="0"/>
              <a:ea typeface="Cambria Math" panose="02040503050406030204" pitchFamily="18" charset="0"/>
            </a:endParaRPr>
          </a:p>
          <a:p>
            <a:pPr marL="914400" lvl="1" indent="-457200" algn="just">
              <a:buFont typeface="Wingdings" panose="05000000000000000000" pitchFamily="2" charset="2"/>
              <a:buChar char="ü"/>
            </a:pPr>
            <a:r>
              <a:rPr lang="en-US" sz="2400" b="1" dirty="0">
                <a:solidFill>
                  <a:srgbClr val="FF0000"/>
                </a:solidFill>
                <a:latin typeface="Cambria Math" panose="02040503050406030204" pitchFamily="18" charset="0"/>
                <a:ea typeface="Cambria Math" panose="02040503050406030204" pitchFamily="18" charset="0"/>
              </a:rPr>
              <a:t>Timeout-Based Approach:</a:t>
            </a:r>
            <a:r>
              <a:rPr lang="en-US" sz="2400" dirty="0">
                <a:latin typeface="Cambria Math" panose="02040503050406030204" pitchFamily="18" charset="0"/>
                <a:ea typeface="Cambria Math" panose="02040503050406030204" pitchFamily="18" charset="0"/>
              </a:rPr>
              <a:t> </a:t>
            </a:r>
          </a:p>
          <a:p>
            <a:pPr marL="1371600" lvl="2" indent="-457200" algn="just">
              <a:buFont typeface="Wingdings" panose="05000000000000000000" pitchFamily="2" charset="2"/>
              <a:buChar char="§"/>
            </a:pPr>
            <a:endParaRPr lang="en-US" sz="8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A transaction waits for a lock only for a specified amount of time. After that, the transaction is rolled back. </a:t>
            </a:r>
          </a:p>
          <a:p>
            <a:pPr marL="1371600" lvl="2" indent="-457200" algn="just">
              <a:buFont typeface="Wingdings" panose="05000000000000000000" pitchFamily="2" charset="2"/>
              <a:buChar char="§"/>
            </a:pPr>
            <a:endParaRPr lang="en-US" sz="900" dirty="0">
              <a:latin typeface="Cambria Math" panose="02040503050406030204" pitchFamily="18" charset="0"/>
              <a:ea typeface="Cambria Math" panose="02040503050406030204" pitchFamily="18" charset="0"/>
            </a:endParaRPr>
          </a:p>
          <a:p>
            <a:pPr marL="1371600" lvl="2" indent="-457200" algn="just">
              <a:buFont typeface="Wingdings" panose="05000000000000000000" pitchFamily="2" charset="2"/>
              <a:buChar char="§"/>
            </a:pPr>
            <a:r>
              <a:rPr lang="en-US" sz="2400" dirty="0">
                <a:latin typeface="Cambria Math" panose="02040503050406030204" pitchFamily="18" charset="0"/>
                <a:ea typeface="Cambria Math" panose="02040503050406030204" pitchFamily="18" charset="0"/>
              </a:rPr>
              <a:t>So deadlock never occurs.</a:t>
            </a:r>
          </a:p>
        </p:txBody>
      </p:sp>
    </p:spTree>
    <p:extLst>
      <p:ext uri="{BB962C8B-B14F-4D97-AF65-F5344CB8AC3E}">
        <p14:creationId xmlns:p14="http://schemas.microsoft.com/office/powerpoint/2010/main" val="148223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 calcmode="lin" valueType="num">
                                      <p:cBhvr additive="base">
                                        <p:cTn id="1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fade">
                                      <p:cBhvr>
                                        <p:cTn id="23"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02151" y="2140370"/>
            <a:ext cx="5486400" cy="2441448"/>
          </a:xfrm>
        </p:spPr>
        <p:txBody>
          <a:bodyPr>
            <a:normAutofit/>
          </a:bodyPr>
          <a:lstStyle/>
          <a:p>
            <a:pPr algn="ctr"/>
            <a:r>
              <a:rPr lang="en-US" sz="12450" b="1" dirty="0">
                <a:solidFill>
                  <a:schemeClr val="tx1"/>
                </a:solidFill>
              </a:rPr>
              <a:t>Thanks</a:t>
            </a:r>
          </a:p>
        </p:txBody>
      </p:sp>
    </p:spTree>
    <p:extLst>
      <p:ext uri="{BB962C8B-B14F-4D97-AF65-F5344CB8AC3E}">
        <p14:creationId xmlns:p14="http://schemas.microsoft.com/office/powerpoint/2010/main" val="347637430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4281</TotalTime>
  <Words>6156</Words>
  <Application>Microsoft Office PowerPoint</Application>
  <PresentationFormat>Widescreen</PresentationFormat>
  <Paragraphs>956</Paragraphs>
  <Slides>61</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vt:lpstr>
      <vt:lpstr>Calibri</vt:lpstr>
      <vt:lpstr>Cambria</vt:lpstr>
      <vt:lpstr>Cambria Math</vt:lpstr>
      <vt:lpstr>Corbel</vt:lpstr>
      <vt:lpstr>Helvetica</vt:lpstr>
      <vt:lpstr>Wingdings</vt:lpstr>
      <vt:lpstr>Wingdings 2</vt:lpstr>
      <vt:lpstr>Frame</vt:lpstr>
      <vt:lpstr>PowerPoint Presentation</vt:lpstr>
      <vt:lpstr>PowerPoint Presentation</vt:lpstr>
      <vt:lpstr>Transaction</vt:lpstr>
      <vt:lpstr>Transaction (ACID Properties)</vt:lpstr>
      <vt:lpstr>Transaction (ACID Properties)</vt:lpstr>
      <vt:lpstr>Transaction (ACID Properties)</vt:lpstr>
      <vt:lpstr>Transaction (ACID Properties)</vt:lpstr>
      <vt:lpstr>Transaction (ACID Properties)</vt:lpstr>
      <vt:lpstr>Transaction (State Diagram or Life Cycle)</vt:lpstr>
      <vt:lpstr>Transaction (State Diagram or Life Cycle)</vt:lpstr>
      <vt:lpstr>Transaction (Operations)</vt:lpstr>
      <vt:lpstr>Transaction (Schedule)</vt:lpstr>
      <vt:lpstr>Transaction (Schedule - Example)</vt:lpstr>
      <vt:lpstr>Transaction (Serial Schedule)</vt:lpstr>
      <vt:lpstr>Transaction (Serial Schedule Example)</vt:lpstr>
      <vt:lpstr>Transaction (Interleaved Schedule)</vt:lpstr>
      <vt:lpstr>Transaction (Interleaved Schedule Example)</vt:lpstr>
      <vt:lpstr>Transaction (Serializability)</vt:lpstr>
      <vt:lpstr>Transaction (Conflicting Operations)</vt:lpstr>
      <vt:lpstr>Transaction (Conflict Serializability)</vt:lpstr>
      <vt:lpstr>Transaction (View Serializability)</vt:lpstr>
      <vt:lpstr>Transaction (View Serializability)</vt:lpstr>
      <vt:lpstr>Transaction (View Serializability)</vt:lpstr>
      <vt:lpstr>Transaction (View Serializability)</vt:lpstr>
      <vt:lpstr>Transaction (View Serializability)</vt:lpstr>
      <vt:lpstr>Transaction (Two Phase Commit Protocol)</vt:lpstr>
      <vt:lpstr>PowerPoint Presentation</vt:lpstr>
      <vt:lpstr>Transaction (Two Phase Commit Protocol)</vt:lpstr>
      <vt:lpstr>Transaction (Two Phase Commit Protocol)</vt:lpstr>
      <vt:lpstr>Transaction (Two Phase Commit Protocol)</vt:lpstr>
      <vt:lpstr>Transaction (Database Recovery)</vt:lpstr>
      <vt:lpstr>Transaction (Log Based Recovery)</vt:lpstr>
      <vt:lpstr>Transaction (Types of  Log Based Recovery)</vt:lpstr>
      <vt:lpstr>Transaction (Types of  Log Based Recovery)</vt:lpstr>
      <vt:lpstr>Transaction (Checkpoints)</vt:lpstr>
      <vt:lpstr>Transaction (Shadow Paging)</vt:lpstr>
      <vt:lpstr>Transaction (Shadow Paging)</vt:lpstr>
      <vt:lpstr>Transaction (Database Recovery)</vt:lpstr>
      <vt:lpstr>Concurrency Control</vt:lpstr>
      <vt:lpstr>Concurrency Control</vt:lpstr>
      <vt:lpstr>Concurrency Control</vt:lpstr>
      <vt:lpstr>Concurrency Control (Lock Based Protocol)</vt:lpstr>
      <vt:lpstr>Concurrency Control (Lock Based Protocol)</vt:lpstr>
      <vt:lpstr>Concurrency Control (Two Phase Lock Protocol)</vt:lpstr>
      <vt:lpstr>Concurrency Control (Two Phase Lock Protocol – Lock Conversions)</vt:lpstr>
      <vt:lpstr>Concurrency Control (Two Phase Lock Protocol)</vt:lpstr>
      <vt:lpstr>Concurrency Control (Pitfalls of Lock Based Protocol)</vt:lpstr>
      <vt:lpstr>Concurrency Control (Pitfalls of Lock Based Protocol)</vt:lpstr>
      <vt:lpstr>Concurrency Control (Intention Locking)</vt:lpstr>
      <vt:lpstr>Concurrency Control (Multiple Granularity)</vt:lpstr>
      <vt:lpstr>Concurrency Control (Implementing Locking)</vt:lpstr>
      <vt:lpstr>Concurrency Control (Time Stamp Based Protocol)</vt:lpstr>
      <vt:lpstr>Concurrency Control (Time Stamp Based Protocol)</vt:lpstr>
      <vt:lpstr>Deadlock</vt:lpstr>
      <vt:lpstr>Deadlock Detection</vt:lpstr>
      <vt:lpstr>Deadlock Detection</vt:lpstr>
      <vt:lpstr>Deadlock Recovery</vt:lpstr>
      <vt:lpstr>Deadlock Prevention</vt:lpstr>
      <vt:lpstr>Deadlock Prevention</vt:lpstr>
      <vt:lpstr>Deadlock Prevention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online  certificate  course</dc:title>
  <dc:creator>Deepak Mashru</dc:creator>
  <cp:lastModifiedBy>Dr. Rachit Adhvaryu</cp:lastModifiedBy>
  <cp:revision>533</cp:revision>
  <dcterms:created xsi:type="dcterms:W3CDTF">2019-05-12T04:30:40Z</dcterms:created>
  <dcterms:modified xsi:type="dcterms:W3CDTF">2023-06-19T08:33:48Z</dcterms:modified>
</cp:coreProperties>
</file>