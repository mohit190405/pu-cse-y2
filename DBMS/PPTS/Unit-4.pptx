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56" r:id="rId2"/>
    <p:sldId id="258" r:id="rId3"/>
    <p:sldId id="311" r:id="rId4"/>
    <p:sldId id="260" r:id="rId5"/>
    <p:sldId id="312" r:id="rId6"/>
    <p:sldId id="259" r:id="rId7"/>
    <p:sldId id="314" r:id="rId8"/>
    <p:sldId id="313" r:id="rId9"/>
    <p:sldId id="315" r:id="rId10"/>
    <p:sldId id="316" r:id="rId11"/>
    <p:sldId id="319" r:id="rId12"/>
    <p:sldId id="320" r:id="rId13"/>
    <p:sldId id="321" r:id="rId14"/>
    <p:sldId id="322" r:id="rId15"/>
    <p:sldId id="324" r:id="rId16"/>
    <p:sldId id="326" r:id="rId17"/>
    <p:sldId id="327" r:id="rId18"/>
    <p:sldId id="328" r:id="rId19"/>
    <p:sldId id="329" r:id="rId20"/>
    <p:sldId id="331" r:id="rId21"/>
    <p:sldId id="333" r:id="rId22"/>
    <p:sldId id="334" r:id="rId23"/>
    <p:sldId id="335" r:id="rId24"/>
    <p:sldId id="336" r:id="rId25"/>
    <p:sldId id="339" r:id="rId26"/>
    <p:sldId id="340" r:id="rId27"/>
    <p:sldId id="344" r:id="rId28"/>
    <p:sldId id="345" r:id="rId29"/>
    <p:sldId id="346" r:id="rId30"/>
    <p:sldId id="347" r:id="rId31"/>
    <p:sldId id="348" r:id="rId32"/>
    <p:sldId id="351" r:id="rId33"/>
    <p:sldId id="349" r:id="rId34"/>
    <p:sldId id="352" r:id="rId35"/>
    <p:sldId id="353" r:id="rId36"/>
    <p:sldId id="354" r:id="rId37"/>
    <p:sldId id="355" r:id="rId38"/>
    <p:sldId id="358" r:id="rId39"/>
    <p:sldId id="359" r:id="rId40"/>
    <p:sldId id="360" r:id="rId41"/>
    <p:sldId id="362" r:id="rId42"/>
    <p:sldId id="363" r:id="rId43"/>
    <p:sldId id="366" r:id="rId44"/>
    <p:sldId id="367" r:id="rId45"/>
    <p:sldId id="369" r:id="rId46"/>
    <p:sldId id="368" r:id="rId47"/>
    <p:sldId id="374" r:id="rId48"/>
    <p:sldId id="375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BAD2"/>
    <a:srgbClr val="FFFFFF"/>
    <a:srgbClr val="11BBAF"/>
    <a:srgbClr val="FFCA4F"/>
    <a:srgbClr val="854F89"/>
    <a:srgbClr val="FFE152"/>
    <a:srgbClr val="DD00FF"/>
    <a:srgbClr val="D8D5ED"/>
    <a:srgbClr val="B5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2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33963-C124-47E7-A869-F17D8195CF1D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BEF28-68B5-4989-948B-CCBB20049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10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0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10-07-23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39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10-07-23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02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10-07-23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62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10-07-23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51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 b="1"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6461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 b="1"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62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 b="1"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2859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B6E4831-481F-4AF1-9D8E-170CD6E1C3F5}" type="datetimeFigureOut">
              <a:rPr lang="en-IN" smtClean="0"/>
              <a:pPr/>
              <a:t>10-07-23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97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  <p:sldLayoutId id="2147483672" r:id="rId5"/>
    <p:sldLayoutId id="2147483673" r:id="rId6"/>
    <p:sldLayoutId id="214748367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C:\Users\parul\Desktop\tem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40659" y="1193498"/>
            <a:ext cx="11663084" cy="120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buClr>
                <a:srgbClr val="000000"/>
              </a:buClr>
              <a:buSzPts val="3500"/>
            </a:pPr>
            <a:r>
              <a:rPr lang="en-IN" sz="32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Database Management System (303105203)</a:t>
            </a:r>
          </a:p>
          <a:p>
            <a:pPr algn="ctr">
              <a:buClr>
                <a:srgbClr val="000000"/>
              </a:buClr>
              <a:buSzPts val="3500"/>
            </a:pPr>
            <a:endParaRPr lang="en-IN" sz="14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3500"/>
            </a:pPr>
            <a:r>
              <a:rPr lang="en-IN" sz="2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 – 4: Relational Query Languages:</a:t>
            </a:r>
          </a:p>
          <a:p>
            <a:pPr algn="ctr">
              <a:buClr>
                <a:srgbClr val="000000"/>
              </a:buClr>
              <a:buSzPts val="3500"/>
            </a:pPr>
            <a:r>
              <a:rPr lang="en-IN" sz="2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Relational Algebra</a:t>
            </a:r>
          </a:p>
          <a:p>
            <a:pPr algn="ctr">
              <a:buClr>
                <a:srgbClr val="000000"/>
              </a:buClr>
              <a:buSzPts val="3500"/>
            </a:pPr>
            <a:endParaRPr lang="en-IN" sz="28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3500"/>
            </a:pPr>
            <a:endParaRPr sz="1350" dirty="0"/>
          </a:p>
        </p:txBody>
      </p:sp>
      <p:sp>
        <p:nvSpPr>
          <p:cNvPr id="90" name="Google Shape;90;p1"/>
          <p:cNvSpPr/>
          <p:nvPr/>
        </p:nvSpPr>
        <p:spPr>
          <a:xfrm>
            <a:off x="2203077" y="2997994"/>
            <a:ext cx="7678271" cy="57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IN" sz="165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Dr. Rachit Adhvaryu, </a:t>
            </a:r>
          </a:p>
          <a:p>
            <a:pPr algn="ctr">
              <a:buClr>
                <a:srgbClr val="000000"/>
              </a:buClr>
              <a:buSzPts val="2200"/>
            </a:pPr>
            <a:r>
              <a:rPr lang="en-IN" sz="165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Assistant Professor, Computer Science &amp; Engineering</a:t>
            </a:r>
            <a:endParaRPr sz="165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 descr="C:\Users\parul\Desktop\Registered Logos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97068" y="273424"/>
            <a:ext cx="19812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"/>
          <p:cNvGrpSpPr/>
          <p:nvPr/>
        </p:nvGrpSpPr>
        <p:grpSpPr>
          <a:xfrm>
            <a:off x="3730230" y="2895601"/>
            <a:ext cx="4731544" cy="70247"/>
            <a:chOff x="1428728" y="2571744"/>
            <a:chExt cx="6309404" cy="94298"/>
          </a:xfrm>
        </p:grpSpPr>
        <p:cxnSp>
          <p:nvCxnSpPr>
            <p:cNvPr id="93" name="Google Shape;93;p1"/>
            <p:cNvCxnSpPr/>
            <p:nvPr/>
          </p:nvCxnSpPr>
          <p:spPr>
            <a:xfrm>
              <a:off x="1428728" y="2618094"/>
              <a:ext cx="6287177" cy="1598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4" name="Google Shape;94;p1"/>
            <p:cNvSpPr/>
            <p:nvPr/>
          </p:nvSpPr>
          <p:spPr>
            <a:xfrm rot="10800000">
              <a:off x="1428728" y="2571744"/>
              <a:ext cx="93672" cy="9429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800"/>
              </a:pP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 rot="10800000">
              <a:off x="7644459" y="2571744"/>
              <a:ext cx="93673" cy="9429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800"/>
              </a:pP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1069848" y="850505"/>
            <a:ext cx="7315200" cy="4479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7200" b="1" dirty="0"/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2295535" y="2643827"/>
            <a:ext cx="6120306" cy="4648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800" b="1" spc="-1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87195" y="353674"/>
            <a:ext cx="7180289" cy="4580306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Structure of relational databases, </a:t>
            </a:r>
          </a:p>
          <a:p>
            <a:pPr marL="342900" indent="-3429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Domains, Relations, keys</a:t>
            </a:r>
          </a:p>
          <a:p>
            <a:pPr marL="342900" indent="-3429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algebra  fundamental operators and syntax,</a:t>
            </a:r>
          </a:p>
          <a:p>
            <a:pPr marL="342900" indent="-3429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algebra queries</a:t>
            </a:r>
          </a:p>
          <a:p>
            <a:pPr marL="342900" indent="-3429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Tuple relational calculus </a:t>
            </a:r>
          </a:p>
          <a:p>
            <a:pPr marL="342900" indent="-3429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Open Source and Commercial DBMS</a:t>
            </a:r>
          </a:p>
          <a:p>
            <a:endParaRPr lang="en-IN" sz="3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075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Student Table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386265"/>
              </p:ext>
            </p:extLst>
          </p:nvPr>
        </p:nvGraphicFramePr>
        <p:xfrm>
          <a:off x="3749188" y="2118360"/>
          <a:ext cx="609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RollNo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Tarun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Mitesh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Mantra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Kamal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Tirth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52600" y="3140055"/>
            <a:ext cx="1272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Rows or</a:t>
            </a:r>
          </a:p>
          <a:p>
            <a:r>
              <a:rPr lang="en-US" dirty="0"/>
              <a:t>Tuples or Records </a:t>
            </a:r>
            <a:r>
              <a:rPr lang="en-US" b="1" dirty="0">
                <a:solidFill>
                  <a:srgbClr val="C00000"/>
                </a:solidFill>
              </a:rPr>
              <a:t>(7)</a:t>
            </a:r>
            <a:endParaRPr lang="en-IN" b="1" dirty="0">
              <a:solidFill>
                <a:srgbClr val="C0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434989" y="1427996"/>
            <a:ext cx="2362200" cy="68222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797189" y="1427996"/>
            <a:ext cx="2514600" cy="65873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797189" y="1427996"/>
            <a:ext cx="1352550" cy="67056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4" idx="0"/>
          </p:cNvCxnSpPr>
          <p:nvPr/>
        </p:nvCxnSpPr>
        <p:spPr>
          <a:xfrm flipH="1">
            <a:off x="6797188" y="1427996"/>
            <a:ext cx="2" cy="69036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5682765" y="1427997"/>
            <a:ext cx="1114424" cy="66395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</p:cNvCxnSpPr>
          <p:nvPr/>
        </p:nvCxnSpPr>
        <p:spPr>
          <a:xfrm flipV="1">
            <a:off x="3025288" y="2679700"/>
            <a:ext cx="729406" cy="92202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3"/>
          </p:cNvCxnSpPr>
          <p:nvPr/>
        </p:nvCxnSpPr>
        <p:spPr>
          <a:xfrm flipV="1">
            <a:off x="3025288" y="3060700"/>
            <a:ext cx="729406" cy="54102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3"/>
          </p:cNvCxnSpPr>
          <p:nvPr/>
        </p:nvCxnSpPr>
        <p:spPr>
          <a:xfrm flipV="1">
            <a:off x="3025288" y="3409160"/>
            <a:ext cx="729406" cy="19256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3"/>
          </p:cNvCxnSpPr>
          <p:nvPr/>
        </p:nvCxnSpPr>
        <p:spPr>
          <a:xfrm>
            <a:off x="3025288" y="3601720"/>
            <a:ext cx="723900" cy="20680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3"/>
          </p:cNvCxnSpPr>
          <p:nvPr/>
        </p:nvCxnSpPr>
        <p:spPr>
          <a:xfrm>
            <a:off x="3025289" y="3601721"/>
            <a:ext cx="740229" cy="53940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9609" y="104683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Columns </a:t>
            </a:r>
            <a:r>
              <a:rPr lang="en-US" b="1" dirty="0">
                <a:solidFill>
                  <a:srgbClr val="C00000"/>
                </a:solidFill>
              </a:rPr>
              <a:t>(5)</a:t>
            </a:r>
            <a:endParaRPr lang="en-IN" b="1" dirty="0">
              <a:solidFill>
                <a:srgbClr val="C00000"/>
              </a:solidFill>
            </a:endParaRPr>
          </a:p>
        </p:txBody>
      </p:sp>
      <p:cxnSp>
        <p:nvCxnSpPr>
          <p:cNvPr id="19" name="Straight Arrow Connector 18"/>
          <p:cNvCxnSpPr>
            <a:stCxn id="24" idx="1"/>
          </p:cNvCxnSpPr>
          <p:nvPr/>
        </p:nvCxnSpPr>
        <p:spPr>
          <a:xfrm flipH="1">
            <a:off x="3825388" y="5377934"/>
            <a:ext cx="16002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25588" y="5193268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Degree = No of columns </a:t>
            </a:r>
            <a:r>
              <a:rPr lang="en-US" b="1" dirty="0">
                <a:solidFill>
                  <a:srgbClr val="C00000"/>
                </a:solidFill>
              </a:rPr>
              <a:t>(5)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8985206" y="3482473"/>
            <a:ext cx="256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Cardinality = No of tuples </a:t>
            </a:r>
            <a:r>
              <a:rPr lang="en-US" sz="1600" b="1" dirty="0">
                <a:solidFill>
                  <a:srgbClr val="C00000"/>
                </a:solidFill>
              </a:rPr>
              <a:t>(7)</a:t>
            </a:r>
          </a:p>
        </p:txBody>
      </p:sp>
      <p:cxnSp>
        <p:nvCxnSpPr>
          <p:cNvPr id="26" name="Straight Arrow Connector 25"/>
          <p:cNvCxnSpPr>
            <a:stCxn id="6" idx="3"/>
          </p:cNvCxnSpPr>
          <p:nvPr/>
        </p:nvCxnSpPr>
        <p:spPr>
          <a:xfrm>
            <a:off x="3025289" y="3601720"/>
            <a:ext cx="740229" cy="128778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4" idx="3"/>
          </p:cNvCxnSpPr>
          <p:nvPr/>
        </p:nvCxnSpPr>
        <p:spPr>
          <a:xfrm>
            <a:off x="8321188" y="5377934"/>
            <a:ext cx="15113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9829800" y="2481048"/>
            <a:ext cx="592722" cy="339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 flipV="1">
            <a:off x="9836764" y="5077561"/>
            <a:ext cx="585759" cy="31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60288" y="5638801"/>
            <a:ext cx="6817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Domain</a:t>
            </a:r>
            <a:r>
              <a:rPr lang="en-US" dirty="0"/>
              <a:t> is a set of all possible unique values for a specific column.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Domain of Branch attribute is </a:t>
            </a:r>
            <a:r>
              <a:rPr lang="en-US" b="1" dirty="0"/>
              <a:t>(CE, IT, ME, EE)</a:t>
            </a:r>
          </a:p>
        </p:txBody>
      </p:sp>
      <p:cxnSp>
        <p:nvCxnSpPr>
          <p:cNvPr id="42" name="Straight Arrow Connector 41"/>
          <p:cNvCxnSpPr>
            <a:stCxn id="6" idx="3"/>
          </p:cNvCxnSpPr>
          <p:nvPr/>
        </p:nvCxnSpPr>
        <p:spPr>
          <a:xfrm>
            <a:off x="3025289" y="3601721"/>
            <a:ext cx="740229" cy="95504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776763" y="1917700"/>
            <a:ext cx="1620000" cy="787344"/>
          </a:xfrm>
          <a:prstGeom prst="roundRect">
            <a:avLst>
              <a:gd name="adj" fmla="val 394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Attributes: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Title of column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3214694" y="2311372"/>
            <a:ext cx="5400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01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24" grpId="0"/>
      <p:bldP spid="25" grpId="0"/>
      <p:bldP spid="31" grpId="0"/>
      <p:bldP spid="6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Structure of relational databases</a:t>
            </a:r>
            <a:b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69268" y="864108"/>
            <a:ext cx="7315200" cy="5120640"/>
          </a:xfrm>
        </p:spPr>
        <p:txBody>
          <a:bodyPr/>
          <a:lstStyle/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Table (Relation): 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database object that holds a collection of data for a specific topic. Table consist of rows and columns.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Column (Attribute): 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vertical component of a table. A column has a name and a particular data type; e.g. </a:t>
            </a:r>
            <a:r>
              <a:rPr lang="en-US" sz="2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varchar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decimal, integer, </a:t>
            </a:r>
            <a:r>
              <a:rPr lang="en-US" sz="2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datetime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etc.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Record (Tuple): 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horizontal component of a table, consisting of a sequence of values, one for each column of the table. It is also known as row.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database consists of a collection of tables (relations), each having a unique name.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577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69268" y="864108"/>
            <a:ext cx="7315200" cy="5120640"/>
          </a:xfrm>
        </p:spPr>
        <p:txBody>
          <a:bodyPr/>
          <a:lstStyle/>
          <a:p>
            <a:pPr lvl="1" indent="-457200">
              <a:buClrTx/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Find out following for the given Student table:</a:t>
            </a:r>
          </a:p>
          <a:p>
            <a:pPr marL="1200150" lvl="2" indent="-514350">
              <a:buClrTx/>
              <a:buFont typeface="+mj-lt"/>
              <a:buAutoNum type="romanLcPeriod"/>
            </a:pP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 of columns</a:t>
            </a:r>
          </a:p>
          <a:p>
            <a:pPr marL="1200150" lvl="2" indent="-514350">
              <a:buClrTx/>
              <a:buFont typeface="+mj-lt"/>
              <a:buAutoNum type="romanLcPeriod"/>
            </a:pP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 of records</a:t>
            </a:r>
          </a:p>
          <a:p>
            <a:pPr marL="1200150" lvl="2" indent="-514350">
              <a:buClrTx/>
              <a:buFont typeface="+mj-lt"/>
              <a:buAutoNum type="romanLcPeriod"/>
            </a:pP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Different attributes</a:t>
            </a:r>
          </a:p>
          <a:p>
            <a:pPr marL="1200150" lvl="2" indent="-514350">
              <a:buClrTx/>
              <a:buFont typeface="+mj-lt"/>
              <a:buAutoNum type="romanLcPeriod"/>
            </a:pP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Degree</a:t>
            </a:r>
          </a:p>
          <a:p>
            <a:pPr marL="1200150" lvl="2" indent="-514350">
              <a:buClrTx/>
              <a:buFont typeface="+mj-lt"/>
              <a:buAutoNum type="romanLcPeriod"/>
            </a:pP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Cardinali</a:t>
            </a:r>
            <a:r>
              <a:rPr lang="en-US" sz="2000" dirty="0">
                <a:solidFill>
                  <a:schemeClr val="tx1"/>
                </a:solidFill>
              </a:rPr>
              <a:t>ty</a:t>
            </a:r>
          </a:p>
          <a:p>
            <a:pPr marL="1200150" lvl="2" indent="-514350">
              <a:buClrTx/>
              <a:buFont typeface="+mj-lt"/>
              <a:buAutoNum type="romanLcPeriod"/>
            </a:pPr>
            <a:endParaRPr lang="en-US" sz="2000" dirty="0">
              <a:solidFill>
                <a:schemeClr val="tx1"/>
              </a:solidFill>
            </a:endParaRPr>
          </a:p>
          <a:p>
            <a:pPr marL="1200150" lvl="2" indent="-514350">
              <a:buClrTx/>
              <a:buFont typeface="+mj-lt"/>
              <a:buAutoNum type="romanLcPeriod"/>
            </a:pPr>
            <a:endParaRPr lang="en-US" sz="2000" dirty="0">
              <a:solidFill>
                <a:schemeClr val="tx1"/>
              </a:solidFill>
            </a:endParaRPr>
          </a:p>
          <a:p>
            <a:pPr marL="685800" lvl="2" indent="0">
              <a:buClrTx/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893796"/>
              </p:ext>
            </p:extLst>
          </p:nvPr>
        </p:nvGraphicFramePr>
        <p:xfrm>
          <a:off x="3462867" y="3845002"/>
          <a:ext cx="8128002" cy="2264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Enroll.no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Birthdate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49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01-05-2002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Rajkot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Karan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19-03-2000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Mumbai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Jatin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04-02-2000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Baroda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16-08-1999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Niraj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20-02-2001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Patna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20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69267" y="864108"/>
            <a:ext cx="7717895" cy="512064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super key is a set of one or more attributes whose values uniquely identifies each record within a relation (table).</a:t>
            </a: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097" y="2902922"/>
            <a:ext cx="30346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Super Key</a:t>
            </a:r>
            <a:endParaRPr lang="en-US" sz="5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359566"/>
              </p:ext>
            </p:extLst>
          </p:nvPr>
        </p:nvGraphicFramePr>
        <p:xfrm>
          <a:off x="3459161" y="2657647"/>
          <a:ext cx="8128001" cy="342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05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Enroll.no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Rollno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Birthdate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01-05-2002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Rajkot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Karan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19-03-2000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Mumbai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Jatin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04-02-2000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Baroda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16-08-1999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Niraj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20-02-2001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Patna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441672" y="2641484"/>
            <a:ext cx="1184919" cy="3343263"/>
          </a:xfrm>
          <a:prstGeom prst="roundRect">
            <a:avLst>
              <a:gd name="adj" fmla="val 4514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626591" y="2641484"/>
            <a:ext cx="3152633" cy="3343263"/>
          </a:xfrm>
          <a:prstGeom prst="roundRect">
            <a:avLst>
              <a:gd name="adj" fmla="val 4514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7779224" y="2641483"/>
            <a:ext cx="3807938" cy="3343263"/>
          </a:xfrm>
          <a:prstGeom prst="roundRect">
            <a:avLst>
              <a:gd name="adj" fmla="val 4514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>
            <a:off x="3418938" y="1681364"/>
            <a:ext cx="1737360" cy="640080"/>
          </a:xfrm>
          <a:prstGeom prst="wedgeRoundRectCallout">
            <a:avLst>
              <a:gd name="adj1" fmla="val -21348"/>
              <a:gd name="adj2" fmla="val 96970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Super Key</a:t>
            </a:r>
          </a:p>
          <a:p>
            <a:pPr algn="ctr"/>
            <a:r>
              <a:rPr lang="en-US" sz="2000" dirty="0" err="1">
                <a:solidFill>
                  <a:schemeClr val="tx1"/>
                </a:solidFill>
              </a:rPr>
              <a:t>EnrollNo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5250720" y="1597429"/>
            <a:ext cx="2765036" cy="696036"/>
          </a:xfrm>
          <a:prstGeom prst="wedgeRoundRectCallout">
            <a:avLst>
              <a:gd name="adj1" fmla="val -21233"/>
              <a:gd name="adj2" fmla="val 99090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Super Key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RollNo</a:t>
            </a:r>
            <a:r>
              <a:rPr lang="en-US" sz="2000" dirty="0">
                <a:solidFill>
                  <a:schemeClr val="tx1"/>
                </a:solidFill>
              </a:rPr>
              <a:t>, Name, Branch)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8229553" y="1681363"/>
            <a:ext cx="2688656" cy="690620"/>
          </a:xfrm>
          <a:prstGeom prst="wedgeRoundRectCallout">
            <a:avLst>
              <a:gd name="adj1" fmla="val -21233"/>
              <a:gd name="adj2" fmla="val 99090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Super Key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(Age, Birthdate, City)</a:t>
            </a:r>
          </a:p>
        </p:txBody>
      </p:sp>
      <p:sp>
        <p:nvSpPr>
          <p:cNvPr id="15" name="Multiply 14"/>
          <p:cNvSpPr/>
          <p:nvPr/>
        </p:nvSpPr>
        <p:spPr>
          <a:xfrm>
            <a:off x="9162718" y="1467499"/>
            <a:ext cx="822325" cy="1118347"/>
          </a:xfrm>
          <a:prstGeom prst="mathMultiply">
            <a:avLst>
              <a:gd name="adj1" fmla="val 5659"/>
            </a:avLst>
          </a:prstGeom>
          <a:solidFill>
            <a:srgbClr val="B84742"/>
          </a:solidFill>
          <a:ln w="25400" cap="flat" cmpd="sng" algn="ctr">
            <a:solidFill>
              <a:srgbClr val="B8474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556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Candidate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algn="just">
              <a:buClrTx/>
            </a:pP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candidate key is a subset of a super key.</a:t>
            </a:r>
          </a:p>
          <a:p>
            <a:pPr algn="just">
              <a:buClrTx/>
            </a:pP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candidate key is a single attribute or the least combination of attributes that uniquely identifies each record in the table. </a:t>
            </a:r>
          </a:p>
          <a:p>
            <a:pPr algn="just">
              <a:buClrTx/>
            </a:pP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candidate key is a super key for which no proper subset is a super key.</a:t>
            </a:r>
          </a:p>
          <a:p>
            <a:pPr algn="just">
              <a:buClrTx/>
            </a:pPr>
            <a:r>
              <a:rPr lang="en-IN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Every candidate key is a super key but every super key is not a candidate</a:t>
            </a: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170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69267" y="864108"/>
            <a:ext cx="7717895" cy="5120640"/>
          </a:xfrm>
        </p:spPr>
        <p:txBody>
          <a:bodyPr/>
          <a:lstStyle/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097" y="2902922"/>
            <a:ext cx="31244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Candidate Key</a:t>
            </a:r>
            <a:endParaRPr lang="en-US" sz="5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459161" y="2657647"/>
          <a:ext cx="8128001" cy="342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05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Enroll.no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Rollno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Birthdate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01-05-2002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Rajkot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Karan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19-03-2000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Mumbai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Jatin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04-02-2000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Baroda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16-08-1999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Niraj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20-02-2001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Patna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441672" y="2641484"/>
            <a:ext cx="1184919" cy="3343263"/>
          </a:xfrm>
          <a:prstGeom prst="roundRect">
            <a:avLst>
              <a:gd name="adj" fmla="val 4514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626591" y="2641484"/>
            <a:ext cx="3152633" cy="3343263"/>
          </a:xfrm>
          <a:prstGeom prst="roundRect">
            <a:avLst>
              <a:gd name="adj" fmla="val 4514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ular Callout 14"/>
          <p:cNvSpPr/>
          <p:nvPr/>
        </p:nvSpPr>
        <p:spPr>
          <a:xfrm>
            <a:off x="3479749" y="1351128"/>
            <a:ext cx="2047594" cy="892641"/>
          </a:xfrm>
          <a:prstGeom prst="wedgeRoundRectCallout">
            <a:avLst>
              <a:gd name="adj1" fmla="val -21348"/>
              <a:gd name="adj2" fmla="val 96970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Candidate Key</a:t>
            </a:r>
          </a:p>
          <a:p>
            <a:pPr algn="ctr"/>
            <a:r>
              <a:rPr lang="en-US" sz="2000" dirty="0" err="1">
                <a:solidFill>
                  <a:schemeClr val="tx1"/>
                </a:solidFill>
              </a:rPr>
              <a:t>EnrollNo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5954938" y="1351128"/>
            <a:ext cx="2957050" cy="892641"/>
          </a:xfrm>
          <a:prstGeom prst="wedgeRoundRectCallout">
            <a:avLst>
              <a:gd name="adj1" fmla="val -21233"/>
              <a:gd name="adj2" fmla="val 99090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Candidate Key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RollNo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Name,Branch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1402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Primary Key</a:t>
            </a:r>
            <a:br>
              <a:rPr lang="en-US" sz="4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</a:br>
            <a:endParaRPr lang="en-US" sz="4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69268" y="864108"/>
            <a:ext cx="7315200" cy="5120640"/>
          </a:xfrm>
        </p:spPr>
        <p:txBody>
          <a:bodyPr/>
          <a:lstStyle/>
          <a:p>
            <a:pPr marL="182880" lvl="1">
              <a:spcBef>
                <a:spcPts val="1200"/>
              </a:spcBef>
              <a:spcAft>
                <a:spcPts val="0"/>
              </a:spcAft>
              <a:buClrTx/>
            </a:pPr>
            <a:r>
              <a:rPr lang="en-IN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Ensures that a column or a group of columns identify uniquely each row in the table.</a:t>
            </a:r>
          </a:p>
          <a:p>
            <a:pPr algn="just">
              <a:buClrTx/>
            </a:pP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primary key is a candidate key that is chosen by database designer to identify tuples uniquely in a relation (table).</a:t>
            </a:r>
          </a:p>
          <a:p>
            <a:pPr algn="just">
              <a:buClrTx/>
            </a:pP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primary key may have one or more attributes.</a:t>
            </a:r>
          </a:p>
          <a:p>
            <a:pPr algn="just">
              <a:buClrTx/>
            </a:pP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There is only one primary key in the relation (table).</a:t>
            </a:r>
          </a:p>
          <a:p>
            <a:pPr algn="just">
              <a:buClrTx/>
            </a:pP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primary key attribute value cannot be null.</a:t>
            </a:r>
          </a:p>
          <a:p>
            <a:pPr>
              <a:buClrTx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560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69267" y="864108"/>
            <a:ext cx="7717895" cy="5120640"/>
          </a:xfrm>
        </p:spPr>
        <p:txBody>
          <a:bodyPr/>
          <a:lstStyle/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589" y="2899747"/>
            <a:ext cx="28512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Primary Key</a:t>
            </a:r>
            <a:endParaRPr lang="en-US" sz="5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459161" y="2657647"/>
          <a:ext cx="8128001" cy="342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05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Enroll.no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Rollno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Birthdate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01-05-2002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Rajkot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Karan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19-03-2000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Mumbai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Jatin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04-02-2000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Baroda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16-08-1999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23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Niraj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20-02-2001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Patna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441672" y="2641484"/>
            <a:ext cx="1184919" cy="3343263"/>
          </a:xfrm>
          <a:prstGeom prst="roundRect">
            <a:avLst>
              <a:gd name="adj" fmla="val 4514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626591" y="2641484"/>
            <a:ext cx="3152633" cy="3343263"/>
          </a:xfrm>
          <a:prstGeom prst="roundRect">
            <a:avLst>
              <a:gd name="adj" fmla="val 4514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ular Callout 14"/>
          <p:cNvSpPr/>
          <p:nvPr/>
        </p:nvSpPr>
        <p:spPr>
          <a:xfrm>
            <a:off x="3479749" y="1351128"/>
            <a:ext cx="2047594" cy="892641"/>
          </a:xfrm>
          <a:prstGeom prst="wedgeRoundRectCallout">
            <a:avLst>
              <a:gd name="adj1" fmla="val -21348"/>
              <a:gd name="adj2" fmla="val 96970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Primary Key</a:t>
            </a:r>
          </a:p>
          <a:p>
            <a:pPr algn="ctr"/>
            <a:r>
              <a:rPr lang="en-US" sz="2000" dirty="0" err="1">
                <a:solidFill>
                  <a:schemeClr val="tx1"/>
                </a:solidFill>
              </a:rPr>
              <a:t>EnrollNo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5954938" y="1351128"/>
            <a:ext cx="2957050" cy="892641"/>
          </a:xfrm>
          <a:prstGeom prst="wedgeRoundRectCallout">
            <a:avLst>
              <a:gd name="adj1" fmla="val -21233"/>
              <a:gd name="adj2" fmla="val 99090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Candidate Key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RollNo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Name,Branch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5954938" y="473807"/>
            <a:ext cx="3981102" cy="579493"/>
          </a:xfrm>
          <a:prstGeom prst="wedgeRoundRectCallout">
            <a:avLst>
              <a:gd name="adj1" fmla="val -21348"/>
              <a:gd name="adj2" fmla="val 96970"/>
              <a:gd name="adj3" fmla="val 16667"/>
            </a:avLst>
          </a:prstGeom>
          <a:solidFill>
            <a:srgbClr val="F0F0F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Composite Primary Key</a:t>
            </a:r>
          </a:p>
        </p:txBody>
      </p:sp>
    </p:spTree>
    <p:extLst>
      <p:ext uri="{BB962C8B-B14F-4D97-AF65-F5344CB8AC3E}">
        <p14:creationId xmlns:p14="http://schemas.microsoft.com/office/powerpoint/2010/main" val="17919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 animBg="1"/>
      <p:bldP spid="16" grpId="0" animBg="1"/>
      <p:bldP spid="11" grpId="0" animBg="1"/>
      <p:bldP spid="11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Foreign Key</a:t>
            </a:r>
            <a:br>
              <a:rPr lang="en-US" sz="4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</a:br>
            <a:endParaRPr lang="en-US" sz="4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69268" y="864108"/>
            <a:ext cx="7315200" cy="5120640"/>
          </a:xfrm>
        </p:spPr>
        <p:txBody>
          <a:bodyPr/>
          <a:lstStyle/>
          <a:p>
            <a:pPr algn="just">
              <a:buClrTx/>
            </a:pP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foreign key is an attribute or collection of attributes in one table that refers to the primary key in another table.</a:t>
            </a:r>
          </a:p>
          <a:p>
            <a:pPr>
              <a:buClrTx/>
            </a:pP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table containing the foreign key is called the child table, and the table containing the primary key is called the parent table.</a:t>
            </a:r>
          </a:p>
          <a:p>
            <a:pPr marL="182880" lvl="1">
              <a:spcBef>
                <a:spcPts val="1200"/>
              </a:spcBef>
              <a:spcAft>
                <a:spcPts val="0"/>
              </a:spcAft>
              <a:buClrTx/>
            </a:pPr>
            <a:r>
              <a:rPr lang="en-IN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Also known as Referential Integrity Constraint</a:t>
            </a:r>
          </a:p>
          <a:p>
            <a:pPr>
              <a:buClrTx/>
            </a:pP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ClrTx/>
            </a:pPr>
            <a:endParaRPr lang="en-US" dirty="0"/>
          </a:p>
          <a:p>
            <a:pPr>
              <a:buClrTx/>
            </a:pPr>
            <a:endParaRPr lang="en-US" dirty="0"/>
          </a:p>
          <a:p>
            <a:pPr>
              <a:buClrTx/>
            </a:pPr>
            <a:endParaRPr lang="en-US" dirty="0"/>
          </a:p>
          <a:p>
            <a:pPr>
              <a:buClrTx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033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Foreign Key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788217"/>
              </p:ext>
            </p:extLst>
          </p:nvPr>
        </p:nvGraphicFramePr>
        <p:xfrm>
          <a:off x="3600734" y="2815247"/>
          <a:ext cx="3960242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EnrollNo</a:t>
                      </a:r>
                      <a:endParaRPr lang="en-IN" i="1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Branch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Sem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Jatin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636213"/>
              </p:ext>
            </p:extLst>
          </p:nvPr>
        </p:nvGraphicFramePr>
        <p:xfrm>
          <a:off x="7806519" y="2815247"/>
          <a:ext cx="3867669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1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/>
                        <a:t>ProjectID</a:t>
                      </a:r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Title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/>
                        <a:t>EnrollNo</a:t>
                      </a:r>
                      <a:endParaRPr lang="en-IN" sz="1800" b="1" i="1" kern="1200" dirty="0">
                        <a:solidFill>
                          <a:srgbClr val="E3ED8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P01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Bank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P02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College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School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01713" y="2460009"/>
            <a:ext cx="1224000" cy="360000"/>
          </a:xfrm>
          <a:prstGeom prst="roundRect">
            <a:avLst>
              <a:gd name="adj" fmla="val 10052"/>
            </a:avLst>
          </a:prstGeom>
          <a:solidFill>
            <a:srgbClr val="C8C8C8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Student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6865" y="2460009"/>
            <a:ext cx="1224000" cy="360000"/>
          </a:xfrm>
          <a:prstGeom prst="roundRect">
            <a:avLst>
              <a:gd name="adj" fmla="val 9391"/>
            </a:avLst>
          </a:prstGeom>
          <a:solidFill>
            <a:srgbClr val="C8C8C8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Project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3600734" y="1530369"/>
            <a:ext cx="1260000" cy="640080"/>
          </a:xfrm>
          <a:prstGeom prst="wedgeRoundRectCallout">
            <a:avLst>
              <a:gd name="adj1" fmla="val -21348"/>
              <a:gd name="adj2" fmla="val 96970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Parent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Table</a:t>
            </a:r>
          </a:p>
        </p:txBody>
      </p:sp>
      <p:sp>
        <p:nvSpPr>
          <p:cNvPr id="9" name="Curved Down Arrow 8"/>
          <p:cNvSpPr/>
          <p:nvPr/>
        </p:nvSpPr>
        <p:spPr>
          <a:xfrm>
            <a:off x="4860734" y="1530369"/>
            <a:ext cx="6096000" cy="1284878"/>
          </a:xfrm>
          <a:prstGeom prst="curvedDownArrow">
            <a:avLst>
              <a:gd name="adj1" fmla="val 0"/>
              <a:gd name="adj2" fmla="val 15286"/>
              <a:gd name="adj3" fmla="val 172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8030299" y="1530369"/>
            <a:ext cx="1260000" cy="640080"/>
          </a:xfrm>
          <a:prstGeom prst="wedgeRoundRectCallout">
            <a:avLst>
              <a:gd name="adj1" fmla="val -21348"/>
              <a:gd name="adj2" fmla="val 96970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Child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30131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0126" y="1123837"/>
            <a:ext cx="3275462" cy="4601183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Relational Algebra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69268" y="864108"/>
            <a:ext cx="7315200" cy="512064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Selection</a:t>
            </a:r>
          </a:p>
          <a:p>
            <a:pPr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Projection</a:t>
            </a:r>
          </a:p>
          <a:p>
            <a:pPr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Cross Product</a:t>
            </a:r>
          </a:p>
          <a:p>
            <a:pPr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Division</a:t>
            </a:r>
          </a:p>
          <a:p>
            <a:pPr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Rename</a:t>
            </a:r>
          </a:p>
          <a:p>
            <a:pPr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Joins</a:t>
            </a:r>
          </a:p>
          <a:p>
            <a:pPr marL="640080" lvl="2"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Natural join / Inner join</a:t>
            </a:r>
          </a:p>
          <a:p>
            <a:pPr marL="640080" lvl="2"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Outer join</a:t>
            </a:r>
          </a:p>
          <a:p>
            <a:pPr marL="1097280" lvl="4"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Left outer join</a:t>
            </a:r>
          </a:p>
          <a:p>
            <a:pPr marL="1097280" lvl="4"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Right outer join</a:t>
            </a:r>
          </a:p>
          <a:p>
            <a:pPr marL="1097280" lvl="4"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Full outer join</a:t>
            </a:r>
          </a:p>
          <a:p>
            <a:pPr marL="182880" lvl="2"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Set Operators</a:t>
            </a:r>
          </a:p>
          <a:p>
            <a:pPr marL="640080" lvl="3"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Union</a:t>
            </a:r>
          </a:p>
          <a:p>
            <a:pPr marL="640080" lvl="3"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Intersection</a:t>
            </a:r>
          </a:p>
          <a:p>
            <a:pPr marL="640080" lvl="3"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Minus / set difference</a:t>
            </a:r>
          </a:p>
          <a:p>
            <a:pPr marL="228600" lvl="3" indent="-228600">
              <a:lnSpc>
                <a:spcPct val="100000"/>
              </a:lnSpc>
              <a:spcBef>
                <a:spcPts val="0"/>
              </a:spcBef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Aggregate Functions</a:t>
            </a:r>
          </a:p>
        </p:txBody>
      </p:sp>
    </p:spTree>
    <p:extLst>
      <p:ext uri="{BB962C8B-B14F-4D97-AF65-F5344CB8AC3E}">
        <p14:creationId xmlns:p14="http://schemas.microsoft.com/office/powerpoint/2010/main" val="999926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Selection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69268" y="864108"/>
            <a:ext cx="7315200" cy="5120640"/>
          </a:xfrm>
        </p:spPr>
        <p:txBody>
          <a:bodyPr/>
          <a:lstStyle/>
          <a:p>
            <a:pPr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Symbol : </a:t>
            </a: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 (SIGMA)</a:t>
            </a:r>
          </a:p>
          <a:p>
            <a:pPr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Notation : </a:t>
            </a: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 (condition) 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 &lt;Relation&gt;</a:t>
            </a:r>
          </a:p>
          <a:p>
            <a:pPr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Operation : </a:t>
            </a:r>
            <a:r>
              <a:rPr lang="en-IN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Display particular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 tuples from a relation that satisfy a given condition (predicate) </a:t>
            </a:r>
          </a:p>
          <a:p>
            <a:pPr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Operators: </a:t>
            </a:r>
            <a:r>
              <a:rPr lang="el-GR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=, 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&lt;&gt;</a:t>
            </a:r>
            <a:r>
              <a:rPr lang="el-GR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&lt;, &gt;, &lt;=,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l-GR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&gt;=, Λ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l-GR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AND), V (OR)</a:t>
            </a:r>
          </a:p>
          <a:p>
            <a:pPr marL="0" indent="0">
              <a:buClrTx/>
              <a:buNone/>
            </a:pPr>
            <a:r>
              <a:rPr lang="en-US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Example:</a:t>
            </a:r>
          </a:p>
          <a:p>
            <a:pPr>
              <a:buClrTx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Select all deposit which belongs to branch “verse”</a:t>
            </a:r>
          </a:p>
          <a:p>
            <a:pPr lvl="1">
              <a:buClrTx/>
            </a:pP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 branch=“verse” (Deposit)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53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Selection Operator Example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743718" y="290941"/>
            <a:ext cx="6096000" cy="8002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82880" indent="-182880" defTabSz="914400">
              <a:lnSpc>
                <a:spcPct val="90000"/>
              </a:lnSpc>
              <a:spcBef>
                <a:spcPts val="1200"/>
              </a:spcBef>
              <a:buFont typeface="Wingdings 2" pitchFamily="18" charset="2"/>
              <a:buChar char="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Example:</a:t>
            </a:r>
          </a:p>
          <a:p>
            <a:pPr marL="182880" indent="-182880" defTabSz="914400">
              <a:lnSpc>
                <a:spcPct val="90000"/>
              </a:lnSpc>
              <a:spcBef>
                <a:spcPts val="1200"/>
              </a:spcBef>
              <a:buFont typeface="Wingdings 2" pitchFamily="18" charset="2"/>
              <a:buChar char="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Find out all records where A = B and D &gt; 5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AFDE138B-64BC-4D97-A1A7-864D51E13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0648" y="1207563"/>
            <a:ext cx="16398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Relation 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01ECB9-6EDC-46B0-A342-ED0BB6AC3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1935" y="1650475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i="1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298847-4423-44B4-A84E-2C642609A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9135" y="1650475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i="1"/>
              <a:t>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A4C154-17EA-430E-8737-399E47648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6335" y="1650475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i="1"/>
              <a:t>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76B93C-A0AB-4C8B-9B74-3ABC1D972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535" y="1650475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i="1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C3C854-FC47-4FD4-9F75-BACE55F60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1935" y="2183875"/>
            <a:ext cx="4572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</a:t>
            </a:r>
          </a:p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</a:t>
            </a:r>
          </a:p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</a:t>
            </a:r>
          </a:p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2A6000-5665-4B6A-AFAF-13576C9B1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9135" y="2183875"/>
            <a:ext cx="4572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altLang="en-US" i="1" dirty="0">
                <a:sym typeface="Symbol" pitchFamily="18" charset="2"/>
              </a:rPr>
              <a:t></a:t>
            </a:r>
          </a:p>
          <a:p>
            <a:pPr algn="ctr">
              <a:lnSpc>
                <a:spcPct val="150000"/>
              </a:lnSpc>
            </a:pPr>
            <a:r>
              <a:rPr lang="en-US" altLang="en-US" i="1" dirty="0">
                <a:sym typeface="Symbol" pitchFamily="18" charset="2"/>
              </a:rPr>
              <a:t></a:t>
            </a:r>
          </a:p>
          <a:p>
            <a:pPr algn="ctr">
              <a:lnSpc>
                <a:spcPct val="150000"/>
              </a:lnSpc>
            </a:pPr>
            <a:r>
              <a:rPr lang="en-US" altLang="en-US" i="1" dirty="0">
                <a:sym typeface="Symbol" pitchFamily="18" charset="2"/>
              </a:rPr>
              <a:t></a:t>
            </a:r>
          </a:p>
          <a:p>
            <a:pPr algn="ctr">
              <a:lnSpc>
                <a:spcPct val="150000"/>
              </a:lnSpc>
            </a:pPr>
            <a:r>
              <a:rPr lang="en-US" altLang="en-US" i="1" dirty="0">
                <a:sym typeface="Symbol" pitchFamily="18" charset="2"/>
              </a:rPr>
              <a:t>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23B914-6E14-4877-AA6B-4EC4A89AF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6335" y="2183875"/>
            <a:ext cx="4572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5</a:t>
            </a:r>
          </a:p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12</a:t>
            </a:r>
          </a:p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23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99FA7F-5A1E-46C1-8FF7-149B98750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535" y="2183875"/>
            <a:ext cx="4572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7</a:t>
            </a:r>
          </a:p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7</a:t>
            </a:r>
          </a:p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3</a:t>
            </a:r>
          </a:p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10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6DED0BDD-CC2B-4E9B-AADB-27324D74D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0648" y="4184718"/>
            <a:ext cx="18969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230188" indent="-230188" algn="ctr">
              <a:spcBef>
                <a:spcPct val="50000"/>
              </a:spcBef>
              <a:buClr>
                <a:schemeClr val="tx2"/>
              </a:buClr>
              <a:buFont typeface="Wingdings 2" pitchFamily="18" charset="2"/>
              <a:buChar char="¡"/>
            </a:pPr>
            <a:r>
              <a:rPr lang="en-US" altLang="en-US" sz="2400" dirty="0">
                <a:sym typeface="Symbol" pitchFamily="18" charset="2"/>
              </a:rPr>
              <a:t></a:t>
            </a:r>
            <a:r>
              <a:rPr lang="en-US" altLang="en-US" sz="2400" baseline="-25000" dirty="0">
                <a:sym typeface="Symbol" pitchFamily="18" charset="2"/>
              </a:rPr>
              <a:t>A=B ^ D &gt; 5</a:t>
            </a:r>
            <a:r>
              <a:rPr lang="en-US" altLang="en-US" sz="2000" baseline="-25000" dirty="0">
                <a:sym typeface="Symbol" pitchFamily="18" charset="2"/>
              </a:rPr>
              <a:t> </a:t>
            </a:r>
            <a:r>
              <a:rPr lang="en-US" altLang="en-US" sz="2400" dirty="0">
                <a:sym typeface="Symbol" pitchFamily="18" charset="2"/>
              </a:rPr>
              <a:t>(r)</a:t>
            </a:r>
            <a:endParaRPr lang="en-US" alt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7CD911-3963-44A3-941C-4B8E884A0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8134" y="4836884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i="1"/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3463EB-D6B0-4F2B-B6E9-09CB0B1E4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334" y="4836884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i="1"/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0858D5-FCEA-413E-9AFC-B70A2DE79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534" y="4836884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i="1"/>
              <a:t>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CCE7FE-97BA-47ED-8CA8-528D806AE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9734" y="4836884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i="1"/>
              <a:t>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BE7784-D775-4851-B9FD-8F7CC6072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8134" y="5370284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</a:t>
            </a:r>
          </a:p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764F23-6FE2-4D76-9A66-2FC5FAD00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334" y="5370284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</a:t>
            </a:r>
          </a:p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7C8144-3BF2-4DB3-B02F-61F77F6EA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534" y="5370284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23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B3C02F-6095-4713-8BE1-05D252B2E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9734" y="5370284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7</a:t>
            </a:r>
          </a:p>
          <a:p>
            <a:pPr algn="ctr">
              <a:lnSpc>
                <a:spcPct val="150000"/>
              </a:lnSpc>
            </a:pPr>
            <a:r>
              <a:rPr lang="en-US" altLang="en-US" i="1">
                <a:sym typeface="Symbol" pitchFamily="18" charset="2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4340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Selection Operator Example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77155" y="773190"/>
          <a:ext cx="8128002" cy="2264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Enroll.no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Birthdate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49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01-05-2002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Rajkot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Karan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19-03-2000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Mumbai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Jatin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04-02-2000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Baroda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16-08-1999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Niraj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20-02-2001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Patna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71863" y="299978"/>
            <a:ext cx="1524000" cy="400110"/>
          </a:xfrm>
          <a:prstGeom prst="rect">
            <a:avLst/>
          </a:prstGeom>
          <a:solidFill>
            <a:srgbClr val="40BAD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</a:rPr>
              <a:t>Student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1863" y="3239762"/>
            <a:ext cx="82153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Display the detail of students belongs to “IT” branch and having age greater than 17.</a:t>
            </a:r>
            <a:endParaRPr lang="en-US" sz="2400" dirty="0"/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59173" y="4857751"/>
            <a:ext cx="1524000" cy="400110"/>
          </a:xfrm>
          <a:prstGeom prst="rect">
            <a:avLst/>
          </a:prstGeom>
          <a:solidFill>
            <a:srgbClr val="40BAD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8600" y="4125701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ym typeface="Symbol" pitchFamily="18" charset="2"/>
              </a:rPr>
              <a:t>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i="1" baseline="-25000" dirty="0">
                <a:sym typeface="Symbol" pitchFamily="18" charset="2"/>
              </a:rPr>
              <a:t>Branch=‘IT’ </a:t>
            </a:r>
            <a:r>
              <a:rPr lang="el-GR" sz="2800" i="1" baseline="-25000" dirty="0"/>
              <a:t>Λ</a:t>
            </a:r>
            <a:r>
              <a:rPr lang="en-US" sz="2800" i="1" baseline="-25000" dirty="0"/>
              <a:t> age &gt;17</a:t>
            </a:r>
            <a:r>
              <a:rPr lang="en-US" sz="2800" i="1" baseline="-25000" dirty="0">
                <a:sym typeface="Symbol" pitchFamily="18" charset="2"/>
              </a:rPr>
              <a:t>  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>
                <a:sym typeface="Symbol" pitchFamily="18" charset="2"/>
              </a:rPr>
              <a:t>Student</a:t>
            </a:r>
            <a:r>
              <a:rPr lang="en-US" sz="2800" dirty="0">
                <a:sym typeface="Symbol" pitchFamily="18" charset="2"/>
              </a:rPr>
              <a:t>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442488"/>
              </p:ext>
            </p:extLst>
          </p:nvPr>
        </p:nvGraphicFramePr>
        <p:xfrm>
          <a:off x="3471863" y="5351283"/>
          <a:ext cx="8128002" cy="781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Enroll.no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Birthdate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49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01-05-2002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Rajkot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9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/>
      <p:bldP spid="9" grpId="0" animBg="1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Projection Operator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90937" y="871449"/>
            <a:ext cx="7939088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Symbol: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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(Pi)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Notation 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 </a:t>
            </a:r>
            <a:r>
              <a:rPr lang="en-US" altLang="en-US" sz="3200" baseline="-25000" dirty="0">
                <a:latin typeface="Cambria" panose="02040503050406030204" pitchFamily="18" charset="0"/>
                <a:sym typeface="Symbol" pitchFamily="18" charset="2"/>
              </a:rPr>
              <a:t>(attribute list)</a:t>
            </a:r>
            <a:r>
              <a:rPr lang="en-US" altLang="en-US" sz="2400" baseline="-25000" dirty="0">
                <a:latin typeface="Cambria" panose="02040503050406030204" pitchFamily="18" charset="0"/>
                <a:sym typeface="Symbol" pitchFamily="18" charset="2"/>
              </a:rPr>
              <a:t> </a:t>
            </a:r>
            <a:r>
              <a:rPr lang="en-US" sz="2400" dirty="0">
                <a:latin typeface="Cambria" panose="02040503050406030204" pitchFamily="18" charset="0"/>
                <a:sym typeface="Symbol" pitchFamily="18" charset="2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&lt;Relation&gt;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Operation: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Selects specified attributes of a relation.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Project operation selects certain columns from a table while discarding others. It removes any duplicate tuples (records) from the result.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result of the project operation has only the attributes specified in the attribute list and in the same order as they appear in list.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List out all from deposit with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bname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 and amount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 (</a:t>
            </a:r>
            <a:r>
              <a:rPr lang="en-US" altLang="en-US" sz="2400" dirty="0" err="1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bname,amount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) (Deposit)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 </a:t>
            </a:r>
          </a:p>
          <a:p>
            <a:pPr marL="182880" indent="-182880" defTabSz="914400">
              <a:lnSpc>
                <a:spcPct val="90000"/>
              </a:lnSpc>
              <a:spcBef>
                <a:spcPts val="1200"/>
              </a:spcBef>
              <a:buFont typeface="Wingdings 2" pitchFamily="18" charset="2"/>
              <a:buChar char="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83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Projection Operator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6053"/>
              </p:ext>
            </p:extLst>
          </p:nvPr>
        </p:nvGraphicFramePr>
        <p:xfrm>
          <a:off x="3477155" y="773190"/>
          <a:ext cx="8128002" cy="2264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Enrollno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Birthdate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49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01-05-2002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Rajkot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Karan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19-03-2000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Mumbai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Jatin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04-02-2000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Baroda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16-08-1999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Niraj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20-02-2001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Patna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71863" y="299978"/>
            <a:ext cx="1524000" cy="400110"/>
          </a:xfrm>
          <a:prstGeom prst="rect">
            <a:avLst/>
          </a:prstGeom>
          <a:solidFill>
            <a:srgbClr val="40BAD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</a:rPr>
              <a:t>Student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1863" y="3239762"/>
            <a:ext cx="67721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Display the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Enrollno,Name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city of all students.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1863" y="4386218"/>
            <a:ext cx="1524000" cy="400110"/>
          </a:xfrm>
          <a:prstGeom prst="rect">
            <a:avLst/>
          </a:prstGeom>
          <a:solidFill>
            <a:srgbClr val="40BAD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5863" y="3701427"/>
            <a:ext cx="406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ym typeface="Symbol" pitchFamily="18" charset="2"/>
              </a:rPr>
              <a:t> </a:t>
            </a:r>
            <a:r>
              <a:rPr lang="en-US" sz="2800" i="1" baseline="-25000" dirty="0" err="1">
                <a:sym typeface="Symbol" pitchFamily="18" charset="2"/>
              </a:rPr>
              <a:t>Enrollno</a:t>
            </a:r>
            <a:r>
              <a:rPr lang="en-US" sz="2800" i="1" baseline="-25000" dirty="0">
                <a:sym typeface="Symbol" pitchFamily="18" charset="2"/>
              </a:rPr>
              <a:t>, Name, city 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>
                <a:sym typeface="Symbol" pitchFamily="18" charset="2"/>
              </a:rPr>
              <a:t>Student</a:t>
            </a:r>
            <a:r>
              <a:rPr lang="en-US" sz="2800" dirty="0">
                <a:sym typeface="Symbol" pitchFamily="18" charset="2"/>
              </a:rPr>
              <a:t>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183355"/>
              </p:ext>
            </p:extLst>
          </p:nvPr>
        </p:nvGraphicFramePr>
        <p:xfrm>
          <a:off x="4999862" y="4386264"/>
          <a:ext cx="4064001" cy="2264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Enrollno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49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Rajkot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Karan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Mumbai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Jatin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Baroda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Niraj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Patna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53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Combined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18881"/>
              </p:ext>
            </p:extLst>
          </p:nvPr>
        </p:nvGraphicFramePr>
        <p:xfrm>
          <a:off x="3471863" y="400110"/>
          <a:ext cx="8128002" cy="2264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Enrollno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Birthdate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49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01-05-2002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Rajkot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Karan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19-03-2000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Mumbai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Jatin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04-02-2000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Baroda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16-08-1999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Niraj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20-02-2001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Patna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71863" y="0"/>
            <a:ext cx="1357312" cy="400110"/>
          </a:xfrm>
          <a:prstGeom prst="rect">
            <a:avLst/>
          </a:prstGeom>
          <a:solidFill>
            <a:srgbClr val="40BAD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</a:rPr>
              <a:t>Student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1863" y="2928144"/>
            <a:ext cx="795307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Display the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Enrollno,Name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city of “IT” branch students.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56819" y="4428933"/>
            <a:ext cx="1524000" cy="400110"/>
          </a:xfrm>
          <a:prstGeom prst="rect">
            <a:avLst/>
          </a:prstGeom>
          <a:solidFill>
            <a:srgbClr val="40BAD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335321"/>
              </p:ext>
            </p:extLst>
          </p:nvPr>
        </p:nvGraphicFramePr>
        <p:xfrm>
          <a:off x="3986818" y="4848468"/>
          <a:ext cx="4064001" cy="115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Enrollno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49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Rajkot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721018" y="3516956"/>
            <a:ext cx="568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ym typeface="Symbol" pitchFamily="18" charset="2"/>
              </a:rPr>
              <a:t> </a:t>
            </a:r>
            <a:r>
              <a:rPr lang="en-US" sz="2800" i="1" baseline="-25000" dirty="0" err="1">
                <a:sym typeface="Symbol" pitchFamily="18" charset="2"/>
              </a:rPr>
              <a:t>Enrollno</a:t>
            </a:r>
            <a:r>
              <a:rPr lang="en-US" sz="2800" i="1" baseline="-25000" dirty="0">
                <a:sym typeface="Symbol" pitchFamily="18" charset="2"/>
              </a:rPr>
              <a:t>, Name, city 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800" i="1" dirty="0">
                <a:sym typeface="Symbol" pitchFamily="18" charset="2"/>
              </a:rPr>
              <a:t>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i="1" baseline="-25000" dirty="0">
                <a:sym typeface="Symbol" pitchFamily="18" charset="2"/>
              </a:rPr>
              <a:t>Branch=‘IT’ 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i="1" dirty="0">
                <a:sym typeface="Symbol" pitchFamily="18" charset="2"/>
              </a:rPr>
              <a:t>Student</a:t>
            </a:r>
            <a:r>
              <a:rPr lang="en-US" sz="2400" dirty="0">
                <a:sym typeface="Symbol" pitchFamily="18" charset="2"/>
              </a:rPr>
              <a:t>) )</a:t>
            </a:r>
          </a:p>
        </p:txBody>
      </p:sp>
    </p:spTree>
    <p:extLst>
      <p:ext uri="{BB962C8B-B14F-4D97-AF65-F5344CB8AC3E}">
        <p14:creationId xmlns:p14="http://schemas.microsoft.com/office/powerpoint/2010/main" val="428049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Cross (Cartesian Product)</a:t>
            </a:r>
            <a:br>
              <a:rPr lang="en-US" alt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</a:br>
            <a:r>
              <a:rPr lang="en-US" alt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Operation</a:t>
            </a:r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19536" y="839105"/>
            <a:ext cx="7810501" cy="5644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Symbol 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X (Cross)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Notation : Relation1 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X Relation2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Operation : Combines information of two relations, It is also known as Cross-Product operation and similar to mathematical Cartesian Product Operation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Result : for Relation1 and Relation2 if they have n1 and n2 attributes respectively then resultant relation will have n1+n2 attributes.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Combining attributes from both the input relations .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18109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Cross (Cartesian Product)</a:t>
            </a:r>
            <a:br>
              <a:rPr lang="en-US" alt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</a:br>
            <a:r>
              <a:rPr lang="en-US" alt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Operation</a:t>
            </a:r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19536" y="839105"/>
            <a:ext cx="7810501" cy="574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both relation have same name of attributes then they can be distinguished by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Relation1.n1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Relation2.n1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i.e.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RelationName.AttributeName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Relation1 and Relation2 have tuples t1 and t2 respectively then the resultant relation will have t1 * t2, combining each possible pair of tuples from both the relations.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2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Attributes of Resultant Relation =  Attributes of R1 + Attributes of R2</a:t>
            </a:r>
          </a:p>
          <a:p>
            <a:pPr marL="742950" lvl="2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Tuples of Resultant Relation = Tuples of R1 * Tuples of R2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76369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5" y="0"/>
            <a:ext cx="11684000" cy="808037"/>
          </a:xfrm>
        </p:spPr>
        <p:txBody>
          <a:bodyPr/>
          <a:lstStyle/>
          <a:p>
            <a:r>
              <a:rPr lang="en-US" dirty="0"/>
              <a:t>Cartesian Product / Cross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943225" y="884236"/>
            <a:ext cx="8763000" cy="5334000"/>
          </a:xfrm>
        </p:spPr>
        <p:txBody>
          <a:bodyPr/>
          <a:lstStyle/>
          <a:p>
            <a:r>
              <a:rPr lang="en-US" dirty="0"/>
              <a:t> 	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346943"/>
              </p:ext>
            </p:extLst>
          </p:nvPr>
        </p:nvGraphicFramePr>
        <p:xfrm>
          <a:off x="4787964" y="1683477"/>
          <a:ext cx="2557336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66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RollNo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704970"/>
              </p:ext>
            </p:extLst>
          </p:nvPr>
        </p:nvGraphicFramePr>
        <p:xfrm>
          <a:off x="8707629" y="1683477"/>
          <a:ext cx="1665097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66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RollNo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490540"/>
              </p:ext>
            </p:extLst>
          </p:nvPr>
        </p:nvGraphicFramePr>
        <p:xfrm>
          <a:off x="4823841" y="3322636"/>
          <a:ext cx="5402835" cy="64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2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3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Student.RollNo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Result.RollNo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>
            <a:stCxn id="4" idx="3"/>
            <a:endCxn id="6" idx="1"/>
          </p:cNvCxnSpPr>
          <p:nvPr/>
        </p:nvCxnSpPr>
        <p:spPr>
          <a:xfrm>
            <a:off x="7345300" y="2239737"/>
            <a:ext cx="1362328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7333997" y="2567397"/>
            <a:ext cx="1362328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3"/>
          </p:cNvCxnSpPr>
          <p:nvPr/>
        </p:nvCxnSpPr>
        <p:spPr>
          <a:xfrm>
            <a:off x="7345300" y="2239737"/>
            <a:ext cx="1362328" cy="32766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6" idx="1"/>
          </p:cNvCxnSpPr>
          <p:nvPr/>
        </p:nvCxnSpPr>
        <p:spPr>
          <a:xfrm flipV="1">
            <a:off x="7333998" y="2239737"/>
            <a:ext cx="1373631" cy="32766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87964" y="1267522"/>
            <a:ext cx="1116000" cy="4001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Student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7628" y="1265236"/>
            <a:ext cx="1044000" cy="4001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822825" y="2901236"/>
                <a:ext cx="2124000" cy="399600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bg1">
                        <a:lumMod val="95000"/>
                      </a:schemeClr>
                    </a:solidFill>
                    <a:latin typeface="Cambria" panose="02040503050406030204" pitchFamily="18" charset="0"/>
                  </a:rPr>
                  <a:t>Student</a:t>
                </a:r>
                <a:r>
                  <a:rPr lang="en-US" sz="2000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×</m:t>
                    </m:r>
                  </m:oMath>
                </a14:m>
                <a:r>
                  <a:rPr lang="en-US" sz="2000" b="1" dirty="0">
                    <a:solidFill>
                      <a:schemeClr val="bg1">
                        <a:lumMod val="95000"/>
                      </a:schemeClr>
                    </a:solidFill>
                    <a:latin typeface="Cambria" panose="02040503050406030204" pitchFamily="18" charset="0"/>
                  </a:rPr>
                  <a:t> Result  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825" y="2901236"/>
                <a:ext cx="2124000" cy="399600"/>
              </a:xfrm>
              <a:prstGeom prst="rect">
                <a:avLst/>
              </a:prstGeom>
              <a:blipFill rotWithShape="0">
                <a:blip r:embed="rId2"/>
                <a:stretch>
                  <a:fillRect l="-2865" t="-12308" r="-7736" b="-2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4816283" y="3313399"/>
            <a:ext cx="1682750" cy="36576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ounded Rectangle 23"/>
          <p:cNvSpPr/>
          <p:nvPr/>
        </p:nvSpPr>
        <p:spPr>
          <a:xfrm>
            <a:off x="8185319" y="3316085"/>
            <a:ext cx="1512000" cy="36576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193878"/>
              </p:ext>
            </p:extLst>
          </p:nvPr>
        </p:nvGraphicFramePr>
        <p:xfrm>
          <a:off x="4820779" y="3710689"/>
          <a:ext cx="5402835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2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3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494491"/>
              </p:ext>
            </p:extLst>
          </p:nvPr>
        </p:nvGraphicFramePr>
        <p:xfrm>
          <a:off x="4820779" y="4786680"/>
          <a:ext cx="5402835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2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3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Meet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445790"/>
              </p:ext>
            </p:extLst>
          </p:nvPr>
        </p:nvGraphicFramePr>
        <p:xfrm>
          <a:off x="4820779" y="4435069"/>
          <a:ext cx="5402835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2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3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Meet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09761"/>
              </p:ext>
            </p:extLst>
          </p:nvPr>
        </p:nvGraphicFramePr>
        <p:xfrm>
          <a:off x="4822825" y="4069178"/>
          <a:ext cx="5402835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2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3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Title 1"/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60" baseline="0">
                <a:solidFill>
                  <a:srgbClr val="FFFFFF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Cross</a:t>
            </a:r>
            <a:b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</a:b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Operation</a:t>
            </a: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Example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78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14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Division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457576" y="871449"/>
            <a:ext cx="8372474" cy="4881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Symbol: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1" lang="en-US" altLang="en-US" sz="2800" dirty="0">
                <a:sym typeface="Symbol" pitchFamily="18" charset="2"/>
              </a:rPr>
              <a:t> 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Notation : Relation1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 Relation2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Note: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Attributes of relation2 is proper subset of relation1.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Operation:</a:t>
            </a: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The output of the division operator will have attributes= All attributes of relation1- All attributes of relation2</a:t>
            </a: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The output of the division operator will have tuples= Tuples in relation1 which are associated with all tuples of relation2.</a:t>
            </a: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02591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Division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Operator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675463"/>
              </p:ext>
            </p:extLst>
          </p:nvPr>
        </p:nvGraphicFramePr>
        <p:xfrm>
          <a:off x="3617912" y="762529"/>
          <a:ext cx="1468438" cy="5352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6593">
                <a:tc>
                  <a:txBody>
                    <a:bodyPr/>
                    <a:lstStyle/>
                    <a:p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Sno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Pno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93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93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593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593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593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593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6593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6593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6593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6593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572147"/>
              </p:ext>
            </p:extLst>
          </p:nvPr>
        </p:nvGraphicFramePr>
        <p:xfrm>
          <a:off x="3989387" y="262466"/>
          <a:ext cx="63976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842955"/>
              </p:ext>
            </p:extLst>
          </p:nvPr>
        </p:nvGraphicFramePr>
        <p:xfrm>
          <a:off x="5832474" y="777558"/>
          <a:ext cx="83978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Pno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822806"/>
              </p:ext>
            </p:extLst>
          </p:nvPr>
        </p:nvGraphicFramePr>
        <p:xfrm>
          <a:off x="7470775" y="829945"/>
          <a:ext cx="83978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Pno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080306"/>
              </p:ext>
            </p:extLst>
          </p:nvPr>
        </p:nvGraphicFramePr>
        <p:xfrm>
          <a:off x="9194800" y="781240"/>
          <a:ext cx="83978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Pno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940938"/>
              </p:ext>
            </p:extLst>
          </p:nvPr>
        </p:nvGraphicFramePr>
        <p:xfrm>
          <a:off x="5899149" y="285750"/>
          <a:ext cx="63976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788423"/>
              </p:ext>
            </p:extLst>
          </p:nvPr>
        </p:nvGraphicFramePr>
        <p:xfrm>
          <a:off x="7537450" y="295275"/>
          <a:ext cx="63976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377021"/>
              </p:ext>
            </p:extLst>
          </p:nvPr>
        </p:nvGraphicFramePr>
        <p:xfrm>
          <a:off x="9252744" y="295275"/>
          <a:ext cx="63976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354133"/>
              </p:ext>
            </p:extLst>
          </p:nvPr>
        </p:nvGraphicFramePr>
        <p:xfrm>
          <a:off x="6319187" y="4376094"/>
          <a:ext cx="75617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Sno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788346"/>
              </p:ext>
            </p:extLst>
          </p:nvPr>
        </p:nvGraphicFramePr>
        <p:xfrm>
          <a:off x="8259243" y="4353420"/>
          <a:ext cx="75617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Sno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444312"/>
              </p:ext>
            </p:extLst>
          </p:nvPr>
        </p:nvGraphicFramePr>
        <p:xfrm>
          <a:off x="10230918" y="4345305"/>
          <a:ext cx="7561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Sno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078128"/>
              </p:ext>
            </p:extLst>
          </p:nvPr>
        </p:nvGraphicFramePr>
        <p:xfrm>
          <a:off x="6155389" y="3810190"/>
          <a:ext cx="111975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59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 </a:t>
                      </a:r>
                      <a:r>
                        <a:rPr lang="en-US" alt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sym typeface="Symbol" pitchFamily="18" charset="2"/>
                        </a:rPr>
                        <a:t> B1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252345"/>
              </p:ext>
            </p:extLst>
          </p:nvPr>
        </p:nvGraphicFramePr>
        <p:xfrm>
          <a:off x="8086699" y="3791843"/>
          <a:ext cx="111975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59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 </a:t>
                      </a:r>
                      <a:r>
                        <a:rPr lang="en-US" alt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sym typeface="Symbol" pitchFamily="18" charset="2"/>
                        </a:rPr>
                        <a:t> B2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719272"/>
              </p:ext>
            </p:extLst>
          </p:nvPr>
        </p:nvGraphicFramePr>
        <p:xfrm>
          <a:off x="10036826" y="3791140"/>
          <a:ext cx="111975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59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 </a:t>
                      </a:r>
                      <a:r>
                        <a:rPr lang="en-US" alt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sym typeface="Symbol" pitchFamily="18" charset="2"/>
                        </a:rPr>
                        <a:t> B3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65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Rename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457576" y="871449"/>
            <a:ext cx="8372474" cy="50290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Symbol: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800" i="1" dirty="0">
                <a:sym typeface="Symbol" pitchFamily="18" charset="2"/>
              </a:rPr>
              <a:t> (rho)</a:t>
            </a:r>
            <a:endParaRPr lang="en-US" altLang="en-US" sz="2800" dirty="0">
              <a:sym typeface="Symbol" pitchFamily="18" charset="2"/>
            </a:endParaRP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Notation : </a:t>
            </a:r>
            <a:r>
              <a:rPr lang="en-US" altLang="en-US" sz="2400" i="1" dirty="0">
                <a:sym typeface="Symbol" pitchFamily="18" charset="2"/>
              </a:rPr>
              <a:t> </a:t>
            </a:r>
            <a:r>
              <a:rPr lang="en-US" altLang="en-US" sz="2400" i="1" baseline="-25000" dirty="0">
                <a:latin typeface="Cambria" panose="02040503050406030204" pitchFamily="18" charset="0"/>
                <a:sym typeface="Symbol" pitchFamily="18" charset="2"/>
              </a:rPr>
              <a:t>A (x1,x2,x3…</a:t>
            </a:r>
            <a:r>
              <a:rPr lang="en-US" altLang="en-US" sz="2400" i="1" baseline="-25000" dirty="0" err="1">
                <a:latin typeface="Cambria" panose="02040503050406030204" pitchFamily="18" charset="0"/>
                <a:sym typeface="Symbol" pitchFamily="18" charset="2"/>
              </a:rPr>
              <a:t>Xn</a:t>
            </a:r>
            <a:r>
              <a:rPr lang="en-US" altLang="en-US" sz="2400" i="1" baseline="-25000" dirty="0">
                <a:latin typeface="Cambria" panose="02040503050406030204" pitchFamily="18" charset="0"/>
                <a:sym typeface="Symbol" pitchFamily="18" charset="2"/>
              </a:rPr>
              <a:t>)</a:t>
            </a:r>
            <a:r>
              <a:rPr lang="en-US" altLang="en-US" sz="2400" i="1" baseline="-25000" dirty="0">
                <a:sym typeface="Symbol" pitchFamily="18" charset="2"/>
              </a:rPr>
              <a:t> </a:t>
            </a:r>
            <a:r>
              <a:rPr lang="en-US" altLang="en-US" sz="2400" i="1" dirty="0">
                <a:sym typeface="Symbol" pitchFamily="18" charset="2"/>
              </a:rPr>
              <a:t>(R) 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Operation:</a:t>
            </a: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It renames the existing relation.</a:t>
            </a: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sz="2400" i="1" dirty="0">
                <a:latin typeface="Cambria" panose="02040503050406030204" pitchFamily="18" charset="0"/>
                <a:sym typeface="Symbol" pitchFamily="18" charset="2"/>
              </a:rPr>
              <a:t> </a:t>
            </a:r>
            <a:r>
              <a:rPr lang="en-US" altLang="en-US" sz="2400" i="1" baseline="-25000" dirty="0">
                <a:latin typeface="Cambria" panose="02040503050406030204" pitchFamily="18" charset="0"/>
                <a:sym typeface="Symbol" pitchFamily="18" charset="2"/>
              </a:rPr>
              <a:t>x </a:t>
            </a:r>
            <a:r>
              <a:rPr lang="en-US" altLang="en-US" sz="2400" i="1" dirty="0">
                <a:latin typeface="Cambria" panose="02040503050406030204" pitchFamily="18" charset="0"/>
                <a:sym typeface="Symbol" pitchFamily="18" charset="2"/>
              </a:rPr>
              <a:t>(R) : Renames relation R to x</a:t>
            </a:r>
          </a:p>
          <a:p>
            <a:pPr marL="800100" lvl="1" indent="-342900" defTabSz="9144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sz="2400" i="1" dirty="0">
                <a:latin typeface="Cambria" panose="02040503050406030204" pitchFamily="18" charset="0"/>
                <a:sym typeface="Symbol" pitchFamily="18" charset="2"/>
              </a:rPr>
              <a:t> </a:t>
            </a:r>
            <a:r>
              <a:rPr lang="en-US" altLang="en-US" sz="2400" i="1" baseline="-25000" dirty="0">
                <a:latin typeface="Cambria" panose="02040503050406030204" pitchFamily="18" charset="0"/>
                <a:sym typeface="Symbol" pitchFamily="18" charset="2"/>
              </a:rPr>
              <a:t>x(A1,A2,…AN) </a:t>
            </a:r>
            <a:r>
              <a:rPr lang="en-US" altLang="en-US" sz="2400" i="1" dirty="0">
                <a:latin typeface="Cambria" panose="02040503050406030204" pitchFamily="18" charset="0"/>
                <a:sym typeface="Symbol" pitchFamily="18" charset="2"/>
              </a:rPr>
              <a:t>(R) : Renames relation R to x And its attributes to A1, A2, …. An</a:t>
            </a: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sz="2400" i="1" dirty="0">
                <a:latin typeface="Cambria" panose="02040503050406030204" pitchFamily="18" charset="0"/>
                <a:sym typeface="Symbol" pitchFamily="18" charset="2"/>
              </a:rPr>
              <a:t> </a:t>
            </a:r>
            <a:r>
              <a:rPr lang="en-US" altLang="en-US" sz="2400" i="1" baseline="-25000" dirty="0">
                <a:latin typeface="Cambria" panose="02040503050406030204" pitchFamily="18" charset="0"/>
                <a:sym typeface="Symbol" pitchFamily="18" charset="2"/>
              </a:rPr>
              <a:t>A1,A2,…AN </a:t>
            </a:r>
            <a:r>
              <a:rPr lang="en-US" altLang="en-US" sz="2400" i="1" dirty="0">
                <a:latin typeface="Cambria" panose="02040503050406030204" pitchFamily="18" charset="0"/>
                <a:sym typeface="Symbol" pitchFamily="18" charset="2"/>
              </a:rPr>
              <a:t>(R) :Renames all the attributes of relation.</a:t>
            </a:r>
          </a:p>
          <a:p>
            <a:pPr marL="914400" lvl="1" indent="-457200">
              <a:buNone/>
            </a:pPr>
            <a:r>
              <a:rPr lang="en-US" sz="2400" dirty="0">
                <a:sym typeface="Symbol" pitchFamily="18" charset="2"/>
              </a:rPr>
              <a:t>	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86051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Rename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457576" y="871449"/>
            <a:ext cx="8372474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Book(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Tittle,Author,Year,Price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Book relation with attributes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Tittle,Author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Year and Price. The rename operator is used on Book relation as follows: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Here both the relation name and attribute names are renamed</a:t>
            </a:r>
          </a:p>
          <a:p>
            <a:pPr marL="914400" lvl="1" indent="-457200">
              <a:lnSpc>
                <a:spcPct val="150000"/>
              </a:lnSpc>
              <a:buNone/>
            </a:pPr>
            <a:r>
              <a:rPr lang="en-US" altLang="en-US" dirty="0">
                <a:sym typeface="Symbol" pitchFamily="18" charset="2"/>
              </a:rPr>
              <a:t>		</a:t>
            </a:r>
            <a:r>
              <a:rPr lang="en-US" altLang="en-US" sz="2800" dirty="0">
                <a:latin typeface="Cambria" panose="02040503050406030204" pitchFamily="18" charset="0"/>
                <a:sym typeface="Symbol" pitchFamily="18" charset="2"/>
              </a:rPr>
              <a:t> </a:t>
            </a:r>
            <a:r>
              <a:rPr lang="en-US" altLang="en-US" sz="2800" baseline="-25000" dirty="0">
                <a:latin typeface="Cambria" panose="02040503050406030204" pitchFamily="18" charset="0"/>
                <a:sym typeface="Symbol" pitchFamily="18" charset="2"/>
              </a:rPr>
              <a:t>Temp (</a:t>
            </a:r>
            <a:r>
              <a:rPr lang="en-US" altLang="en-US" sz="2800" baseline="-25000" dirty="0" err="1">
                <a:latin typeface="Cambria" panose="02040503050406030204" pitchFamily="18" charset="0"/>
                <a:sym typeface="Symbol" pitchFamily="18" charset="2"/>
              </a:rPr>
              <a:t>Bname</a:t>
            </a:r>
            <a:r>
              <a:rPr lang="en-US" altLang="en-US" sz="2800" baseline="-25000" dirty="0">
                <a:latin typeface="Cambria" panose="02040503050406030204" pitchFamily="18" charset="0"/>
                <a:sym typeface="Symbol" pitchFamily="18" charset="2"/>
              </a:rPr>
              <a:t>, </a:t>
            </a:r>
            <a:r>
              <a:rPr lang="en-US" altLang="en-US" sz="2800" baseline="-25000" dirty="0" err="1">
                <a:latin typeface="Cambria" panose="02040503050406030204" pitchFamily="18" charset="0"/>
                <a:sym typeface="Symbol" pitchFamily="18" charset="2"/>
              </a:rPr>
              <a:t>Aname</a:t>
            </a:r>
            <a:r>
              <a:rPr lang="en-US" altLang="en-US" sz="2800" baseline="-25000" dirty="0">
                <a:latin typeface="Cambria" panose="02040503050406030204" pitchFamily="18" charset="0"/>
                <a:sym typeface="Symbol" pitchFamily="18" charset="2"/>
              </a:rPr>
              <a:t>, </a:t>
            </a:r>
            <a:r>
              <a:rPr lang="en-US" altLang="en-US" sz="2800" baseline="-25000" dirty="0" err="1">
                <a:latin typeface="Cambria" panose="02040503050406030204" pitchFamily="18" charset="0"/>
                <a:sym typeface="Symbol" pitchFamily="18" charset="2"/>
              </a:rPr>
              <a:t>Pyear</a:t>
            </a:r>
            <a:r>
              <a:rPr lang="en-US" altLang="en-US" sz="2800" baseline="-25000" dirty="0">
                <a:latin typeface="Cambria" panose="02040503050406030204" pitchFamily="18" charset="0"/>
                <a:sym typeface="Symbol" pitchFamily="18" charset="2"/>
              </a:rPr>
              <a:t>, </a:t>
            </a:r>
            <a:r>
              <a:rPr lang="en-US" altLang="en-US" sz="2800" baseline="-25000" dirty="0" err="1">
                <a:latin typeface="Cambria" panose="02040503050406030204" pitchFamily="18" charset="0"/>
                <a:sym typeface="Symbol" pitchFamily="18" charset="2"/>
              </a:rPr>
              <a:t>Bprice</a:t>
            </a:r>
            <a:r>
              <a:rPr lang="en-US" altLang="en-US" sz="2800" baseline="-25000" dirty="0">
                <a:latin typeface="Cambria" panose="02040503050406030204" pitchFamily="18" charset="0"/>
                <a:sym typeface="Symbol" pitchFamily="18" charset="2"/>
              </a:rPr>
              <a:t>)</a:t>
            </a:r>
            <a:r>
              <a:rPr lang="en-US" altLang="en-US" sz="2800" dirty="0">
                <a:latin typeface="Cambria" panose="02040503050406030204" pitchFamily="18" charset="0"/>
                <a:sym typeface="Symbol" pitchFamily="18" charset="2"/>
              </a:rPr>
              <a:t> (Book)</a:t>
            </a:r>
            <a:endParaRPr lang="en-US" sz="2800" dirty="0">
              <a:latin typeface="Cambria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Here only the relation name is renamed</a:t>
            </a:r>
          </a:p>
          <a:p>
            <a:pPr marL="914400" lvl="1" indent="-457200">
              <a:lnSpc>
                <a:spcPct val="150000"/>
              </a:lnSpc>
              <a:buNone/>
            </a:pPr>
            <a:r>
              <a:rPr lang="en-US" altLang="en-US" dirty="0">
                <a:sym typeface="Symbol" pitchFamily="18" charset="2"/>
              </a:rPr>
              <a:t>		</a:t>
            </a:r>
            <a:r>
              <a:rPr lang="en-US" altLang="en-US" sz="2800" dirty="0">
                <a:latin typeface="Cambria" panose="02040503050406030204" pitchFamily="18" charset="0"/>
                <a:sym typeface="Symbol" pitchFamily="18" charset="2"/>
              </a:rPr>
              <a:t> </a:t>
            </a:r>
            <a:r>
              <a:rPr lang="en-US" altLang="en-US" sz="2800" baseline="-25000" dirty="0">
                <a:latin typeface="Cambria" panose="02040503050406030204" pitchFamily="18" charset="0"/>
                <a:sym typeface="Symbol" pitchFamily="18" charset="2"/>
              </a:rPr>
              <a:t>Temp</a:t>
            </a:r>
            <a:r>
              <a:rPr lang="en-US" altLang="en-US" sz="2800" dirty="0">
                <a:latin typeface="Cambria" panose="02040503050406030204" pitchFamily="18" charset="0"/>
                <a:sym typeface="Symbol" pitchFamily="18" charset="2"/>
              </a:rPr>
              <a:t> (Book)</a:t>
            </a:r>
            <a:endParaRPr lang="en-US" sz="2800" dirty="0">
              <a:latin typeface="Cambria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 this case only the attributes names are renamed</a:t>
            </a:r>
          </a:p>
          <a:p>
            <a:pPr lvl="1">
              <a:lnSpc>
                <a:spcPct val="150000"/>
              </a:lnSpc>
              <a:buNone/>
            </a:pPr>
            <a:r>
              <a:rPr lang="en-US" altLang="en-US" dirty="0">
                <a:sym typeface="Symbol" pitchFamily="18" charset="2"/>
              </a:rPr>
              <a:t>		</a:t>
            </a:r>
            <a:r>
              <a:rPr lang="en-US" altLang="en-US" sz="2800" dirty="0">
                <a:latin typeface="Cambria" panose="02040503050406030204" pitchFamily="18" charset="0"/>
                <a:sym typeface="Symbol" pitchFamily="18" charset="2"/>
              </a:rPr>
              <a:t> </a:t>
            </a:r>
            <a:r>
              <a:rPr lang="en-US" altLang="en-US" sz="2800" baseline="-25000" dirty="0">
                <a:latin typeface="Cambria" panose="02040503050406030204" pitchFamily="18" charset="0"/>
                <a:sym typeface="Symbol" pitchFamily="18" charset="2"/>
              </a:rPr>
              <a:t>(</a:t>
            </a:r>
            <a:r>
              <a:rPr lang="en-US" altLang="en-US" sz="2800" baseline="-25000" dirty="0" err="1">
                <a:latin typeface="Cambria" panose="02040503050406030204" pitchFamily="18" charset="0"/>
                <a:sym typeface="Symbol" pitchFamily="18" charset="2"/>
              </a:rPr>
              <a:t>Bname</a:t>
            </a:r>
            <a:r>
              <a:rPr lang="en-US" altLang="en-US" sz="2800" baseline="-25000" dirty="0">
                <a:latin typeface="Cambria" panose="02040503050406030204" pitchFamily="18" charset="0"/>
                <a:sym typeface="Symbol" pitchFamily="18" charset="2"/>
              </a:rPr>
              <a:t>, </a:t>
            </a:r>
            <a:r>
              <a:rPr lang="en-US" altLang="en-US" sz="2800" baseline="-25000" dirty="0" err="1">
                <a:latin typeface="Cambria" panose="02040503050406030204" pitchFamily="18" charset="0"/>
                <a:sym typeface="Symbol" pitchFamily="18" charset="2"/>
              </a:rPr>
              <a:t>Aname</a:t>
            </a:r>
            <a:r>
              <a:rPr lang="en-US" altLang="en-US" sz="2800" baseline="-25000" dirty="0">
                <a:latin typeface="Cambria" panose="02040503050406030204" pitchFamily="18" charset="0"/>
                <a:sym typeface="Symbol" pitchFamily="18" charset="2"/>
              </a:rPr>
              <a:t>, </a:t>
            </a:r>
            <a:r>
              <a:rPr lang="en-US" altLang="en-US" sz="2800" baseline="-25000" dirty="0" err="1">
                <a:latin typeface="Cambria" panose="02040503050406030204" pitchFamily="18" charset="0"/>
                <a:sym typeface="Symbol" pitchFamily="18" charset="2"/>
              </a:rPr>
              <a:t>Pyear</a:t>
            </a:r>
            <a:r>
              <a:rPr lang="en-US" altLang="en-US" sz="2800" baseline="-25000" dirty="0">
                <a:latin typeface="Cambria" panose="02040503050406030204" pitchFamily="18" charset="0"/>
                <a:sym typeface="Symbol" pitchFamily="18" charset="2"/>
              </a:rPr>
              <a:t>, </a:t>
            </a:r>
            <a:r>
              <a:rPr lang="en-US" altLang="en-US" sz="2800" baseline="-25000" dirty="0" err="1">
                <a:latin typeface="Cambria" panose="02040503050406030204" pitchFamily="18" charset="0"/>
                <a:sym typeface="Symbol" pitchFamily="18" charset="2"/>
              </a:rPr>
              <a:t>Bprice</a:t>
            </a:r>
            <a:r>
              <a:rPr lang="en-US" altLang="en-US" sz="2800" baseline="-25000" dirty="0">
                <a:latin typeface="Cambria" panose="02040503050406030204" pitchFamily="18" charset="0"/>
                <a:sym typeface="Symbol" pitchFamily="18" charset="2"/>
              </a:rPr>
              <a:t>)</a:t>
            </a:r>
            <a:r>
              <a:rPr lang="en-US" altLang="en-US" sz="2800" dirty="0">
                <a:latin typeface="Cambria" panose="02040503050406030204" pitchFamily="18" charset="0"/>
                <a:sym typeface="Symbol" pitchFamily="18" charset="2"/>
              </a:rPr>
              <a:t> (Book)</a:t>
            </a:r>
            <a:endParaRPr lang="en-US" sz="2800" dirty="0">
              <a:latin typeface="Cambria" panose="02040503050406030204" pitchFamily="18" charset="0"/>
              <a:sym typeface="Symbol" pitchFamily="18" charset="2"/>
            </a:endParaRPr>
          </a:p>
          <a:p>
            <a:pPr lvl="1">
              <a:buNone/>
            </a:pP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635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Natural Join (Inner Join)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200401" y="600266"/>
            <a:ext cx="8763000" cy="5334000"/>
            <a:chOff x="3426616" y="757428"/>
            <a:chExt cx="8763000" cy="5334000"/>
          </a:xfrm>
        </p:grpSpPr>
        <p:sp>
          <p:nvSpPr>
            <p:cNvPr id="4" name="Content Placeholder 2"/>
            <p:cNvSpPr txBox="1">
              <a:spLocks/>
            </p:cNvSpPr>
            <p:nvPr/>
          </p:nvSpPr>
          <p:spPr>
            <a:xfrm>
              <a:off x="3426616" y="757428"/>
              <a:ext cx="8763000" cy="5334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182880" indent="-18288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Clr>
                  <a:schemeClr val="accent1"/>
                </a:buClr>
                <a:buFont typeface="Wingdings 2" pitchFamily="18" charset="2"/>
                <a:buChar char="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18288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18288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18288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18288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00100" lvl="1" indent="-342900" defTabSz="457200">
                <a:buClrTx/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Symbol: </a:t>
              </a:r>
              <a:r>
                <a: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sym typeface="Symbol" pitchFamily="18" charset="2"/>
                </a:rPr>
                <a:t> </a:t>
              </a:r>
            </a:p>
            <a:p>
              <a:pPr marL="800100" lvl="1" indent="-342900" defTabSz="457200">
                <a:buClrTx/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Notation: </a:t>
              </a:r>
              <a:r>
                <a: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sym typeface="Symbol" pitchFamily="18" charset="2"/>
                </a:rPr>
                <a:t>Relation-1 (R1)      Relation-2 (R2)</a:t>
              </a:r>
            </a:p>
            <a:p>
              <a:pPr marL="800100" lvl="1" indent="-342900" defTabSz="457200">
                <a:buClrTx/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sym typeface="Symbol" pitchFamily="18" charset="2"/>
                </a:rPr>
                <a:t>Operation: </a:t>
              </a:r>
              <a:r>
                <a: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Natural join will retrieve consistent data from multiple relations</a:t>
              </a:r>
              <a:r>
                <a:rPr lang="en-IN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.</a:t>
              </a:r>
            </a:p>
            <a:p>
              <a:pPr marL="800100" lvl="1" indent="-342900" defTabSz="457200">
                <a:buClrTx/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It combines records from different relations that satisfy a given condition.</a:t>
              </a:r>
            </a:p>
            <a:p>
              <a:pPr marL="800100" lvl="1" indent="-342900" defTabSz="457200">
                <a:buClrTx/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marL="800100" lvl="1" indent="-342900" defTabSz="457200">
                <a:buClrTx/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marL="800100" lvl="1" indent="-342900" defTabSz="457200">
                <a:buClrTx/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marL="457200" lvl="1" indent="0" algn="just">
                <a:buClrTx/>
                <a:buFont typeface="Wingdings 2" pitchFamily="18" charset="2"/>
                <a:buNone/>
              </a:pPr>
              <a:endParaRPr lang="en-US" dirty="0"/>
            </a:p>
            <a:p>
              <a:pPr marL="457200" lvl="1" indent="0" algn="just">
                <a:buClrTx/>
                <a:buFont typeface="Wingdings 2" pitchFamily="18" charset="2"/>
                <a:buNone/>
              </a:pPr>
              <a:endParaRPr lang="en-US" dirty="0"/>
            </a:p>
          </p:txBody>
        </p:sp>
        <p:sp>
          <p:nvSpPr>
            <p:cNvPr id="7" name="AutoShape 11"/>
            <p:cNvSpPr>
              <a:spLocks noChangeArrowheads="1"/>
            </p:cNvSpPr>
            <p:nvPr/>
          </p:nvSpPr>
          <p:spPr bwMode="auto">
            <a:xfrm rot="5400000">
              <a:off x="5511799" y="1470026"/>
              <a:ext cx="188913" cy="173037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8" name="AutoShape 11"/>
            <p:cNvSpPr>
              <a:spLocks noChangeArrowheads="1"/>
            </p:cNvSpPr>
            <p:nvPr/>
          </p:nvSpPr>
          <p:spPr bwMode="auto">
            <a:xfrm rot="5400000">
              <a:off x="7713660" y="1881188"/>
              <a:ext cx="188913" cy="173037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IN" altLang="en-US"/>
            </a:p>
          </p:txBody>
        </p:sp>
      </p:grp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005640"/>
              </p:ext>
            </p:extLst>
          </p:nvPr>
        </p:nvGraphicFramePr>
        <p:xfrm>
          <a:off x="3490767" y="4311023"/>
          <a:ext cx="6008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7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Step –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 performs Cartesian Product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711573"/>
              </p:ext>
            </p:extLst>
          </p:nvPr>
        </p:nvGraphicFramePr>
        <p:xfrm>
          <a:off x="3490767" y="4768223"/>
          <a:ext cx="600989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4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5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Step – 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Then it deletes inconsistent tuples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171561"/>
              </p:ext>
            </p:extLst>
          </p:nvPr>
        </p:nvGraphicFramePr>
        <p:xfrm>
          <a:off x="3490767" y="5225415"/>
          <a:ext cx="6009892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4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5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Step –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Then it removes an attribute from duplicate attributes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Picture 2" descr="Image result for natural join in sq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5884" y="4439071"/>
            <a:ext cx="1975104" cy="1285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ular Callout 13"/>
          <p:cNvSpPr/>
          <p:nvPr/>
        </p:nvSpPr>
        <p:spPr>
          <a:xfrm>
            <a:off x="6714976" y="3113825"/>
            <a:ext cx="4896000" cy="1116000"/>
          </a:xfrm>
          <a:prstGeom prst="wedgeRoundRectCallout">
            <a:avLst>
              <a:gd name="adj1" fmla="val -49350"/>
              <a:gd name="adj2" fmla="val 4128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/>
            <a:r>
              <a:rPr lang="en-US" sz="2400" dirty="0">
                <a:solidFill>
                  <a:schemeClr val="tx1"/>
                </a:solidFill>
              </a:rPr>
              <a:t>To perform a natural join there must be </a:t>
            </a:r>
            <a:r>
              <a:rPr lang="en-US" sz="2400" b="1" dirty="0">
                <a:solidFill>
                  <a:schemeClr val="accent2"/>
                </a:solidFill>
              </a:rPr>
              <a:t>one common attribute (column) </a:t>
            </a:r>
            <a:r>
              <a:rPr lang="en-US" sz="2400" dirty="0">
                <a:solidFill>
                  <a:schemeClr val="tx1"/>
                </a:solidFill>
              </a:rPr>
              <a:t>between two relations.</a:t>
            </a:r>
          </a:p>
        </p:txBody>
      </p:sp>
    </p:spTree>
    <p:extLst>
      <p:ext uri="{BB962C8B-B14F-4D97-AF65-F5344CB8AC3E}">
        <p14:creationId xmlns:p14="http://schemas.microsoft.com/office/powerpoint/2010/main" val="359055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925" y="-207961"/>
            <a:ext cx="11684000" cy="808037"/>
          </a:xfrm>
        </p:spPr>
        <p:txBody>
          <a:bodyPr/>
          <a:lstStyle/>
          <a:p>
            <a:r>
              <a:rPr lang="en-US" dirty="0"/>
              <a:t>Natural Join (Inner Join) example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051985"/>
              </p:ext>
            </p:extLst>
          </p:nvPr>
        </p:nvGraphicFramePr>
        <p:xfrm>
          <a:off x="3492313" y="431164"/>
          <a:ext cx="2557336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66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dirty="0" err="1"/>
                        <a:t>RollNo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212674"/>
              </p:ext>
            </p:extLst>
          </p:nvPr>
        </p:nvGraphicFramePr>
        <p:xfrm>
          <a:off x="7086601" y="415319"/>
          <a:ext cx="1665097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66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dirty="0" err="1"/>
                        <a:t>RollNo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044951"/>
              </p:ext>
            </p:extLst>
          </p:nvPr>
        </p:nvGraphicFramePr>
        <p:xfrm>
          <a:off x="3470313" y="2061708"/>
          <a:ext cx="5625461" cy="212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72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7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55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Student.RollNo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Result.RollNo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492313" y="15209"/>
            <a:ext cx="111600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</a:rPr>
              <a:t>Student</a:t>
            </a:r>
            <a:endParaRPr lang="en-US" sz="2000" b="1" dirty="0">
              <a:solidFill>
                <a:schemeClr val="bg1">
                  <a:lumMod val="9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86600" y="-2922"/>
            <a:ext cx="1044000" cy="4001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466312" y="1640308"/>
                <a:ext cx="2124000" cy="399600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bg1">
                        <a:lumMod val="95000"/>
                      </a:schemeClr>
                    </a:solidFill>
                    <a:latin typeface="Cambria" panose="02040503050406030204" pitchFamily="18" charset="0"/>
                  </a:rPr>
                  <a:t>Student</a:t>
                </a:r>
                <a:r>
                  <a:rPr lang="en-US" sz="2000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×</m:t>
                    </m:r>
                  </m:oMath>
                </a14:m>
                <a:r>
                  <a:rPr lang="en-US" sz="2000" b="1" dirty="0">
                    <a:solidFill>
                      <a:schemeClr val="bg1">
                        <a:lumMod val="95000"/>
                      </a:schemeClr>
                    </a:solidFill>
                    <a:latin typeface="Cambria" panose="02040503050406030204" pitchFamily="18" charset="0"/>
                  </a:rPr>
                  <a:t> Result  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312" y="1640308"/>
                <a:ext cx="2124000" cy="399600"/>
              </a:xfrm>
              <a:prstGeom prst="rect">
                <a:avLst/>
              </a:prstGeom>
              <a:blipFill>
                <a:blip r:embed="rId2"/>
                <a:stretch>
                  <a:fillRect l="-3161" t="-10606" r="-7759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820485"/>
              </p:ext>
            </p:extLst>
          </p:nvPr>
        </p:nvGraphicFramePr>
        <p:xfrm>
          <a:off x="3511329" y="4872496"/>
          <a:ext cx="5402835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2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3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Student.RollNo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Result.RollNo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510313" y="4451096"/>
            <a:ext cx="2196000" cy="399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Student  </a:t>
            </a:r>
            <a:r>
              <a:rPr lang="en-US" sz="2000" dirty="0">
                <a:ea typeface="Cambria Math" panose="02040503050406030204" pitchFamily="18" charset="0"/>
                <a:sym typeface="Symbol" pitchFamily="18" charset="2"/>
              </a:rPr>
              <a:t>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   Result  </a:t>
            </a:r>
          </a:p>
        </p:txBody>
      </p:sp>
      <p:sp>
        <p:nvSpPr>
          <p:cNvPr id="25" name="AutoShape 11"/>
          <p:cNvSpPr>
            <a:spLocks noChangeArrowheads="1"/>
          </p:cNvSpPr>
          <p:nvPr/>
        </p:nvSpPr>
        <p:spPr bwMode="auto">
          <a:xfrm rot="5400000">
            <a:off x="4593164" y="4564377"/>
            <a:ext cx="188913" cy="173037"/>
          </a:xfrm>
          <a:prstGeom prst="flowChartCollate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>
              <a:solidFill>
                <a:schemeClr val="bg1"/>
              </a:solidFill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073159"/>
              </p:ext>
            </p:extLst>
          </p:nvPr>
        </p:nvGraphicFramePr>
        <p:xfrm>
          <a:off x="9042209" y="5137297"/>
          <a:ext cx="3083116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66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RollNo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9041194" y="4715897"/>
            <a:ext cx="2197100" cy="4001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Student</a:t>
            </a:r>
            <a:r>
              <a:rPr lang="en-US" sz="2000" dirty="0">
                <a:ea typeface="Cambria Math" panose="02040503050406030204" pitchFamily="18" charset="0"/>
                <a:sym typeface="Symbol" pitchFamily="18" charset="2"/>
              </a:rPr>
              <a:t>     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Result  </a:t>
            </a:r>
          </a:p>
        </p:txBody>
      </p:sp>
      <p:sp>
        <p:nvSpPr>
          <p:cNvPr id="28" name="AutoShape 11"/>
          <p:cNvSpPr>
            <a:spLocks noChangeArrowheads="1"/>
          </p:cNvSpPr>
          <p:nvPr/>
        </p:nvSpPr>
        <p:spPr bwMode="auto">
          <a:xfrm rot="5400000">
            <a:off x="10119227" y="4832937"/>
            <a:ext cx="188913" cy="173037"/>
          </a:xfrm>
          <a:prstGeom prst="flowChartCollate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>
              <a:solidFill>
                <a:schemeClr val="bg1"/>
              </a:solidFill>
            </a:endParaRPr>
          </a:p>
        </p:txBody>
      </p:sp>
      <p:sp>
        <p:nvSpPr>
          <p:cNvPr id="29" name="Rounded Rectangular Callout 28"/>
          <p:cNvSpPr/>
          <p:nvPr/>
        </p:nvSpPr>
        <p:spPr>
          <a:xfrm>
            <a:off x="9311596" y="2039908"/>
            <a:ext cx="1497482" cy="1123801"/>
          </a:xfrm>
          <a:prstGeom prst="wedgeRoundRectCallout">
            <a:avLst>
              <a:gd name="adj1" fmla="val -49350"/>
              <a:gd name="adj2" fmla="val 4128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/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Step 1 : P</a:t>
            </a:r>
            <a:r>
              <a:rPr lang="en-US" sz="1600" dirty="0">
                <a:solidFill>
                  <a:schemeClr val="tx1"/>
                </a:solidFill>
              </a:rPr>
              <a:t>erforms Cartesian Product</a:t>
            </a:r>
            <a:endParaRPr lang="en-US" sz="1600" dirty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30" name="Rounded Rectangular Callout 29"/>
          <p:cNvSpPr/>
          <p:nvPr/>
        </p:nvSpPr>
        <p:spPr>
          <a:xfrm>
            <a:off x="5744753" y="4405183"/>
            <a:ext cx="3240000" cy="414000"/>
          </a:xfrm>
          <a:prstGeom prst="wedgeRoundRectCallout">
            <a:avLst>
              <a:gd name="adj1" fmla="val -49350"/>
              <a:gd name="adj2" fmla="val 4128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/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Step 2 : Removes inconsistent tuples</a:t>
            </a:r>
          </a:p>
        </p:txBody>
      </p:sp>
      <p:sp>
        <p:nvSpPr>
          <p:cNvPr id="31" name="Rounded Rectangular Callout 30"/>
          <p:cNvSpPr/>
          <p:nvPr/>
        </p:nvSpPr>
        <p:spPr>
          <a:xfrm>
            <a:off x="9003433" y="4280772"/>
            <a:ext cx="2664000" cy="414000"/>
          </a:xfrm>
          <a:prstGeom prst="wedgeRoundRectCallout">
            <a:avLst>
              <a:gd name="adj1" fmla="val -49350"/>
              <a:gd name="adj2" fmla="val 4128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/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Step 3 : Removes an attribute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66312" y="2039908"/>
            <a:ext cx="1674000" cy="2166717"/>
          </a:xfrm>
          <a:prstGeom prst="roundRect">
            <a:avLst>
              <a:gd name="adj" fmla="val 4434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ounded Rectangle 33"/>
          <p:cNvSpPr/>
          <p:nvPr/>
        </p:nvSpPr>
        <p:spPr>
          <a:xfrm>
            <a:off x="7025925" y="2085820"/>
            <a:ext cx="1512000" cy="2074892"/>
          </a:xfrm>
          <a:prstGeom prst="roundRect">
            <a:avLst>
              <a:gd name="adj" fmla="val 4434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60" baseline="0">
                <a:solidFill>
                  <a:srgbClr val="FFFFFF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Natural Join (Inner Join)</a:t>
            </a: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09692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1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4" grpId="0" animBg="1"/>
      <p:bldP spid="3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60" baseline="0">
                <a:solidFill>
                  <a:srgbClr val="FFFFFF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Outer Join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05212" y="737324"/>
            <a:ext cx="8181976" cy="6698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 natural join some records are missing, if we want that missing records than we have to use outer join.</a:t>
            </a:r>
          </a:p>
          <a:p>
            <a:pPr marL="342900" lvl="1" indent="-3429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Types:</a:t>
            </a:r>
          </a:p>
          <a:p>
            <a:pPr marL="800100" lvl="2" indent="-342900">
              <a:lnSpc>
                <a:spcPct val="150000"/>
              </a:lnSpc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Left Outer Join </a:t>
            </a:r>
          </a:p>
          <a:p>
            <a:pPr marL="800100" lvl="2" indent="-342900">
              <a:lnSpc>
                <a:spcPct val="150000"/>
              </a:lnSpc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Right Outer Join </a:t>
            </a:r>
          </a:p>
          <a:p>
            <a:pPr marL="800100" lvl="2" indent="-342900">
              <a:lnSpc>
                <a:spcPct val="150000"/>
              </a:lnSpc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Full Outer Join</a:t>
            </a:r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908801" y="2134537"/>
            <a:ext cx="320358" cy="182881"/>
            <a:chOff x="2758122" y="2441257"/>
            <a:chExt cx="320358" cy="182881"/>
          </a:xfrm>
        </p:grpSpPr>
        <p:sp>
          <p:nvSpPr>
            <p:cNvPr id="6" name="Flowchart: Collate 5"/>
            <p:cNvSpPr/>
            <p:nvPr/>
          </p:nvSpPr>
          <p:spPr>
            <a:xfrm rot="162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2758122" y="244125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2758440" y="2624134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6977540" y="2759818"/>
            <a:ext cx="321467" cy="182881"/>
            <a:chOff x="3048000" y="2819400"/>
            <a:chExt cx="321467" cy="182881"/>
          </a:xfrm>
        </p:grpSpPr>
        <p:sp>
          <p:nvSpPr>
            <p:cNvPr id="10" name="Flowchart: Collate 9"/>
            <p:cNvSpPr/>
            <p:nvPr/>
          </p:nvSpPr>
          <p:spPr>
            <a:xfrm rot="162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3231989" y="28194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232307" y="300227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6908960" y="3384139"/>
            <a:ext cx="457836" cy="182881"/>
            <a:chOff x="2803842" y="3246119"/>
            <a:chExt cx="457836" cy="182881"/>
          </a:xfrm>
        </p:grpSpPr>
        <p:sp>
          <p:nvSpPr>
            <p:cNvPr id="14" name="Flowchart: Collate 13"/>
            <p:cNvSpPr/>
            <p:nvPr/>
          </p:nvSpPr>
          <p:spPr>
            <a:xfrm rot="162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2803842" y="3246119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804160" y="3428996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124200" y="3246123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124518" y="34290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3644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60" baseline="0">
                <a:solidFill>
                  <a:srgbClr val="FFFFFF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Left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Outer Join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05212" y="737324"/>
            <a:ext cx="8181976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Display all the tuples of the left relation even through there is no matching tuple in the right relation.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For such kind of tuples having no matching, the attributes of right relation will be padded with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null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in resultant relation.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is denoted by          symbol.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180138" y="2748900"/>
            <a:ext cx="320358" cy="182881"/>
            <a:chOff x="2758122" y="2441257"/>
            <a:chExt cx="320358" cy="182881"/>
          </a:xfrm>
        </p:grpSpPr>
        <p:sp>
          <p:nvSpPr>
            <p:cNvPr id="6" name="Flowchart: Collate 5"/>
            <p:cNvSpPr/>
            <p:nvPr/>
          </p:nvSpPr>
          <p:spPr>
            <a:xfrm rot="16200000">
              <a:off x="2895600" y="2441258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2758122" y="244125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2758440" y="2624134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3787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60" baseline="0">
                <a:solidFill>
                  <a:srgbClr val="FFFFFF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Left </a:t>
            </a: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Outer Join</a:t>
            </a: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05212" y="737324"/>
            <a:ext cx="8181976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525470"/>
              </p:ext>
            </p:extLst>
          </p:nvPr>
        </p:nvGraphicFramePr>
        <p:xfrm>
          <a:off x="4140514" y="978784"/>
          <a:ext cx="2346010" cy="24227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3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2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2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Abhi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2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Adam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2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Alex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2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Anu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2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Ashish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770253"/>
              </p:ext>
            </p:extLst>
          </p:nvPr>
        </p:nvGraphicFramePr>
        <p:xfrm>
          <a:off x="6947214" y="980962"/>
          <a:ext cx="2982602" cy="2548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6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67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Address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67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67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MUMBAI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67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CHENNAI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67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NOIDA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67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PANIPAT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3849"/>
              </p:ext>
            </p:extLst>
          </p:nvPr>
        </p:nvGraphicFramePr>
        <p:xfrm>
          <a:off x="4146550" y="499230"/>
          <a:ext cx="1182688" cy="476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74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199619"/>
              </p:ext>
            </p:extLst>
          </p:nvPr>
        </p:nvGraphicFramePr>
        <p:xfrm>
          <a:off x="6956426" y="481292"/>
          <a:ext cx="2130426" cy="476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8821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Class_info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922993"/>
              </p:ext>
            </p:extLst>
          </p:nvPr>
        </p:nvGraphicFramePr>
        <p:xfrm>
          <a:off x="5022532" y="4212037"/>
          <a:ext cx="6021709" cy="24834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9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1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3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390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Address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0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Abhi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0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Adam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MUMBAI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0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Alex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CHENNAI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0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Anu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90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Ashish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336378"/>
              </p:ext>
            </p:extLst>
          </p:nvPr>
        </p:nvGraphicFramePr>
        <p:xfrm>
          <a:off x="7696200" y="3662473"/>
          <a:ext cx="3352801" cy="476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8821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Class</a:t>
                      </a:r>
                      <a:r>
                        <a:rPr lang="en-US" sz="2400" b="1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       </a:t>
                      </a:r>
                      <a:r>
                        <a:rPr lang="en-US" sz="2400" b="1" kern="1200" baseline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Class_info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8870952" y="3848870"/>
            <a:ext cx="320358" cy="182881"/>
            <a:chOff x="4779964" y="4963464"/>
            <a:chExt cx="320358" cy="182881"/>
          </a:xfrm>
        </p:grpSpPr>
        <p:sp>
          <p:nvSpPr>
            <p:cNvPr id="15" name="Flowchart: Collate 14"/>
            <p:cNvSpPr/>
            <p:nvPr/>
          </p:nvSpPr>
          <p:spPr>
            <a:xfrm rot="16200000">
              <a:off x="4917442" y="4963465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4779964" y="4963464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780282" y="5146341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432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60" baseline="0">
                <a:solidFill>
                  <a:srgbClr val="FFFFFF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Right </a:t>
            </a: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Outer Join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05212" y="737324"/>
            <a:ext cx="8181976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Display all the tuples of right relation even through there is no matching tuple in the left relation.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For such kind of tuples having no matching, the attributes of left relation will be padded with null in resultant relation.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is denoted by          symbol.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6248878" y="2731243"/>
            <a:ext cx="321467" cy="182881"/>
            <a:chOff x="3048000" y="2819400"/>
            <a:chExt cx="321467" cy="182881"/>
          </a:xfrm>
        </p:grpSpPr>
        <p:sp>
          <p:nvSpPr>
            <p:cNvPr id="14" name="Flowchart: Collate 13"/>
            <p:cNvSpPr/>
            <p:nvPr/>
          </p:nvSpPr>
          <p:spPr>
            <a:xfrm rot="162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3231989" y="28194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232307" y="300227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988384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60" baseline="0">
                <a:solidFill>
                  <a:srgbClr val="FFFFFF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Right </a:t>
            </a: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Outer Join</a:t>
            </a: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05212" y="737324"/>
            <a:ext cx="8181976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672874"/>
              </p:ext>
            </p:extLst>
          </p:nvPr>
        </p:nvGraphicFramePr>
        <p:xfrm>
          <a:off x="4140514" y="978784"/>
          <a:ext cx="2346010" cy="24227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3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2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2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Abhi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2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Adam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2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Alex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2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Anu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2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Ashish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47214" y="980962"/>
          <a:ext cx="2982602" cy="2548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6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67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Address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67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67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MUMBAI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67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CHENNAI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67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NOIDA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67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PANIPAT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275140"/>
              </p:ext>
            </p:extLst>
          </p:nvPr>
        </p:nvGraphicFramePr>
        <p:xfrm>
          <a:off x="4146550" y="442078"/>
          <a:ext cx="1182688" cy="476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74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455509"/>
              </p:ext>
            </p:extLst>
          </p:nvPr>
        </p:nvGraphicFramePr>
        <p:xfrm>
          <a:off x="6956426" y="424140"/>
          <a:ext cx="2130426" cy="476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8821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Class_info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696200" y="3662473"/>
          <a:ext cx="3352801" cy="476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8821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Class</a:t>
                      </a:r>
                      <a:r>
                        <a:rPr lang="en-US" sz="2400" b="1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       </a:t>
                      </a:r>
                      <a:r>
                        <a:rPr lang="en-US" sz="2400" b="1" kern="1200" baseline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Class_info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8906353" y="3817093"/>
            <a:ext cx="321467" cy="182881"/>
            <a:chOff x="3048000" y="2819400"/>
            <a:chExt cx="321467" cy="182881"/>
          </a:xfrm>
        </p:grpSpPr>
        <p:sp>
          <p:nvSpPr>
            <p:cNvPr id="23" name="Flowchart: Collate 22"/>
            <p:cNvSpPr/>
            <p:nvPr/>
          </p:nvSpPr>
          <p:spPr>
            <a:xfrm rot="16200000">
              <a:off x="3048000" y="2819401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3231989" y="28194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232307" y="3002277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558377"/>
              </p:ext>
            </p:extLst>
          </p:nvPr>
        </p:nvGraphicFramePr>
        <p:xfrm>
          <a:off x="4872037" y="4219956"/>
          <a:ext cx="6177440" cy="24227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049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Address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49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Abhi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049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Adam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MUMBAI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49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Alex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CHENNAI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49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NOIDA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49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PANIPAT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18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60" baseline="0">
                <a:solidFill>
                  <a:srgbClr val="FFFFFF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Full </a:t>
            </a: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Outer Join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05212" y="737324"/>
            <a:ext cx="8181976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Display all the tuples of both of the relations. It also pads null values whenever required.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(Left outer join + Right outer join)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For such kind of tuples having no matching, it will be padded with null in resultant relation.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is denoted by          symbol.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123147" y="2741201"/>
            <a:ext cx="457836" cy="182881"/>
            <a:chOff x="2803842" y="3246119"/>
            <a:chExt cx="457836" cy="182881"/>
          </a:xfrm>
        </p:grpSpPr>
        <p:sp>
          <p:nvSpPr>
            <p:cNvPr id="9" name="Flowchart: Collate 8"/>
            <p:cNvSpPr/>
            <p:nvPr/>
          </p:nvSpPr>
          <p:spPr>
            <a:xfrm rot="162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2803842" y="3246119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804160" y="3428996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24200" y="3246123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124518" y="34290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52877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60" baseline="0">
                <a:solidFill>
                  <a:srgbClr val="FFFFFF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Full </a:t>
            </a: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Outer Join</a:t>
            </a: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05212" y="737324"/>
            <a:ext cx="8181976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546837"/>
              </p:ext>
            </p:extLst>
          </p:nvPr>
        </p:nvGraphicFramePr>
        <p:xfrm>
          <a:off x="3954776" y="531080"/>
          <a:ext cx="2346010" cy="24227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3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8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8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Abhi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8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Adam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8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Alex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8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Anu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8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Ashish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546136"/>
              </p:ext>
            </p:extLst>
          </p:nvPr>
        </p:nvGraphicFramePr>
        <p:xfrm>
          <a:off x="6890064" y="556822"/>
          <a:ext cx="2982602" cy="24227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6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63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Address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63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63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MUMBAI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63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CHENNAI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63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NOIDA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63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PANIPAT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029212"/>
              </p:ext>
            </p:extLst>
          </p:nvPr>
        </p:nvGraphicFramePr>
        <p:xfrm>
          <a:off x="3960812" y="-5626"/>
          <a:ext cx="1182688" cy="476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74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169069"/>
              </p:ext>
            </p:extLst>
          </p:nvPr>
        </p:nvGraphicFramePr>
        <p:xfrm>
          <a:off x="6899276" y="0"/>
          <a:ext cx="2130426" cy="476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8821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Class_info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510795"/>
              </p:ext>
            </p:extLst>
          </p:nvPr>
        </p:nvGraphicFramePr>
        <p:xfrm>
          <a:off x="7796216" y="3019535"/>
          <a:ext cx="3352801" cy="476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8821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Class</a:t>
                      </a:r>
                      <a:r>
                        <a:rPr lang="en-US" sz="2400" b="1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       </a:t>
                      </a:r>
                      <a:r>
                        <a:rPr lang="en-US" sz="2400" b="1" kern="1200" baseline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Class_info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8894925" y="3184113"/>
            <a:ext cx="457836" cy="182881"/>
            <a:chOff x="2803842" y="3246119"/>
            <a:chExt cx="457836" cy="182881"/>
          </a:xfrm>
        </p:grpSpPr>
        <p:sp>
          <p:nvSpPr>
            <p:cNvPr id="15" name="Flowchart: Collate 14"/>
            <p:cNvSpPr/>
            <p:nvPr/>
          </p:nvSpPr>
          <p:spPr>
            <a:xfrm rot="16200000">
              <a:off x="2941320" y="3246120"/>
              <a:ext cx="182880" cy="182880"/>
            </a:xfrm>
            <a:prstGeom prst="flowChartCollat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2803842" y="3246119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804160" y="3428996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124200" y="3246123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124518" y="3429000"/>
              <a:ext cx="137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01541"/>
              </p:ext>
            </p:extLst>
          </p:nvPr>
        </p:nvGraphicFramePr>
        <p:xfrm>
          <a:off x="3757614" y="3549868"/>
          <a:ext cx="7428308" cy="32303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7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7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231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NAME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Address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82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Abhi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DELHI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82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Adam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MUMBAI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82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Alex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CHENNAI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82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Anu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082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Ashish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082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NOIDA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082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Null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PANIPAT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34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60" baseline="0">
                <a:solidFill>
                  <a:srgbClr val="FFFFFF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Set operators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05212" y="737324"/>
            <a:ext cx="8181976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Set operators combine the results of two or more queries into a single result.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Different types of set operators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Union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Intersection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Minus (Set Difference)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5829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Union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607" y="2144067"/>
            <a:ext cx="8372474" cy="2794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Symbol: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800" dirty="0">
                <a:sym typeface="Symbol" pitchFamily="18" charset="2"/>
              </a:rPr>
              <a:t> </a:t>
            </a:r>
            <a:r>
              <a:rPr lang="en-US" altLang="en-US" sz="2800" dirty="0">
                <a:latin typeface="Cambria" panose="02040503050406030204" pitchFamily="18" charset="0"/>
                <a:sym typeface="Symbol" pitchFamily="18" charset="2"/>
              </a:rPr>
              <a:t> (Union)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Notation : Relation1 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 Relation2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Operation:</a:t>
            </a: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i="1" dirty="0">
                <a:latin typeface="Cambria" panose="02040503050406030204" pitchFamily="18" charset="0"/>
                <a:sym typeface="Symbol" pitchFamily="18" charset="2"/>
              </a:rPr>
              <a:t>Selects tuples those are in either or both of the relation</a:t>
            </a:r>
            <a:r>
              <a:rPr lang="en-US" sz="2400" dirty="0">
                <a:sym typeface="Symbol" pitchFamily="18" charset="2"/>
              </a:rPr>
              <a:t>	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265682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Union Operation  Example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010025" y="471488"/>
            <a:ext cx="3305175" cy="42862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latin typeface="Cambria" panose="02040503050406030204" pitchFamily="18" charset="0"/>
              </a:rPr>
              <a:t>Relations </a:t>
            </a:r>
            <a:r>
              <a:rPr lang="en-US" altLang="en-US" b="1" i="1" dirty="0">
                <a:latin typeface="Cambria" panose="02040503050406030204" pitchFamily="18" charset="0"/>
              </a:rPr>
              <a:t>r, s:</a:t>
            </a:r>
            <a:endParaRPr lang="en-US" altLang="en-US" b="1" dirty="0">
              <a:latin typeface="Cambria" panose="02040503050406030204" pitchFamily="18" charset="0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4760943" y="3546781"/>
            <a:ext cx="914400" cy="273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90000"/>
            </a:pPr>
            <a:r>
              <a:rPr kumimoji="1" lang="en-US" altLang="en-US" sz="2000" b="1" dirty="0">
                <a:latin typeface="Cambria" panose="02040503050406030204" pitchFamily="18" charset="0"/>
              </a:rPr>
              <a:t>r </a:t>
            </a:r>
            <a:r>
              <a:rPr kumimoji="1" lang="en-US" altLang="en-US" sz="2000" b="1" dirty="0">
                <a:latin typeface="Cambria" panose="02040503050406030204" pitchFamily="18" charset="0"/>
                <a:sym typeface="Symbol" pitchFamily="18" charset="2"/>
              </a:rPr>
              <a:t> s</a:t>
            </a:r>
            <a:endParaRPr kumimoji="1" lang="en-US" altLang="en-US" sz="2000" b="1" dirty="0">
              <a:latin typeface="Cambria" panose="020405030504060302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664869" y="900114"/>
            <a:ext cx="914400" cy="1828800"/>
            <a:chOff x="4610100" y="1104900"/>
            <a:chExt cx="914400" cy="1828800"/>
          </a:xfrm>
        </p:grpSpPr>
        <p:sp>
          <p:nvSpPr>
            <p:cNvPr id="15365" name="Rectangle 5"/>
            <p:cNvSpPr>
              <a:spLocks noChangeArrowheads="1"/>
            </p:cNvSpPr>
            <p:nvPr/>
          </p:nvSpPr>
          <p:spPr bwMode="auto">
            <a:xfrm>
              <a:off x="4610100" y="11049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/>
                <a:t>A</a:t>
              </a:r>
            </a:p>
          </p:txBody>
        </p:sp>
        <p:sp>
          <p:nvSpPr>
            <p:cNvPr id="15366" name="Rectangle 6"/>
            <p:cNvSpPr>
              <a:spLocks noChangeArrowheads="1"/>
            </p:cNvSpPr>
            <p:nvPr/>
          </p:nvSpPr>
          <p:spPr bwMode="auto">
            <a:xfrm>
              <a:off x="5067300" y="11049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 dirty="0"/>
                <a:t>B</a:t>
              </a:r>
            </a:p>
          </p:txBody>
        </p:sp>
        <p:sp>
          <p:nvSpPr>
            <p:cNvPr id="15367" name="Rectangle 7"/>
            <p:cNvSpPr>
              <a:spLocks noChangeArrowheads="1"/>
            </p:cNvSpPr>
            <p:nvPr/>
          </p:nvSpPr>
          <p:spPr bwMode="auto">
            <a:xfrm>
              <a:off x="4610100" y="1638300"/>
              <a:ext cx="457200" cy="1295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altLang="en-US" i="1"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en-US" i="1"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en-US" i="1">
                  <a:sym typeface="Symbol" pitchFamily="18" charset="2"/>
                </a:rPr>
                <a:t></a:t>
              </a:r>
            </a:p>
          </p:txBody>
        </p:sp>
        <p:sp>
          <p:nvSpPr>
            <p:cNvPr id="15368" name="Rectangle 8"/>
            <p:cNvSpPr>
              <a:spLocks noChangeArrowheads="1"/>
            </p:cNvSpPr>
            <p:nvPr/>
          </p:nvSpPr>
          <p:spPr bwMode="auto">
            <a:xfrm>
              <a:off x="5067300" y="1638300"/>
              <a:ext cx="457200" cy="1295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altLang="en-US" i="1" dirty="0">
                  <a:sym typeface="Symbol" pitchFamily="18" charset="2"/>
                </a:rPr>
                <a:t>1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en-US" i="1" dirty="0">
                  <a:sym typeface="Symbol" pitchFamily="18" charset="2"/>
                </a:rPr>
                <a:t>2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en-US" i="1" dirty="0">
                  <a:sym typeface="Symbol" pitchFamily="18" charset="2"/>
                </a:rPr>
                <a:t>1</a:t>
              </a:r>
            </a:p>
          </p:txBody>
        </p:sp>
      </p:grp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4916457" y="2866203"/>
            <a:ext cx="30168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000" b="1" i="1" dirty="0">
                <a:latin typeface="Cambria" panose="02040503050406030204" pitchFamily="18" charset="0"/>
              </a:rPr>
              <a:t>r</a:t>
            </a: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6480160" y="2424114"/>
            <a:ext cx="29848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000" b="1" i="1" dirty="0">
                <a:latin typeface="Cambria" panose="02040503050406030204" pitchFamily="18" charset="0"/>
              </a:rPr>
              <a:t>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172200" y="900114"/>
            <a:ext cx="914400" cy="1447800"/>
            <a:chOff x="6743700" y="1104900"/>
            <a:chExt cx="914400" cy="1447800"/>
          </a:xfrm>
        </p:grpSpPr>
        <p:sp>
          <p:nvSpPr>
            <p:cNvPr id="15369" name="Rectangle 9"/>
            <p:cNvSpPr>
              <a:spLocks noChangeArrowheads="1"/>
            </p:cNvSpPr>
            <p:nvPr/>
          </p:nvSpPr>
          <p:spPr bwMode="auto">
            <a:xfrm>
              <a:off x="6743700" y="11049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 dirty="0"/>
                <a:t>A</a:t>
              </a:r>
            </a:p>
          </p:txBody>
        </p:sp>
        <p:sp>
          <p:nvSpPr>
            <p:cNvPr id="15370" name="Rectangle 10"/>
            <p:cNvSpPr>
              <a:spLocks noChangeArrowheads="1"/>
            </p:cNvSpPr>
            <p:nvPr/>
          </p:nvSpPr>
          <p:spPr bwMode="auto">
            <a:xfrm>
              <a:off x="7200900" y="11049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/>
                <a:t>B</a:t>
              </a:r>
            </a:p>
          </p:txBody>
        </p:sp>
        <p:sp>
          <p:nvSpPr>
            <p:cNvPr id="15371" name="Rectangle 11"/>
            <p:cNvSpPr>
              <a:spLocks noChangeArrowheads="1"/>
            </p:cNvSpPr>
            <p:nvPr/>
          </p:nvSpPr>
          <p:spPr bwMode="auto">
            <a:xfrm>
              <a:off x="6743700" y="1638300"/>
              <a:ext cx="457200" cy="914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altLang="en-US" i="1" dirty="0"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en-US" i="1" dirty="0">
                  <a:sym typeface="Symbol" pitchFamily="18" charset="2"/>
                </a:rPr>
                <a:t></a:t>
              </a:r>
            </a:p>
          </p:txBody>
        </p:sp>
        <p:sp>
          <p:nvSpPr>
            <p:cNvPr id="15372" name="Rectangle 12"/>
            <p:cNvSpPr>
              <a:spLocks noChangeArrowheads="1"/>
            </p:cNvSpPr>
            <p:nvPr/>
          </p:nvSpPr>
          <p:spPr bwMode="auto">
            <a:xfrm>
              <a:off x="7200900" y="1638300"/>
              <a:ext cx="457200" cy="914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altLang="en-US" i="1">
                  <a:sym typeface="Symbol" pitchFamily="18" charset="2"/>
                </a:rPr>
                <a:t>2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en-US" i="1">
                  <a:sym typeface="Symbol" pitchFamily="18" charset="2"/>
                </a:rPr>
                <a:t>3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748212" y="4084180"/>
            <a:ext cx="914400" cy="2209800"/>
            <a:chOff x="5676900" y="3515220"/>
            <a:chExt cx="914400" cy="2209800"/>
          </a:xfrm>
        </p:grpSpPr>
        <p:sp>
          <p:nvSpPr>
            <p:cNvPr id="15375" name="Rectangle 15"/>
            <p:cNvSpPr>
              <a:spLocks noChangeArrowheads="1"/>
            </p:cNvSpPr>
            <p:nvPr/>
          </p:nvSpPr>
          <p:spPr bwMode="auto">
            <a:xfrm>
              <a:off x="5676900" y="351522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/>
                <a:t>A</a:t>
              </a:r>
            </a:p>
          </p:txBody>
        </p:sp>
        <p:sp>
          <p:nvSpPr>
            <p:cNvPr id="15376" name="Rectangle 16"/>
            <p:cNvSpPr>
              <a:spLocks noChangeArrowheads="1"/>
            </p:cNvSpPr>
            <p:nvPr/>
          </p:nvSpPr>
          <p:spPr bwMode="auto">
            <a:xfrm>
              <a:off x="6134100" y="351522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/>
                <a:t>B</a:t>
              </a:r>
            </a:p>
          </p:txBody>
        </p:sp>
        <p:sp>
          <p:nvSpPr>
            <p:cNvPr id="15377" name="Rectangle 17"/>
            <p:cNvSpPr>
              <a:spLocks noChangeArrowheads="1"/>
            </p:cNvSpPr>
            <p:nvPr/>
          </p:nvSpPr>
          <p:spPr bwMode="auto">
            <a:xfrm>
              <a:off x="5676900" y="4048620"/>
              <a:ext cx="457200" cy="1676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altLang="en-US" i="1"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en-US" i="1"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en-US" i="1">
                  <a:sym typeface="Symbol" pitchFamily="18" charset="2"/>
                </a:rPr>
                <a:t>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en-US" i="1">
                  <a:sym typeface="Symbol" pitchFamily="18" charset="2"/>
                </a:rPr>
                <a:t></a:t>
              </a:r>
            </a:p>
          </p:txBody>
        </p:sp>
        <p:sp>
          <p:nvSpPr>
            <p:cNvPr id="15378" name="Rectangle 18"/>
            <p:cNvSpPr>
              <a:spLocks noChangeArrowheads="1"/>
            </p:cNvSpPr>
            <p:nvPr/>
          </p:nvSpPr>
          <p:spPr bwMode="auto">
            <a:xfrm>
              <a:off x="6134100" y="4048620"/>
              <a:ext cx="457200" cy="1676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altLang="en-US" i="1" dirty="0">
                  <a:sym typeface="Symbol" pitchFamily="18" charset="2"/>
                </a:rPr>
                <a:t>1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en-US" i="1" dirty="0">
                  <a:sym typeface="Symbol" pitchFamily="18" charset="2"/>
                </a:rPr>
                <a:t>2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en-US" i="1" dirty="0">
                  <a:sym typeface="Symbol" pitchFamily="18" charset="2"/>
                </a:rPr>
                <a:t>1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en-US" i="1" dirty="0">
                  <a:sym typeface="Symbol" pitchFamily="18" charset="2"/>
                </a:rPr>
                <a:t>3</a:t>
              </a:r>
            </a:p>
          </p:txBody>
        </p:sp>
      </p:grpSp>
      <p:sp>
        <p:nvSpPr>
          <p:cNvPr id="23" name="Rounded Rectangular Callout 22"/>
          <p:cNvSpPr/>
          <p:nvPr/>
        </p:nvSpPr>
        <p:spPr>
          <a:xfrm>
            <a:off x="6480160" y="4769324"/>
            <a:ext cx="4480560" cy="648000"/>
          </a:xfrm>
          <a:prstGeom prst="wedgeRoundRectCallout">
            <a:avLst>
              <a:gd name="adj1" fmla="val -49350"/>
              <a:gd name="adj2" fmla="val 4128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/>
            <a:r>
              <a:rPr lang="en-IN" sz="2400" dirty="0">
                <a:solidFill>
                  <a:schemeClr val="tx1"/>
                </a:solidFill>
                <a:sym typeface="Symbol" pitchFamily="18" charset="2"/>
              </a:rPr>
              <a:t>Union removes duplicate records.</a:t>
            </a:r>
          </a:p>
        </p:txBody>
      </p:sp>
    </p:spTree>
    <p:extLst>
      <p:ext uri="{BB962C8B-B14F-4D97-AF65-F5344CB8AC3E}">
        <p14:creationId xmlns:p14="http://schemas.microsoft.com/office/powerpoint/2010/main" val="263804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Union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Operator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074135"/>
              </p:ext>
            </p:extLst>
          </p:nvPr>
        </p:nvGraphicFramePr>
        <p:xfrm>
          <a:off x="8112714" y="1285287"/>
          <a:ext cx="2945811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5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280394"/>
              </p:ext>
            </p:extLst>
          </p:nvPr>
        </p:nvGraphicFramePr>
        <p:xfrm>
          <a:off x="6605586" y="3734870"/>
          <a:ext cx="938213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3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Kevin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Rajesh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2175" y="876017"/>
            <a:ext cx="1332000" cy="399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7820" y="3314700"/>
            <a:ext cx="1044000" cy="4001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Output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909869"/>
              </p:ext>
            </p:extLst>
          </p:nvPr>
        </p:nvGraphicFramePr>
        <p:xfrm>
          <a:off x="3625436" y="1318867"/>
          <a:ext cx="265182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66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34896" y="909597"/>
            <a:ext cx="1332000" cy="4001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Employee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0060" y="2639080"/>
            <a:ext cx="27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ym typeface="Symbol" pitchFamily="18" charset="2"/>
              </a:rPr>
              <a:t></a:t>
            </a:r>
            <a:r>
              <a:rPr lang="en-US" sz="2800" i="1" baseline="-25000" dirty="0">
                <a:sym typeface="Symbol" pitchFamily="18" charset="2"/>
              </a:rPr>
              <a:t> Name </a:t>
            </a:r>
            <a:r>
              <a:rPr lang="en-US" sz="2800" i="1" dirty="0">
                <a:sym typeface="Symbol" pitchFamily="18" charset="2"/>
              </a:rPr>
              <a:t>(Employee</a:t>
            </a:r>
            <a:r>
              <a:rPr lang="en-US" sz="2800" dirty="0">
                <a:sym typeface="Symbol" pitchFamily="18" charset="2"/>
              </a:rPr>
              <a:t>)</a:t>
            </a:r>
            <a:r>
              <a:rPr lang="en-US" sz="2800" i="1" baseline="-25000" dirty="0">
                <a:sym typeface="Symbol" pitchFamily="18" charset="2"/>
              </a:rPr>
              <a:t> </a:t>
            </a:r>
            <a:endParaRPr lang="en-US" sz="2400" dirty="0">
              <a:sym typeface="Symbol" pitchFamily="18" charset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14987" y="2639690"/>
            <a:ext cx="2772000" cy="52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ym typeface="Symbol" pitchFamily="18" charset="2"/>
              </a:rPr>
              <a:t></a:t>
            </a:r>
            <a:r>
              <a:rPr lang="en-US" sz="2800" i="1" baseline="-25000" dirty="0">
                <a:sym typeface="Symbol" pitchFamily="18" charset="2"/>
              </a:rPr>
              <a:t> Name </a:t>
            </a:r>
            <a:r>
              <a:rPr lang="en-US" sz="2800" i="1" dirty="0">
                <a:sym typeface="Symbol" pitchFamily="18" charset="2"/>
              </a:rPr>
              <a:t>(Customer</a:t>
            </a:r>
            <a:r>
              <a:rPr lang="en-US" sz="2800" dirty="0">
                <a:sym typeface="Symbol" pitchFamily="18" charset="2"/>
              </a:rPr>
              <a:t>)</a:t>
            </a:r>
            <a:r>
              <a:rPr lang="en-US" sz="2800" i="1" baseline="-25000" dirty="0">
                <a:sym typeface="Symbol" pitchFamily="18" charset="2"/>
              </a:rPr>
              <a:t> </a:t>
            </a:r>
            <a:endParaRPr lang="en-US" sz="2400" dirty="0">
              <a:sym typeface="Symbol" pitchFamily="18" charset="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87807" y="2641025"/>
            <a:ext cx="4523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U</a:t>
            </a:r>
            <a:endParaRPr lang="en-IN" sz="3200" b="1" dirty="0"/>
          </a:p>
        </p:txBody>
      </p:sp>
      <p:sp>
        <p:nvSpPr>
          <p:cNvPr id="13" name="Rectangle 12"/>
          <p:cNvSpPr/>
          <p:nvPr/>
        </p:nvSpPr>
        <p:spPr>
          <a:xfrm>
            <a:off x="3486866" y="60245"/>
            <a:ext cx="84289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Display Name of person who are either employee or customer</a:t>
            </a:r>
          </a:p>
        </p:txBody>
      </p:sp>
    </p:spTree>
    <p:extLst>
      <p:ext uri="{BB962C8B-B14F-4D97-AF65-F5344CB8AC3E}">
        <p14:creationId xmlns:p14="http://schemas.microsoft.com/office/powerpoint/2010/main" val="456926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Intersection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607" y="2134641"/>
            <a:ext cx="83724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Symbol: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800" dirty="0">
                <a:sym typeface="Symbol" pitchFamily="18" charset="2"/>
              </a:rPr>
              <a:t>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 (Intersection)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Notation : Relation1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 Relation2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Operation:</a:t>
            </a: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i="1" dirty="0">
                <a:latin typeface="Cambria" panose="02040503050406030204" pitchFamily="18" charset="0"/>
                <a:sym typeface="Symbol" pitchFamily="18" charset="2"/>
              </a:rPr>
              <a:t>Selects tuples those are in  both  relation</a:t>
            </a:r>
          </a:p>
        </p:txBody>
      </p:sp>
    </p:spTree>
    <p:extLst>
      <p:ext uri="{BB962C8B-B14F-4D97-AF65-F5344CB8AC3E}">
        <p14:creationId xmlns:p14="http://schemas.microsoft.com/office/powerpoint/2010/main" val="37886334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Intersection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Operator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112714" y="1285287"/>
          <a:ext cx="2945811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5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125971"/>
              </p:ext>
            </p:extLst>
          </p:nvPr>
        </p:nvGraphicFramePr>
        <p:xfrm>
          <a:off x="6605586" y="3734870"/>
          <a:ext cx="938213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3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Kevin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2175" y="876017"/>
            <a:ext cx="1332000" cy="399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7820" y="3314700"/>
            <a:ext cx="1044000" cy="4001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Output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25436" y="1318867"/>
          <a:ext cx="265182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66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34896" y="909597"/>
            <a:ext cx="1332000" cy="4001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Employee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0060" y="2639080"/>
            <a:ext cx="27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ym typeface="Symbol" pitchFamily="18" charset="2"/>
              </a:rPr>
              <a:t></a:t>
            </a:r>
            <a:r>
              <a:rPr lang="en-US" sz="2800" i="1" baseline="-25000" dirty="0">
                <a:sym typeface="Symbol" pitchFamily="18" charset="2"/>
              </a:rPr>
              <a:t> Name </a:t>
            </a:r>
            <a:r>
              <a:rPr lang="en-US" sz="2800" i="1" dirty="0">
                <a:sym typeface="Symbol" pitchFamily="18" charset="2"/>
              </a:rPr>
              <a:t>(Employee</a:t>
            </a:r>
            <a:r>
              <a:rPr lang="en-US" sz="2800" dirty="0">
                <a:sym typeface="Symbol" pitchFamily="18" charset="2"/>
              </a:rPr>
              <a:t>)</a:t>
            </a:r>
            <a:r>
              <a:rPr lang="en-US" sz="2800" i="1" baseline="-25000" dirty="0">
                <a:sym typeface="Symbol" pitchFamily="18" charset="2"/>
              </a:rPr>
              <a:t> </a:t>
            </a:r>
            <a:endParaRPr lang="en-US" sz="2400" dirty="0">
              <a:sym typeface="Symbol" pitchFamily="18" charset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14987" y="2639690"/>
            <a:ext cx="2772000" cy="52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ym typeface="Symbol" pitchFamily="18" charset="2"/>
              </a:rPr>
              <a:t></a:t>
            </a:r>
            <a:r>
              <a:rPr lang="en-US" sz="2800" i="1" baseline="-25000" dirty="0">
                <a:sym typeface="Symbol" pitchFamily="18" charset="2"/>
              </a:rPr>
              <a:t> Name </a:t>
            </a:r>
            <a:r>
              <a:rPr lang="en-US" sz="2800" i="1" dirty="0">
                <a:sym typeface="Symbol" pitchFamily="18" charset="2"/>
              </a:rPr>
              <a:t>(Customer</a:t>
            </a:r>
            <a:r>
              <a:rPr lang="en-US" sz="2800" dirty="0">
                <a:sym typeface="Symbol" pitchFamily="18" charset="2"/>
              </a:rPr>
              <a:t>)</a:t>
            </a:r>
            <a:r>
              <a:rPr lang="en-US" sz="2800" i="1" baseline="-25000" dirty="0">
                <a:sym typeface="Symbol" pitchFamily="18" charset="2"/>
              </a:rPr>
              <a:t> </a:t>
            </a:r>
            <a:endParaRPr lang="en-US" sz="2400" dirty="0">
              <a:sym typeface="Symbol" pitchFamily="18" charset="2"/>
            </a:endParaRPr>
          </a:p>
        </p:txBody>
      </p:sp>
      <p:sp>
        <p:nvSpPr>
          <p:cNvPr id="11" name="Rectangle 10"/>
          <p:cNvSpPr/>
          <p:nvPr/>
        </p:nvSpPr>
        <p:spPr>
          <a:xfrm rot="10800000">
            <a:off x="6887807" y="2641025"/>
            <a:ext cx="4523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U</a:t>
            </a:r>
            <a:endParaRPr lang="en-IN" sz="3200" b="1" dirty="0"/>
          </a:p>
        </p:txBody>
      </p:sp>
      <p:sp>
        <p:nvSpPr>
          <p:cNvPr id="12" name="Rectangle 11"/>
          <p:cNvSpPr/>
          <p:nvPr/>
        </p:nvSpPr>
        <p:spPr>
          <a:xfrm>
            <a:off x="3381596" y="76676"/>
            <a:ext cx="86770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Display Name of person who are employee as well as customer. </a:t>
            </a:r>
          </a:p>
        </p:txBody>
      </p:sp>
    </p:spTree>
    <p:extLst>
      <p:ext uri="{BB962C8B-B14F-4D97-AF65-F5344CB8AC3E}">
        <p14:creationId xmlns:p14="http://schemas.microsoft.com/office/powerpoint/2010/main" val="29302551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123837"/>
            <a:ext cx="3457575" cy="46011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Minus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(Set difference)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457576" y="871449"/>
            <a:ext cx="8372474" cy="3890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Symbol: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800" dirty="0">
                <a:sym typeface="Symbol" pitchFamily="18" charset="2"/>
              </a:rPr>
              <a:t> -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Notation : Relation1 -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 Relation2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Operation:</a:t>
            </a: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Returns all the records from first (left) query that are not contained in the second (right) query.</a:t>
            </a:r>
          </a:p>
          <a:p>
            <a:pPr algn="just"/>
            <a:endParaRPr lang="en-US" dirty="0"/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en-US" sz="2400" i="1" dirty="0">
              <a:latin typeface="Cambria" panose="02040503050406030204" pitchFamily="18" charset="0"/>
              <a:sym typeface="Symbol" pitchFamily="18" charset="2"/>
            </a:endParaRPr>
          </a:p>
          <a:p>
            <a:pPr marL="914400" lvl="1" indent="-457200">
              <a:buNone/>
            </a:pPr>
            <a:r>
              <a:rPr lang="en-US" sz="2400" dirty="0">
                <a:sym typeface="Symbol" pitchFamily="18" charset="2"/>
              </a:rPr>
              <a:t>	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875048"/>
              </p:ext>
            </p:extLst>
          </p:nvPr>
        </p:nvGraphicFramePr>
        <p:xfrm>
          <a:off x="4862830" y="3727966"/>
          <a:ext cx="16764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Tirth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Hari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446345"/>
              </p:ext>
            </p:extLst>
          </p:nvPr>
        </p:nvGraphicFramePr>
        <p:xfrm>
          <a:off x="7667625" y="3746500"/>
          <a:ext cx="146304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Hari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Tirth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Smit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588417"/>
              </p:ext>
            </p:extLst>
          </p:nvPr>
        </p:nvGraphicFramePr>
        <p:xfrm>
          <a:off x="4814886" y="5937647"/>
          <a:ext cx="146304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00640" y="3340100"/>
            <a:ext cx="1216025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9549" y="3358634"/>
            <a:ext cx="1216800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Employee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9692" y="5471261"/>
            <a:ext cx="2772000" cy="4001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Manager </a:t>
            </a:r>
            <a:r>
              <a:rPr lang="en-US" sz="2000" dirty="0">
                <a:solidFill>
                  <a:schemeClr val="bg1"/>
                </a:solidFill>
              </a:rPr>
              <a:t>−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  Employee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6213"/>
              </p:ext>
            </p:extLst>
          </p:nvPr>
        </p:nvGraphicFramePr>
        <p:xfrm>
          <a:off x="8261039" y="5894786"/>
          <a:ext cx="146304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Smit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78707" y="5471261"/>
            <a:ext cx="2772000" cy="40011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Employee </a:t>
            </a:r>
            <a:r>
              <a:rPr lang="en-US" sz="2000" dirty="0">
                <a:solidFill>
                  <a:schemeClr val="bg1"/>
                </a:solidFill>
              </a:rPr>
              <a:t>−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  Manager</a:t>
            </a:r>
          </a:p>
        </p:txBody>
      </p:sp>
    </p:spTree>
    <p:extLst>
      <p:ext uri="{BB962C8B-B14F-4D97-AF65-F5344CB8AC3E}">
        <p14:creationId xmlns:p14="http://schemas.microsoft.com/office/powerpoint/2010/main" val="118505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Aggregate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57576" y="871449"/>
            <a:ext cx="8372474" cy="688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tabLst>
                <a:tab pos="2119313" algn="l"/>
                <a:tab pos="2689225" algn="ctr"/>
              </a:tabLst>
            </a:pPr>
            <a:r>
              <a:rPr lang="en-US" altLang="en-US" sz="2400" i="1" dirty="0">
                <a:latin typeface="Cambria" panose="02040503050406030204" pitchFamily="18" charset="0"/>
              </a:rPr>
              <a:t>Aggregation function takes a collection of values and returns a single value as a result.</a:t>
            </a:r>
          </a:p>
          <a:p>
            <a:pPr>
              <a:buFont typeface="Monotype Sorts" pitchFamily="2" charset="2"/>
              <a:buNone/>
              <a:tabLst>
                <a:tab pos="2119313" algn="l"/>
                <a:tab pos="2689225" algn="ctr"/>
              </a:tabLst>
            </a:pPr>
            <a:r>
              <a:rPr lang="en-US" altLang="en-US" sz="2400" i="1" dirty="0">
                <a:latin typeface="Cambria" panose="02040503050406030204" pitchFamily="18" charset="0"/>
              </a:rPr>
              <a:t>		</a:t>
            </a:r>
            <a:r>
              <a:rPr lang="en-US" altLang="en-US" sz="2400" i="1" dirty="0" err="1">
                <a:latin typeface="Cambria" panose="02040503050406030204" pitchFamily="18" charset="0"/>
              </a:rPr>
              <a:t>avg</a:t>
            </a:r>
            <a:r>
              <a:rPr lang="en-US" altLang="en-US" sz="2400" i="1" dirty="0">
                <a:latin typeface="Cambria" panose="02040503050406030204" pitchFamily="18" charset="0"/>
              </a:rPr>
              <a:t>:  average value</a:t>
            </a:r>
            <a:br>
              <a:rPr lang="en-US" altLang="en-US" sz="2400" i="1" dirty="0">
                <a:latin typeface="Cambria" panose="02040503050406030204" pitchFamily="18" charset="0"/>
              </a:rPr>
            </a:br>
            <a:r>
              <a:rPr lang="en-US" altLang="en-US" sz="2400" i="1" dirty="0">
                <a:latin typeface="Cambria" panose="02040503050406030204" pitchFamily="18" charset="0"/>
              </a:rPr>
              <a:t>	min:  minimum value</a:t>
            </a:r>
            <a:br>
              <a:rPr lang="en-US" altLang="en-US" sz="2400" i="1" dirty="0">
                <a:latin typeface="Cambria" panose="02040503050406030204" pitchFamily="18" charset="0"/>
              </a:rPr>
            </a:br>
            <a:r>
              <a:rPr lang="en-US" altLang="en-US" sz="2400" i="1" dirty="0">
                <a:latin typeface="Cambria" panose="02040503050406030204" pitchFamily="18" charset="0"/>
              </a:rPr>
              <a:t>	max:  maximum value</a:t>
            </a:r>
            <a:br>
              <a:rPr lang="en-US" altLang="en-US" sz="2400" i="1" dirty="0">
                <a:latin typeface="Cambria" panose="02040503050406030204" pitchFamily="18" charset="0"/>
              </a:rPr>
            </a:br>
            <a:r>
              <a:rPr lang="en-US" altLang="en-US" sz="2400" i="1" dirty="0">
                <a:latin typeface="Cambria" panose="02040503050406030204" pitchFamily="18" charset="0"/>
              </a:rPr>
              <a:t>	sum:  sum of values</a:t>
            </a:r>
            <a:br>
              <a:rPr lang="en-US" altLang="en-US" sz="2400" i="1" dirty="0">
                <a:latin typeface="Cambria" panose="02040503050406030204" pitchFamily="18" charset="0"/>
              </a:rPr>
            </a:br>
            <a:r>
              <a:rPr lang="en-US" altLang="en-US" sz="2400" i="1" dirty="0">
                <a:latin typeface="Cambria" panose="02040503050406030204" pitchFamily="18" charset="0"/>
              </a:rPr>
              <a:t>	count:  number of values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2119313" algn="l"/>
                <a:tab pos="2689225" algn="ctr"/>
              </a:tabLst>
            </a:pPr>
            <a:r>
              <a:rPr lang="en-US" altLang="en-US" sz="2400" i="1" dirty="0">
                <a:latin typeface="Cambria" panose="02040503050406030204" pitchFamily="18" charset="0"/>
              </a:rPr>
              <a:t>Aggregate operation in relational algebra </a:t>
            </a:r>
          </a:p>
          <a:p>
            <a:pPr>
              <a:buFont typeface="Monotype Sorts" pitchFamily="2" charset="2"/>
              <a:buNone/>
              <a:tabLst>
                <a:tab pos="2119313" algn="l"/>
                <a:tab pos="2689225" algn="ctr"/>
              </a:tabLst>
            </a:pPr>
            <a:r>
              <a:rPr lang="en-US" altLang="en-US" sz="2400" i="1" dirty="0">
                <a:latin typeface="Cambria" panose="02040503050406030204" pitchFamily="18" charset="0"/>
              </a:rPr>
              <a:t>		</a:t>
            </a:r>
          </a:p>
          <a:p>
            <a:pPr>
              <a:tabLst>
                <a:tab pos="2119313" algn="l"/>
                <a:tab pos="2689225" algn="ctr"/>
              </a:tabLst>
            </a:pPr>
            <a:r>
              <a:rPr lang="en-US" altLang="en-US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119313" algn="l"/>
                <a:tab pos="2689225" algn="ctr"/>
              </a:tabLst>
            </a:pPr>
            <a:r>
              <a:rPr lang="en-US" altLang="en-US" sz="2400" i="1" dirty="0">
                <a:latin typeface="Cambria" panose="02040503050406030204" pitchFamily="18" charset="0"/>
              </a:rPr>
              <a:t>E is any relational-algebra expression</a:t>
            </a:r>
          </a:p>
          <a:p>
            <a:pPr lvl="1">
              <a:tabLst>
                <a:tab pos="2119313" algn="l"/>
                <a:tab pos="2689225" algn="ctr"/>
              </a:tabLst>
            </a:pPr>
            <a:r>
              <a:rPr lang="en-US" altLang="en-US" sz="2400" i="1" dirty="0">
                <a:latin typeface="Cambria" panose="02040503050406030204" pitchFamily="18" charset="0"/>
              </a:rPr>
              <a:t>G</a:t>
            </a:r>
            <a:r>
              <a:rPr lang="en-US" altLang="en-US" sz="2400" i="1" baseline="-25000" dirty="0">
                <a:latin typeface="Cambria" panose="02040503050406030204" pitchFamily="18" charset="0"/>
              </a:rPr>
              <a:t>1</a:t>
            </a:r>
            <a:r>
              <a:rPr lang="en-US" altLang="en-US" sz="2400" dirty="0">
                <a:latin typeface="Cambria" panose="02040503050406030204" pitchFamily="18" charset="0"/>
              </a:rPr>
              <a:t>, </a:t>
            </a:r>
            <a:r>
              <a:rPr lang="en-US" altLang="en-US" sz="2400" i="1" dirty="0">
                <a:latin typeface="Cambria" panose="02040503050406030204" pitchFamily="18" charset="0"/>
              </a:rPr>
              <a:t>G</a:t>
            </a:r>
            <a:r>
              <a:rPr lang="en-US" altLang="en-US" sz="2400" i="1" baseline="-25000" dirty="0">
                <a:latin typeface="Cambria" panose="02040503050406030204" pitchFamily="18" charset="0"/>
              </a:rPr>
              <a:t>2</a:t>
            </a:r>
            <a:r>
              <a:rPr lang="en-US" altLang="en-US" sz="2400" dirty="0">
                <a:latin typeface="Cambria" panose="02040503050406030204" pitchFamily="18" charset="0"/>
              </a:rPr>
              <a:t> …, </a:t>
            </a:r>
            <a:r>
              <a:rPr lang="en-US" altLang="en-US" sz="2400" i="1" dirty="0" err="1">
                <a:latin typeface="Cambria" panose="02040503050406030204" pitchFamily="18" charset="0"/>
              </a:rPr>
              <a:t>G</a:t>
            </a:r>
            <a:r>
              <a:rPr lang="en-US" altLang="en-US" sz="2400" i="1" baseline="-25000" dirty="0" err="1">
                <a:latin typeface="Cambria" panose="02040503050406030204" pitchFamily="18" charset="0"/>
              </a:rPr>
              <a:t>n</a:t>
            </a:r>
            <a:r>
              <a:rPr lang="en-US" altLang="en-US" sz="2400" dirty="0">
                <a:latin typeface="Cambria" panose="02040503050406030204" pitchFamily="18" charset="0"/>
              </a:rPr>
              <a:t> is a list of attributes on which to group (can be empty)</a:t>
            </a:r>
          </a:p>
          <a:p>
            <a:pPr lvl="1">
              <a:tabLst>
                <a:tab pos="2119313" algn="l"/>
                <a:tab pos="2689225" algn="ctr"/>
              </a:tabLst>
            </a:pPr>
            <a:r>
              <a:rPr lang="en-US" altLang="en-US" sz="2400" dirty="0">
                <a:latin typeface="Cambria" panose="02040503050406030204" pitchFamily="18" charset="0"/>
              </a:rPr>
              <a:t>Each </a:t>
            </a:r>
            <a:r>
              <a:rPr lang="en-US" altLang="en-US" sz="2400" i="1" dirty="0">
                <a:latin typeface="Cambria" panose="02040503050406030204" pitchFamily="18" charset="0"/>
              </a:rPr>
              <a:t>F</a:t>
            </a:r>
            <a:r>
              <a:rPr lang="en-US" altLang="en-US" sz="2800" i="1" baseline="-25000" dirty="0">
                <a:latin typeface="Cambria" panose="02040503050406030204" pitchFamily="18" charset="0"/>
              </a:rPr>
              <a:t>i</a:t>
            </a:r>
            <a:r>
              <a:rPr lang="en-US" altLang="en-US" sz="2400" i="1" dirty="0">
                <a:latin typeface="Cambria" panose="02040503050406030204" pitchFamily="18" charset="0"/>
              </a:rPr>
              <a:t> </a:t>
            </a:r>
            <a:r>
              <a:rPr lang="en-US" altLang="en-US" sz="2400" dirty="0">
                <a:latin typeface="Cambria" panose="02040503050406030204" pitchFamily="18" charset="0"/>
              </a:rPr>
              <a:t>is an aggregate function</a:t>
            </a:r>
            <a:endParaRPr lang="en-US" altLang="en-US" sz="2400" i="1" dirty="0">
              <a:latin typeface="Cambria" panose="02040503050406030204" pitchFamily="18" charset="0"/>
            </a:endParaRPr>
          </a:p>
          <a:p>
            <a:pPr lvl="1">
              <a:tabLst>
                <a:tab pos="2119313" algn="l"/>
                <a:tab pos="2689225" algn="ctr"/>
              </a:tabLst>
            </a:pPr>
            <a:r>
              <a:rPr lang="en-US" altLang="en-US" sz="2400" dirty="0">
                <a:latin typeface="Cambria" panose="02040503050406030204" pitchFamily="18" charset="0"/>
              </a:rPr>
              <a:t>Each </a:t>
            </a:r>
            <a:r>
              <a:rPr lang="en-US" altLang="en-US" sz="2400" i="1" dirty="0">
                <a:latin typeface="Cambria" panose="02040503050406030204" pitchFamily="18" charset="0"/>
              </a:rPr>
              <a:t>A</a:t>
            </a:r>
            <a:r>
              <a:rPr lang="en-US" altLang="en-US" sz="2800" i="1" baseline="-25000" dirty="0">
                <a:latin typeface="Cambria" panose="02040503050406030204" pitchFamily="18" charset="0"/>
              </a:rPr>
              <a:t>i</a:t>
            </a:r>
            <a:r>
              <a:rPr lang="en-US" altLang="en-US" sz="2400" i="1" dirty="0">
                <a:latin typeface="Cambria" panose="02040503050406030204" pitchFamily="18" charset="0"/>
              </a:rPr>
              <a:t> </a:t>
            </a:r>
            <a:r>
              <a:rPr lang="en-US" altLang="en-US" sz="2400" dirty="0">
                <a:latin typeface="Cambria" panose="02040503050406030204" pitchFamily="18" charset="0"/>
              </a:rPr>
              <a:t>is an attribute name</a:t>
            </a: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en-US" sz="2400" i="1" dirty="0">
              <a:latin typeface="Cambria" panose="02040503050406030204" pitchFamily="18" charset="0"/>
              <a:sym typeface="Symbol" pitchFamily="18" charset="2"/>
            </a:endParaRPr>
          </a:p>
          <a:p>
            <a:pPr marL="914400" lvl="1" indent="-457200">
              <a:buNone/>
            </a:pPr>
            <a:r>
              <a:rPr lang="en-US" sz="2400" dirty="0">
                <a:sym typeface="Symbol" pitchFamily="18" charset="2"/>
              </a:rPr>
              <a:t>	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  <a:p>
            <a:pPr marL="800100" lvl="1" indent="-3429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sym typeface="Symbol" pitchFamily="18" charset="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436070"/>
              </p:ext>
            </p:extLst>
          </p:nvPr>
        </p:nvGraphicFramePr>
        <p:xfrm>
          <a:off x="4962525" y="3900487"/>
          <a:ext cx="4227920" cy="569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41600" imgH="355600" progId="Equation.3">
                  <p:embed/>
                </p:oleObj>
              </mc:Choice>
              <mc:Fallback>
                <p:oleObj name="Equation" r:id="rId2" imgW="2641600" imgH="35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525" y="3900487"/>
                        <a:ext cx="4227920" cy="5690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47025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Aggregate Operation  Example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08207" y="544400"/>
            <a:ext cx="1765300" cy="579437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latin typeface="Cambria" panose="02040503050406030204" pitchFamily="18" charset="0"/>
              </a:rPr>
              <a:t>Relation </a:t>
            </a:r>
            <a:r>
              <a:rPr lang="en-US" altLang="en-US" sz="1800" b="1" i="1" dirty="0">
                <a:latin typeface="Cambria" panose="02040503050406030204" pitchFamily="18" charset="0"/>
              </a:rPr>
              <a:t>r</a:t>
            </a:r>
            <a:r>
              <a:rPr lang="en-US" altLang="en-US" sz="1800" b="1" dirty="0">
                <a:latin typeface="Cambria" panose="02040503050406030204" pitchFamily="18" charset="0"/>
              </a:rPr>
              <a:t>:</a:t>
            </a:r>
          </a:p>
        </p:txBody>
      </p:sp>
      <p:sp>
        <p:nvSpPr>
          <p:cNvPr id="58378" name="Rectangle 10"/>
          <p:cNvSpPr>
            <a:spLocks noChangeArrowheads="1"/>
          </p:cNvSpPr>
          <p:nvPr/>
        </p:nvSpPr>
        <p:spPr bwMode="auto">
          <a:xfrm>
            <a:off x="6212464" y="3844527"/>
            <a:ext cx="2012950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r>
              <a:rPr kumimoji="1" lang="en-US" altLang="en-US" i="1" dirty="0">
                <a:latin typeface="Cambria" panose="02040503050406030204" pitchFamily="18" charset="0"/>
                <a:sym typeface="Symbol" pitchFamily="18" charset="2"/>
              </a:rPr>
              <a:t> g</a:t>
            </a:r>
            <a:r>
              <a:rPr kumimoji="1" lang="en-US" altLang="en-US" b="1" dirty="0">
                <a:latin typeface="Cambria" panose="02040503050406030204" pitchFamily="18" charset="0"/>
              </a:rPr>
              <a:t> </a:t>
            </a:r>
            <a:r>
              <a:rPr kumimoji="1" lang="en-US" altLang="en-US" sz="2000" b="1" baseline="-25000" dirty="0">
                <a:latin typeface="Cambria" panose="02040503050406030204" pitchFamily="18" charset="0"/>
              </a:rPr>
              <a:t>sum(c</a:t>
            </a:r>
            <a:r>
              <a:rPr kumimoji="1" lang="en-US" altLang="en-US" b="1" baseline="-25000" dirty="0">
                <a:latin typeface="Cambria" panose="02040503050406030204" pitchFamily="18" charset="0"/>
              </a:rPr>
              <a:t>) </a:t>
            </a:r>
            <a:r>
              <a:rPr kumimoji="1" lang="en-US" altLang="en-US" dirty="0">
                <a:latin typeface="Cambria" panose="02040503050406030204" pitchFamily="18" charset="0"/>
              </a:rPr>
              <a:t>(r)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293968" y="1208702"/>
            <a:ext cx="1371600" cy="4102893"/>
            <a:chOff x="5410200" y="1447800"/>
            <a:chExt cx="1371600" cy="4102893"/>
          </a:xfrm>
        </p:grpSpPr>
        <p:sp>
          <p:nvSpPr>
            <p:cNvPr id="58372" name="Rectangle 4"/>
            <p:cNvSpPr>
              <a:spLocks noChangeArrowheads="1"/>
            </p:cNvSpPr>
            <p:nvPr/>
          </p:nvSpPr>
          <p:spPr bwMode="auto">
            <a:xfrm>
              <a:off x="5410200" y="1447800"/>
              <a:ext cx="457200" cy="533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/>
                <a:t>A</a:t>
              </a:r>
            </a:p>
          </p:txBody>
        </p:sp>
        <p:sp>
          <p:nvSpPr>
            <p:cNvPr id="58373" name="Rectangle 5"/>
            <p:cNvSpPr>
              <a:spLocks noChangeArrowheads="1"/>
            </p:cNvSpPr>
            <p:nvPr/>
          </p:nvSpPr>
          <p:spPr bwMode="auto">
            <a:xfrm>
              <a:off x="5867400" y="1447800"/>
              <a:ext cx="457200" cy="533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/>
                <a:t>B</a:t>
              </a:r>
            </a:p>
          </p:txBody>
        </p:sp>
        <p:sp>
          <p:nvSpPr>
            <p:cNvPr id="58374" name="Rectangle 6"/>
            <p:cNvSpPr>
              <a:spLocks noChangeArrowheads="1"/>
            </p:cNvSpPr>
            <p:nvPr/>
          </p:nvSpPr>
          <p:spPr bwMode="auto">
            <a:xfrm>
              <a:off x="5410200" y="2057400"/>
              <a:ext cx="457200" cy="1524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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</a:t>
              </a:r>
            </a:p>
          </p:txBody>
        </p:sp>
        <p:sp>
          <p:nvSpPr>
            <p:cNvPr id="58375" name="Rectangle 7"/>
            <p:cNvSpPr>
              <a:spLocks noChangeArrowheads="1"/>
            </p:cNvSpPr>
            <p:nvPr/>
          </p:nvSpPr>
          <p:spPr bwMode="auto">
            <a:xfrm>
              <a:off x="5867400" y="2057400"/>
              <a:ext cx="457200" cy="1524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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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</a:t>
              </a:r>
            </a:p>
          </p:txBody>
        </p:sp>
        <p:sp>
          <p:nvSpPr>
            <p:cNvPr id="58376" name="Rectangle 8"/>
            <p:cNvSpPr>
              <a:spLocks noChangeArrowheads="1"/>
            </p:cNvSpPr>
            <p:nvPr/>
          </p:nvSpPr>
          <p:spPr bwMode="auto">
            <a:xfrm>
              <a:off x="6324600" y="1447800"/>
              <a:ext cx="457200" cy="533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/>
                <a:t>C</a:t>
              </a:r>
            </a:p>
          </p:txBody>
        </p:sp>
        <p:sp>
          <p:nvSpPr>
            <p:cNvPr id="58377" name="Rectangle 9"/>
            <p:cNvSpPr>
              <a:spLocks noChangeArrowheads="1"/>
            </p:cNvSpPr>
            <p:nvPr/>
          </p:nvSpPr>
          <p:spPr bwMode="auto">
            <a:xfrm>
              <a:off x="6324600" y="2057400"/>
              <a:ext cx="457200" cy="1524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en-US" altLang="en-US">
                  <a:sym typeface="Symbol" pitchFamily="18" charset="2"/>
                </a:rPr>
                <a:t>7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>
                  <a:sym typeface="Symbol" pitchFamily="18" charset="2"/>
                </a:rPr>
                <a:t>7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>
                  <a:sym typeface="Symbol" pitchFamily="18" charset="2"/>
                </a:rPr>
                <a:t>3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>
                  <a:sym typeface="Symbol" pitchFamily="18" charset="2"/>
                </a:rPr>
                <a:t>10</a:t>
              </a:r>
            </a:p>
          </p:txBody>
        </p:sp>
        <p:sp>
          <p:nvSpPr>
            <p:cNvPr id="58379" name="Rectangle 11"/>
            <p:cNvSpPr>
              <a:spLocks noChangeArrowheads="1"/>
            </p:cNvSpPr>
            <p:nvPr/>
          </p:nvSpPr>
          <p:spPr bwMode="auto">
            <a:xfrm>
              <a:off x="5457319" y="4560093"/>
              <a:ext cx="9144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sum</a:t>
              </a:r>
              <a:r>
                <a:rPr lang="en-US" altLang="en-US" dirty="0"/>
                <a:t>(</a:t>
              </a:r>
              <a:r>
                <a:rPr lang="en-US" altLang="en-US" i="1" dirty="0"/>
                <a:t>c </a:t>
              </a:r>
              <a:r>
                <a:rPr lang="en-US" altLang="en-US" dirty="0"/>
                <a:t>)</a:t>
              </a:r>
            </a:p>
          </p:txBody>
        </p:sp>
        <p:sp>
          <p:nvSpPr>
            <p:cNvPr id="58380" name="Rectangle 12"/>
            <p:cNvSpPr>
              <a:spLocks noChangeArrowheads="1"/>
            </p:cNvSpPr>
            <p:nvPr/>
          </p:nvSpPr>
          <p:spPr bwMode="auto">
            <a:xfrm>
              <a:off x="5457319" y="5093493"/>
              <a:ext cx="9144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/>
                <a:t>27</a:t>
              </a:r>
            </a:p>
          </p:txBody>
        </p:sp>
      </p:grp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3475037" y="3471861"/>
            <a:ext cx="4498470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r>
              <a:rPr lang="en-US" altLang="en-US" sz="2400" i="1" dirty="0">
                <a:latin typeface="Cambria" panose="02040503050406030204" pitchFamily="18" charset="0"/>
                <a:sym typeface="Symbol" pitchFamily="18" charset="2"/>
              </a:rPr>
              <a:t>Find out sum of attribute C</a:t>
            </a:r>
            <a:endParaRPr lang="en-US" altLang="en-US" sz="2400" i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4901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Aggregate Operation  Example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08207" y="544400"/>
            <a:ext cx="1765300" cy="579437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latin typeface="Cambria" panose="02040503050406030204" pitchFamily="18" charset="0"/>
              </a:rPr>
              <a:t>Relation </a:t>
            </a:r>
            <a:r>
              <a:rPr lang="en-US" altLang="en-US" sz="1800" b="1" i="1" dirty="0">
                <a:latin typeface="Cambria" panose="02040503050406030204" pitchFamily="18" charset="0"/>
              </a:rPr>
              <a:t>r</a:t>
            </a:r>
            <a:r>
              <a:rPr lang="en-US" altLang="en-US" sz="1800" b="1" dirty="0">
                <a:latin typeface="Cambria" panose="02040503050406030204" pitchFamily="18" charset="0"/>
              </a:rPr>
              <a:t>:</a:t>
            </a:r>
          </a:p>
        </p:txBody>
      </p:sp>
      <p:sp>
        <p:nvSpPr>
          <p:cNvPr id="58378" name="Rectangle 10"/>
          <p:cNvSpPr>
            <a:spLocks noChangeArrowheads="1"/>
          </p:cNvSpPr>
          <p:nvPr/>
        </p:nvSpPr>
        <p:spPr bwMode="auto">
          <a:xfrm>
            <a:off x="6633657" y="4105274"/>
            <a:ext cx="2508756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r>
              <a:rPr kumimoji="1" lang="en-US" altLang="en-US" sz="2400" i="1" dirty="0">
                <a:latin typeface="Cambria" panose="02040503050406030204" pitchFamily="18" charset="0"/>
                <a:sym typeface="Symbol" pitchFamily="18" charset="2"/>
              </a:rPr>
              <a:t> g</a:t>
            </a:r>
            <a:r>
              <a:rPr kumimoji="1" lang="en-US" altLang="en-US" sz="2400" b="1" dirty="0">
                <a:latin typeface="Cambria" panose="02040503050406030204" pitchFamily="18" charset="0"/>
              </a:rPr>
              <a:t> </a:t>
            </a:r>
            <a:r>
              <a:rPr kumimoji="1" lang="en-US" altLang="en-US" sz="2800" b="1" baseline="-25000" dirty="0">
                <a:latin typeface="Cambria" panose="02040503050406030204" pitchFamily="18" charset="0"/>
              </a:rPr>
              <a:t>max(c</a:t>
            </a:r>
            <a:r>
              <a:rPr kumimoji="1" lang="en-US" altLang="en-US" sz="2400" b="1" baseline="-25000" dirty="0">
                <a:latin typeface="Cambria" panose="02040503050406030204" pitchFamily="18" charset="0"/>
              </a:rPr>
              <a:t>),min(c) </a:t>
            </a:r>
            <a:r>
              <a:rPr kumimoji="1" lang="en-US" altLang="en-US" sz="2400" dirty="0">
                <a:latin typeface="Cambria" panose="02040503050406030204" pitchFamily="18" charset="0"/>
              </a:rPr>
              <a:t>(r)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405057" y="1233487"/>
            <a:ext cx="2025650" cy="4558901"/>
            <a:chOff x="5410200" y="1447800"/>
            <a:chExt cx="2025650" cy="4558901"/>
          </a:xfrm>
        </p:grpSpPr>
        <p:sp>
          <p:nvSpPr>
            <p:cNvPr id="58372" name="Rectangle 4"/>
            <p:cNvSpPr>
              <a:spLocks noChangeArrowheads="1"/>
            </p:cNvSpPr>
            <p:nvPr/>
          </p:nvSpPr>
          <p:spPr bwMode="auto">
            <a:xfrm>
              <a:off x="5410200" y="1447800"/>
              <a:ext cx="457200" cy="533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/>
                <a:t>A</a:t>
              </a:r>
            </a:p>
          </p:txBody>
        </p:sp>
        <p:sp>
          <p:nvSpPr>
            <p:cNvPr id="58373" name="Rectangle 5"/>
            <p:cNvSpPr>
              <a:spLocks noChangeArrowheads="1"/>
            </p:cNvSpPr>
            <p:nvPr/>
          </p:nvSpPr>
          <p:spPr bwMode="auto">
            <a:xfrm>
              <a:off x="5867400" y="1447800"/>
              <a:ext cx="457200" cy="533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/>
                <a:t>B</a:t>
              </a:r>
            </a:p>
          </p:txBody>
        </p:sp>
        <p:sp>
          <p:nvSpPr>
            <p:cNvPr id="58374" name="Rectangle 6"/>
            <p:cNvSpPr>
              <a:spLocks noChangeArrowheads="1"/>
            </p:cNvSpPr>
            <p:nvPr/>
          </p:nvSpPr>
          <p:spPr bwMode="auto">
            <a:xfrm>
              <a:off x="5410200" y="2057400"/>
              <a:ext cx="457200" cy="1524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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</a:t>
              </a:r>
            </a:p>
          </p:txBody>
        </p:sp>
        <p:sp>
          <p:nvSpPr>
            <p:cNvPr id="58375" name="Rectangle 7"/>
            <p:cNvSpPr>
              <a:spLocks noChangeArrowheads="1"/>
            </p:cNvSpPr>
            <p:nvPr/>
          </p:nvSpPr>
          <p:spPr bwMode="auto">
            <a:xfrm>
              <a:off x="5867400" y="2057400"/>
              <a:ext cx="457200" cy="1524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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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i="1">
                  <a:sym typeface="Symbol" pitchFamily="18" charset="2"/>
                </a:rPr>
                <a:t></a:t>
              </a:r>
            </a:p>
          </p:txBody>
        </p:sp>
        <p:sp>
          <p:nvSpPr>
            <p:cNvPr id="58376" name="Rectangle 8"/>
            <p:cNvSpPr>
              <a:spLocks noChangeArrowheads="1"/>
            </p:cNvSpPr>
            <p:nvPr/>
          </p:nvSpPr>
          <p:spPr bwMode="auto">
            <a:xfrm>
              <a:off x="6324600" y="1447800"/>
              <a:ext cx="457200" cy="533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/>
                <a:t>C</a:t>
              </a:r>
            </a:p>
          </p:txBody>
        </p:sp>
        <p:sp>
          <p:nvSpPr>
            <p:cNvPr id="58377" name="Rectangle 9"/>
            <p:cNvSpPr>
              <a:spLocks noChangeArrowheads="1"/>
            </p:cNvSpPr>
            <p:nvPr/>
          </p:nvSpPr>
          <p:spPr bwMode="auto">
            <a:xfrm>
              <a:off x="6324600" y="2057400"/>
              <a:ext cx="457200" cy="1524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en-US" altLang="en-US">
                  <a:sym typeface="Symbol" pitchFamily="18" charset="2"/>
                </a:rPr>
                <a:t>7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>
                  <a:sym typeface="Symbol" pitchFamily="18" charset="2"/>
                </a:rPr>
                <a:t>7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>
                  <a:sym typeface="Symbol" pitchFamily="18" charset="2"/>
                </a:rPr>
                <a:t>3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>
                  <a:sym typeface="Symbol" pitchFamily="18" charset="2"/>
                </a:rPr>
                <a:t>10</a:t>
              </a:r>
            </a:p>
          </p:txBody>
        </p:sp>
        <p:sp>
          <p:nvSpPr>
            <p:cNvPr id="58379" name="Rectangle 11"/>
            <p:cNvSpPr>
              <a:spLocks noChangeArrowheads="1"/>
            </p:cNvSpPr>
            <p:nvPr/>
          </p:nvSpPr>
          <p:spPr bwMode="auto">
            <a:xfrm>
              <a:off x="6521450" y="5016101"/>
              <a:ext cx="9144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min</a:t>
              </a:r>
              <a:r>
                <a:rPr lang="en-US" altLang="en-US" dirty="0"/>
                <a:t>(</a:t>
              </a:r>
              <a:r>
                <a:rPr lang="en-US" altLang="en-US" i="1" dirty="0"/>
                <a:t>c </a:t>
              </a:r>
              <a:r>
                <a:rPr lang="en-US" altLang="en-US" dirty="0"/>
                <a:t>)</a:t>
              </a:r>
            </a:p>
          </p:txBody>
        </p:sp>
        <p:sp>
          <p:nvSpPr>
            <p:cNvPr id="58380" name="Rectangle 12"/>
            <p:cNvSpPr>
              <a:spLocks noChangeArrowheads="1"/>
            </p:cNvSpPr>
            <p:nvPr/>
          </p:nvSpPr>
          <p:spPr bwMode="auto">
            <a:xfrm>
              <a:off x="6521450" y="5549501"/>
              <a:ext cx="9144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dirty="0"/>
                <a:t>3</a:t>
              </a:r>
            </a:p>
          </p:txBody>
        </p:sp>
      </p:grp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3475036" y="3471861"/>
            <a:ext cx="7426327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r>
              <a:rPr lang="en-US" altLang="en-US" sz="2400" i="1" dirty="0">
                <a:latin typeface="Cambria" panose="02040503050406030204" pitchFamily="18" charset="0"/>
                <a:sym typeface="Symbol" pitchFamily="18" charset="2"/>
              </a:rPr>
              <a:t>Find out maximum and minimum from attribute C</a:t>
            </a:r>
            <a:endParaRPr lang="en-US" altLang="en-US" sz="2400" i="1" dirty="0">
              <a:latin typeface="Cambria" panose="02040503050406030204" pitchFamily="18" charset="0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6601907" y="4801788"/>
            <a:ext cx="914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b="1" dirty="0"/>
              <a:t>max</a:t>
            </a:r>
            <a:r>
              <a:rPr lang="en-US" altLang="en-US" dirty="0"/>
              <a:t>(</a:t>
            </a:r>
            <a:r>
              <a:rPr lang="en-US" altLang="en-US" i="1" dirty="0"/>
              <a:t>c </a:t>
            </a:r>
            <a:r>
              <a:rPr lang="en-US" altLang="en-US" dirty="0"/>
              <a:t>)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6601907" y="5335188"/>
            <a:ext cx="914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629614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Aggregate Operation  Example</a:t>
            </a: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481388" y="488950"/>
            <a:ext cx="6862762" cy="412750"/>
          </a:xfrm>
        </p:spPr>
        <p:txBody>
          <a:bodyPr>
            <a:noAutofit/>
          </a:bodyPr>
          <a:lstStyle/>
          <a:p>
            <a:pPr>
              <a:buClrTx/>
            </a:pPr>
            <a:r>
              <a:rPr lang="en-US" altLang="en-US" sz="2400" i="1" dirty="0">
                <a:solidFill>
                  <a:schemeClr val="tx1"/>
                </a:solidFill>
                <a:latin typeface="Cambria" panose="02040503050406030204" pitchFamily="18" charset="0"/>
              </a:rPr>
              <a:t>Relation account grouped by branch-name: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4287044" y="3478593"/>
            <a:ext cx="70294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sz="2800" i="1" baseline="-25000" dirty="0" err="1"/>
              <a:t>branch_name</a:t>
            </a:r>
            <a:r>
              <a:rPr lang="en-US" altLang="en-US" sz="2400" dirty="0">
                <a:latin typeface="Times New Roman" pitchFamily="18" charset="0"/>
              </a:rPr>
              <a:t> </a:t>
            </a:r>
            <a:r>
              <a:rPr lang="en-US" altLang="en-US" sz="2400" i="1" dirty="0">
                <a:latin typeface="Lucida Sans Unicode" pitchFamily="34" charset="0"/>
                <a:sym typeface="Symbol" pitchFamily="18" charset="2"/>
              </a:rPr>
              <a:t>g </a:t>
            </a:r>
            <a:r>
              <a:rPr lang="en-US" altLang="en-US" sz="2800" b="1" baseline="-25000" dirty="0">
                <a:latin typeface="Times New Roman" pitchFamily="18" charset="0"/>
                <a:sym typeface="Symbol" pitchFamily="18" charset="2"/>
              </a:rPr>
              <a:t>sum</a:t>
            </a:r>
            <a:r>
              <a:rPr lang="en-US" altLang="en-US" sz="2800" baseline="-250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en-US" sz="2800" i="1" baseline="-25000" dirty="0">
                <a:sym typeface="Symbol" pitchFamily="18" charset="2"/>
              </a:rPr>
              <a:t>balance</a:t>
            </a:r>
            <a:r>
              <a:rPr lang="en-US" altLang="en-US" sz="2800" baseline="-25000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altLang="en-US" sz="2400" dirty="0">
                <a:latin typeface="Times New Roman" pitchFamily="18" charset="0"/>
                <a:sym typeface="Symbol" pitchFamily="18" charset="2"/>
              </a:rPr>
              <a:t> (</a:t>
            </a:r>
            <a:r>
              <a:rPr lang="en-US" altLang="en-US" sz="2000" i="1" dirty="0">
                <a:sym typeface="Symbol" pitchFamily="18" charset="2"/>
              </a:rPr>
              <a:t>account</a:t>
            </a:r>
            <a:r>
              <a:rPr lang="en-US" altLang="en-US" sz="2400" dirty="0">
                <a:latin typeface="Times New Roman" pitchFamily="18" charset="0"/>
                <a:sym typeface="Symbol" pitchFamily="18" charset="2"/>
              </a:rPr>
              <a:t>)</a:t>
            </a:r>
            <a:endParaRPr lang="en-US" altLang="en-US" sz="2400" dirty="0">
              <a:latin typeface="Times New Roman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858419" y="1054100"/>
            <a:ext cx="5103813" cy="1828800"/>
            <a:chOff x="3829050" y="1778000"/>
            <a:chExt cx="5103813" cy="1828800"/>
          </a:xfrm>
        </p:grpSpPr>
        <p:sp>
          <p:nvSpPr>
            <p:cNvPr id="59397" name="Rectangle 5"/>
            <p:cNvSpPr>
              <a:spLocks noChangeArrowheads="1"/>
            </p:cNvSpPr>
            <p:nvPr/>
          </p:nvSpPr>
          <p:spPr bwMode="auto">
            <a:xfrm>
              <a:off x="3829050" y="1778000"/>
              <a:ext cx="16002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/>
                <a:t>branch_name</a:t>
              </a:r>
            </a:p>
          </p:txBody>
        </p:sp>
        <p:sp>
          <p:nvSpPr>
            <p:cNvPr id="59398" name="Rectangle 6"/>
            <p:cNvSpPr>
              <a:spLocks noChangeArrowheads="1"/>
            </p:cNvSpPr>
            <p:nvPr/>
          </p:nvSpPr>
          <p:spPr bwMode="auto">
            <a:xfrm>
              <a:off x="5427663" y="1778000"/>
              <a:ext cx="1828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/>
                <a:t>account_number</a:t>
              </a:r>
              <a:endParaRPr lang="en-US" altLang="en-US"/>
            </a:p>
          </p:txBody>
        </p:sp>
        <p:sp>
          <p:nvSpPr>
            <p:cNvPr id="59399" name="Rectangle 7"/>
            <p:cNvSpPr>
              <a:spLocks noChangeArrowheads="1"/>
            </p:cNvSpPr>
            <p:nvPr/>
          </p:nvSpPr>
          <p:spPr bwMode="auto">
            <a:xfrm>
              <a:off x="7256463" y="1778000"/>
              <a:ext cx="1676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/>
                <a:t>balance</a:t>
              </a:r>
            </a:p>
          </p:txBody>
        </p:sp>
        <p:sp>
          <p:nvSpPr>
            <p:cNvPr id="59400" name="Rectangle 8"/>
            <p:cNvSpPr>
              <a:spLocks noChangeArrowheads="1"/>
            </p:cNvSpPr>
            <p:nvPr/>
          </p:nvSpPr>
          <p:spPr bwMode="auto">
            <a:xfrm>
              <a:off x="3856038" y="2159000"/>
              <a:ext cx="1600200" cy="1447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dirty="0" err="1"/>
                <a:t>Perryridge</a:t>
              </a:r>
              <a:endParaRPr lang="en-US" altLang="en-US" dirty="0"/>
            </a:p>
            <a:p>
              <a:r>
                <a:rPr lang="en-US" altLang="en-US" dirty="0" err="1"/>
                <a:t>Perryridge</a:t>
              </a:r>
              <a:endParaRPr lang="en-US" altLang="en-US" dirty="0"/>
            </a:p>
            <a:p>
              <a:r>
                <a:rPr lang="en-US" altLang="en-US" dirty="0"/>
                <a:t>Brighton</a:t>
              </a:r>
            </a:p>
            <a:p>
              <a:r>
                <a:rPr lang="en-US" altLang="en-US" dirty="0"/>
                <a:t>Brighton</a:t>
              </a:r>
            </a:p>
            <a:p>
              <a:r>
                <a:rPr lang="en-US" altLang="en-US" dirty="0"/>
                <a:t>Redwood</a:t>
              </a:r>
            </a:p>
          </p:txBody>
        </p:sp>
        <p:sp>
          <p:nvSpPr>
            <p:cNvPr id="59401" name="Rectangle 9"/>
            <p:cNvSpPr>
              <a:spLocks noChangeArrowheads="1"/>
            </p:cNvSpPr>
            <p:nvPr/>
          </p:nvSpPr>
          <p:spPr bwMode="auto">
            <a:xfrm>
              <a:off x="5427663" y="2159000"/>
              <a:ext cx="1828800" cy="1447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/>
                <a:t>A-102</a:t>
              </a:r>
            </a:p>
            <a:p>
              <a:pPr algn="ctr"/>
              <a:r>
                <a:rPr lang="en-US" altLang="en-US"/>
                <a:t>A-201</a:t>
              </a:r>
            </a:p>
            <a:p>
              <a:pPr algn="ctr"/>
              <a:r>
                <a:rPr lang="en-US" altLang="en-US"/>
                <a:t>A-217</a:t>
              </a:r>
            </a:p>
            <a:p>
              <a:pPr algn="ctr"/>
              <a:r>
                <a:rPr lang="en-US" altLang="en-US"/>
                <a:t>A-215</a:t>
              </a:r>
            </a:p>
            <a:p>
              <a:pPr algn="ctr"/>
              <a:r>
                <a:rPr lang="en-US" altLang="en-US"/>
                <a:t>A-222</a:t>
              </a:r>
            </a:p>
          </p:txBody>
        </p:sp>
        <p:sp>
          <p:nvSpPr>
            <p:cNvPr id="59402" name="Rectangle 10"/>
            <p:cNvSpPr>
              <a:spLocks noChangeArrowheads="1"/>
            </p:cNvSpPr>
            <p:nvPr/>
          </p:nvSpPr>
          <p:spPr bwMode="auto">
            <a:xfrm>
              <a:off x="7256463" y="2159000"/>
              <a:ext cx="1676400" cy="1447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dirty="0"/>
                <a:t>400</a:t>
              </a:r>
            </a:p>
            <a:p>
              <a:pPr algn="ctr"/>
              <a:r>
                <a:rPr lang="en-US" altLang="en-US" dirty="0"/>
                <a:t>900</a:t>
              </a:r>
            </a:p>
            <a:p>
              <a:pPr algn="ctr"/>
              <a:r>
                <a:rPr lang="en-US" altLang="en-US" dirty="0"/>
                <a:t>750</a:t>
              </a:r>
            </a:p>
            <a:p>
              <a:pPr algn="ctr"/>
              <a:r>
                <a:rPr lang="en-US" altLang="en-US" dirty="0"/>
                <a:t>750</a:t>
              </a:r>
            </a:p>
            <a:p>
              <a:pPr algn="ctr"/>
              <a:r>
                <a:rPr lang="en-US" altLang="en-US" dirty="0"/>
                <a:t>700</a:t>
              </a:r>
              <a:endParaRPr lang="en-US" altLang="en-US" i="1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847432" y="4070350"/>
            <a:ext cx="3276600" cy="1219200"/>
            <a:chOff x="5105400" y="4521200"/>
            <a:chExt cx="3276600" cy="1219200"/>
          </a:xfrm>
        </p:grpSpPr>
        <p:sp>
          <p:nvSpPr>
            <p:cNvPr id="59403" name="Rectangle 11"/>
            <p:cNvSpPr>
              <a:spLocks noChangeArrowheads="1"/>
            </p:cNvSpPr>
            <p:nvPr/>
          </p:nvSpPr>
          <p:spPr bwMode="auto">
            <a:xfrm>
              <a:off x="5105400" y="4521200"/>
              <a:ext cx="16002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i="1"/>
                <a:t>branch_name</a:t>
              </a:r>
            </a:p>
          </p:txBody>
        </p:sp>
        <p:sp>
          <p:nvSpPr>
            <p:cNvPr id="59404" name="Rectangle 12"/>
            <p:cNvSpPr>
              <a:spLocks noChangeArrowheads="1"/>
            </p:cNvSpPr>
            <p:nvPr/>
          </p:nvSpPr>
          <p:spPr bwMode="auto">
            <a:xfrm>
              <a:off x="6705600" y="4521200"/>
              <a:ext cx="1676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b="1"/>
                <a:t>sum</a:t>
              </a:r>
              <a:r>
                <a:rPr lang="en-US" altLang="en-US"/>
                <a:t>(</a:t>
              </a:r>
              <a:r>
                <a:rPr lang="en-US" altLang="en-US" i="1"/>
                <a:t>balance</a:t>
              </a:r>
              <a:r>
                <a:rPr lang="en-US" altLang="en-US"/>
                <a:t>)</a:t>
              </a:r>
              <a:endParaRPr lang="en-US" altLang="en-US" i="1"/>
            </a:p>
          </p:txBody>
        </p:sp>
        <p:sp>
          <p:nvSpPr>
            <p:cNvPr id="59405" name="Rectangle 13"/>
            <p:cNvSpPr>
              <a:spLocks noChangeArrowheads="1"/>
            </p:cNvSpPr>
            <p:nvPr/>
          </p:nvSpPr>
          <p:spPr bwMode="auto">
            <a:xfrm>
              <a:off x="5105400" y="4902200"/>
              <a:ext cx="1600200" cy="838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/>
                <a:t>Perryridge</a:t>
              </a:r>
            </a:p>
            <a:p>
              <a:r>
                <a:rPr lang="en-US" altLang="en-US"/>
                <a:t>Brighton</a:t>
              </a:r>
            </a:p>
            <a:p>
              <a:r>
                <a:rPr lang="en-US" altLang="en-US"/>
                <a:t>Redwood</a:t>
              </a:r>
            </a:p>
          </p:txBody>
        </p:sp>
        <p:sp>
          <p:nvSpPr>
            <p:cNvPr id="59406" name="Rectangle 14"/>
            <p:cNvSpPr>
              <a:spLocks noChangeArrowheads="1"/>
            </p:cNvSpPr>
            <p:nvPr/>
          </p:nvSpPr>
          <p:spPr bwMode="auto">
            <a:xfrm>
              <a:off x="6705600" y="4902200"/>
              <a:ext cx="1676400" cy="838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/>
                <a:t>1300</a:t>
              </a:r>
            </a:p>
            <a:p>
              <a:pPr algn="ctr"/>
              <a:r>
                <a:rPr lang="en-US" altLang="en-US"/>
                <a:t>1500</a:t>
              </a:r>
            </a:p>
            <a:p>
              <a:pPr algn="ctr"/>
              <a:r>
                <a:rPr lang="en-US" altLang="en-US"/>
                <a:t>700</a:t>
              </a:r>
              <a:endParaRPr lang="en-US" altLang="en-US" i="1"/>
            </a:p>
          </p:txBody>
        </p:sp>
      </p:grp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3481388" y="3092607"/>
            <a:ext cx="6862762" cy="412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US" altLang="en-US" sz="2400" i="1" dirty="0">
                <a:solidFill>
                  <a:schemeClr val="tx1"/>
                </a:solidFill>
                <a:latin typeface="Cambria" panose="02040503050406030204" pitchFamily="18" charset="0"/>
              </a:rPr>
              <a:t>Find out total of balance branch-name wise from account:</a:t>
            </a:r>
          </a:p>
        </p:txBody>
      </p:sp>
    </p:spTree>
    <p:extLst>
      <p:ext uri="{BB962C8B-B14F-4D97-AF65-F5344CB8AC3E}">
        <p14:creationId xmlns:p14="http://schemas.microsoft.com/office/powerpoint/2010/main" val="4111002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Open source Vs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Commercial DBMS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637984321"/>
              </p:ext>
            </p:extLst>
          </p:nvPr>
        </p:nvGraphicFramePr>
        <p:xfrm>
          <a:off x="3868738" y="863600"/>
          <a:ext cx="7315200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i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It is available free of cost in market.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It is available at certain cost in market.</a:t>
                      </a:r>
                    </a:p>
                    <a:p>
                      <a:endParaRPr lang="en-US" sz="2400" i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i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As it is open source, anyone can modify the code.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It is not accessible to unauthorized person.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i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Ex. MySQL, </a:t>
                      </a:r>
                      <a:r>
                        <a:rPr lang="en-US" sz="2400" i="1" kern="12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MongoDB</a:t>
                      </a:r>
                      <a:r>
                        <a:rPr lang="en-US" sz="2400" i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, SQLite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Ex. Microsoft SQL server, IBM Db2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3393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2151" y="2140370"/>
            <a:ext cx="5486400" cy="2441448"/>
          </a:xfrm>
        </p:spPr>
        <p:txBody>
          <a:bodyPr>
            <a:normAutofit/>
          </a:bodyPr>
          <a:lstStyle/>
          <a:p>
            <a:pPr algn="ctr"/>
            <a:r>
              <a:rPr lang="en-US" sz="12450" b="1" dirty="0">
                <a:solidFill>
                  <a:schemeClr val="tx1"/>
                </a:solidFill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12496521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2131</TotalTime>
  <Words>3004</Words>
  <Application>Microsoft Office PowerPoint</Application>
  <PresentationFormat>Widescreen</PresentationFormat>
  <Paragraphs>1289</Paragraphs>
  <Slides>48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1" baseType="lpstr">
      <vt:lpstr>Arial</vt:lpstr>
      <vt:lpstr>Calibri</vt:lpstr>
      <vt:lpstr>Cambria</vt:lpstr>
      <vt:lpstr>Cambria Math</vt:lpstr>
      <vt:lpstr>Corbel</vt:lpstr>
      <vt:lpstr>Helvetica</vt:lpstr>
      <vt:lpstr>Lucida Sans Unicode</vt:lpstr>
      <vt:lpstr>Monotype Sorts</vt:lpstr>
      <vt:lpstr>Times New Roman</vt:lpstr>
      <vt:lpstr>Wingdings</vt:lpstr>
      <vt:lpstr>Wingdings 2</vt:lpstr>
      <vt:lpstr>Frame</vt:lpstr>
      <vt:lpstr>Equation</vt:lpstr>
      <vt:lpstr>PowerPoint Presentation</vt:lpstr>
      <vt:lpstr>PowerPoint Presentation</vt:lpstr>
      <vt:lpstr>Student Table</vt:lpstr>
      <vt:lpstr>Structure of relational databases </vt:lpstr>
      <vt:lpstr>Exercise </vt:lpstr>
      <vt:lpstr>PowerPoint Presentation</vt:lpstr>
      <vt:lpstr>Candidate Key</vt:lpstr>
      <vt:lpstr>PowerPoint Presentation</vt:lpstr>
      <vt:lpstr>Primary Key </vt:lpstr>
      <vt:lpstr>PowerPoint Presentation</vt:lpstr>
      <vt:lpstr>Foreign Key </vt:lpstr>
      <vt:lpstr>Foreign Key</vt:lpstr>
      <vt:lpstr>Relational Algebra Operations</vt:lpstr>
      <vt:lpstr>Selection Operator</vt:lpstr>
      <vt:lpstr>Selection Operator Example</vt:lpstr>
      <vt:lpstr>Selection Operator Example</vt:lpstr>
      <vt:lpstr>Projection Operator</vt:lpstr>
      <vt:lpstr>Projection Operator Example</vt:lpstr>
      <vt:lpstr>Combined Example</vt:lpstr>
      <vt:lpstr>Cross (Cartesian Product) Operation</vt:lpstr>
      <vt:lpstr>Cross (Cartesian Product) Operation</vt:lpstr>
      <vt:lpstr>Cartesian Product / Cross Product</vt:lpstr>
      <vt:lpstr>Division Operator</vt:lpstr>
      <vt:lpstr>Division Operator</vt:lpstr>
      <vt:lpstr>Rename Operator</vt:lpstr>
      <vt:lpstr>Rename Operator</vt:lpstr>
      <vt:lpstr>Natural Join (Inner Join)</vt:lpstr>
      <vt:lpstr>Natural Join (Inner Join)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Union Operator</vt:lpstr>
      <vt:lpstr>Union Operation  Example</vt:lpstr>
      <vt:lpstr>Union Operator Example</vt:lpstr>
      <vt:lpstr>Intersection Operator</vt:lpstr>
      <vt:lpstr>Intersection Operator Example</vt:lpstr>
      <vt:lpstr>Minus (Set difference) Operator</vt:lpstr>
      <vt:lpstr>Aggregate Functions</vt:lpstr>
      <vt:lpstr>Aggregate Operation  Example</vt:lpstr>
      <vt:lpstr>Aggregate Operation  Example</vt:lpstr>
      <vt:lpstr>Aggregate Operation  Example</vt:lpstr>
      <vt:lpstr>Open source Vs Commercial DBMS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 to the online  certificate  course</dc:title>
  <dc:creator>Deepak Mashru</dc:creator>
  <cp:lastModifiedBy>Dr. Rachit Adhvaryu</cp:lastModifiedBy>
  <cp:revision>332</cp:revision>
  <dcterms:created xsi:type="dcterms:W3CDTF">2019-05-12T04:30:40Z</dcterms:created>
  <dcterms:modified xsi:type="dcterms:W3CDTF">2023-07-10T04:08:49Z</dcterms:modified>
</cp:coreProperties>
</file>