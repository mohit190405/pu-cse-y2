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6" r:id="rId11"/>
    <p:sldId id="277" r:id="rId12"/>
    <p:sldId id="278" r:id="rId13"/>
    <p:sldId id="279" r:id="rId14"/>
    <p:sldId id="265" r:id="rId15"/>
    <p:sldId id="266" r:id="rId16"/>
    <p:sldId id="267" r:id="rId17"/>
    <p:sldId id="268" r:id="rId18"/>
    <p:sldId id="269" r:id="rId19"/>
    <p:sldId id="271" r:id="rId20"/>
    <p:sldId id="270" r:id="rId21"/>
    <p:sldId id="272" r:id="rId22"/>
    <p:sldId id="27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35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2C682B-BBB8-AC86-632D-30101956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Introduction to Object Oriented Programming with Java</a:t>
            </a:r>
          </a:p>
        </p:txBody>
      </p:sp>
    </p:spTree>
    <p:extLst>
      <p:ext uri="{BB962C8B-B14F-4D97-AF65-F5344CB8AC3E}">
        <p14:creationId xmlns:p14="http://schemas.microsoft.com/office/powerpoint/2010/main" val="1472734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What is Object-Oriented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OOP is a method of structuring programs using objects and classes.</a:t>
            </a:r>
          </a:p>
          <a:p>
            <a:r>
              <a:rPr dirty="0"/>
              <a:t>Objects: instances of classes, containing state (fields) and behavior (methods).</a:t>
            </a:r>
          </a:p>
          <a:p>
            <a:r>
              <a:rPr dirty="0"/>
              <a:t>Encourages modular, scalable, and maintainable code.</a:t>
            </a:r>
          </a:p>
          <a:p>
            <a:r>
              <a:rPr dirty="0"/>
              <a:t>Popular in modern programming languages like Java, C++,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Procedural vs Object-Oriented Programming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7C2D1-1D77-7CC6-14B6-DFA76E38DC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Procedural: sequence of steps (functions), top-down design.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1DF990-B639-733F-BDD8-4AE47A96F6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OOP: data and behavior are bundled into objects, bottom-up design.</a:t>
            </a:r>
          </a:p>
          <a:p>
            <a:r>
              <a:rPr lang="en-US" dirty="0"/>
              <a:t>OOP encourages encapsulation, inheritance, and polymorphism.</a:t>
            </a:r>
          </a:p>
          <a:p>
            <a:r>
              <a:rPr lang="en-US" dirty="0"/>
              <a:t>Improves reusability and testability of code.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OOP Principles -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Abstraction hides internal implementation details and shows only functionality.</a:t>
            </a:r>
          </a:p>
          <a:p>
            <a:r>
              <a:rPr dirty="0"/>
              <a:t>Java achieves abstraction using abstract classes and interfaces.</a:t>
            </a:r>
          </a:p>
          <a:p>
            <a:r>
              <a:rPr dirty="0"/>
              <a:t>Benefits: reduces complexity, increases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OOP Principles -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Encapsulation binds data and code together inside a class.</a:t>
            </a:r>
          </a:p>
          <a:p>
            <a:r>
              <a:rPr dirty="0"/>
              <a:t>Fields are made private, accessed via public getters and setters.</a:t>
            </a:r>
          </a:p>
          <a:p>
            <a:r>
              <a:rPr dirty="0"/>
              <a:t>Prevents external access to internal object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OOP Principles -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Allows new classes to inherit fields and methods from existing classes.</a:t>
            </a:r>
          </a:p>
          <a:p>
            <a:r>
              <a:rPr dirty="0"/>
              <a:t>Promotes code reusability and method overriding.</a:t>
            </a:r>
          </a:p>
          <a:p>
            <a:r>
              <a:rPr dirty="0"/>
              <a:t>Uses the 'extends' keyword in Java.</a:t>
            </a:r>
          </a:p>
          <a:p>
            <a:r>
              <a:rPr dirty="0"/>
              <a:t>Supports hierarchical, single, and multilevel inheritance.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OOP Principles -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Means 'many forms': same interface, different behavior.</a:t>
            </a:r>
          </a:p>
          <a:p>
            <a:r>
              <a:rPr dirty="0"/>
              <a:t>Compile-time polymorphism: method overloading.</a:t>
            </a:r>
          </a:p>
          <a:p>
            <a:r>
              <a:rPr dirty="0"/>
              <a:t>Runtime polymorphism: method overriding.</a:t>
            </a:r>
          </a:p>
          <a:p>
            <a:r>
              <a:rPr dirty="0"/>
              <a:t>Enhances flexibility and scalability of programs.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Java as a Pure Object-Oriented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 treats everything as an object (except primitives).</a:t>
            </a:r>
          </a:p>
          <a:p>
            <a:r>
              <a:rPr dirty="0"/>
              <a:t>Wrapper classes like Integer, Double allow object treatment of primitives.</a:t>
            </a:r>
          </a:p>
          <a:p>
            <a:r>
              <a:rPr dirty="0"/>
              <a:t>All methods must be inside a class.</a:t>
            </a:r>
          </a:p>
          <a:p>
            <a:r>
              <a:rPr dirty="0"/>
              <a:t>Supports all OOP principles fully.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Java </a:t>
            </a:r>
            <a:r>
              <a:rPr lang="en-US" b="1" dirty="0"/>
              <a:t>and</a:t>
            </a:r>
            <a:r>
              <a:rPr b="1" dirty="0"/>
              <a:t>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Secure: bytecode verifier, security manager.</a:t>
            </a:r>
          </a:p>
          <a:p>
            <a:r>
              <a:rPr dirty="0"/>
              <a:t>Supports applets (legacy), servlets, JSP for web development.</a:t>
            </a:r>
          </a:p>
          <a:p>
            <a:r>
              <a:rPr dirty="0"/>
              <a:t>Rich networking libraries: java.net, java.io.</a:t>
            </a:r>
          </a:p>
          <a:p>
            <a:r>
              <a:rPr dirty="0"/>
              <a:t>Platform-independent distribution via bytecode.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Java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 S</a:t>
            </a:r>
            <a:r>
              <a:rPr lang="en-US" dirty="0"/>
              <a:t>tandard </a:t>
            </a:r>
            <a:r>
              <a:rPr dirty="0"/>
              <a:t>E</a:t>
            </a:r>
            <a:r>
              <a:rPr lang="en-US" dirty="0"/>
              <a:t>dition</a:t>
            </a:r>
            <a:endParaRPr dirty="0"/>
          </a:p>
          <a:p>
            <a:r>
              <a:rPr dirty="0"/>
              <a:t>Java </a:t>
            </a:r>
            <a:r>
              <a:rPr lang="en-US" dirty="0"/>
              <a:t>Enterprise Edition</a:t>
            </a:r>
            <a:r>
              <a:rPr dirty="0"/>
              <a:t> (Jakarta E</a:t>
            </a:r>
            <a:r>
              <a:rPr lang="en-US" dirty="0"/>
              <a:t>nterprise </a:t>
            </a:r>
            <a:r>
              <a:rPr dirty="0"/>
              <a:t>E</a:t>
            </a:r>
            <a:r>
              <a:rPr lang="en-US" dirty="0"/>
              <a:t>dition</a:t>
            </a:r>
            <a:r>
              <a:rPr dirty="0"/>
              <a:t>)</a:t>
            </a:r>
          </a:p>
          <a:p>
            <a:r>
              <a:rPr dirty="0"/>
              <a:t>Java M</a:t>
            </a:r>
            <a:r>
              <a:rPr lang="en-US" dirty="0"/>
              <a:t>icro </a:t>
            </a:r>
            <a:r>
              <a:rPr dirty="0"/>
              <a:t>E</a:t>
            </a:r>
            <a:r>
              <a:rPr lang="en-US" dirty="0"/>
              <a:t>dition</a:t>
            </a:r>
            <a:endParaRPr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Each serves different purposes from desktops to enterprise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4E49-1116-6DC1-DCC1-6FCEAFDE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656F7-7D4A-B1DD-6887-1800BF1BB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 Standard Edition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AC68F-C299-071E-3856-32F1C6CFC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edition is the foundation for developing and deploying Java applications on desktop and server environments. </a:t>
            </a:r>
          </a:p>
          <a:p>
            <a:r>
              <a:rPr lang="en-US" dirty="0"/>
              <a:t>It provides the core libraries and APIs for general-purpose Java programming. 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8903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11CC-B149-EED8-3CEF-7B722F17F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B20E8-BCA0-6593-B5E5-BDB090CE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Enterprise Edition (Java EE)</a:t>
            </a:r>
            <a:r>
              <a:rPr lang="fr-F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D2CDB-A053-9D1D-C7F6-46926B101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EE is designed for developing large-scale, multi-tiered, and scalable enterprise applications. </a:t>
            </a:r>
          </a:p>
          <a:p>
            <a:r>
              <a:rPr lang="en-US" dirty="0"/>
              <a:t>It builds upon Java SE and includes specifications and APIs for distributed computing, web services, and more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0737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33E9B-C9EA-6474-DB0D-39A5EAFF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766-8479-75CD-3353-6FA0A94D8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Micro Edition (Java ME)</a:t>
            </a:r>
            <a:r>
              <a:rPr lang="fr-F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BF491-7442-F664-F155-4EBD33C24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ME is tailored for developing applications for resource-constrained devices like embedded systems, mobile phones, and IoT devices. </a:t>
            </a:r>
          </a:p>
          <a:p>
            <a:r>
              <a:rPr lang="en-US" dirty="0"/>
              <a:t>It provides a smaller footprint and optimized APIs for these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536367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Why Java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Platform independence with JVM.</a:t>
            </a:r>
          </a:p>
          <a:p>
            <a:r>
              <a:rPr dirty="0"/>
              <a:t>Strong memory management with garbage collection.</a:t>
            </a:r>
          </a:p>
          <a:p>
            <a:r>
              <a:rPr dirty="0"/>
              <a:t>Robust exception handling and type checking.</a:t>
            </a:r>
          </a:p>
          <a:p>
            <a:r>
              <a:rPr dirty="0"/>
              <a:t>Active community and extensive documentation.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Java in the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by large enterprises: banking, insurance, retail.</a:t>
            </a:r>
          </a:p>
          <a:p>
            <a:r>
              <a:rPr dirty="0"/>
              <a:t>Spring Boot for RESTful APIs and microservices.</a:t>
            </a:r>
          </a:p>
          <a:p>
            <a:r>
              <a:rPr dirty="0"/>
              <a:t>Android development uses Java/Kotlin.</a:t>
            </a:r>
          </a:p>
          <a:p>
            <a:r>
              <a:rPr dirty="0"/>
              <a:t>Java-based Big Data tools like Hadoop and Kafka.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Java Ecosystem and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IDEs:</a:t>
            </a:r>
            <a:r>
              <a:rPr dirty="0"/>
              <a:t> Eclipse, IntelliJ IDEA, NetBeans.</a:t>
            </a:r>
          </a:p>
          <a:p>
            <a:r>
              <a:rPr b="1" dirty="0"/>
              <a:t>Build Tools:</a:t>
            </a:r>
            <a:r>
              <a:rPr dirty="0"/>
              <a:t> Maven, Gradle, Ant.</a:t>
            </a:r>
          </a:p>
          <a:p>
            <a:r>
              <a:rPr b="1" dirty="0"/>
              <a:t>Frameworks:</a:t>
            </a:r>
            <a:r>
              <a:rPr dirty="0"/>
              <a:t> Spring, Hibernate, JSF.</a:t>
            </a:r>
          </a:p>
          <a:p>
            <a:r>
              <a:rPr b="1" dirty="0"/>
              <a:t>Testing:</a:t>
            </a:r>
            <a:r>
              <a:rPr dirty="0"/>
              <a:t> JUnit, TestNG, Mockito.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Java Compilation &amp; Bytecode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Source code (.java) → compiled to bytecode (.class).</a:t>
            </a:r>
          </a:p>
          <a:p>
            <a:r>
              <a:rPr dirty="0"/>
              <a:t>Bytecode is platform-independent.</a:t>
            </a:r>
          </a:p>
          <a:p>
            <a:r>
              <a:rPr dirty="0"/>
              <a:t>Bytecode executed by the Java Virtual Machine (JVM).</a:t>
            </a:r>
          </a:p>
          <a:p>
            <a:r>
              <a:rPr dirty="0"/>
              <a:t>Allows Java programs to run on any OS with JVM.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Understanding JVM, JDK, and JRE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JVM:</a:t>
            </a:r>
            <a:r>
              <a:rPr dirty="0"/>
              <a:t> Executes Java bytecode.</a:t>
            </a:r>
          </a:p>
          <a:p>
            <a:r>
              <a:rPr b="1" dirty="0"/>
              <a:t>JRE:</a:t>
            </a:r>
            <a:r>
              <a:rPr dirty="0"/>
              <a:t> Java Runtime Environment – JVM + libraries for running Java apps.</a:t>
            </a:r>
            <a:endParaRPr lang="en-US" dirty="0"/>
          </a:p>
          <a:p>
            <a:r>
              <a:rPr lang="en-US" b="1" dirty="0"/>
              <a:t>JDK:</a:t>
            </a:r>
            <a:r>
              <a:rPr lang="en-US" dirty="0"/>
              <a:t> Java Development Kit – contains JRE + development tools.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Simple Java Program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public class HelloWorld {</a:t>
            </a:r>
          </a:p>
          <a:p>
            <a:pPr marL="0" indent="0">
              <a:buNone/>
            </a:pPr>
            <a:r>
              <a:rPr dirty="0"/>
              <a:t>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System.out.println</a:t>
            </a:r>
            <a:r>
              <a:rPr dirty="0"/>
              <a:t>("Hello, World!");</a:t>
            </a:r>
          </a:p>
          <a:p>
            <a:pPr marL="0" indent="0">
              <a:buNone/>
            </a:pPr>
            <a:r>
              <a:rPr dirty="0"/>
              <a:t> 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Java 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Write code in .java file.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Compile using </a:t>
            </a:r>
            <a:r>
              <a:rPr dirty="0" err="1"/>
              <a:t>javac</a:t>
            </a:r>
            <a:r>
              <a:rPr dirty="0"/>
              <a:t> → creates .class file.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Run using java command → JVM executes bytecode.</a:t>
            </a:r>
          </a:p>
          <a:p>
            <a:pPr marL="0" indent="0">
              <a:buNone/>
            </a:pPr>
            <a:r>
              <a:rPr dirty="0"/>
              <a:t>JVM performs Just-In-Time (JIT) compilation at runtime.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Compiling and Running Java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Save file as HelloWorld.java.</a:t>
            </a:r>
          </a:p>
          <a:p>
            <a:r>
              <a:rPr dirty="0"/>
              <a:t>Open terminal or command prompt.</a:t>
            </a:r>
          </a:p>
          <a:p>
            <a:r>
              <a:rPr dirty="0"/>
              <a:t>Run: </a:t>
            </a:r>
            <a:r>
              <a:rPr dirty="0" err="1"/>
              <a:t>javac</a:t>
            </a:r>
            <a:r>
              <a:rPr dirty="0"/>
              <a:t> HelloWorld.java → compiles the code.</a:t>
            </a:r>
          </a:p>
          <a:p>
            <a:r>
              <a:rPr dirty="0"/>
              <a:t>Run: java HelloWorld → executes the program.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Common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Mismatch in filename and class name.</a:t>
            </a:r>
          </a:p>
          <a:p>
            <a:r>
              <a:rPr dirty="0"/>
              <a:t>Missing semicolons or braces.</a:t>
            </a:r>
          </a:p>
          <a:p>
            <a:r>
              <a:rPr dirty="0"/>
              <a:t>Case sensitivity in Java.</a:t>
            </a:r>
          </a:p>
          <a:p>
            <a:r>
              <a:rPr dirty="0"/>
              <a:t>No main method defined.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787</Words>
  <Application>Microsoft Office PowerPoint</Application>
  <PresentationFormat>On-screen Show (4:3)</PresentationFormat>
  <Paragraphs>99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Introduction to Object Oriented Programming with Java</vt:lpstr>
      <vt:lpstr>What is Object-Oriented Programming?</vt:lpstr>
      <vt:lpstr>Procedural vs Object-Oriented Programming</vt:lpstr>
      <vt:lpstr>OOP Principles - Abstraction</vt:lpstr>
      <vt:lpstr>OOP Principles - Encapsulation</vt:lpstr>
      <vt:lpstr>OOP Principles - Inheritance</vt:lpstr>
      <vt:lpstr>OOP Principles - Polymorphism</vt:lpstr>
      <vt:lpstr>Java as a Pure Object-Oriented Language</vt:lpstr>
      <vt:lpstr>Java and Internet</vt:lpstr>
      <vt:lpstr>Java Platforms</vt:lpstr>
      <vt:lpstr>Java Standard Edition</vt:lpstr>
      <vt:lpstr>Enterprise Edition (Java EE) </vt:lpstr>
      <vt:lpstr>Micro Edition (Java ME) </vt:lpstr>
      <vt:lpstr>Why Java is Important</vt:lpstr>
      <vt:lpstr>Java in the Industry</vt:lpstr>
      <vt:lpstr>Java Ecosystem and Tools</vt:lpstr>
      <vt:lpstr>Java Compilation &amp; Bytecode</vt:lpstr>
      <vt:lpstr>Understanding JVM, JDK, and JRE</vt:lpstr>
      <vt:lpstr>Simple Java Program Example</vt:lpstr>
      <vt:lpstr>Java Execution Flow</vt:lpstr>
      <vt:lpstr>Compiling and Running Java Code</vt:lpstr>
      <vt:lpstr>Common Errors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abc</cp:lastModifiedBy>
  <cp:revision>3</cp:revision>
  <dcterms:created xsi:type="dcterms:W3CDTF">2013-01-27T09:14:16Z</dcterms:created>
  <dcterms:modified xsi:type="dcterms:W3CDTF">2025-06-24T18:13:00Z</dcterms:modified>
  <cp:category/>
</cp:coreProperties>
</file>